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42" r:id="rId78"/>
    <p:sldId id="333" r:id="rId79"/>
    <p:sldId id="334" r:id="rId80"/>
    <p:sldId id="335" r:id="rId81"/>
    <p:sldId id="336" r:id="rId82"/>
    <p:sldId id="337" r:id="rId83"/>
    <p:sldId id="338" r:id="rId84"/>
    <p:sldId id="339" r:id="rId85"/>
    <p:sldId id="340" r:id="rId86"/>
    <p:sldId id="341"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364" r:id="rId109"/>
    <p:sldId id="365" r:id="rId110"/>
    <p:sldId id="366" r:id="rId111"/>
    <p:sldId id="367" r:id="rId112"/>
    <p:sldId id="368" r:id="rId113"/>
    <p:sldId id="369" r:id="rId114"/>
    <p:sldId id="370" r:id="rId115"/>
    <p:sldId id="371" r:id="rId116"/>
    <p:sldId id="372" r:id="rId117"/>
    <p:sldId id="373" r:id="rId118"/>
    <p:sldId id="374" r:id="rId119"/>
    <p:sldId id="375" r:id="rId120"/>
    <p:sldId id="376" r:id="rId121"/>
    <p:sldId id="377" r:id="rId122"/>
    <p:sldId id="378" r:id="rId123"/>
    <p:sldId id="379" r:id="rId124"/>
    <p:sldId id="380" r:id="rId125"/>
    <p:sldId id="381" r:id="rId126"/>
    <p:sldId id="382" r:id="rId127"/>
    <p:sldId id="383" r:id="rId128"/>
    <p:sldId id="384" r:id="rId129"/>
    <p:sldId id="385" r:id="rId130"/>
    <p:sldId id="386" r:id="rId131"/>
    <p:sldId id="387" r:id="rId132"/>
    <p:sldId id="388" r:id="rId133"/>
    <p:sldId id="389" r:id="rId134"/>
    <p:sldId id="390" r:id="rId135"/>
    <p:sldId id="391" r:id="rId136"/>
    <p:sldId id="392" r:id="rId137"/>
    <p:sldId id="393" r:id="rId138"/>
    <p:sldId id="394" r:id="rId139"/>
    <p:sldId id="395" r:id="rId140"/>
    <p:sldId id="396" r:id="rId141"/>
    <p:sldId id="397" r:id="rId142"/>
    <p:sldId id="398" r:id="rId143"/>
    <p:sldId id="399" r:id="rId144"/>
    <p:sldId id="400" r:id="rId145"/>
    <p:sldId id="401" r:id="rId146"/>
    <p:sldId id="402" r:id="rId147"/>
    <p:sldId id="403" r:id="rId148"/>
    <p:sldId id="404" r:id="rId149"/>
    <p:sldId id="405" r:id="rId150"/>
    <p:sldId id="406" r:id="rId151"/>
    <p:sldId id="407" r:id="rId152"/>
    <p:sldId id="408" r:id="rId153"/>
    <p:sldId id="409" r:id="rId154"/>
    <p:sldId id="410" r:id="rId155"/>
    <p:sldId id="411" r:id="rId156"/>
    <p:sldId id="413" r:id="rId157"/>
    <p:sldId id="414" r:id="rId158"/>
    <p:sldId id="415" r:id="rId159"/>
    <p:sldId id="416" r:id="rId160"/>
    <p:sldId id="417" r:id="rId161"/>
    <p:sldId id="418" r:id="rId162"/>
    <p:sldId id="419" r:id="rId163"/>
    <p:sldId id="420" r:id="rId164"/>
    <p:sldId id="421" r:id="rId165"/>
    <p:sldId id="422" r:id="rId166"/>
    <p:sldId id="423" r:id="rId167"/>
    <p:sldId id="424" r:id="rId168"/>
    <p:sldId id="425" r:id="rId169"/>
    <p:sldId id="426" r:id="rId170"/>
    <p:sldId id="427" r:id="rId171"/>
    <p:sldId id="428" r:id="rId172"/>
    <p:sldId id="429" r:id="rId173"/>
    <p:sldId id="430" r:id="rId174"/>
    <p:sldId id="445" r:id="rId175"/>
    <p:sldId id="431" r:id="rId176"/>
    <p:sldId id="432" r:id="rId177"/>
    <p:sldId id="446" r:id="rId178"/>
    <p:sldId id="447" r:id="rId179"/>
    <p:sldId id="448" r:id="rId180"/>
    <p:sldId id="449" r:id="rId181"/>
    <p:sldId id="450" r:id="rId182"/>
    <p:sldId id="451" r:id="rId183"/>
    <p:sldId id="452" r:id="rId184"/>
    <p:sldId id="453" r:id="rId185"/>
    <p:sldId id="433" r:id="rId186"/>
    <p:sldId id="454" r:id="rId187"/>
    <p:sldId id="455" r:id="rId188"/>
    <p:sldId id="456" r:id="rId189"/>
    <p:sldId id="457" r:id="rId190"/>
    <p:sldId id="458" r:id="rId191"/>
    <p:sldId id="459" r:id="rId192"/>
    <p:sldId id="460" r:id="rId193"/>
    <p:sldId id="461" r:id="rId194"/>
    <p:sldId id="463" r:id="rId195"/>
    <p:sldId id="434" r:id="rId196"/>
    <p:sldId id="435" r:id="rId197"/>
    <p:sldId id="436" r:id="rId198"/>
    <p:sldId id="437" r:id="rId199"/>
    <p:sldId id="438" r:id="rId200"/>
    <p:sldId id="439" r:id="rId201"/>
    <p:sldId id="440" r:id="rId202"/>
    <p:sldId id="441" r:id="rId203"/>
    <p:sldId id="442" r:id="rId204"/>
    <p:sldId id="472" r:id="rId205"/>
    <p:sldId id="464" r:id="rId206"/>
    <p:sldId id="465" r:id="rId207"/>
    <p:sldId id="466" r:id="rId208"/>
    <p:sldId id="467" r:id="rId209"/>
    <p:sldId id="468" r:id="rId210"/>
    <p:sldId id="469" r:id="rId211"/>
    <p:sldId id="470" r:id="rId212"/>
    <p:sldId id="471" r:id="rId2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tableStyles" Target="tableStyle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viewProps" Target="view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1024AA-7ACF-4758-B169-C1D656B886DF}"/>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BF9A5045-0BEA-40AD-95FE-33C2933440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2D24B2F6-BFBF-48B5-8E56-72C62C0D7554}"/>
              </a:ext>
            </a:extLst>
          </p:cNvPr>
          <p:cNvSpPr>
            <a:spLocks noGrp="1"/>
          </p:cNvSpPr>
          <p:nvPr>
            <p:ph type="dt" sz="half" idx="10"/>
          </p:nvPr>
        </p:nvSpPr>
        <p:spPr/>
        <p:txBody>
          <a:bodyPr/>
          <a:lstStyle/>
          <a:p>
            <a:fld id="{A00ABD62-35FE-414C-AA4F-7CC14385147F}" type="datetimeFigureOut">
              <a:rPr lang="en-US" smtClean="0"/>
              <a:t>11/27/2023</a:t>
            </a:fld>
            <a:endParaRPr lang="en-US"/>
          </a:p>
        </p:txBody>
      </p:sp>
      <p:sp>
        <p:nvSpPr>
          <p:cNvPr id="5" name="Нижний колонтитул 4">
            <a:extLst>
              <a:ext uri="{FF2B5EF4-FFF2-40B4-BE49-F238E27FC236}">
                <a16:creationId xmlns:a16="http://schemas.microsoft.com/office/drawing/2014/main" id="{B8C83296-FC43-4976-B5FA-E2F42B476A15}"/>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5C277A1F-D84C-4B69-AA67-FD2D42BFB860}"/>
              </a:ext>
            </a:extLst>
          </p:cNvPr>
          <p:cNvSpPr>
            <a:spLocks noGrp="1"/>
          </p:cNvSpPr>
          <p:nvPr>
            <p:ph type="sldNum" sz="quarter" idx="12"/>
          </p:nvPr>
        </p:nvSpPr>
        <p:spPr/>
        <p:txBody>
          <a:bodyPr/>
          <a:lstStyle/>
          <a:p>
            <a:fld id="{FF2B7088-E183-4688-8BB8-A978213C9EB9}" type="slidenum">
              <a:rPr lang="en-US" smtClean="0"/>
              <a:t>‹#›</a:t>
            </a:fld>
            <a:endParaRPr lang="en-US"/>
          </a:p>
        </p:txBody>
      </p:sp>
    </p:spTree>
    <p:extLst>
      <p:ext uri="{BB962C8B-B14F-4D97-AF65-F5344CB8AC3E}">
        <p14:creationId xmlns:p14="http://schemas.microsoft.com/office/powerpoint/2010/main" val="2562052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DB513E-DB73-4261-ACFC-DF3E73AB9952}"/>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BFCC4A6C-ECCD-4DEF-87E4-B20045600F12}"/>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79C1B59E-D5D7-4781-A2A7-144D0E1F0958}"/>
              </a:ext>
            </a:extLst>
          </p:cNvPr>
          <p:cNvSpPr>
            <a:spLocks noGrp="1"/>
          </p:cNvSpPr>
          <p:nvPr>
            <p:ph type="dt" sz="half" idx="10"/>
          </p:nvPr>
        </p:nvSpPr>
        <p:spPr/>
        <p:txBody>
          <a:bodyPr/>
          <a:lstStyle/>
          <a:p>
            <a:fld id="{A00ABD62-35FE-414C-AA4F-7CC14385147F}" type="datetimeFigureOut">
              <a:rPr lang="en-US" smtClean="0"/>
              <a:t>11/27/2023</a:t>
            </a:fld>
            <a:endParaRPr lang="en-US"/>
          </a:p>
        </p:txBody>
      </p:sp>
      <p:sp>
        <p:nvSpPr>
          <p:cNvPr id="5" name="Нижний колонтитул 4">
            <a:extLst>
              <a:ext uri="{FF2B5EF4-FFF2-40B4-BE49-F238E27FC236}">
                <a16:creationId xmlns:a16="http://schemas.microsoft.com/office/drawing/2014/main" id="{442608C0-5FE0-44C6-B44E-B4617FAB350E}"/>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782C0E50-CEB7-447A-9944-2478867E5C87}"/>
              </a:ext>
            </a:extLst>
          </p:cNvPr>
          <p:cNvSpPr>
            <a:spLocks noGrp="1"/>
          </p:cNvSpPr>
          <p:nvPr>
            <p:ph type="sldNum" sz="quarter" idx="12"/>
          </p:nvPr>
        </p:nvSpPr>
        <p:spPr/>
        <p:txBody>
          <a:bodyPr/>
          <a:lstStyle/>
          <a:p>
            <a:fld id="{FF2B7088-E183-4688-8BB8-A978213C9EB9}" type="slidenum">
              <a:rPr lang="en-US" smtClean="0"/>
              <a:t>‹#›</a:t>
            </a:fld>
            <a:endParaRPr lang="en-US"/>
          </a:p>
        </p:txBody>
      </p:sp>
    </p:spTree>
    <p:extLst>
      <p:ext uri="{BB962C8B-B14F-4D97-AF65-F5344CB8AC3E}">
        <p14:creationId xmlns:p14="http://schemas.microsoft.com/office/powerpoint/2010/main" val="143920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1016A4-C683-442B-AC1B-EDFB783A0EF5}"/>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C9B4288A-4976-4BD3-9A30-E32D6F10DB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61A59FA-BF80-48B8-90C2-F95D099CB44E}"/>
              </a:ext>
            </a:extLst>
          </p:cNvPr>
          <p:cNvSpPr>
            <a:spLocks noGrp="1"/>
          </p:cNvSpPr>
          <p:nvPr>
            <p:ph type="dt" sz="half" idx="10"/>
          </p:nvPr>
        </p:nvSpPr>
        <p:spPr/>
        <p:txBody>
          <a:bodyPr/>
          <a:lstStyle/>
          <a:p>
            <a:fld id="{A00ABD62-35FE-414C-AA4F-7CC14385147F}" type="datetimeFigureOut">
              <a:rPr lang="en-US" smtClean="0"/>
              <a:t>11/27/2023</a:t>
            </a:fld>
            <a:endParaRPr lang="en-US"/>
          </a:p>
        </p:txBody>
      </p:sp>
      <p:sp>
        <p:nvSpPr>
          <p:cNvPr id="5" name="Нижний колонтитул 4">
            <a:extLst>
              <a:ext uri="{FF2B5EF4-FFF2-40B4-BE49-F238E27FC236}">
                <a16:creationId xmlns:a16="http://schemas.microsoft.com/office/drawing/2014/main" id="{8F4027FC-FA30-4739-9E0D-B423CAEBB3F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F13EAC5C-2444-40C5-A683-DCDF9D9ABECD}"/>
              </a:ext>
            </a:extLst>
          </p:cNvPr>
          <p:cNvSpPr>
            <a:spLocks noGrp="1"/>
          </p:cNvSpPr>
          <p:nvPr>
            <p:ph type="sldNum" sz="quarter" idx="12"/>
          </p:nvPr>
        </p:nvSpPr>
        <p:spPr/>
        <p:txBody>
          <a:bodyPr/>
          <a:lstStyle/>
          <a:p>
            <a:fld id="{FF2B7088-E183-4688-8BB8-A978213C9EB9}" type="slidenum">
              <a:rPr lang="en-US" smtClean="0"/>
              <a:t>‹#›</a:t>
            </a:fld>
            <a:endParaRPr lang="en-US"/>
          </a:p>
        </p:txBody>
      </p:sp>
    </p:spTree>
    <p:extLst>
      <p:ext uri="{BB962C8B-B14F-4D97-AF65-F5344CB8AC3E}">
        <p14:creationId xmlns:p14="http://schemas.microsoft.com/office/powerpoint/2010/main" val="572297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7EBDB9-EACB-4B4C-A6CD-FC4AC8B629D4}"/>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172D7D44-BD9F-4713-9613-C87E9002358C}"/>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CF0456DA-F648-4B30-8DD4-C30F93BF48C7}"/>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591BDDFD-D56A-4A32-A832-95EACB42076B}"/>
              </a:ext>
            </a:extLst>
          </p:cNvPr>
          <p:cNvSpPr>
            <a:spLocks noGrp="1"/>
          </p:cNvSpPr>
          <p:nvPr>
            <p:ph type="dt" sz="half" idx="10"/>
          </p:nvPr>
        </p:nvSpPr>
        <p:spPr/>
        <p:txBody>
          <a:bodyPr/>
          <a:lstStyle/>
          <a:p>
            <a:fld id="{A00ABD62-35FE-414C-AA4F-7CC14385147F}" type="datetimeFigureOut">
              <a:rPr lang="en-US" smtClean="0"/>
              <a:t>11/27/2023</a:t>
            </a:fld>
            <a:endParaRPr lang="en-US"/>
          </a:p>
        </p:txBody>
      </p:sp>
      <p:sp>
        <p:nvSpPr>
          <p:cNvPr id="6" name="Нижний колонтитул 5">
            <a:extLst>
              <a:ext uri="{FF2B5EF4-FFF2-40B4-BE49-F238E27FC236}">
                <a16:creationId xmlns:a16="http://schemas.microsoft.com/office/drawing/2014/main" id="{4F86E347-7702-46CB-AFCB-742D09D90791}"/>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58A45E86-933B-45DA-908E-1E7C41F57ABD}"/>
              </a:ext>
            </a:extLst>
          </p:cNvPr>
          <p:cNvSpPr>
            <a:spLocks noGrp="1"/>
          </p:cNvSpPr>
          <p:nvPr>
            <p:ph type="sldNum" sz="quarter" idx="12"/>
          </p:nvPr>
        </p:nvSpPr>
        <p:spPr/>
        <p:txBody>
          <a:bodyPr/>
          <a:lstStyle/>
          <a:p>
            <a:fld id="{FF2B7088-E183-4688-8BB8-A978213C9EB9}" type="slidenum">
              <a:rPr lang="en-US" smtClean="0"/>
              <a:t>‹#›</a:t>
            </a:fld>
            <a:endParaRPr lang="en-US"/>
          </a:p>
        </p:txBody>
      </p:sp>
    </p:spTree>
    <p:extLst>
      <p:ext uri="{BB962C8B-B14F-4D97-AF65-F5344CB8AC3E}">
        <p14:creationId xmlns:p14="http://schemas.microsoft.com/office/powerpoint/2010/main" val="1887921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5D2B795-3BF0-4DB0-9EE0-EF7F26B7EA57}"/>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E08E185D-0358-4547-8145-E4A22BA3A7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32133992-681F-4FCF-8729-167754853636}"/>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E45DB9F6-388A-4643-B828-8531FF130F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5A949428-A7BF-4CCD-832B-F82AE4DED7EE}"/>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B9C9C933-8A13-4978-9C5F-8B6A4DAB0EB7}"/>
              </a:ext>
            </a:extLst>
          </p:cNvPr>
          <p:cNvSpPr>
            <a:spLocks noGrp="1"/>
          </p:cNvSpPr>
          <p:nvPr>
            <p:ph type="dt" sz="half" idx="10"/>
          </p:nvPr>
        </p:nvSpPr>
        <p:spPr/>
        <p:txBody>
          <a:bodyPr/>
          <a:lstStyle/>
          <a:p>
            <a:fld id="{A00ABD62-35FE-414C-AA4F-7CC14385147F}" type="datetimeFigureOut">
              <a:rPr lang="en-US" smtClean="0"/>
              <a:t>11/27/2023</a:t>
            </a:fld>
            <a:endParaRPr lang="en-US"/>
          </a:p>
        </p:txBody>
      </p:sp>
      <p:sp>
        <p:nvSpPr>
          <p:cNvPr id="8" name="Нижний колонтитул 7">
            <a:extLst>
              <a:ext uri="{FF2B5EF4-FFF2-40B4-BE49-F238E27FC236}">
                <a16:creationId xmlns:a16="http://schemas.microsoft.com/office/drawing/2014/main" id="{E2962D88-F6CD-4F89-A60E-85CAFDEEAB2A}"/>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F1805C05-4DAD-4D7D-9027-E4324C37BC7F}"/>
              </a:ext>
            </a:extLst>
          </p:cNvPr>
          <p:cNvSpPr>
            <a:spLocks noGrp="1"/>
          </p:cNvSpPr>
          <p:nvPr>
            <p:ph type="sldNum" sz="quarter" idx="12"/>
          </p:nvPr>
        </p:nvSpPr>
        <p:spPr/>
        <p:txBody>
          <a:bodyPr/>
          <a:lstStyle/>
          <a:p>
            <a:fld id="{FF2B7088-E183-4688-8BB8-A978213C9EB9}" type="slidenum">
              <a:rPr lang="en-US" smtClean="0"/>
              <a:t>‹#›</a:t>
            </a:fld>
            <a:endParaRPr lang="en-US"/>
          </a:p>
        </p:txBody>
      </p:sp>
    </p:spTree>
    <p:extLst>
      <p:ext uri="{BB962C8B-B14F-4D97-AF65-F5344CB8AC3E}">
        <p14:creationId xmlns:p14="http://schemas.microsoft.com/office/powerpoint/2010/main" val="3351630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6EC0335-2F22-42A6-9550-B27E487C5A2F}"/>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C07857F9-7CDC-4D10-B746-228781FB8ECF}"/>
              </a:ext>
            </a:extLst>
          </p:cNvPr>
          <p:cNvSpPr>
            <a:spLocks noGrp="1"/>
          </p:cNvSpPr>
          <p:nvPr>
            <p:ph type="dt" sz="half" idx="10"/>
          </p:nvPr>
        </p:nvSpPr>
        <p:spPr/>
        <p:txBody>
          <a:bodyPr/>
          <a:lstStyle/>
          <a:p>
            <a:fld id="{A00ABD62-35FE-414C-AA4F-7CC14385147F}" type="datetimeFigureOut">
              <a:rPr lang="en-US" smtClean="0"/>
              <a:t>11/27/2023</a:t>
            </a:fld>
            <a:endParaRPr lang="en-US"/>
          </a:p>
        </p:txBody>
      </p:sp>
      <p:sp>
        <p:nvSpPr>
          <p:cNvPr id="4" name="Нижний колонтитул 3">
            <a:extLst>
              <a:ext uri="{FF2B5EF4-FFF2-40B4-BE49-F238E27FC236}">
                <a16:creationId xmlns:a16="http://schemas.microsoft.com/office/drawing/2014/main" id="{2F23251C-EE21-4928-A20B-4511BDCF7D52}"/>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78CF3C59-7DC1-42BE-85D1-E6D3CDCCCACA}"/>
              </a:ext>
            </a:extLst>
          </p:cNvPr>
          <p:cNvSpPr>
            <a:spLocks noGrp="1"/>
          </p:cNvSpPr>
          <p:nvPr>
            <p:ph type="sldNum" sz="quarter" idx="12"/>
          </p:nvPr>
        </p:nvSpPr>
        <p:spPr/>
        <p:txBody>
          <a:bodyPr/>
          <a:lstStyle/>
          <a:p>
            <a:fld id="{FF2B7088-E183-4688-8BB8-A978213C9EB9}" type="slidenum">
              <a:rPr lang="en-US" smtClean="0"/>
              <a:t>‹#›</a:t>
            </a:fld>
            <a:endParaRPr lang="en-US"/>
          </a:p>
        </p:txBody>
      </p:sp>
    </p:spTree>
    <p:extLst>
      <p:ext uri="{BB962C8B-B14F-4D97-AF65-F5344CB8AC3E}">
        <p14:creationId xmlns:p14="http://schemas.microsoft.com/office/powerpoint/2010/main" val="1052259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C3B20943-283A-4E85-869C-002D27C92B24}"/>
              </a:ext>
            </a:extLst>
          </p:cNvPr>
          <p:cNvSpPr>
            <a:spLocks noGrp="1"/>
          </p:cNvSpPr>
          <p:nvPr>
            <p:ph type="dt" sz="half" idx="10"/>
          </p:nvPr>
        </p:nvSpPr>
        <p:spPr/>
        <p:txBody>
          <a:bodyPr/>
          <a:lstStyle/>
          <a:p>
            <a:fld id="{A00ABD62-35FE-414C-AA4F-7CC14385147F}" type="datetimeFigureOut">
              <a:rPr lang="en-US" smtClean="0"/>
              <a:t>11/27/2023</a:t>
            </a:fld>
            <a:endParaRPr lang="en-US"/>
          </a:p>
        </p:txBody>
      </p:sp>
      <p:sp>
        <p:nvSpPr>
          <p:cNvPr id="3" name="Нижний колонтитул 2">
            <a:extLst>
              <a:ext uri="{FF2B5EF4-FFF2-40B4-BE49-F238E27FC236}">
                <a16:creationId xmlns:a16="http://schemas.microsoft.com/office/drawing/2014/main" id="{DA4B30ED-74B7-4D8D-8A6D-F66F457843E8}"/>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6C39FB65-17F0-4968-BEB8-CC700EED53B5}"/>
              </a:ext>
            </a:extLst>
          </p:cNvPr>
          <p:cNvSpPr>
            <a:spLocks noGrp="1"/>
          </p:cNvSpPr>
          <p:nvPr>
            <p:ph type="sldNum" sz="quarter" idx="12"/>
          </p:nvPr>
        </p:nvSpPr>
        <p:spPr/>
        <p:txBody>
          <a:bodyPr/>
          <a:lstStyle/>
          <a:p>
            <a:fld id="{FF2B7088-E183-4688-8BB8-A978213C9EB9}" type="slidenum">
              <a:rPr lang="en-US" smtClean="0"/>
              <a:t>‹#›</a:t>
            </a:fld>
            <a:endParaRPr lang="en-US"/>
          </a:p>
        </p:txBody>
      </p:sp>
    </p:spTree>
    <p:extLst>
      <p:ext uri="{BB962C8B-B14F-4D97-AF65-F5344CB8AC3E}">
        <p14:creationId xmlns:p14="http://schemas.microsoft.com/office/powerpoint/2010/main" val="93405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38DB4B-CB04-4EC6-AD90-B334CDACD4DF}"/>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01EB06B3-FDA8-46DF-937D-F70A5624A3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655F76C1-9B61-4F2A-A623-D43F4411A0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5CF5B8D-DD5B-4DD2-BB07-8D3CE14209A6}"/>
              </a:ext>
            </a:extLst>
          </p:cNvPr>
          <p:cNvSpPr>
            <a:spLocks noGrp="1"/>
          </p:cNvSpPr>
          <p:nvPr>
            <p:ph type="dt" sz="half" idx="10"/>
          </p:nvPr>
        </p:nvSpPr>
        <p:spPr/>
        <p:txBody>
          <a:bodyPr/>
          <a:lstStyle/>
          <a:p>
            <a:fld id="{A00ABD62-35FE-414C-AA4F-7CC14385147F}" type="datetimeFigureOut">
              <a:rPr lang="en-US" smtClean="0"/>
              <a:t>11/27/2023</a:t>
            </a:fld>
            <a:endParaRPr lang="en-US"/>
          </a:p>
        </p:txBody>
      </p:sp>
      <p:sp>
        <p:nvSpPr>
          <p:cNvPr id="6" name="Нижний колонтитул 5">
            <a:extLst>
              <a:ext uri="{FF2B5EF4-FFF2-40B4-BE49-F238E27FC236}">
                <a16:creationId xmlns:a16="http://schemas.microsoft.com/office/drawing/2014/main" id="{875B9E58-1DA3-4335-ABF0-089035F24B65}"/>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BAA13FEF-FC22-4468-A9BB-F5D70AA9B3D4}"/>
              </a:ext>
            </a:extLst>
          </p:cNvPr>
          <p:cNvSpPr>
            <a:spLocks noGrp="1"/>
          </p:cNvSpPr>
          <p:nvPr>
            <p:ph type="sldNum" sz="quarter" idx="12"/>
          </p:nvPr>
        </p:nvSpPr>
        <p:spPr/>
        <p:txBody>
          <a:bodyPr/>
          <a:lstStyle/>
          <a:p>
            <a:fld id="{FF2B7088-E183-4688-8BB8-A978213C9EB9}" type="slidenum">
              <a:rPr lang="en-US" smtClean="0"/>
              <a:t>‹#›</a:t>
            </a:fld>
            <a:endParaRPr lang="en-US"/>
          </a:p>
        </p:txBody>
      </p:sp>
    </p:spTree>
    <p:extLst>
      <p:ext uri="{BB962C8B-B14F-4D97-AF65-F5344CB8AC3E}">
        <p14:creationId xmlns:p14="http://schemas.microsoft.com/office/powerpoint/2010/main" val="4223478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25DE44-673B-4E94-913B-9E92A3FB1A9F}"/>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5C587EEE-F474-4364-B0BC-FA553E6B4B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2E2D442E-FB2C-45DD-A6D6-04D0B7C30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0BA2921B-795E-43FF-A927-B058D5100B98}"/>
              </a:ext>
            </a:extLst>
          </p:cNvPr>
          <p:cNvSpPr>
            <a:spLocks noGrp="1"/>
          </p:cNvSpPr>
          <p:nvPr>
            <p:ph type="dt" sz="half" idx="10"/>
          </p:nvPr>
        </p:nvSpPr>
        <p:spPr/>
        <p:txBody>
          <a:bodyPr/>
          <a:lstStyle/>
          <a:p>
            <a:fld id="{A00ABD62-35FE-414C-AA4F-7CC14385147F}" type="datetimeFigureOut">
              <a:rPr lang="en-US" smtClean="0"/>
              <a:t>11/27/2023</a:t>
            </a:fld>
            <a:endParaRPr lang="en-US"/>
          </a:p>
        </p:txBody>
      </p:sp>
      <p:sp>
        <p:nvSpPr>
          <p:cNvPr id="6" name="Нижний колонтитул 5">
            <a:extLst>
              <a:ext uri="{FF2B5EF4-FFF2-40B4-BE49-F238E27FC236}">
                <a16:creationId xmlns:a16="http://schemas.microsoft.com/office/drawing/2014/main" id="{7A5657DB-3934-42C4-88C3-974FB398DDDE}"/>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28B1B87A-12AC-432A-A556-DFE6F3D9219C}"/>
              </a:ext>
            </a:extLst>
          </p:cNvPr>
          <p:cNvSpPr>
            <a:spLocks noGrp="1"/>
          </p:cNvSpPr>
          <p:nvPr>
            <p:ph type="sldNum" sz="quarter" idx="12"/>
          </p:nvPr>
        </p:nvSpPr>
        <p:spPr/>
        <p:txBody>
          <a:bodyPr/>
          <a:lstStyle/>
          <a:p>
            <a:fld id="{FF2B7088-E183-4688-8BB8-A978213C9EB9}" type="slidenum">
              <a:rPr lang="en-US" smtClean="0"/>
              <a:t>‹#›</a:t>
            </a:fld>
            <a:endParaRPr lang="en-US"/>
          </a:p>
        </p:txBody>
      </p:sp>
    </p:spTree>
    <p:extLst>
      <p:ext uri="{BB962C8B-B14F-4D97-AF65-F5344CB8AC3E}">
        <p14:creationId xmlns:p14="http://schemas.microsoft.com/office/powerpoint/2010/main" val="1795814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913EC42-049E-42F9-A2A6-654EBBD65CE7}"/>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09D2CCBF-2BEC-4523-9E1F-B9C005FAAA69}"/>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23BDEB05-DF68-4AD7-9D94-FC7416A27DB1}"/>
              </a:ext>
            </a:extLst>
          </p:cNvPr>
          <p:cNvSpPr>
            <a:spLocks noGrp="1"/>
          </p:cNvSpPr>
          <p:nvPr>
            <p:ph type="dt" sz="half" idx="10"/>
          </p:nvPr>
        </p:nvSpPr>
        <p:spPr/>
        <p:txBody>
          <a:bodyPr/>
          <a:lstStyle/>
          <a:p>
            <a:fld id="{A00ABD62-35FE-414C-AA4F-7CC14385147F}" type="datetimeFigureOut">
              <a:rPr lang="en-US" smtClean="0"/>
              <a:t>11/27/2023</a:t>
            </a:fld>
            <a:endParaRPr lang="en-US"/>
          </a:p>
        </p:txBody>
      </p:sp>
      <p:sp>
        <p:nvSpPr>
          <p:cNvPr id="5" name="Нижний колонтитул 4">
            <a:extLst>
              <a:ext uri="{FF2B5EF4-FFF2-40B4-BE49-F238E27FC236}">
                <a16:creationId xmlns:a16="http://schemas.microsoft.com/office/drawing/2014/main" id="{2FD05313-B97E-453B-9DDB-3D0BC4F10397}"/>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E00BAB57-3D2E-407A-AF25-78546785AFD6}"/>
              </a:ext>
            </a:extLst>
          </p:cNvPr>
          <p:cNvSpPr>
            <a:spLocks noGrp="1"/>
          </p:cNvSpPr>
          <p:nvPr>
            <p:ph type="sldNum" sz="quarter" idx="12"/>
          </p:nvPr>
        </p:nvSpPr>
        <p:spPr/>
        <p:txBody>
          <a:bodyPr/>
          <a:lstStyle/>
          <a:p>
            <a:fld id="{FF2B7088-E183-4688-8BB8-A978213C9EB9}" type="slidenum">
              <a:rPr lang="en-US" smtClean="0"/>
              <a:t>‹#›</a:t>
            </a:fld>
            <a:endParaRPr lang="en-US"/>
          </a:p>
        </p:txBody>
      </p:sp>
    </p:spTree>
    <p:extLst>
      <p:ext uri="{BB962C8B-B14F-4D97-AF65-F5344CB8AC3E}">
        <p14:creationId xmlns:p14="http://schemas.microsoft.com/office/powerpoint/2010/main" val="3178088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85CC5B7E-3CBE-4151-8627-D770A1AEB5F0}"/>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B8342D78-9B76-48FD-B0A8-90083592A03B}"/>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69E199F8-4524-4194-AF30-C921B410052D}"/>
              </a:ext>
            </a:extLst>
          </p:cNvPr>
          <p:cNvSpPr>
            <a:spLocks noGrp="1"/>
          </p:cNvSpPr>
          <p:nvPr>
            <p:ph type="dt" sz="half" idx="10"/>
          </p:nvPr>
        </p:nvSpPr>
        <p:spPr/>
        <p:txBody>
          <a:bodyPr/>
          <a:lstStyle/>
          <a:p>
            <a:fld id="{A00ABD62-35FE-414C-AA4F-7CC14385147F}" type="datetimeFigureOut">
              <a:rPr lang="en-US" smtClean="0"/>
              <a:t>11/27/2023</a:t>
            </a:fld>
            <a:endParaRPr lang="en-US"/>
          </a:p>
        </p:txBody>
      </p:sp>
      <p:sp>
        <p:nvSpPr>
          <p:cNvPr id="5" name="Нижний колонтитул 4">
            <a:extLst>
              <a:ext uri="{FF2B5EF4-FFF2-40B4-BE49-F238E27FC236}">
                <a16:creationId xmlns:a16="http://schemas.microsoft.com/office/drawing/2014/main" id="{95748451-BE48-472D-AB77-F0B29E8DDA42}"/>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5E4E9B4E-289A-47A1-A784-6EEBF0C2AAEC}"/>
              </a:ext>
            </a:extLst>
          </p:cNvPr>
          <p:cNvSpPr>
            <a:spLocks noGrp="1"/>
          </p:cNvSpPr>
          <p:nvPr>
            <p:ph type="sldNum" sz="quarter" idx="12"/>
          </p:nvPr>
        </p:nvSpPr>
        <p:spPr/>
        <p:txBody>
          <a:bodyPr/>
          <a:lstStyle/>
          <a:p>
            <a:fld id="{FF2B7088-E183-4688-8BB8-A978213C9EB9}" type="slidenum">
              <a:rPr lang="en-US" smtClean="0"/>
              <a:t>‹#›</a:t>
            </a:fld>
            <a:endParaRPr lang="en-US"/>
          </a:p>
        </p:txBody>
      </p:sp>
    </p:spTree>
    <p:extLst>
      <p:ext uri="{BB962C8B-B14F-4D97-AF65-F5344CB8AC3E}">
        <p14:creationId xmlns:p14="http://schemas.microsoft.com/office/powerpoint/2010/main" val="3600873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DAEF985-2F69-4301-846D-34E1BBE92C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5D771DFD-3C44-43CA-AFE1-789922174D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F533AE6A-B566-4690-A46E-16E4C1D648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0ABD62-35FE-414C-AA4F-7CC14385147F}" type="datetimeFigureOut">
              <a:rPr lang="en-US" smtClean="0"/>
              <a:t>11/27/2023</a:t>
            </a:fld>
            <a:endParaRPr lang="en-US"/>
          </a:p>
        </p:txBody>
      </p:sp>
      <p:sp>
        <p:nvSpPr>
          <p:cNvPr id="5" name="Нижний колонтитул 4">
            <a:extLst>
              <a:ext uri="{FF2B5EF4-FFF2-40B4-BE49-F238E27FC236}">
                <a16:creationId xmlns:a16="http://schemas.microsoft.com/office/drawing/2014/main" id="{A4EBD1D2-21D9-4AA0-8228-037287BA02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4DDA0F41-E52C-46F3-87A7-9F27A6572B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2B7088-E183-4688-8BB8-A978213C9EB9}" type="slidenum">
              <a:rPr lang="en-US" smtClean="0"/>
              <a:t>‹#›</a:t>
            </a:fld>
            <a:endParaRPr lang="en-US"/>
          </a:p>
        </p:txBody>
      </p:sp>
    </p:spTree>
    <p:extLst>
      <p:ext uri="{BB962C8B-B14F-4D97-AF65-F5344CB8AC3E}">
        <p14:creationId xmlns:p14="http://schemas.microsoft.com/office/powerpoint/2010/main" val="2983918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gnu.org/software/rc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hyperlink" Target="https://mcs.mail.ru/blog/what-is-vps-vds" TargetMode="Externa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hyperlink" Target="https://mcs.mail.ru/iaas/" TargetMode="External"/><Relationship Id="rId2" Type="http://schemas.openxmlformats.org/officeDocument/2006/relationships/hyperlink" Target="https://mcs.mail.ru/blog/managed-services-kak-autsors-pomozhet-sekonomit-zarplatu-it" TargetMode="Externa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hyperlink" Target="https://mcs.mail.ru/blog/put-k-kubernetes-i-ego-preimushchestva-dlya-razrabotki" TargetMode="External"/><Relationship Id="rId2" Type="http://schemas.openxmlformats.org/officeDocument/2006/relationships/hyperlink" Target="https://mcs.mail.ru/blog/kakuyu-bazu-dannyh-vybrat-dlya-proekta-chtoby-ne-oshibitsya" TargetMode="External"/><Relationship Id="rId1" Type="http://schemas.openxmlformats.org/officeDocument/2006/relationships/slideLayout" Target="../slideLayouts/slideLayout2.xml"/><Relationship Id="rId5" Type="http://schemas.openxmlformats.org/officeDocument/2006/relationships/hyperlink" Target="https://mcs.mail.ru/blog/what-is-machine-learning" TargetMode="External"/><Relationship Id="rId4" Type="http://schemas.openxmlformats.org/officeDocument/2006/relationships/hyperlink" Target="https://mcs.mail.ru/bigdata/" TargetMode="External"/></Relationships>
</file>

<file path=ppt/slides/_rels/slide193.xml.rels><?xml version="1.0" encoding="UTF-8" standalone="yes"?>
<Relationships xmlns="http://schemas.openxmlformats.org/package/2006/relationships"><Relationship Id="rId2" Type="http://schemas.openxmlformats.org/officeDocument/2006/relationships/hyperlink" Target="https://mcs.mail.ru/blog/chto-takoe-saas" TargetMode="Externa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hyperlink" Target="https://ru.wikipedia.org/wiki/X86" TargetMode="External"/><Relationship Id="rId7" Type="http://schemas.openxmlformats.org/officeDocument/2006/relationships/hyperlink" Target="https://ru.wikipedia.org/wiki/%D0%90%D0%BF%D0%BF%D0%B0%D1%80%D0%B0%D1%82%D0%BD%D0%B0%D1%8F_%D0%B2%D0%B8%D1%80%D1%82%D1%83%D0%B0%D0%BB%D0%B8%D0%B7%D0%B0%D1%86%D0%B8%D1%8F" TargetMode="External"/><Relationship Id="rId2" Type="http://schemas.openxmlformats.org/officeDocument/2006/relationships/hyperlink" Target="https://ru.wikipedia.org/wiki/%D0%93%D0%B8%D0%BF%D0%B5%D1%80%D0%B2%D0%B8%D0%B7%D0%BE%D1%80" TargetMode="External"/><Relationship Id="rId1" Type="http://schemas.openxmlformats.org/officeDocument/2006/relationships/slideLayout" Target="../slideLayouts/slideLayout2.xml"/><Relationship Id="rId6" Type="http://schemas.openxmlformats.org/officeDocument/2006/relationships/hyperlink" Target="https://ru.wikipedia.org/wiki/%D0%A1%D0%BF%D0%B8%D1%81%D0%BE%D0%BA_%D0%BC%D0%B8%D0%BA%D1%80%D0%BE%D0%BF%D1%80%D0%BE%D1%86%D0%B5%D1%81%D1%81%D0%BE%D1%80%D0%BE%D0%B2_Intel#80386SL" TargetMode="External"/><Relationship Id="rId5" Type="http://schemas.openxmlformats.org/officeDocument/2006/relationships/hyperlink" Target="https://ru.wikipedia.org/wiki/%D0%9A%D0%BE%D0%BB%D1%8C%D1%86%D0%B0_%D0%B7%D0%B0%D1%89%D0%B8%D1%82%D1%8B#cite_note-1" TargetMode="External"/><Relationship Id="rId4" Type="http://schemas.openxmlformats.org/officeDocument/2006/relationships/hyperlink" Target="https://ru.wikipedia.org/wiki/X86-64" TargetMode="Externa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hyperlink" Target="https://wiki.merionet.ru/servernye-resheniya/9/razbiraemsya-s-docker-ustanovka-i-ispolzovanie/" TargetMode="Externa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3B2A4C0-B9E3-410F-84CA-E3C8E1889C4E}"/>
              </a:ext>
            </a:extLst>
          </p:cNvPr>
          <p:cNvSpPr>
            <a:spLocks noGrp="1"/>
          </p:cNvSpPr>
          <p:nvPr>
            <p:ph type="ctrTitle"/>
          </p:nvPr>
        </p:nvSpPr>
        <p:spPr>
          <a:xfrm>
            <a:off x="498628" y="1752677"/>
            <a:ext cx="11603115" cy="2387600"/>
          </a:xfrm>
        </p:spPr>
        <p:txBody>
          <a:bodyPr>
            <a:normAutofit fontScale="90000"/>
          </a:bodyPr>
          <a:lstStyle/>
          <a:p>
            <a:r>
              <a:rPr lang="ru-RU" dirty="0">
                <a:effectLst/>
                <a:latin typeface="Arial Narrow" panose="020B0606020202030204" pitchFamily="34" charset="0"/>
              </a:rPr>
              <a:t>Технологии разработки и тестирования</a:t>
            </a:r>
            <a:br>
              <a:rPr lang="ru-RU" dirty="0">
                <a:latin typeface="Arial Narrow" panose="020B0606020202030204" pitchFamily="34" charset="0"/>
              </a:rPr>
            </a:br>
            <a:r>
              <a:rPr lang="ru-RU" dirty="0">
                <a:effectLst/>
                <a:latin typeface="Arial Narrow" panose="020B0606020202030204" pitchFamily="34" charset="0"/>
              </a:rPr>
              <a:t>программного обеспечения</a:t>
            </a:r>
            <a:endParaRPr lang="en-US" dirty="0">
              <a:latin typeface="Arial Narrow" panose="020B0606020202030204" pitchFamily="34" charset="0"/>
            </a:endParaRPr>
          </a:p>
        </p:txBody>
      </p:sp>
    </p:spTree>
    <p:extLst>
      <p:ext uri="{BB962C8B-B14F-4D97-AF65-F5344CB8AC3E}">
        <p14:creationId xmlns:p14="http://schemas.microsoft.com/office/powerpoint/2010/main" val="1734446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24053FE2-35F0-4920-B32B-AC904889EE50}"/>
              </a:ext>
            </a:extLst>
          </p:cNvPr>
          <p:cNvSpPr>
            <a:spLocks noGrp="1"/>
          </p:cNvSpPr>
          <p:nvPr>
            <p:ph idx="1"/>
          </p:nvPr>
        </p:nvSpPr>
        <p:spPr>
          <a:xfrm>
            <a:off x="740546" y="636017"/>
            <a:ext cx="10515600" cy="4351338"/>
          </a:xfrm>
        </p:spPr>
        <p:txBody>
          <a:bodyPr>
            <a:normAutofit lnSpcReduction="10000"/>
          </a:bodyPr>
          <a:lstStyle/>
          <a:p>
            <a:r>
              <a:rPr lang="ru-RU" sz="2600" b="1" i="0" u="none" strike="noStrike" baseline="0" dirty="0">
                <a:solidFill>
                  <a:srgbClr val="000000"/>
                </a:solidFill>
                <a:latin typeface="Arial" panose="020B0604020202020204" pitchFamily="34" charset="0"/>
              </a:rPr>
              <a:t>Тестирование программного обеспечения </a:t>
            </a:r>
            <a:r>
              <a:rPr lang="ru-RU" sz="2600" b="0" i="0" u="none" strike="noStrike" baseline="0" dirty="0">
                <a:solidFill>
                  <a:srgbClr val="000000"/>
                </a:solidFill>
                <a:latin typeface="Arial" panose="020B0604020202020204" pitchFamily="34" charset="0"/>
              </a:rPr>
              <a:t>— процесс анализа программного средства и сопутствующей документации с целью выявления дефектов и повышения качества продукта.</a:t>
            </a:r>
          </a:p>
          <a:p>
            <a:endParaRPr lang="ru-RU" sz="1800" dirty="0">
              <a:solidFill>
                <a:srgbClr val="000000"/>
              </a:solidFill>
              <a:latin typeface="Arial" panose="020B0604020202020204" pitchFamily="34" charset="0"/>
            </a:endParaRPr>
          </a:p>
          <a:p>
            <a:r>
              <a:rPr lang="ru-RU" sz="2600" dirty="0">
                <a:solidFill>
                  <a:srgbClr val="000000"/>
                </a:solidFill>
                <a:latin typeface="Arial" panose="020B0604020202020204" pitchFamily="34" charset="0"/>
              </a:rPr>
              <a:t>Хотя термина именно тестирование ПО не используется, есть просто тестирование, интеграция и прочее.</a:t>
            </a:r>
            <a:r>
              <a:rPr lang="ru-RU" sz="2600" b="0" i="0" u="none" strike="noStrike" baseline="0" dirty="0">
                <a:solidFill>
                  <a:srgbClr val="000000"/>
                </a:solidFill>
                <a:latin typeface="Arial" panose="020B0604020202020204" pitchFamily="34" charset="0"/>
              </a:rPr>
              <a:t> 	</a:t>
            </a:r>
          </a:p>
          <a:p>
            <a:endParaRPr lang="ru-RU" dirty="0"/>
          </a:p>
          <a:p>
            <a:r>
              <a:rPr lang="ru-RU" sz="2600" b="0" i="0" u="none" strike="noStrike" baseline="0" dirty="0">
                <a:solidFill>
                  <a:srgbClr val="000000"/>
                </a:solidFill>
                <a:latin typeface="Arial" panose="020B0604020202020204" pitchFamily="34" charset="0"/>
              </a:rPr>
              <a:t>На протяжении десятилетий развития разработки ПО к вопросам тестирования и обеспечения качества подходили очень и очень по-разному. Можно выделить несколько основных «эпох тестирования». </a:t>
            </a:r>
            <a:endParaRPr lang="en-US" sz="2600" dirty="0"/>
          </a:p>
        </p:txBody>
      </p:sp>
    </p:spTree>
    <p:extLst>
      <p:ext uri="{BB962C8B-B14F-4D97-AF65-F5344CB8AC3E}">
        <p14:creationId xmlns:p14="http://schemas.microsoft.com/office/powerpoint/2010/main" val="2060004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D4A53BC0-C6BF-4ECB-90B7-2B6B89779020}"/>
              </a:ext>
            </a:extLst>
          </p:cNvPr>
          <p:cNvSpPr>
            <a:spLocks noGrp="1"/>
          </p:cNvSpPr>
          <p:nvPr>
            <p:ph idx="1"/>
          </p:nvPr>
        </p:nvSpPr>
        <p:spPr>
          <a:xfrm>
            <a:off x="616258" y="511729"/>
            <a:ext cx="10906958" cy="5977847"/>
          </a:xfrm>
        </p:spPr>
        <p:txBody>
          <a:bodyPr/>
          <a:lstStyle/>
          <a:p>
            <a:r>
              <a:rPr lang="ru-RU" sz="2600" b="1" i="0" u="none" strike="noStrike" baseline="0" dirty="0">
                <a:solidFill>
                  <a:srgbClr val="000000"/>
                </a:solidFill>
                <a:latin typeface="Arial" panose="020B0604020202020204" pitchFamily="34" charset="0"/>
              </a:rPr>
              <a:t>В 50–60-х годах </a:t>
            </a:r>
            <a:r>
              <a:rPr lang="ru-RU" sz="2600" b="0" i="0" u="none" strike="noStrike" baseline="0" dirty="0">
                <a:solidFill>
                  <a:srgbClr val="000000"/>
                </a:solidFill>
                <a:latin typeface="Arial" panose="020B0604020202020204" pitchFamily="34" charset="0"/>
              </a:rPr>
              <a:t>прошлого века процесс тестирования был предельно формализован, отделён от процесса непосредственной разработки ПО и «</a:t>
            </a:r>
            <a:r>
              <a:rPr lang="ru-RU" sz="2600" b="0" i="0" u="none" strike="noStrike" baseline="0" dirty="0" err="1">
                <a:solidFill>
                  <a:srgbClr val="000000"/>
                </a:solidFill>
                <a:latin typeface="Arial" panose="020B0604020202020204" pitchFamily="34" charset="0"/>
              </a:rPr>
              <a:t>математизирован</a:t>
            </a:r>
            <a:r>
              <a:rPr lang="ru-RU" sz="2600" b="0" i="0" u="none" strike="noStrike" baseline="0" dirty="0">
                <a:solidFill>
                  <a:srgbClr val="000000"/>
                </a:solidFill>
                <a:latin typeface="Arial" panose="020B0604020202020204" pitchFamily="34" charset="0"/>
              </a:rPr>
              <a:t>». </a:t>
            </a:r>
          </a:p>
          <a:p>
            <a:r>
              <a:rPr lang="ru-RU" sz="2600" b="0" i="0" u="none" strike="noStrike" baseline="0" dirty="0">
                <a:solidFill>
                  <a:srgbClr val="000000"/>
                </a:solidFill>
                <a:latin typeface="Arial" panose="020B0604020202020204" pitchFamily="34" charset="0"/>
              </a:rPr>
              <a:t>Фактически тестирование представляло собой скорее отладку программ (</a:t>
            </a:r>
            <a:r>
              <a:rPr lang="ru-RU" sz="2600" b="0" i="0" u="none" strike="noStrike" baseline="0" dirty="0" err="1">
                <a:solidFill>
                  <a:srgbClr val="000000"/>
                </a:solidFill>
                <a:latin typeface="Arial" panose="020B0604020202020204" pitchFamily="34" charset="0"/>
              </a:rPr>
              <a:t>debugging</a:t>
            </a:r>
            <a:r>
              <a:rPr lang="ru-RU" sz="2600" b="0" i="0" u="none" strike="noStrike" baseline="0" dirty="0">
                <a:solidFill>
                  <a:srgbClr val="000000"/>
                </a:solidFill>
                <a:latin typeface="Arial" panose="020B0604020202020204" pitchFamily="34" charset="0"/>
              </a:rPr>
              <a:t>). Существовала концепция т.н. «исчерпывающего тестирования (</a:t>
            </a:r>
            <a:r>
              <a:rPr lang="ru-RU" sz="2600" b="0" i="0" u="none" strike="noStrike" baseline="0" dirty="0" err="1">
                <a:solidFill>
                  <a:srgbClr val="000000"/>
                </a:solidFill>
                <a:latin typeface="Arial" panose="020B0604020202020204" pitchFamily="34" charset="0"/>
              </a:rPr>
              <a:t>exhaustive</a:t>
            </a:r>
            <a:r>
              <a:rPr lang="ru-RU" sz="2600" b="0" i="0" u="none" strike="noStrike" baseline="0" dirty="0">
                <a:solidFill>
                  <a:srgbClr val="000000"/>
                </a:solidFill>
                <a:latin typeface="Arial" panose="020B0604020202020204" pitchFamily="34" charset="0"/>
              </a:rPr>
              <a:t> </a:t>
            </a:r>
            <a:r>
              <a:rPr lang="ru-RU" sz="2600" b="0" i="0" u="none" strike="noStrike" baseline="0" dirty="0" err="1">
                <a:solidFill>
                  <a:srgbClr val="000000"/>
                </a:solidFill>
                <a:latin typeface="Arial" panose="020B0604020202020204" pitchFamily="34" charset="0"/>
              </a:rPr>
              <a:t>testing</a:t>
            </a:r>
            <a:r>
              <a:rPr lang="ru-RU" sz="2600" b="0" i="0" u="none" strike="noStrike" baseline="0" dirty="0">
                <a:solidFill>
                  <a:srgbClr val="000000"/>
                </a:solidFill>
                <a:latin typeface="Arial" panose="020B0604020202020204" pitchFamily="34" charset="0"/>
              </a:rPr>
              <a:t>)» — проверки всех возможных путей выполнения кода со всеми возможными входными данными. Однако очень скоро было выяснено, что исчерпывающее тестирование невозможно, т.к. количество возможных путей и входных данных очень велико, а также при таком подходе сложно найти проблемы в документации.</a:t>
            </a:r>
            <a:r>
              <a:rPr lang="ru-RU" sz="1800" b="0" i="0" u="none" strike="noStrike" baseline="0" dirty="0">
                <a:solidFill>
                  <a:srgbClr val="000000"/>
                </a:solidFill>
                <a:latin typeface="Arial" panose="020B0604020202020204" pitchFamily="34" charset="0"/>
              </a:rPr>
              <a:t> </a:t>
            </a:r>
            <a:endParaRPr lang="en-US" dirty="0"/>
          </a:p>
        </p:txBody>
      </p:sp>
    </p:spTree>
    <p:extLst>
      <p:ext uri="{BB962C8B-B14F-4D97-AF65-F5344CB8AC3E}">
        <p14:creationId xmlns:p14="http://schemas.microsoft.com/office/powerpoint/2010/main" val="1847415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47E5E34A-0DFA-4E28-94F4-3647B54D7575}"/>
              </a:ext>
            </a:extLst>
          </p:cNvPr>
          <p:cNvSpPr>
            <a:spLocks noGrp="1"/>
          </p:cNvSpPr>
          <p:nvPr>
            <p:ph idx="1"/>
          </p:nvPr>
        </p:nvSpPr>
        <p:spPr>
          <a:xfrm>
            <a:off x="506027" y="343053"/>
            <a:ext cx="10572565" cy="5818049"/>
          </a:xfrm>
        </p:spPr>
        <p:txBody>
          <a:bodyPr>
            <a:noAutofit/>
          </a:bodyPr>
          <a:lstStyle/>
          <a:p>
            <a:r>
              <a:rPr lang="ru-RU" sz="2400" b="1" i="0" u="none" strike="noStrike" baseline="0" dirty="0">
                <a:solidFill>
                  <a:srgbClr val="000000"/>
                </a:solidFill>
                <a:latin typeface="Arial" panose="020B0604020202020204" pitchFamily="34" charset="0"/>
              </a:rPr>
              <a:t>В 70-х годах </a:t>
            </a:r>
            <a:r>
              <a:rPr lang="ru-RU" sz="2400" b="0" i="0" u="none" strike="noStrike" baseline="0" dirty="0">
                <a:solidFill>
                  <a:srgbClr val="000000"/>
                </a:solidFill>
                <a:latin typeface="Arial" panose="020B0604020202020204" pitchFamily="34" charset="0"/>
              </a:rPr>
              <a:t>фактически родились две фундаментальные идеи тестирования: тестирование сначала рассматривалось как процесс доказательства работоспособности программы в некоторых заданных условиях (</a:t>
            </a:r>
            <a:r>
              <a:rPr lang="ru-RU" sz="2400" b="0" i="0" u="none" strike="noStrike" baseline="0" dirty="0" err="1">
                <a:solidFill>
                  <a:srgbClr val="000000"/>
                </a:solidFill>
                <a:latin typeface="Arial" panose="020B0604020202020204" pitchFamily="34" charset="0"/>
              </a:rPr>
              <a:t>positive</a:t>
            </a:r>
            <a:r>
              <a:rPr lang="ru-RU" sz="2400" b="0" i="0" u="none" strike="noStrike" baseline="0" dirty="0">
                <a:solidFill>
                  <a:srgbClr val="000000"/>
                </a:solidFill>
                <a:latin typeface="Arial" panose="020B0604020202020204" pitchFamily="34" charset="0"/>
              </a:rPr>
              <a:t> </a:t>
            </a:r>
            <a:r>
              <a:rPr lang="ru-RU" sz="2400" b="0" i="0" u="none" strike="noStrike" baseline="0" dirty="0" err="1">
                <a:solidFill>
                  <a:srgbClr val="000000"/>
                </a:solidFill>
                <a:latin typeface="Arial" panose="020B0604020202020204" pitchFamily="34" charset="0"/>
              </a:rPr>
              <a:t>testing</a:t>
            </a:r>
            <a:r>
              <a:rPr lang="ru-RU" sz="2400" b="0" i="0" u="none" strike="noStrike" baseline="0" dirty="0">
                <a:solidFill>
                  <a:srgbClr val="000000"/>
                </a:solidFill>
                <a:latin typeface="Arial" panose="020B0604020202020204" pitchFamily="34" charset="0"/>
              </a:rPr>
              <a:t>), а затем — строго наоборот: как процесс доказательства неработоспособности программы в некоторых заданных условиях (</a:t>
            </a:r>
            <a:r>
              <a:rPr lang="ru-RU" sz="2400" b="0" i="0" u="none" strike="noStrike" baseline="0" dirty="0" err="1">
                <a:solidFill>
                  <a:srgbClr val="000000"/>
                </a:solidFill>
                <a:latin typeface="Arial" panose="020B0604020202020204" pitchFamily="34" charset="0"/>
              </a:rPr>
              <a:t>negative</a:t>
            </a:r>
            <a:r>
              <a:rPr lang="ru-RU" sz="2400" b="0" i="0" u="none" strike="noStrike" baseline="0" dirty="0">
                <a:solidFill>
                  <a:srgbClr val="000000"/>
                </a:solidFill>
                <a:latin typeface="Arial" panose="020B0604020202020204" pitchFamily="34" charset="0"/>
              </a:rPr>
              <a:t> </a:t>
            </a:r>
            <a:r>
              <a:rPr lang="ru-RU" sz="2400" b="0" i="0" u="none" strike="noStrike" baseline="0" dirty="0" err="1">
                <a:solidFill>
                  <a:srgbClr val="000000"/>
                </a:solidFill>
                <a:latin typeface="Arial" panose="020B0604020202020204" pitchFamily="34" charset="0"/>
              </a:rPr>
              <a:t>testing</a:t>
            </a:r>
            <a:r>
              <a:rPr lang="ru-RU" sz="2400" b="0" i="0" u="none" strike="noStrike" baseline="0" dirty="0">
                <a:solidFill>
                  <a:srgbClr val="000000"/>
                </a:solidFill>
                <a:latin typeface="Arial" panose="020B0604020202020204" pitchFamily="34" charset="0"/>
              </a:rPr>
              <a:t>). Это внутреннее противоречие не только не исчезло со временем, но и в наши дни многими авторами совершенно справедливо отмечается как две взаимодополняющие цели тестирования. </a:t>
            </a:r>
          </a:p>
          <a:p>
            <a:r>
              <a:rPr lang="ru-RU" sz="2400" b="0" i="0" u="none" strike="noStrike" baseline="0" dirty="0">
                <a:solidFill>
                  <a:srgbClr val="000000"/>
                </a:solidFill>
                <a:latin typeface="Arial" panose="020B0604020202020204" pitchFamily="34" charset="0"/>
              </a:rPr>
              <a:t>Отметим, что «</a:t>
            </a:r>
            <a:r>
              <a:rPr lang="ru-RU" sz="2400" b="0" i="1" u="none" strike="noStrike" baseline="0" dirty="0">
                <a:solidFill>
                  <a:srgbClr val="000000"/>
                </a:solidFill>
                <a:latin typeface="Arial" panose="020B0604020202020204" pitchFamily="34" charset="0"/>
              </a:rPr>
              <a:t>процесс доказательства неработоспособности программы</a:t>
            </a:r>
            <a:r>
              <a:rPr lang="ru-RU" sz="2400" b="0" i="0" u="none" strike="noStrike" baseline="0" dirty="0">
                <a:solidFill>
                  <a:srgbClr val="000000"/>
                </a:solidFill>
                <a:latin typeface="Arial" panose="020B0604020202020204" pitchFamily="34" charset="0"/>
              </a:rPr>
              <a:t>» ценится чуть больше, т.к. не позволяет закрывать глаза на обнаруженные проблемы. Итак, ещё раз самое важное, что тестирование «приобрело» в 70-е годы: </a:t>
            </a:r>
          </a:p>
          <a:p>
            <a:r>
              <a:rPr lang="ru-RU" sz="2400" b="0" i="0" u="none" strike="noStrike" baseline="0" dirty="0">
                <a:solidFill>
                  <a:srgbClr val="000000"/>
                </a:solidFill>
                <a:latin typeface="Arial" panose="020B0604020202020204" pitchFamily="34" charset="0"/>
              </a:rPr>
              <a:t> тестирование позволяет удостовериться, что программа соответствует требованиям; </a:t>
            </a:r>
          </a:p>
          <a:p>
            <a:r>
              <a:rPr lang="ru-RU" sz="2400" b="0" i="0" u="none" strike="noStrike" baseline="0" dirty="0">
                <a:solidFill>
                  <a:srgbClr val="000000"/>
                </a:solidFill>
                <a:latin typeface="Arial" panose="020B0604020202020204" pitchFamily="34" charset="0"/>
              </a:rPr>
              <a:t>тестирование позволяет определить условия, при которых программа ведёт себя некорректно. </a:t>
            </a:r>
          </a:p>
          <a:p>
            <a:endParaRPr lang="en-US" sz="2600" dirty="0"/>
          </a:p>
        </p:txBody>
      </p:sp>
    </p:spTree>
    <p:extLst>
      <p:ext uri="{BB962C8B-B14F-4D97-AF65-F5344CB8AC3E}">
        <p14:creationId xmlns:p14="http://schemas.microsoft.com/office/powerpoint/2010/main" val="1489094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C142BCA-8544-4954-B7DE-1D123E2EF419}"/>
              </a:ext>
            </a:extLst>
          </p:cNvPr>
          <p:cNvSpPr>
            <a:spLocks noGrp="1"/>
          </p:cNvSpPr>
          <p:nvPr>
            <p:ph idx="1"/>
          </p:nvPr>
        </p:nvSpPr>
        <p:spPr>
          <a:xfrm>
            <a:off x="838200" y="493975"/>
            <a:ext cx="10515600" cy="4351338"/>
          </a:xfrm>
        </p:spPr>
        <p:txBody>
          <a:bodyPr>
            <a:normAutofit lnSpcReduction="10000"/>
          </a:bodyPr>
          <a:lstStyle/>
          <a:p>
            <a:r>
              <a:rPr lang="ru-RU" sz="2600" b="1" i="0" u="none" strike="noStrike" baseline="0" dirty="0">
                <a:solidFill>
                  <a:srgbClr val="000000"/>
                </a:solidFill>
                <a:latin typeface="Arial" panose="020B0604020202020204" pitchFamily="34" charset="0"/>
              </a:rPr>
              <a:t>В 80-х годах </a:t>
            </a:r>
            <a:r>
              <a:rPr lang="ru-RU" sz="2600" b="0" i="0" u="none" strike="noStrike" baseline="0" dirty="0">
                <a:solidFill>
                  <a:srgbClr val="000000"/>
                </a:solidFill>
                <a:latin typeface="Arial" panose="020B0604020202020204" pitchFamily="34" charset="0"/>
              </a:rPr>
              <a:t>произошло ключевое изменение места тестирования в разработке ПО: вместо одной из финальных стадий создания проекта тестирование стало применяться на протяжении всего цикла разработки (</a:t>
            </a:r>
            <a:r>
              <a:rPr lang="ru-RU" sz="2600" b="0" i="0" u="none" strike="noStrike" baseline="0" dirty="0" err="1">
                <a:solidFill>
                  <a:srgbClr val="000000"/>
                </a:solidFill>
                <a:latin typeface="Arial" panose="020B0604020202020204" pitchFamily="34" charset="0"/>
              </a:rPr>
              <a:t>software</a:t>
            </a:r>
            <a:r>
              <a:rPr lang="ru-RU" sz="2600" b="0" i="0" u="none" strike="noStrike" baseline="0" dirty="0">
                <a:solidFill>
                  <a:srgbClr val="000000"/>
                </a:solidFill>
                <a:latin typeface="Arial" panose="020B0604020202020204" pitchFamily="34" charset="0"/>
              </a:rPr>
              <a:t> </a:t>
            </a:r>
            <a:r>
              <a:rPr lang="ru-RU" sz="2600" b="0" i="0" u="none" strike="noStrike" baseline="0" dirty="0" err="1">
                <a:solidFill>
                  <a:srgbClr val="000000"/>
                </a:solidFill>
                <a:latin typeface="Arial" panose="020B0604020202020204" pitchFamily="34" charset="0"/>
              </a:rPr>
              <a:t>lifecycle</a:t>
            </a:r>
            <a:r>
              <a:rPr lang="ru-RU" sz="2600" b="0" i="0" u="none" strike="noStrike" baseline="0" dirty="0">
                <a:solidFill>
                  <a:srgbClr val="000000"/>
                </a:solidFill>
                <a:latin typeface="Arial" panose="020B0604020202020204" pitchFamily="34" charset="0"/>
              </a:rPr>
              <a:t>) (</a:t>
            </a:r>
          </a:p>
          <a:p>
            <a:r>
              <a:rPr lang="ru-RU" sz="2600" b="0" i="0" u="none" strike="noStrike" baseline="0" dirty="0">
                <a:solidFill>
                  <a:srgbClr val="000000"/>
                </a:solidFill>
                <a:latin typeface="Arial" panose="020B0604020202020204" pitchFamily="34" charset="0"/>
              </a:rPr>
              <a:t>также см. описание итерационной инкрементальной модели разработки ПО в главе «Модели разработки ПО»), что позволило в очень многих случаях не только быстро обнаруживать и устранять проблемы, но даже предсказывать и предотвращать их появление. </a:t>
            </a:r>
          </a:p>
          <a:p>
            <a:r>
              <a:rPr lang="ru-RU" sz="2600" b="0" i="0" u="none" strike="noStrike" baseline="0" dirty="0">
                <a:solidFill>
                  <a:srgbClr val="000000"/>
                </a:solidFill>
                <a:latin typeface="Arial" panose="020B0604020202020204" pitchFamily="34" charset="0"/>
              </a:rPr>
              <a:t>В этот же период времени отмечено бурное развитие и формализация методологий тестирования и появление первых элементарных попыток автоматизировать тестирование</a:t>
            </a:r>
            <a:r>
              <a:rPr lang="ru-RU" sz="1800" b="0" i="0" u="none" strike="noStrike" baseline="0" dirty="0">
                <a:solidFill>
                  <a:srgbClr val="000000"/>
                </a:solidFill>
                <a:latin typeface="Arial" panose="020B0604020202020204" pitchFamily="34" charset="0"/>
              </a:rPr>
              <a:t>. </a:t>
            </a:r>
            <a:endParaRPr lang="en-US" dirty="0"/>
          </a:p>
        </p:txBody>
      </p:sp>
    </p:spTree>
    <p:extLst>
      <p:ext uri="{BB962C8B-B14F-4D97-AF65-F5344CB8AC3E}">
        <p14:creationId xmlns:p14="http://schemas.microsoft.com/office/powerpoint/2010/main" val="139422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25F44B2-B54A-4C67-AECC-8551995C8350}"/>
              </a:ext>
            </a:extLst>
          </p:cNvPr>
          <p:cNvSpPr>
            <a:spLocks noGrp="1"/>
          </p:cNvSpPr>
          <p:nvPr>
            <p:ph idx="1"/>
          </p:nvPr>
        </p:nvSpPr>
        <p:spPr>
          <a:xfrm>
            <a:off x="838200" y="653773"/>
            <a:ext cx="10773792" cy="5604984"/>
          </a:xfrm>
        </p:spPr>
        <p:txBody>
          <a:bodyPr>
            <a:normAutofit/>
          </a:bodyPr>
          <a:lstStyle/>
          <a:p>
            <a:r>
              <a:rPr lang="ru-RU" sz="2600" b="1" i="0" u="none" strike="noStrike" baseline="0" dirty="0">
                <a:solidFill>
                  <a:srgbClr val="000000"/>
                </a:solidFill>
                <a:latin typeface="Arial" panose="020B0604020202020204" pitchFamily="34" charset="0"/>
              </a:rPr>
              <a:t>В 90-х годах </a:t>
            </a:r>
            <a:r>
              <a:rPr lang="ru-RU" sz="2600" b="0" i="0" u="none" strike="noStrike" baseline="0" dirty="0">
                <a:solidFill>
                  <a:srgbClr val="000000"/>
                </a:solidFill>
                <a:latin typeface="Arial" panose="020B0604020202020204" pitchFamily="34" charset="0"/>
              </a:rPr>
              <a:t>произошёл переход от тестирования как такового к более все-объемлющему процессу, который называется «обеспечение качества (</a:t>
            </a:r>
            <a:r>
              <a:rPr lang="ru-RU" sz="2600" b="0" i="0" u="none" strike="noStrike" baseline="0" dirty="0" err="1">
                <a:solidFill>
                  <a:srgbClr val="000000"/>
                </a:solidFill>
                <a:latin typeface="Arial" panose="020B0604020202020204" pitchFamily="34" charset="0"/>
              </a:rPr>
              <a:t>quality</a:t>
            </a:r>
            <a:r>
              <a:rPr lang="ru-RU" sz="2600" b="0" i="0" u="none" strike="noStrike" baseline="0" dirty="0">
                <a:solidFill>
                  <a:srgbClr val="000000"/>
                </a:solidFill>
                <a:latin typeface="Arial" panose="020B0604020202020204" pitchFamily="34" charset="0"/>
              </a:rPr>
              <a:t> assur-ance8)», охватывает весь цикл разработки ПО и затрагивает процессы планирования, проектирования, создания и выполнения тест-кейсов, поддержку имеющихся тест-кейсов и тестовых окружений. </a:t>
            </a:r>
          </a:p>
          <a:p>
            <a:r>
              <a:rPr lang="ru-RU" sz="2600" b="0" i="0" u="none" strike="noStrike" baseline="0" dirty="0">
                <a:solidFill>
                  <a:srgbClr val="000000"/>
                </a:solidFill>
                <a:latin typeface="Arial" panose="020B0604020202020204" pitchFamily="34" charset="0"/>
              </a:rPr>
              <a:t>Тестирование вышло на качественно новый уровень, который естественным образом привёл к дальнейшему развитию методологий, появлению достаточно мощных инструментов управления процессом тестирования и инструментальных средств автоматизации тестирования, уже вполне похожих на своих нынешних потомков. </a:t>
            </a:r>
            <a:endParaRPr lang="en-US" sz="2600" dirty="0"/>
          </a:p>
        </p:txBody>
      </p:sp>
    </p:spTree>
    <p:extLst>
      <p:ext uri="{BB962C8B-B14F-4D97-AF65-F5344CB8AC3E}">
        <p14:creationId xmlns:p14="http://schemas.microsoft.com/office/powerpoint/2010/main" val="49150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7E9D70A-822D-46FF-AF28-A6EB152221CA}"/>
              </a:ext>
            </a:extLst>
          </p:cNvPr>
          <p:cNvSpPr>
            <a:spLocks noGrp="1"/>
          </p:cNvSpPr>
          <p:nvPr>
            <p:ph idx="1"/>
          </p:nvPr>
        </p:nvSpPr>
        <p:spPr>
          <a:xfrm>
            <a:off x="562991" y="618260"/>
            <a:ext cx="10702771" cy="5454065"/>
          </a:xfrm>
        </p:spPr>
        <p:txBody>
          <a:bodyPr>
            <a:noAutofit/>
          </a:bodyPr>
          <a:lstStyle/>
          <a:p>
            <a:r>
              <a:rPr lang="ru-RU" sz="2600" b="1" i="0" u="none" strike="noStrike" baseline="0" dirty="0">
                <a:solidFill>
                  <a:srgbClr val="000000"/>
                </a:solidFill>
                <a:latin typeface="Arial" panose="020B0604020202020204" pitchFamily="34" charset="0"/>
              </a:rPr>
              <a:t>В нулевые годы </a:t>
            </a:r>
            <a:r>
              <a:rPr lang="ru-RU" sz="2600" b="0" i="0" u="none" strike="noStrike" baseline="0" dirty="0">
                <a:solidFill>
                  <a:srgbClr val="000000"/>
                </a:solidFill>
                <a:latin typeface="Arial" panose="020B0604020202020204" pitchFamily="34" charset="0"/>
              </a:rPr>
              <a:t>нынешнего века развитие тестирования продолжалось в контексте поиска всё новых и новых путей, методологий, техник и подходов к обеспечению качества. Серьёзное влияние на понимание тестирования оказало </a:t>
            </a:r>
            <a:r>
              <a:rPr lang="ru-RU" sz="2600" b="0" i="0" u="none" strike="noStrike" baseline="0" dirty="0" err="1">
                <a:solidFill>
                  <a:srgbClr val="000000"/>
                </a:solidFill>
                <a:latin typeface="Arial" panose="020B0604020202020204" pitchFamily="34" charset="0"/>
              </a:rPr>
              <a:t>появ-ление</a:t>
            </a:r>
            <a:r>
              <a:rPr lang="ru-RU" sz="2600" b="0" i="0" u="none" strike="noStrike" baseline="0" dirty="0">
                <a:solidFill>
                  <a:srgbClr val="000000"/>
                </a:solidFill>
                <a:latin typeface="Arial" panose="020B0604020202020204" pitchFamily="34" charset="0"/>
              </a:rPr>
              <a:t> гибких методологий разработки и таких подходов, как «разработка под управлением тестированием (</a:t>
            </a:r>
            <a:r>
              <a:rPr lang="ru-RU" sz="2600" b="0" i="0" u="none" strike="noStrike" baseline="0" dirty="0" err="1">
                <a:solidFill>
                  <a:srgbClr val="000000"/>
                </a:solidFill>
                <a:latin typeface="Arial" panose="020B0604020202020204" pitchFamily="34" charset="0"/>
              </a:rPr>
              <a:t>test-driven</a:t>
            </a:r>
            <a:r>
              <a:rPr lang="ru-RU" sz="2600" b="0" i="0" u="none" strike="noStrike" baseline="0" dirty="0">
                <a:solidFill>
                  <a:srgbClr val="000000"/>
                </a:solidFill>
                <a:latin typeface="Arial" panose="020B0604020202020204" pitchFamily="34" charset="0"/>
              </a:rPr>
              <a:t> </a:t>
            </a:r>
            <a:r>
              <a:rPr lang="ru-RU" sz="2600" b="0" i="0" u="none" strike="noStrike" baseline="0" dirty="0" err="1">
                <a:solidFill>
                  <a:srgbClr val="000000"/>
                </a:solidFill>
                <a:latin typeface="Arial" panose="020B0604020202020204" pitchFamily="34" charset="0"/>
              </a:rPr>
              <a:t>development</a:t>
            </a:r>
            <a:r>
              <a:rPr lang="ru-RU" sz="2600" b="0" i="0" u="none" strike="noStrike" baseline="0" dirty="0">
                <a:solidFill>
                  <a:srgbClr val="000000"/>
                </a:solidFill>
                <a:latin typeface="Arial" panose="020B0604020202020204" pitchFamily="34" charset="0"/>
              </a:rPr>
              <a:t>, TDD)». </a:t>
            </a:r>
          </a:p>
          <a:p>
            <a:r>
              <a:rPr lang="ru-RU" sz="2600" b="0" i="0" u="none" strike="noStrike" baseline="0" dirty="0">
                <a:solidFill>
                  <a:srgbClr val="000000"/>
                </a:solidFill>
                <a:latin typeface="Arial" panose="020B0604020202020204" pitchFamily="34" charset="0"/>
              </a:rPr>
              <a:t>Автоматизация тестирования уже воспринималась как обычная неотъемлемая часть большинства проектов, а также стали популярны идеи о том, что во главу процесса тестирования следует ставить не соответствие программы требованиям, а её способность предоставить конечному пользователю возможность эффективно решать свои задачи. </a:t>
            </a:r>
            <a:endParaRPr lang="en-US" sz="2600" dirty="0"/>
          </a:p>
        </p:txBody>
      </p:sp>
    </p:spTree>
    <p:extLst>
      <p:ext uri="{BB962C8B-B14F-4D97-AF65-F5344CB8AC3E}">
        <p14:creationId xmlns:p14="http://schemas.microsoft.com/office/powerpoint/2010/main" val="1248047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641110-2856-41D6-8595-5425331BDB39}"/>
              </a:ext>
            </a:extLst>
          </p:cNvPr>
          <p:cNvSpPr>
            <a:spLocks noGrp="1"/>
          </p:cNvSpPr>
          <p:nvPr>
            <p:ph type="title"/>
          </p:nvPr>
        </p:nvSpPr>
        <p:spPr/>
        <p:txBody>
          <a:bodyPr>
            <a:normAutofit/>
          </a:bodyPr>
          <a:lstStyle/>
          <a:p>
            <a:r>
              <a:rPr lang="ru-RU" sz="2800" b="1" i="0" u="none" strike="noStrike" baseline="0" dirty="0">
                <a:solidFill>
                  <a:srgbClr val="000000"/>
                </a:solidFill>
                <a:latin typeface="Arial" panose="020B0604020202020204" pitchFamily="34" charset="0"/>
              </a:rPr>
              <a:t>Процессы тестирования и разработки ПО</a:t>
            </a:r>
            <a:endParaRPr lang="en-US" sz="2800" dirty="0"/>
          </a:p>
        </p:txBody>
      </p:sp>
      <p:sp>
        <p:nvSpPr>
          <p:cNvPr id="3" name="Объект 2">
            <a:extLst>
              <a:ext uri="{FF2B5EF4-FFF2-40B4-BE49-F238E27FC236}">
                <a16:creationId xmlns:a16="http://schemas.microsoft.com/office/drawing/2014/main" id="{07CA4C47-19AB-4599-8387-A371F402117C}"/>
              </a:ext>
            </a:extLst>
          </p:cNvPr>
          <p:cNvSpPr>
            <a:spLocks noGrp="1"/>
          </p:cNvSpPr>
          <p:nvPr>
            <p:ph idx="1"/>
          </p:nvPr>
        </p:nvSpPr>
        <p:spPr>
          <a:xfrm>
            <a:off x="731668" y="1381741"/>
            <a:ext cx="10515600" cy="4351338"/>
          </a:xfrm>
        </p:spPr>
        <p:txBody>
          <a:bodyPr>
            <a:normAutofit fontScale="92500" lnSpcReduction="10000"/>
          </a:bodyPr>
          <a:lstStyle/>
          <a:p>
            <a:r>
              <a:rPr lang="ru-RU" sz="2600" b="1" i="0" u="none" strike="noStrike" baseline="0" dirty="0">
                <a:solidFill>
                  <a:srgbClr val="000000"/>
                </a:solidFill>
                <a:latin typeface="Arial" panose="020B0604020202020204" pitchFamily="34" charset="0"/>
              </a:rPr>
              <a:t>Модели разработки ПО</a:t>
            </a:r>
          </a:p>
          <a:p>
            <a:endParaRPr lang="ru-RU" sz="2600" b="1" i="0" u="none" strike="noStrike" baseline="0" dirty="0">
              <a:solidFill>
                <a:srgbClr val="000000"/>
              </a:solidFill>
              <a:latin typeface="Arial" panose="020B0604020202020204" pitchFamily="34" charset="0"/>
            </a:endParaRPr>
          </a:p>
          <a:p>
            <a:r>
              <a:rPr lang="ru-RU" sz="2400" b="1" i="0" u="none" strike="noStrike" baseline="0" dirty="0">
                <a:solidFill>
                  <a:srgbClr val="000000"/>
                </a:solidFill>
                <a:latin typeface="Arial" panose="020B0604020202020204" pitchFamily="34" charset="0"/>
              </a:rPr>
              <a:t>Модель разработки ПО (</a:t>
            </a:r>
            <a:r>
              <a:rPr lang="ru-RU" sz="2400" b="0" i="0" u="none" strike="noStrike" baseline="0" dirty="0" err="1">
                <a:solidFill>
                  <a:srgbClr val="000000"/>
                </a:solidFill>
                <a:latin typeface="Arial" panose="020B0604020202020204" pitchFamily="34" charset="0"/>
              </a:rPr>
              <a:t>Software</a:t>
            </a:r>
            <a:r>
              <a:rPr lang="ru-RU" sz="2400" b="0" i="0" u="none" strike="noStrike" baseline="0" dirty="0">
                <a:solidFill>
                  <a:srgbClr val="000000"/>
                </a:solidFill>
                <a:latin typeface="Arial" panose="020B0604020202020204" pitchFamily="34" charset="0"/>
              </a:rPr>
              <a:t> </a:t>
            </a:r>
            <a:r>
              <a:rPr lang="ru-RU" sz="2400" b="0" i="0" u="none" strike="noStrike" baseline="0" dirty="0" err="1">
                <a:solidFill>
                  <a:srgbClr val="000000"/>
                </a:solidFill>
                <a:latin typeface="Arial" panose="020B0604020202020204" pitchFamily="34" charset="0"/>
              </a:rPr>
              <a:t>Development</a:t>
            </a:r>
            <a:r>
              <a:rPr lang="ru-RU" sz="2400" b="0" i="0" u="none" strike="noStrike" baseline="0" dirty="0">
                <a:solidFill>
                  <a:srgbClr val="000000"/>
                </a:solidFill>
                <a:latin typeface="Arial" panose="020B0604020202020204" pitchFamily="34" charset="0"/>
              </a:rPr>
              <a:t> </a:t>
            </a:r>
            <a:r>
              <a:rPr lang="ru-RU" sz="2400" b="0" i="0" u="none" strike="noStrike" baseline="0" dirty="0" err="1">
                <a:solidFill>
                  <a:srgbClr val="000000"/>
                </a:solidFill>
                <a:latin typeface="Arial" panose="020B0604020202020204" pitchFamily="34" charset="0"/>
              </a:rPr>
              <a:t>Model</a:t>
            </a:r>
            <a:r>
              <a:rPr lang="ru-RU" sz="2400" b="0" i="0" u="none" strike="noStrike" baseline="0" dirty="0">
                <a:solidFill>
                  <a:srgbClr val="000000"/>
                </a:solidFill>
                <a:latin typeface="Arial" panose="020B0604020202020204" pitchFamily="34" charset="0"/>
              </a:rPr>
              <a:t>, SDM) — структура, систематизирующая различные виды проектной деятельности, их взаимо-действие и последовательность в процессе разработки ПО. Выбор той или иной модели зависит от масштаба и сложности проекта, предметной области, доступных ресурсов и множества других факторов. 	</a:t>
            </a:r>
          </a:p>
          <a:p>
            <a:endParaRPr lang="ru-RU" sz="2400" b="0" i="0" u="none" strike="noStrike" baseline="0" dirty="0">
              <a:solidFill>
                <a:srgbClr val="000000"/>
              </a:solidFill>
              <a:latin typeface="Arial" panose="020B0604020202020204" pitchFamily="34" charset="0"/>
            </a:endParaRPr>
          </a:p>
          <a:p>
            <a:r>
              <a:rPr lang="ru-RU" sz="2400" b="0" i="0" u="none" strike="noStrike" baseline="0" dirty="0">
                <a:solidFill>
                  <a:srgbClr val="000000"/>
                </a:solidFill>
                <a:latin typeface="Arial" panose="020B0604020202020204" pitchFamily="34" charset="0"/>
              </a:rPr>
              <a:t>Выбор модели разработки ПО серьёзно влияет на процесс тестирования, определяя выбор стратегии, расписание, необходимые ресурсы и т.д. </a:t>
            </a:r>
          </a:p>
          <a:p>
            <a:r>
              <a:rPr lang="ru-RU" sz="2400" b="0" i="0" u="none" strike="noStrike" baseline="0" dirty="0">
                <a:solidFill>
                  <a:srgbClr val="000000"/>
                </a:solidFill>
                <a:latin typeface="Arial" panose="020B0604020202020204" pitchFamily="34" charset="0"/>
              </a:rPr>
              <a:t>Моделей разработки ПО много, но в общем случае классическими можно считать водопадную, v-образную, итерационную инкрементальную, спиральную и гибкую.</a:t>
            </a:r>
            <a:endParaRPr lang="en-US" sz="2400" dirty="0"/>
          </a:p>
        </p:txBody>
      </p:sp>
    </p:spTree>
    <p:extLst>
      <p:ext uri="{BB962C8B-B14F-4D97-AF65-F5344CB8AC3E}">
        <p14:creationId xmlns:p14="http://schemas.microsoft.com/office/powerpoint/2010/main" val="1444792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24053FE2-35F0-4920-B32B-AC904889EE50}"/>
              </a:ext>
            </a:extLst>
          </p:cNvPr>
          <p:cNvSpPr>
            <a:spLocks noGrp="1"/>
          </p:cNvSpPr>
          <p:nvPr>
            <p:ph idx="1"/>
          </p:nvPr>
        </p:nvSpPr>
        <p:spPr>
          <a:xfrm>
            <a:off x="598503" y="662650"/>
            <a:ext cx="11146654" cy="5844682"/>
          </a:xfrm>
        </p:spPr>
        <p:txBody>
          <a:bodyPr>
            <a:normAutofit/>
          </a:bodyPr>
          <a:lstStyle/>
          <a:p>
            <a:r>
              <a:rPr lang="ru-RU" sz="2600" b="1" i="0" u="none" strike="noStrike" baseline="0" dirty="0">
                <a:solidFill>
                  <a:srgbClr val="000000"/>
                </a:solidFill>
                <a:latin typeface="Arial" panose="020B0604020202020204" pitchFamily="34" charset="0"/>
              </a:rPr>
              <a:t>Водопадная модель </a:t>
            </a:r>
            <a:r>
              <a:rPr lang="ru-RU" sz="2600" b="0" i="0" u="none" strike="noStrike" baseline="0" dirty="0">
                <a:solidFill>
                  <a:srgbClr val="000000"/>
                </a:solidFill>
                <a:latin typeface="Arial" panose="020B0604020202020204" pitchFamily="34" charset="0"/>
              </a:rPr>
              <a:t>(</a:t>
            </a:r>
            <a:r>
              <a:rPr lang="ru-RU" sz="2600" b="0" i="0" u="none" strike="noStrike" baseline="0" dirty="0" err="1">
                <a:solidFill>
                  <a:srgbClr val="000000"/>
                </a:solidFill>
                <a:latin typeface="Arial" panose="020B0604020202020204" pitchFamily="34" charset="0"/>
              </a:rPr>
              <a:t>waterfall</a:t>
            </a:r>
            <a:r>
              <a:rPr lang="ru-RU" sz="2600" b="0" i="0" u="none" strike="noStrike" baseline="0" dirty="0">
                <a:solidFill>
                  <a:srgbClr val="000000"/>
                </a:solidFill>
                <a:latin typeface="Arial" panose="020B0604020202020204" pitchFamily="34" charset="0"/>
              </a:rPr>
              <a:t> </a:t>
            </a:r>
            <a:r>
              <a:rPr lang="ru-RU" sz="2600" b="0" i="0" u="none" strike="noStrike" baseline="0" dirty="0" err="1">
                <a:solidFill>
                  <a:srgbClr val="000000"/>
                </a:solidFill>
                <a:latin typeface="Arial" panose="020B0604020202020204" pitchFamily="34" charset="0"/>
              </a:rPr>
              <a:t>model</a:t>
            </a:r>
            <a:r>
              <a:rPr lang="ru-RU" sz="2600" b="0" i="0" u="none" strike="noStrike" baseline="0" dirty="0">
                <a:solidFill>
                  <a:srgbClr val="000000"/>
                </a:solidFill>
                <a:latin typeface="Arial" panose="020B0604020202020204" pitchFamily="34" charset="0"/>
              </a:rPr>
              <a:t>) сейчас представляет скорее исторический интерес, т.к. в современных проектах практически неприменима. </a:t>
            </a:r>
          </a:p>
          <a:p>
            <a:r>
              <a:rPr lang="ru-RU" sz="2600" b="0" i="0" u="none" strike="noStrike" baseline="0" dirty="0">
                <a:solidFill>
                  <a:srgbClr val="000000"/>
                </a:solidFill>
                <a:latin typeface="Arial" panose="020B0604020202020204" pitchFamily="34" charset="0"/>
              </a:rPr>
              <a:t>Она предполагает однократное выполнение каждой из фаз проекта, которые, в свою очередь, строго следуют друг за другом (рисунок 2.1.a). Очень упрощённо можно сказать, что в рамках этой модели в любой момент времени команде «видна» лишь предыдущая и следующая фаза. В реальной же разработке ПО приходится «видеть весь проект целиком» и возвращаться к предыдущим фазам, чтобы исправить недоработки или что-то уточнить.</a:t>
            </a:r>
            <a:endParaRPr lang="en-US" sz="2600" dirty="0"/>
          </a:p>
        </p:txBody>
      </p:sp>
    </p:spTree>
    <p:extLst>
      <p:ext uri="{BB962C8B-B14F-4D97-AF65-F5344CB8AC3E}">
        <p14:creationId xmlns:p14="http://schemas.microsoft.com/office/powerpoint/2010/main" val="341644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6084C93C-919A-4ABA-AAA9-B471167D28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5421" y="760413"/>
            <a:ext cx="10065312" cy="5782430"/>
          </a:xfrm>
        </p:spPr>
      </p:pic>
    </p:spTree>
    <p:extLst>
      <p:ext uri="{BB962C8B-B14F-4D97-AF65-F5344CB8AC3E}">
        <p14:creationId xmlns:p14="http://schemas.microsoft.com/office/powerpoint/2010/main" val="2160782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47E5E34A-0DFA-4E28-94F4-3647B54D7575}"/>
              </a:ext>
            </a:extLst>
          </p:cNvPr>
          <p:cNvSpPr>
            <a:spLocks noGrp="1"/>
          </p:cNvSpPr>
          <p:nvPr>
            <p:ph idx="1"/>
          </p:nvPr>
        </p:nvSpPr>
        <p:spPr>
          <a:xfrm>
            <a:off x="589626" y="671527"/>
            <a:ext cx="11137776" cy="5809171"/>
          </a:xfrm>
        </p:spPr>
        <p:txBody>
          <a:bodyPr>
            <a:normAutofit/>
          </a:bodyPr>
          <a:lstStyle/>
          <a:p>
            <a:r>
              <a:rPr lang="ru-RU" sz="2600" b="0" i="0" u="none" strike="noStrike" baseline="0" dirty="0">
                <a:solidFill>
                  <a:srgbClr val="000000"/>
                </a:solidFill>
                <a:latin typeface="Arial" panose="020B0604020202020204" pitchFamily="34" charset="0"/>
              </a:rPr>
              <a:t>К недостаткам водопадной модели принято относить тот факт, что участие пользователей ПО в ней либо не предусмотрено вообще, либо предусмотрено лишь косвенно на стадии однократного сбора требований. С точки зрения же тестирования эта модель плоха тем, что тестирование в явном виде появляется здесь лишь с середины развития проекта, достигая своего максимума в самом конце.</a:t>
            </a:r>
          </a:p>
          <a:p>
            <a:endParaRPr lang="ru-RU" sz="2600" b="0" i="0" u="none" strike="noStrike" baseline="0" dirty="0">
              <a:solidFill>
                <a:srgbClr val="000000"/>
              </a:solidFill>
              <a:latin typeface="Arial" panose="020B0604020202020204" pitchFamily="34" charset="0"/>
            </a:endParaRPr>
          </a:p>
          <a:p>
            <a:r>
              <a:rPr lang="ru-RU" sz="2600" b="0" i="0" u="none" strike="noStrike" baseline="0" dirty="0">
                <a:solidFill>
                  <a:srgbClr val="000000"/>
                </a:solidFill>
                <a:latin typeface="Arial" panose="020B0604020202020204" pitchFamily="34" charset="0"/>
              </a:rPr>
              <a:t>Тем не менее водопадная модель часто интуитивно применяется при выполнении относительно простых задач, а её недостатки послужили прекрасным отправным пунктом для создания новых моделей. Также эта модель в несколько усовершенствованном виде используется на крупных проектах, в которых требования очень стабильны и могут быть хорошо сформулированы в начале проекта (аэрокосмическая область, медицинское ПО и т.д.)</a:t>
            </a:r>
            <a:endParaRPr lang="en-US" sz="2600" dirty="0"/>
          </a:p>
        </p:txBody>
      </p:sp>
    </p:spTree>
    <p:extLst>
      <p:ext uri="{BB962C8B-B14F-4D97-AF65-F5344CB8AC3E}">
        <p14:creationId xmlns:p14="http://schemas.microsoft.com/office/powerpoint/2010/main" val="3995525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C142BCA-8544-4954-B7DE-1D123E2EF419}"/>
              </a:ext>
            </a:extLst>
          </p:cNvPr>
          <p:cNvSpPr>
            <a:spLocks noGrp="1"/>
          </p:cNvSpPr>
          <p:nvPr>
            <p:ph idx="1"/>
          </p:nvPr>
        </p:nvSpPr>
        <p:spPr>
          <a:xfrm>
            <a:off x="580747" y="431829"/>
            <a:ext cx="11128899" cy="6004481"/>
          </a:xfrm>
        </p:spPr>
        <p:txBody>
          <a:bodyPr>
            <a:normAutofit/>
          </a:bodyPr>
          <a:lstStyle/>
          <a:p>
            <a:r>
              <a:rPr lang="ru-RU" sz="2600" b="1" i="0" u="none" strike="noStrike" baseline="0" dirty="0">
                <a:solidFill>
                  <a:srgbClr val="000000"/>
                </a:solidFill>
                <a:latin typeface="Arial" panose="020B0604020202020204" pitchFamily="34" charset="0"/>
              </a:rPr>
              <a:t>V-образная модель </a:t>
            </a:r>
            <a:r>
              <a:rPr lang="ru-RU" sz="2600" b="0" i="0" u="none" strike="noStrike" baseline="0" dirty="0">
                <a:solidFill>
                  <a:srgbClr val="000000"/>
                </a:solidFill>
                <a:latin typeface="Arial" panose="020B0604020202020204" pitchFamily="34" charset="0"/>
              </a:rPr>
              <a:t>(V-</a:t>
            </a:r>
            <a:r>
              <a:rPr lang="ru-RU" sz="2600" b="0" i="0" u="none" strike="noStrike" baseline="0" dirty="0" err="1">
                <a:solidFill>
                  <a:srgbClr val="000000"/>
                </a:solidFill>
                <a:latin typeface="Arial" panose="020B0604020202020204" pitchFamily="34" charset="0"/>
              </a:rPr>
              <a:t>model</a:t>
            </a:r>
            <a:r>
              <a:rPr lang="ru-RU" sz="2600" b="0" i="0" u="none" strike="noStrike" baseline="0" dirty="0">
                <a:solidFill>
                  <a:srgbClr val="000000"/>
                </a:solidFill>
                <a:latin typeface="Arial" panose="020B0604020202020204" pitchFamily="34" charset="0"/>
              </a:rPr>
              <a:t>) является логическим развитием водопадной. Можно заметить (рисунок 2.1.b), что в общем случае как водопадная, так и v-образная модели жизненного цикла ПО могут содержать один и тот же набор стадий, но принципиальное отличие заключается в том, как эта информация используется в процессе реализации проекта. </a:t>
            </a:r>
          </a:p>
          <a:p>
            <a:r>
              <a:rPr lang="ru-RU" sz="2600" b="0" i="0" u="none" strike="noStrike" baseline="0" dirty="0">
                <a:solidFill>
                  <a:srgbClr val="000000"/>
                </a:solidFill>
                <a:latin typeface="Arial" panose="020B0604020202020204" pitchFamily="34" charset="0"/>
              </a:rPr>
              <a:t>Очень упрощённо можно сказать, что при использовании v-образной модели на каждой стадии «на спуске» нужно думать о том, что и как будет происходить на соответствующей стадии «на подъёме». Тестирование здесь появляется уже на самых ранних стадиях развития проекта, что позволяет минимизировать риски, а также обнаружить и устранить множество потенциальных проблем до того, как они станут проблемами реальными</a:t>
            </a:r>
            <a:endParaRPr lang="en-US" sz="2600" dirty="0"/>
          </a:p>
        </p:txBody>
      </p:sp>
    </p:spTree>
    <p:extLst>
      <p:ext uri="{BB962C8B-B14F-4D97-AF65-F5344CB8AC3E}">
        <p14:creationId xmlns:p14="http://schemas.microsoft.com/office/powerpoint/2010/main" val="2024051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70F6555F-1B83-418E-956A-041AEF02E0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7868" y="500689"/>
            <a:ext cx="10156054" cy="5854332"/>
          </a:xfrm>
        </p:spPr>
      </p:pic>
    </p:spTree>
    <p:extLst>
      <p:ext uri="{BB962C8B-B14F-4D97-AF65-F5344CB8AC3E}">
        <p14:creationId xmlns:p14="http://schemas.microsoft.com/office/powerpoint/2010/main" val="1296102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7E9D70A-822D-46FF-AF28-A6EB152221CA}"/>
              </a:ext>
            </a:extLst>
          </p:cNvPr>
          <p:cNvSpPr>
            <a:spLocks noGrp="1"/>
          </p:cNvSpPr>
          <p:nvPr>
            <p:ph idx="1"/>
          </p:nvPr>
        </p:nvSpPr>
        <p:spPr>
          <a:xfrm>
            <a:off x="341050" y="289787"/>
            <a:ext cx="11439618" cy="6182033"/>
          </a:xfrm>
        </p:spPr>
        <p:txBody>
          <a:bodyPr>
            <a:noAutofit/>
          </a:bodyPr>
          <a:lstStyle/>
          <a:p>
            <a:r>
              <a:rPr lang="ru-RU" sz="2600" b="1" i="0" u="none" strike="noStrike" baseline="0" dirty="0">
                <a:solidFill>
                  <a:srgbClr val="000000"/>
                </a:solidFill>
                <a:latin typeface="Arial" panose="020B0604020202020204" pitchFamily="34" charset="0"/>
              </a:rPr>
              <a:t>Итерационная инкрементальная модель </a:t>
            </a:r>
            <a:r>
              <a:rPr lang="ru-RU" sz="2600" b="0" i="0" u="none" strike="noStrike" baseline="0" dirty="0">
                <a:solidFill>
                  <a:srgbClr val="000000"/>
                </a:solidFill>
                <a:latin typeface="Arial" panose="020B0604020202020204" pitchFamily="34" charset="0"/>
              </a:rPr>
              <a:t>(</a:t>
            </a:r>
            <a:r>
              <a:rPr lang="ru-RU" sz="2600" b="0" i="0" u="none" strike="noStrike" baseline="0" dirty="0" err="1">
                <a:solidFill>
                  <a:srgbClr val="000000"/>
                </a:solidFill>
                <a:latin typeface="Arial" panose="020B0604020202020204" pitchFamily="34" charset="0"/>
              </a:rPr>
              <a:t>iterative</a:t>
            </a:r>
            <a:r>
              <a:rPr lang="ru-RU" sz="2600" b="0" i="0" u="none" strike="noStrike" baseline="0" dirty="0">
                <a:solidFill>
                  <a:srgbClr val="000000"/>
                </a:solidFill>
                <a:latin typeface="Arial" panose="020B0604020202020204" pitchFamily="34" charset="0"/>
              </a:rPr>
              <a:t> </a:t>
            </a:r>
            <a:r>
              <a:rPr lang="ru-RU" sz="2600" b="0" i="0" u="none" strike="noStrike" baseline="0" dirty="0" err="1">
                <a:solidFill>
                  <a:srgbClr val="000000"/>
                </a:solidFill>
                <a:latin typeface="Arial" panose="020B0604020202020204" pitchFamily="34" charset="0"/>
              </a:rPr>
              <a:t>model</a:t>
            </a:r>
            <a:r>
              <a:rPr lang="ru-RU" sz="2600" b="0" i="0" u="none" strike="noStrike" baseline="0" dirty="0">
                <a:solidFill>
                  <a:srgbClr val="000000"/>
                </a:solidFill>
                <a:latin typeface="Arial" panose="020B0604020202020204" pitchFamily="34" charset="0"/>
              </a:rPr>
              <a:t>, </a:t>
            </a:r>
            <a:r>
              <a:rPr lang="ru-RU" sz="2600" b="0" i="0" u="none" strike="noStrike" baseline="0" dirty="0" err="1">
                <a:solidFill>
                  <a:srgbClr val="000000"/>
                </a:solidFill>
                <a:latin typeface="Arial" panose="020B0604020202020204" pitchFamily="34" charset="0"/>
              </a:rPr>
              <a:t>incremental</a:t>
            </a:r>
            <a:r>
              <a:rPr lang="ru-RU" sz="2600" b="0" i="0" u="none" strike="noStrike" baseline="0" dirty="0">
                <a:solidFill>
                  <a:srgbClr val="000000"/>
                </a:solidFill>
                <a:latin typeface="Arial" panose="020B0604020202020204" pitchFamily="34" charset="0"/>
              </a:rPr>
              <a:t> </a:t>
            </a:r>
            <a:r>
              <a:rPr lang="ru-RU" sz="2600" b="0" i="0" u="none" strike="noStrike" baseline="0" dirty="0" err="1">
                <a:solidFill>
                  <a:srgbClr val="000000"/>
                </a:solidFill>
                <a:latin typeface="Arial" panose="020B0604020202020204" pitchFamily="34" charset="0"/>
              </a:rPr>
              <a:t>model</a:t>
            </a:r>
            <a:r>
              <a:rPr lang="ru-RU" sz="2600" b="0" i="0" u="none" strike="noStrike" baseline="0" dirty="0">
                <a:solidFill>
                  <a:srgbClr val="000000"/>
                </a:solidFill>
                <a:latin typeface="Arial" panose="020B0604020202020204" pitchFamily="34" charset="0"/>
              </a:rPr>
              <a:t>) является фундаментальной основой современного подхода к разработке ПО. Как следует из названия модели, ей свойственна определённая двойственность </a:t>
            </a:r>
          </a:p>
          <a:p>
            <a:r>
              <a:rPr lang="ru-RU" sz="2600" b="0" i="0" u="none" strike="noStrike" baseline="0" dirty="0">
                <a:solidFill>
                  <a:srgbClr val="000000"/>
                </a:solidFill>
                <a:latin typeface="Arial" panose="020B0604020202020204" pitchFamily="34" charset="0"/>
              </a:rPr>
              <a:t>с точки зрения жизненного цикла модель является </a:t>
            </a:r>
            <a:r>
              <a:rPr lang="ru-RU" sz="2600" b="1" i="0" u="none" strike="noStrike" baseline="0" dirty="0">
                <a:solidFill>
                  <a:srgbClr val="000000"/>
                </a:solidFill>
                <a:latin typeface="Arial" panose="020B0604020202020204" pitchFamily="34" charset="0"/>
              </a:rPr>
              <a:t>итерационной</a:t>
            </a:r>
            <a:r>
              <a:rPr lang="ru-RU" sz="2600" b="0" i="0" u="none" strike="noStrike" baseline="0" dirty="0">
                <a:solidFill>
                  <a:srgbClr val="000000"/>
                </a:solidFill>
                <a:latin typeface="Arial" panose="020B0604020202020204" pitchFamily="34" charset="0"/>
              </a:rPr>
              <a:t>, т.к. подразумевает многократное повторение одних и тех же стадий; </a:t>
            </a:r>
          </a:p>
          <a:p>
            <a:r>
              <a:rPr lang="ru-RU" sz="2600" b="0" i="0" u="none" strike="noStrike" baseline="0" dirty="0">
                <a:solidFill>
                  <a:srgbClr val="000000"/>
                </a:solidFill>
                <a:latin typeface="Arial" panose="020B0604020202020204" pitchFamily="34" charset="0"/>
              </a:rPr>
              <a:t>с точки зрения развития продукта (приращения его полезных функций) модель является </a:t>
            </a:r>
            <a:r>
              <a:rPr lang="ru-RU" sz="2600" b="1" i="0" u="none" strike="noStrike" baseline="0" dirty="0">
                <a:solidFill>
                  <a:srgbClr val="000000"/>
                </a:solidFill>
                <a:latin typeface="Arial" panose="020B0604020202020204" pitchFamily="34" charset="0"/>
              </a:rPr>
              <a:t>инкрементальной</a:t>
            </a:r>
            <a:r>
              <a:rPr lang="ru-RU" sz="2600" b="0" i="0" u="none" strike="noStrike" baseline="0" dirty="0">
                <a:solidFill>
                  <a:srgbClr val="000000"/>
                </a:solidFill>
                <a:latin typeface="Arial" panose="020B0604020202020204" pitchFamily="34" charset="0"/>
              </a:rPr>
              <a:t>. </a:t>
            </a:r>
          </a:p>
          <a:p>
            <a:endParaRPr lang="en-US" sz="2600" b="0" i="0" u="none" strike="noStrike" baseline="0" dirty="0">
              <a:solidFill>
                <a:srgbClr val="000000"/>
              </a:solidFill>
              <a:latin typeface="Arial" panose="020B0604020202020204" pitchFamily="34" charset="0"/>
            </a:endParaRPr>
          </a:p>
          <a:p>
            <a:r>
              <a:rPr lang="ru-RU" sz="2600" b="0" i="0" u="none" strike="noStrike" baseline="0" dirty="0">
                <a:solidFill>
                  <a:srgbClr val="000000"/>
                </a:solidFill>
                <a:latin typeface="Arial" panose="020B0604020202020204" pitchFamily="34" charset="0"/>
              </a:rPr>
              <a:t>Ключевой особенностью данной модели является разбиение проекта на относительно небольшие промежутки (итерации), каждый из которых в общем случае может включать в себя все классические стадии, присущие водопадной и v-образной моделям (рисунок 2.1.c). Итогом итерации является приращение (</a:t>
            </a:r>
            <a:r>
              <a:rPr lang="ru-RU" sz="2600" b="0" i="0" u="none" strike="noStrike" baseline="0" dirty="0" err="1">
                <a:solidFill>
                  <a:srgbClr val="000000"/>
                </a:solidFill>
                <a:latin typeface="Arial" panose="020B0604020202020204" pitchFamily="34" charset="0"/>
              </a:rPr>
              <a:t>инкре</a:t>
            </a:r>
            <a:r>
              <a:rPr lang="ru-RU" sz="2600" b="0" i="0" u="none" strike="noStrike" baseline="0" dirty="0">
                <a:solidFill>
                  <a:srgbClr val="000000"/>
                </a:solidFill>
                <a:latin typeface="Arial" panose="020B0604020202020204" pitchFamily="34" charset="0"/>
              </a:rPr>
              <a:t>-мент) функциональности продукта, выраженное в промежуточном </a:t>
            </a:r>
            <a:r>
              <a:rPr lang="ru-RU" sz="2600" b="0" i="0" u="none" strike="noStrike" baseline="0" dirty="0" err="1">
                <a:solidFill>
                  <a:srgbClr val="000000"/>
                </a:solidFill>
                <a:latin typeface="Arial" panose="020B0604020202020204" pitchFamily="34" charset="0"/>
              </a:rPr>
              <a:t>билде</a:t>
            </a:r>
            <a:r>
              <a:rPr lang="ru-RU" sz="2600" b="0" i="0" u="none" strike="noStrike" baseline="0" dirty="0">
                <a:solidFill>
                  <a:srgbClr val="000000"/>
                </a:solidFill>
                <a:latin typeface="Arial" panose="020B0604020202020204" pitchFamily="34" charset="0"/>
              </a:rPr>
              <a:t> (</a:t>
            </a:r>
            <a:r>
              <a:rPr lang="ru-RU" sz="2600" b="0" i="0" u="none" strike="noStrike" baseline="0" dirty="0" err="1">
                <a:solidFill>
                  <a:srgbClr val="000000"/>
                </a:solidFill>
                <a:latin typeface="Arial" panose="020B0604020202020204" pitchFamily="34" charset="0"/>
              </a:rPr>
              <a:t>build</a:t>
            </a:r>
            <a:r>
              <a:rPr lang="ru-RU" sz="2600" b="0" i="0" u="none" strike="noStrike" baseline="0" dirty="0">
                <a:solidFill>
                  <a:srgbClr val="000000"/>
                </a:solidFill>
                <a:latin typeface="Arial" panose="020B0604020202020204" pitchFamily="34" charset="0"/>
              </a:rPr>
              <a:t>).</a:t>
            </a:r>
            <a:endParaRPr lang="en-US" sz="2600" dirty="0"/>
          </a:p>
        </p:txBody>
      </p:sp>
    </p:spTree>
    <p:extLst>
      <p:ext uri="{BB962C8B-B14F-4D97-AF65-F5344CB8AC3E}">
        <p14:creationId xmlns:p14="http://schemas.microsoft.com/office/powerpoint/2010/main" val="1908698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a:extLst>
              <a:ext uri="{FF2B5EF4-FFF2-40B4-BE49-F238E27FC236}">
                <a16:creationId xmlns:a16="http://schemas.microsoft.com/office/drawing/2014/main" id="{BFF2CA50-D873-4307-A86A-AB22BCF902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9683" y="1091953"/>
            <a:ext cx="10588224" cy="5751107"/>
          </a:xfrm>
        </p:spPr>
      </p:pic>
    </p:spTree>
    <p:extLst>
      <p:ext uri="{BB962C8B-B14F-4D97-AF65-F5344CB8AC3E}">
        <p14:creationId xmlns:p14="http://schemas.microsoft.com/office/powerpoint/2010/main" val="1687516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D5F4208-1E42-4AB0-B0E8-A8548C1CCD96}"/>
              </a:ext>
            </a:extLst>
          </p:cNvPr>
          <p:cNvSpPr>
            <a:spLocks noGrp="1"/>
          </p:cNvSpPr>
          <p:nvPr>
            <p:ph idx="1"/>
          </p:nvPr>
        </p:nvSpPr>
        <p:spPr>
          <a:xfrm>
            <a:off x="465337" y="591628"/>
            <a:ext cx="11501761" cy="5915703"/>
          </a:xfrm>
        </p:spPr>
        <p:txBody>
          <a:bodyPr>
            <a:normAutofit/>
          </a:bodyPr>
          <a:lstStyle/>
          <a:p>
            <a:r>
              <a:rPr lang="ru-RU" sz="2600" b="0" i="0" u="none" strike="noStrike" baseline="0" dirty="0">
                <a:solidFill>
                  <a:srgbClr val="000000"/>
                </a:solidFill>
                <a:latin typeface="Arial" panose="020B0604020202020204" pitchFamily="34" charset="0"/>
              </a:rPr>
              <a:t>Длина итераций может меняться в зависимости от множества факторов, однако сам принцип многократного повторения позволяет гарантировать, что и тестирование, и демонстрация продукта конечному заказчику (с получением обратной связи) будет активно применяться с самого начала и на протяжении всего времени разработки проекта. </a:t>
            </a:r>
          </a:p>
          <a:p>
            <a:r>
              <a:rPr lang="ru-RU" sz="2600" b="0" i="0" u="none" strike="noStrike" baseline="0" dirty="0">
                <a:solidFill>
                  <a:srgbClr val="000000"/>
                </a:solidFill>
                <a:latin typeface="Arial" panose="020B0604020202020204" pitchFamily="34" charset="0"/>
              </a:rPr>
              <a:t>Во многих случаях допускается распараллеливание отдельных стадий внутри итерации и активная доработка с целью устранения недостатков, обнаруженных на любой из (предыдущих) стадий. </a:t>
            </a:r>
          </a:p>
          <a:p>
            <a:r>
              <a:rPr lang="ru-RU" sz="2600" b="0" i="0" u="none" strike="noStrike" baseline="0" dirty="0">
                <a:solidFill>
                  <a:srgbClr val="000000"/>
                </a:solidFill>
                <a:latin typeface="Arial" panose="020B0604020202020204" pitchFamily="34" charset="0"/>
              </a:rPr>
              <a:t>Итерационная инкрементальная модель очень хорошо зарекомендовала себя на объёмных и сложных проектах, выполняемых большими командами на протяжении длительных сроков. Однако к основным недостаткам этой модели часто относят высокие накладные расходы, вызванные высокой «</a:t>
            </a:r>
            <a:r>
              <a:rPr lang="ru-RU" sz="2600" b="0" i="0" u="none" strike="noStrike" baseline="0" dirty="0" err="1">
                <a:solidFill>
                  <a:srgbClr val="000000"/>
                </a:solidFill>
                <a:latin typeface="Arial" panose="020B0604020202020204" pitchFamily="34" charset="0"/>
              </a:rPr>
              <a:t>бюрократизированностью</a:t>
            </a:r>
            <a:r>
              <a:rPr lang="ru-RU" sz="2600" b="0" i="0" u="none" strike="noStrike" baseline="0" dirty="0">
                <a:solidFill>
                  <a:srgbClr val="000000"/>
                </a:solidFill>
                <a:latin typeface="Arial" panose="020B0604020202020204" pitchFamily="34" charset="0"/>
              </a:rPr>
              <a:t>» и общей громоздкостью модели.</a:t>
            </a:r>
            <a:endParaRPr lang="en-US" sz="2600" dirty="0"/>
          </a:p>
        </p:txBody>
      </p:sp>
    </p:spTree>
    <p:extLst>
      <p:ext uri="{BB962C8B-B14F-4D97-AF65-F5344CB8AC3E}">
        <p14:creationId xmlns:p14="http://schemas.microsoft.com/office/powerpoint/2010/main" val="2362707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D5F4208-1E42-4AB0-B0E8-A8548C1CCD96}"/>
              </a:ext>
            </a:extLst>
          </p:cNvPr>
          <p:cNvSpPr>
            <a:spLocks noGrp="1"/>
          </p:cNvSpPr>
          <p:nvPr>
            <p:ph idx="1"/>
          </p:nvPr>
        </p:nvSpPr>
        <p:spPr>
          <a:xfrm>
            <a:off x="665825" y="656948"/>
            <a:ext cx="10687975" cy="5520015"/>
          </a:xfrm>
        </p:spPr>
        <p:txBody>
          <a:bodyPr>
            <a:normAutofit/>
          </a:bodyPr>
          <a:lstStyle/>
          <a:p>
            <a:r>
              <a:rPr lang="ru-RU" sz="1800" b="1" i="0" u="none" strike="noStrike" baseline="0" dirty="0">
                <a:solidFill>
                  <a:srgbClr val="000000"/>
                </a:solidFill>
                <a:latin typeface="Arial" panose="020B0604020202020204" pitchFamily="34" charset="0"/>
              </a:rPr>
              <a:t>Спиральная модель </a:t>
            </a:r>
            <a:r>
              <a:rPr lang="ru-RU" sz="1800" b="0" i="0" u="none" strike="noStrike" baseline="0" dirty="0">
                <a:solidFill>
                  <a:srgbClr val="000000"/>
                </a:solidFill>
                <a:latin typeface="Arial" panose="020B0604020202020204" pitchFamily="34" charset="0"/>
              </a:rPr>
              <a:t>(</a:t>
            </a:r>
            <a:r>
              <a:rPr lang="ru-RU" sz="1800" b="0" i="0" u="none" strike="noStrike" baseline="0" dirty="0" err="1">
                <a:solidFill>
                  <a:srgbClr val="000000"/>
                </a:solidFill>
                <a:latin typeface="Arial" panose="020B0604020202020204" pitchFamily="34" charset="0"/>
              </a:rPr>
              <a:t>spiral</a:t>
            </a:r>
            <a:r>
              <a:rPr lang="ru-RU" sz="1800" b="0" i="0" u="none" strike="noStrike" baseline="0" dirty="0">
                <a:solidFill>
                  <a:srgbClr val="000000"/>
                </a:solidFill>
                <a:latin typeface="Arial" panose="020B0604020202020204" pitchFamily="34" charset="0"/>
              </a:rPr>
              <a:t> </a:t>
            </a:r>
            <a:r>
              <a:rPr lang="ru-RU" sz="1800" b="0" i="0" u="none" strike="noStrike" baseline="0" dirty="0" err="1">
                <a:solidFill>
                  <a:srgbClr val="000000"/>
                </a:solidFill>
                <a:latin typeface="Arial" panose="020B0604020202020204" pitchFamily="34" charset="0"/>
              </a:rPr>
              <a:t>model</a:t>
            </a:r>
            <a:r>
              <a:rPr lang="ru-RU" sz="1800" b="0" i="0" u="none" strike="noStrike" baseline="0" dirty="0">
                <a:solidFill>
                  <a:srgbClr val="000000"/>
                </a:solidFill>
                <a:latin typeface="Arial" panose="020B0604020202020204" pitchFamily="34" charset="0"/>
              </a:rPr>
              <a:t>) представляет собой частный случай итерационной инкрементальной модели, в котором особое внимание уделяется управлению рисками, в особенности влияющими на организацию процесса разработки проекта и контрольные точки. </a:t>
            </a:r>
          </a:p>
          <a:p>
            <a:r>
              <a:rPr lang="ru-RU" sz="1800" b="0" i="0" u="none" strike="noStrike" baseline="0" dirty="0">
                <a:solidFill>
                  <a:srgbClr val="000000"/>
                </a:solidFill>
                <a:latin typeface="Arial" panose="020B0604020202020204" pitchFamily="34" charset="0"/>
              </a:rPr>
              <a:t>Схематично суть спиральной модели представлена на рисунке 2.1.d. Обратите внимание на то, что здесь явно выделены четыре ключевые фазы: </a:t>
            </a:r>
          </a:p>
          <a:p>
            <a:r>
              <a:rPr lang="ru-RU" sz="1800" b="0" i="0" u="none" strike="noStrike" baseline="0" dirty="0">
                <a:solidFill>
                  <a:srgbClr val="000000"/>
                </a:solidFill>
                <a:latin typeface="Arial" panose="020B0604020202020204" pitchFamily="34" charset="0"/>
              </a:rPr>
              <a:t>проработка целей, альтернатив и ограничений; </a:t>
            </a:r>
          </a:p>
          <a:p>
            <a:r>
              <a:rPr lang="ru-RU" sz="1800" b="0" i="0" u="none" strike="noStrike" baseline="0" dirty="0">
                <a:solidFill>
                  <a:srgbClr val="000000"/>
                </a:solidFill>
                <a:latin typeface="Arial" panose="020B0604020202020204" pitchFamily="34" charset="0"/>
              </a:rPr>
              <a:t>анализ рисков и прототипирование; </a:t>
            </a:r>
          </a:p>
          <a:p>
            <a:r>
              <a:rPr lang="ru-RU" sz="1800" b="0" i="0" u="none" strike="noStrike" baseline="0" dirty="0">
                <a:solidFill>
                  <a:srgbClr val="000000"/>
                </a:solidFill>
                <a:latin typeface="Arial" panose="020B0604020202020204" pitchFamily="34" charset="0"/>
              </a:rPr>
              <a:t>разработка (промежуточной версии) продукта; </a:t>
            </a:r>
          </a:p>
          <a:p>
            <a:r>
              <a:rPr lang="ru-RU" sz="1800" b="0" i="0" u="none" strike="noStrike" baseline="0" dirty="0">
                <a:solidFill>
                  <a:srgbClr val="000000"/>
                </a:solidFill>
                <a:latin typeface="Arial" panose="020B0604020202020204" pitchFamily="34" charset="0"/>
              </a:rPr>
              <a:t>планирование следующего цикла. </a:t>
            </a:r>
          </a:p>
          <a:p>
            <a:endParaRPr lang="en-US" sz="1800" b="0" i="0" u="none" strike="noStrike" baseline="0" dirty="0">
              <a:solidFill>
                <a:srgbClr val="000000"/>
              </a:solidFill>
              <a:latin typeface="Arial" panose="020B0604020202020204" pitchFamily="34" charset="0"/>
            </a:endParaRPr>
          </a:p>
          <a:p>
            <a:r>
              <a:rPr lang="ru-RU" sz="1800" b="0" i="0" u="none" strike="noStrike" baseline="0" dirty="0">
                <a:solidFill>
                  <a:srgbClr val="000000"/>
                </a:solidFill>
                <a:latin typeface="Arial" panose="020B0604020202020204" pitchFamily="34" charset="0"/>
              </a:rPr>
              <a:t>С точки зрения тестирования и управления качеством повышенное внимание рискам является ощутимым преимуществом при использовании спиральной модели для разработки концептуальных проектов, в которых требования естественным образом являются сложными и нестабильными (могут многократно меняться по ходу выполнения проекта). </a:t>
            </a:r>
          </a:p>
        </p:txBody>
      </p:sp>
    </p:spTree>
    <p:extLst>
      <p:ext uri="{BB962C8B-B14F-4D97-AF65-F5344CB8AC3E}">
        <p14:creationId xmlns:p14="http://schemas.microsoft.com/office/powerpoint/2010/main" val="3334508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a:extLst>
              <a:ext uri="{FF2B5EF4-FFF2-40B4-BE49-F238E27FC236}">
                <a16:creationId xmlns:a16="http://schemas.microsoft.com/office/drawing/2014/main" id="{6BBD5484-2DE0-43D8-A4C4-010403E550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1965" y="351835"/>
            <a:ext cx="7892249" cy="5825128"/>
          </a:xfrm>
        </p:spPr>
      </p:pic>
    </p:spTree>
    <p:extLst>
      <p:ext uri="{BB962C8B-B14F-4D97-AF65-F5344CB8AC3E}">
        <p14:creationId xmlns:p14="http://schemas.microsoft.com/office/powerpoint/2010/main" val="3305530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D5F4208-1E42-4AB0-B0E8-A8548C1CCD96}"/>
              </a:ext>
            </a:extLst>
          </p:cNvPr>
          <p:cNvSpPr>
            <a:spLocks noGrp="1"/>
          </p:cNvSpPr>
          <p:nvPr>
            <p:ph idx="1"/>
          </p:nvPr>
        </p:nvSpPr>
        <p:spPr>
          <a:xfrm>
            <a:off x="612559" y="683581"/>
            <a:ext cx="10741241" cy="5493382"/>
          </a:xfrm>
        </p:spPr>
        <p:txBody>
          <a:bodyPr>
            <a:noAutofit/>
          </a:bodyPr>
          <a:lstStyle/>
          <a:p>
            <a:r>
              <a:rPr lang="ru-RU" sz="2400" b="1" i="0" u="none" strike="noStrike" baseline="0" dirty="0">
                <a:solidFill>
                  <a:srgbClr val="FF0000"/>
                </a:solidFill>
                <a:latin typeface="Arial" panose="020B0604020202020204" pitchFamily="34" charset="0"/>
              </a:rPr>
              <a:t>Гибкая модель </a:t>
            </a:r>
            <a:r>
              <a:rPr lang="ru-RU" sz="2400" b="0" i="0" u="none" strike="noStrike" baseline="0" dirty="0">
                <a:solidFill>
                  <a:srgbClr val="000000"/>
                </a:solidFill>
                <a:latin typeface="Arial" panose="020B0604020202020204" pitchFamily="34" charset="0"/>
              </a:rPr>
              <a:t>(</a:t>
            </a:r>
            <a:r>
              <a:rPr lang="ru-RU" sz="2400" b="0" i="0" u="none" strike="noStrike" baseline="0" dirty="0" err="1">
                <a:solidFill>
                  <a:srgbClr val="000000"/>
                </a:solidFill>
                <a:latin typeface="Arial" panose="020B0604020202020204" pitchFamily="34" charset="0"/>
              </a:rPr>
              <a:t>agile</a:t>
            </a:r>
            <a:r>
              <a:rPr lang="ru-RU" sz="2400" b="0" i="0" u="none" strike="noStrike" baseline="0" dirty="0">
                <a:solidFill>
                  <a:srgbClr val="000000"/>
                </a:solidFill>
                <a:latin typeface="Arial" panose="020B0604020202020204" pitchFamily="34" charset="0"/>
              </a:rPr>
              <a:t> </a:t>
            </a:r>
            <a:r>
              <a:rPr lang="ru-RU" sz="2400" b="0" i="0" u="none" strike="noStrike" baseline="0" dirty="0" err="1">
                <a:solidFill>
                  <a:srgbClr val="000000"/>
                </a:solidFill>
                <a:latin typeface="Arial" panose="020B0604020202020204" pitchFamily="34" charset="0"/>
              </a:rPr>
              <a:t>model</a:t>
            </a:r>
            <a:r>
              <a:rPr lang="ru-RU" sz="2400" b="0" i="0" u="none" strike="noStrike" baseline="0" dirty="0">
                <a:solidFill>
                  <a:srgbClr val="000000"/>
                </a:solidFill>
                <a:latin typeface="Arial" panose="020B0604020202020204" pitchFamily="34" charset="0"/>
              </a:rPr>
              <a:t>) представляет собой совокупность различных подходов к разработке ПО и базируется на т.н. «agile-манифесте»34: </a:t>
            </a:r>
          </a:p>
          <a:p>
            <a:r>
              <a:rPr lang="ru-RU" sz="2400" b="0" i="0" u="none" strike="noStrike" baseline="0" dirty="0">
                <a:solidFill>
                  <a:srgbClr val="000000"/>
                </a:solidFill>
                <a:latin typeface="Arial" panose="020B0604020202020204" pitchFamily="34" charset="0"/>
              </a:rPr>
              <a:t> Люди и взаимодействие важнее процессов и инструментов. </a:t>
            </a:r>
          </a:p>
          <a:p>
            <a:r>
              <a:rPr lang="ru-RU" sz="2400" b="0" i="0" u="none" strike="noStrike" baseline="0" dirty="0">
                <a:solidFill>
                  <a:srgbClr val="000000"/>
                </a:solidFill>
                <a:latin typeface="Arial" panose="020B0604020202020204" pitchFamily="34" charset="0"/>
              </a:rPr>
              <a:t> Работающий продукт важнее исчерпывающей документации. </a:t>
            </a:r>
          </a:p>
          <a:p>
            <a:r>
              <a:rPr lang="ru-RU" sz="2400" b="0" i="0" u="none" strike="noStrike" baseline="0" dirty="0">
                <a:solidFill>
                  <a:srgbClr val="000000"/>
                </a:solidFill>
                <a:latin typeface="Arial" panose="020B0604020202020204" pitchFamily="34" charset="0"/>
              </a:rPr>
              <a:t> Сотрудничество с заказчиком важнее согласования условий контракта. </a:t>
            </a:r>
          </a:p>
          <a:p>
            <a:r>
              <a:rPr lang="ru-RU" sz="2400" b="0" i="0" u="none" strike="noStrike" baseline="0" dirty="0">
                <a:solidFill>
                  <a:srgbClr val="000000"/>
                </a:solidFill>
                <a:latin typeface="Arial" panose="020B0604020202020204" pitchFamily="34" charset="0"/>
              </a:rPr>
              <a:t> Готовность к изменениям важнее следования первоначальному плану. </a:t>
            </a:r>
          </a:p>
          <a:p>
            <a:pPr marL="0" indent="0">
              <a:buNone/>
            </a:pPr>
            <a:r>
              <a:rPr lang="ru-RU" sz="2400" b="0" i="0" u="none" strike="noStrike" baseline="0" dirty="0">
                <a:solidFill>
                  <a:srgbClr val="000000"/>
                </a:solidFill>
                <a:latin typeface="Arial" panose="020B0604020202020204" pitchFamily="34" charset="0"/>
              </a:rPr>
              <a:t>Как несложно догадаться, положенные в основу гибкой модели подходы являются логическим развитием и продолжением всего того, что было за десятилетия создано и опробовано в водопадной, v-образной, итерационной инкрементальной, спиральной и иных моделях. Причём здесь впервые был достигнут ощутимый результат в снижении бюрократической составляющей и максимальной адаптации процесса разработки ПО к мгновенным изменениям рынка и требований заказчика.</a:t>
            </a:r>
            <a:endParaRPr lang="en-US" sz="2400" dirty="0"/>
          </a:p>
        </p:txBody>
      </p:sp>
    </p:spTree>
    <p:extLst>
      <p:ext uri="{BB962C8B-B14F-4D97-AF65-F5344CB8AC3E}">
        <p14:creationId xmlns:p14="http://schemas.microsoft.com/office/powerpoint/2010/main" val="2519541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Объект 5">
            <a:extLst>
              <a:ext uri="{FF2B5EF4-FFF2-40B4-BE49-F238E27FC236}">
                <a16:creationId xmlns:a16="http://schemas.microsoft.com/office/drawing/2014/main" id="{B02F41F3-8CE3-4352-9E17-5A4F5B68BF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7060" y="337351"/>
            <a:ext cx="8966924" cy="6276513"/>
          </a:xfrm>
        </p:spPr>
      </p:pic>
    </p:spTree>
    <p:extLst>
      <p:ext uri="{BB962C8B-B14F-4D97-AF65-F5344CB8AC3E}">
        <p14:creationId xmlns:p14="http://schemas.microsoft.com/office/powerpoint/2010/main" val="809070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7D5F4208-1E42-4AB0-B0E8-A8548C1CCD96}"/>
              </a:ext>
            </a:extLst>
          </p:cNvPr>
          <p:cNvSpPr>
            <a:spLocks noGrp="1"/>
          </p:cNvSpPr>
          <p:nvPr>
            <p:ph idx="1"/>
          </p:nvPr>
        </p:nvSpPr>
        <p:spPr>
          <a:xfrm>
            <a:off x="630315" y="932155"/>
            <a:ext cx="10723485" cy="5244808"/>
          </a:xfrm>
        </p:spPr>
        <p:txBody>
          <a:bodyPr>
            <a:normAutofit/>
          </a:bodyPr>
          <a:lstStyle/>
          <a:p>
            <a:r>
              <a:rPr lang="ru-RU" sz="2600" b="0" i="0" u="none" strike="noStrike" baseline="0" dirty="0">
                <a:solidFill>
                  <a:srgbClr val="000000"/>
                </a:solidFill>
                <a:latin typeface="Arial" panose="020B0604020202020204" pitchFamily="34" charset="0"/>
              </a:rPr>
              <a:t>Главным недостатком гибкой модели считается сложность её применения к крупным проектам, а также частое ошибочное внедрение её подходов, вызванное недопониманием фундаментальных принципов модели. </a:t>
            </a:r>
          </a:p>
          <a:p>
            <a:r>
              <a:rPr lang="ru-RU" sz="2600" b="0" i="0" u="none" strike="noStrike" baseline="0" dirty="0">
                <a:solidFill>
                  <a:srgbClr val="000000"/>
                </a:solidFill>
                <a:latin typeface="Arial" panose="020B0604020202020204" pitchFamily="34" charset="0"/>
              </a:rPr>
              <a:t>Тем не менее можно утверждать, что всё больше и больше проектов </a:t>
            </a:r>
            <a:r>
              <a:rPr lang="ru-RU" sz="2600" b="0" i="0" u="none" strike="noStrike" baseline="0" dirty="0" err="1">
                <a:solidFill>
                  <a:srgbClr val="000000"/>
                </a:solidFill>
                <a:latin typeface="Arial" panose="020B0604020202020204" pitchFamily="34" charset="0"/>
              </a:rPr>
              <a:t>начи</a:t>
            </a:r>
            <a:r>
              <a:rPr lang="ru-RU" sz="2600" b="0" i="0" u="none" strike="noStrike" baseline="0" dirty="0">
                <a:solidFill>
                  <a:srgbClr val="000000"/>
                </a:solidFill>
                <a:latin typeface="Arial" panose="020B0604020202020204" pitchFamily="34" charset="0"/>
              </a:rPr>
              <a:t>- </a:t>
            </a:r>
            <a:r>
              <a:rPr lang="ru-RU" sz="2600" b="0" i="0" u="none" strike="noStrike" baseline="0" dirty="0" err="1">
                <a:solidFill>
                  <a:srgbClr val="000000"/>
                </a:solidFill>
                <a:latin typeface="Arial" panose="020B0604020202020204" pitchFamily="34" charset="0"/>
              </a:rPr>
              <a:t>нают</a:t>
            </a:r>
            <a:r>
              <a:rPr lang="ru-RU" sz="2600" b="0" i="0" u="none" strike="noStrike" baseline="0" dirty="0">
                <a:solidFill>
                  <a:srgbClr val="000000"/>
                </a:solidFill>
                <a:latin typeface="Arial" panose="020B0604020202020204" pitchFamily="34" charset="0"/>
              </a:rPr>
              <a:t> использовать гибкую модель разработки.</a:t>
            </a:r>
            <a:endParaRPr lang="en-US" sz="2600" dirty="0"/>
          </a:p>
        </p:txBody>
      </p:sp>
    </p:spTree>
    <p:extLst>
      <p:ext uri="{BB962C8B-B14F-4D97-AF65-F5344CB8AC3E}">
        <p14:creationId xmlns:p14="http://schemas.microsoft.com/office/powerpoint/2010/main" val="3299658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28324538-83ED-449E-9FB5-CDFC796C8F2C}"/>
              </a:ext>
            </a:extLst>
          </p:cNvPr>
          <p:cNvSpPr txBox="1">
            <a:spLocks/>
          </p:cNvSpPr>
          <p:nvPr/>
        </p:nvSpPr>
        <p:spPr>
          <a:xfrm>
            <a:off x="1524000" y="1122363"/>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a:t>Тема 2. Интегрированная среда разработки ПО </a:t>
            </a:r>
            <a:endParaRPr lang="en-US" dirty="0"/>
          </a:p>
        </p:txBody>
      </p:sp>
      <p:sp>
        <p:nvSpPr>
          <p:cNvPr id="5" name="Подзаголовок 2">
            <a:extLst>
              <a:ext uri="{FF2B5EF4-FFF2-40B4-BE49-F238E27FC236}">
                <a16:creationId xmlns:a16="http://schemas.microsoft.com/office/drawing/2014/main" id="{E84A17E6-026F-4AC6-B902-CA36CDEA6CB2}"/>
              </a:ext>
            </a:extLst>
          </p:cNvPr>
          <p:cNvSpPr txBox="1">
            <a:spLocks/>
          </p:cNvSpPr>
          <p:nvPr/>
        </p:nvSpPr>
        <p:spPr>
          <a:xfrm>
            <a:off x="1524000" y="3602038"/>
            <a:ext cx="9144000"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eriod"/>
            </a:pPr>
            <a:r>
              <a:rPr lang="ru-RU"/>
              <a:t>Основные компоненты среды разработки</a:t>
            </a:r>
            <a:endParaRPr lang="en-US"/>
          </a:p>
          <a:p>
            <a:pPr marL="457200" indent="-457200">
              <a:buFont typeface="Arial" panose="020B0604020202020204" pitchFamily="34" charset="0"/>
              <a:buAutoNum type="arabicPeriod"/>
            </a:pPr>
            <a:r>
              <a:rPr lang="ru-RU"/>
              <a:t>Приёмы работы</a:t>
            </a:r>
            <a:endParaRPr lang="en-US"/>
          </a:p>
          <a:p>
            <a:pPr marL="457200" indent="-457200">
              <a:buFont typeface="Arial" panose="020B0604020202020204" pitchFamily="34" charset="0"/>
              <a:buAutoNum type="arabicPeriod"/>
            </a:pPr>
            <a:r>
              <a:rPr lang="ru-RU"/>
              <a:t>Поддержка совместной работы над проектом</a:t>
            </a:r>
            <a:endParaRPr lang="en-US" dirty="0"/>
          </a:p>
        </p:txBody>
      </p:sp>
    </p:spTree>
    <p:extLst>
      <p:ext uri="{BB962C8B-B14F-4D97-AF65-F5344CB8AC3E}">
        <p14:creationId xmlns:p14="http://schemas.microsoft.com/office/powerpoint/2010/main" val="2181156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0D66E7CF-E9E8-4B21-A0D7-E751C96F6909}"/>
              </a:ext>
            </a:extLst>
          </p:cNvPr>
          <p:cNvSpPr>
            <a:spLocks noGrp="1"/>
          </p:cNvSpPr>
          <p:nvPr>
            <p:ph type="title"/>
          </p:nvPr>
        </p:nvSpPr>
        <p:spPr>
          <a:xfrm>
            <a:off x="838200" y="365125"/>
            <a:ext cx="10515600" cy="1325563"/>
          </a:xfrm>
        </p:spPr>
        <p:txBody>
          <a:bodyPr>
            <a:normAutofit fontScale="90000"/>
          </a:bodyPr>
          <a:lstStyle/>
          <a:p>
            <a:br>
              <a:rPr lang="en-US" b="1" i="0" dirty="0">
                <a:solidFill>
                  <a:srgbClr val="202128"/>
                </a:solidFill>
                <a:effectLst/>
                <a:latin typeface="arial" panose="020B0604020202020204" pitchFamily="34" charset="0"/>
              </a:rPr>
            </a:br>
            <a:r>
              <a:rPr lang="ru-RU" i="0" dirty="0">
                <a:solidFill>
                  <a:srgbClr val="202128"/>
                </a:solidFill>
                <a:effectLst/>
                <a:latin typeface="arial" panose="020B0604020202020204" pitchFamily="34" charset="0"/>
              </a:rPr>
              <a:t>Интегрированная среда разработки - </a:t>
            </a:r>
            <a:r>
              <a:rPr lang="en-US" i="0" dirty="0">
                <a:solidFill>
                  <a:srgbClr val="202128"/>
                </a:solidFill>
                <a:effectLst/>
                <a:latin typeface="arial" panose="020B0604020202020204" pitchFamily="34" charset="0"/>
              </a:rPr>
              <a:t>Integrated development environment (IDE)</a:t>
            </a:r>
            <a:br>
              <a:rPr lang="en-US" b="1" i="0" dirty="0">
                <a:solidFill>
                  <a:srgbClr val="202128"/>
                </a:solidFill>
                <a:effectLst/>
                <a:latin typeface="arial" panose="020B0604020202020204" pitchFamily="34" charset="0"/>
              </a:rPr>
            </a:br>
            <a:r>
              <a:rPr lang="ru-RU" dirty="0"/>
              <a:t>Основные компоненты </a:t>
            </a:r>
            <a:r>
              <a:rPr lang="en-US" dirty="0"/>
              <a:t>IDE</a:t>
            </a:r>
          </a:p>
        </p:txBody>
      </p:sp>
      <p:sp>
        <p:nvSpPr>
          <p:cNvPr id="5" name="Объект 2">
            <a:extLst>
              <a:ext uri="{FF2B5EF4-FFF2-40B4-BE49-F238E27FC236}">
                <a16:creationId xmlns:a16="http://schemas.microsoft.com/office/drawing/2014/main" id="{9B65CF1D-D4D8-492F-B1F9-9C3296BE5AEF}"/>
              </a:ext>
            </a:extLst>
          </p:cNvPr>
          <p:cNvSpPr>
            <a:spLocks noGrp="1"/>
          </p:cNvSpPr>
          <p:nvPr>
            <p:ph idx="1"/>
          </p:nvPr>
        </p:nvSpPr>
        <p:spPr>
          <a:xfrm>
            <a:off x="944732" y="2322774"/>
            <a:ext cx="10515600" cy="4351338"/>
          </a:xfrm>
        </p:spPr>
        <p:txBody>
          <a:bodyPr/>
          <a:lstStyle/>
          <a:p>
            <a:r>
              <a:rPr lang="ru-RU" dirty="0"/>
              <a:t>редактор кода</a:t>
            </a:r>
            <a:endParaRPr lang="en-US" dirty="0"/>
          </a:p>
          <a:p>
            <a:r>
              <a:rPr lang="ru-RU" dirty="0"/>
              <a:t>средства сборки проекта</a:t>
            </a:r>
            <a:endParaRPr lang="en-US" dirty="0"/>
          </a:p>
          <a:p>
            <a:r>
              <a:rPr lang="ru-RU" dirty="0"/>
              <a:t>средства запуска проекта</a:t>
            </a:r>
            <a:endParaRPr lang="en-US" dirty="0"/>
          </a:p>
          <a:p>
            <a:r>
              <a:rPr lang="ru-RU" dirty="0"/>
              <a:t>средства отладки</a:t>
            </a:r>
            <a:endParaRPr lang="en-US" dirty="0"/>
          </a:p>
          <a:p>
            <a:r>
              <a:rPr lang="ru-RU" dirty="0"/>
              <a:t>средства тестирования</a:t>
            </a:r>
            <a:endParaRPr lang="en-US" dirty="0"/>
          </a:p>
          <a:p>
            <a:r>
              <a:rPr lang="ru-RU" dirty="0"/>
              <a:t>поддержка совместной работы</a:t>
            </a:r>
            <a:endParaRPr lang="en-US" dirty="0"/>
          </a:p>
          <a:p>
            <a:r>
              <a:rPr lang="ru-RU" dirty="0"/>
              <a:t>расширения</a:t>
            </a:r>
            <a:endParaRPr lang="en-US" dirty="0"/>
          </a:p>
        </p:txBody>
      </p:sp>
    </p:spTree>
    <p:extLst>
      <p:ext uri="{BB962C8B-B14F-4D97-AF65-F5344CB8AC3E}">
        <p14:creationId xmlns:p14="http://schemas.microsoft.com/office/powerpoint/2010/main" val="1441708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642891" y="618262"/>
            <a:ext cx="10515600" cy="4351338"/>
          </a:xfrm>
        </p:spPr>
        <p:txBody>
          <a:bodyPr/>
          <a:lstStyle/>
          <a:p>
            <a:pPr marL="0" indent="0">
              <a:buNone/>
            </a:pPr>
            <a:r>
              <a:rPr lang="en-US" b="0" i="0" dirty="0">
                <a:solidFill>
                  <a:srgbClr val="333333"/>
                </a:solidFill>
                <a:effectLst/>
                <a:latin typeface="Merriweather"/>
              </a:rPr>
              <a:t>         3-уровневая </a:t>
            </a:r>
            <a:r>
              <a:rPr lang="en-US" b="0" i="0" dirty="0" err="1">
                <a:solidFill>
                  <a:srgbClr val="333333"/>
                </a:solidFill>
                <a:effectLst/>
                <a:latin typeface="Merriweather"/>
              </a:rPr>
              <a:t>архитектура</a:t>
            </a:r>
            <a:r>
              <a:rPr lang="en-US" b="0" i="0" dirty="0">
                <a:solidFill>
                  <a:srgbClr val="333333"/>
                </a:solidFill>
                <a:effectLst/>
                <a:latin typeface="Merriweather"/>
              </a:rPr>
              <a:t> Team Foundation Server</a:t>
            </a:r>
          </a:p>
          <a:p>
            <a:endParaRPr lang="en-US" dirty="0"/>
          </a:p>
        </p:txBody>
      </p:sp>
      <p:pic>
        <p:nvPicPr>
          <p:cNvPr id="10" name="Picture 2" descr="File:TFS.svg">
            <a:extLst>
              <a:ext uri="{FF2B5EF4-FFF2-40B4-BE49-F238E27FC236}">
                <a16:creationId xmlns:a16="http://schemas.microsoft.com/office/drawing/2014/main" id="{E677C382-50A2-4DD6-8580-83C2BE75E7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2787" y="1825625"/>
            <a:ext cx="644642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3076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394315" y="573874"/>
            <a:ext cx="11412985" cy="6146522"/>
          </a:xfrm>
        </p:spPr>
        <p:txBody>
          <a:bodyPr>
            <a:normAutofit/>
          </a:bodyPr>
          <a:lstStyle/>
          <a:p>
            <a:r>
              <a:rPr lang="ru-RU" b="0" i="0" dirty="0" err="1">
                <a:solidFill>
                  <a:srgbClr val="333333"/>
                </a:solidFill>
                <a:effectLst/>
                <a:latin typeface="Merriweather"/>
              </a:rPr>
              <a:t>Team</a:t>
            </a:r>
            <a:r>
              <a:rPr lang="ru-RU" b="0" i="0" dirty="0">
                <a:solidFill>
                  <a:srgbClr val="333333"/>
                </a:solidFill>
                <a:effectLst/>
                <a:latin typeface="Merriweather"/>
              </a:rPr>
              <a:t> </a:t>
            </a:r>
            <a:r>
              <a:rPr lang="ru-RU" b="0" i="0" dirty="0" err="1">
                <a:solidFill>
                  <a:srgbClr val="333333"/>
                </a:solidFill>
                <a:effectLst/>
                <a:latin typeface="Merriweather"/>
              </a:rPr>
              <a:t>Foundation</a:t>
            </a:r>
            <a:r>
              <a:rPr lang="ru-RU" b="0" i="0" dirty="0">
                <a:solidFill>
                  <a:srgbClr val="333333"/>
                </a:solidFill>
                <a:effectLst/>
                <a:latin typeface="Merriweather"/>
              </a:rPr>
              <a:t> </a:t>
            </a:r>
            <a:r>
              <a:rPr lang="ru-RU" b="0" i="0" dirty="0" err="1">
                <a:solidFill>
                  <a:srgbClr val="333333"/>
                </a:solidFill>
                <a:effectLst/>
                <a:latin typeface="Merriweather"/>
              </a:rPr>
              <a:t>Server</a:t>
            </a:r>
            <a:r>
              <a:rPr lang="ru-RU" b="0" i="0" dirty="0">
                <a:solidFill>
                  <a:srgbClr val="333333"/>
                </a:solidFill>
                <a:effectLst/>
                <a:latin typeface="Merriweather"/>
              </a:rPr>
              <a:t> работает по трёхуровневой архитектуре: </a:t>
            </a:r>
            <a:endParaRPr lang="en-US" b="0" i="0" dirty="0">
              <a:solidFill>
                <a:srgbClr val="333333"/>
              </a:solidFill>
              <a:effectLst/>
              <a:latin typeface="Merriweather"/>
            </a:endParaRPr>
          </a:p>
          <a:p>
            <a:r>
              <a:rPr lang="ru-RU" b="0" i="1" dirty="0">
                <a:solidFill>
                  <a:srgbClr val="333333"/>
                </a:solidFill>
                <a:effectLst/>
                <a:latin typeface="Merriweather"/>
              </a:rPr>
              <a:t>клиентский уровень</a:t>
            </a:r>
            <a:r>
              <a:rPr lang="ru-RU" b="0" i="0" dirty="0">
                <a:solidFill>
                  <a:srgbClr val="333333"/>
                </a:solidFill>
                <a:effectLst/>
                <a:latin typeface="Merriweather"/>
              </a:rPr>
              <a:t>, </a:t>
            </a:r>
            <a:endParaRPr lang="en-US" b="0" i="0" dirty="0">
              <a:solidFill>
                <a:srgbClr val="333333"/>
              </a:solidFill>
              <a:effectLst/>
              <a:latin typeface="Merriweather"/>
            </a:endParaRPr>
          </a:p>
          <a:p>
            <a:r>
              <a:rPr lang="ru-RU" b="0" i="1" dirty="0">
                <a:solidFill>
                  <a:srgbClr val="333333"/>
                </a:solidFill>
                <a:effectLst/>
                <a:latin typeface="Merriweather"/>
              </a:rPr>
              <a:t>прикладной уровень</a:t>
            </a:r>
            <a:r>
              <a:rPr lang="ru-RU" b="0" i="0" dirty="0">
                <a:solidFill>
                  <a:srgbClr val="333333"/>
                </a:solidFill>
                <a:effectLst/>
                <a:latin typeface="Merriweather"/>
              </a:rPr>
              <a:t>  </a:t>
            </a:r>
            <a:endParaRPr lang="en-US" b="0" i="0" dirty="0">
              <a:solidFill>
                <a:srgbClr val="333333"/>
              </a:solidFill>
              <a:effectLst/>
              <a:latin typeface="Merriweather"/>
            </a:endParaRPr>
          </a:p>
          <a:p>
            <a:r>
              <a:rPr lang="ru-RU" b="0" i="1" dirty="0">
                <a:solidFill>
                  <a:srgbClr val="333333"/>
                </a:solidFill>
                <a:effectLst/>
                <a:latin typeface="Merriweather"/>
              </a:rPr>
              <a:t>уровень данных</a:t>
            </a:r>
            <a:r>
              <a:rPr lang="ru-RU" b="0" i="0" dirty="0">
                <a:solidFill>
                  <a:srgbClr val="333333"/>
                </a:solidFill>
                <a:effectLst/>
                <a:latin typeface="Merriweather"/>
              </a:rPr>
              <a:t>. </a:t>
            </a:r>
            <a:endParaRPr lang="en-US" b="0" i="0" dirty="0">
              <a:solidFill>
                <a:srgbClr val="333333"/>
              </a:solidFill>
              <a:effectLst/>
              <a:latin typeface="Merriweather"/>
            </a:endParaRPr>
          </a:p>
          <a:p>
            <a:r>
              <a:rPr lang="ru-RU" b="0" i="1" dirty="0">
                <a:solidFill>
                  <a:srgbClr val="333333"/>
                </a:solidFill>
                <a:effectLst/>
                <a:latin typeface="Merriweather"/>
              </a:rPr>
              <a:t>Клиентский уровень</a:t>
            </a:r>
            <a:r>
              <a:rPr lang="ru-RU" b="0" i="0" dirty="0">
                <a:solidFill>
                  <a:srgbClr val="333333"/>
                </a:solidFill>
                <a:effectLst/>
                <a:latin typeface="Merriweather"/>
              </a:rPr>
              <a:t> используется для создания и управления проектами, а также для доступа к хранимым и управляемым элементам проекта. На этом уровне TFS не содержит никаких пользовательских интерфейсов, но предоставляет веб-сервисы, которые могут быть использованы клиентскими приложениями для самостоятельной интеграции в функциональность TFS. </a:t>
            </a:r>
            <a:endParaRPr lang="en-US" b="0" i="0" dirty="0">
              <a:solidFill>
                <a:srgbClr val="333333"/>
              </a:solidFill>
              <a:effectLst/>
              <a:latin typeface="Merriweather"/>
            </a:endParaRPr>
          </a:p>
          <a:p>
            <a:r>
              <a:rPr lang="ru-RU" b="0" i="0" dirty="0">
                <a:solidFill>
                  <a:srgbClr val="333333"/>
                </a:solidFill>
                <a:effectLst/>
                <a:latin typeface="Merriweather"/>
              </a:rPr>
              <a:t>Эти веб-сервисы используются такими приложениями, как </a:t>
            </a:r>
            <a:r>
              <a:rPr lang="ru-RU" b="0" i="0" dirty="0" err="1">
                <a:solidFill>
                  <a:srgbClr val="333333"/>
                </a:solidFill>
                <a:effectLst/>
                <a:latin typeface="Merriweather"/>
              </a:rPr>
              <a:t>Visual</a:t>
            </a:r>
            <a:r>
              <a:rPr lang="ru-RU" b="0" i="0" dirty="0">
                <a:solidFill>
                  <a:srgbClr val="333333"/>
                </a:solidFill>
                <a:effectLst/>
                <a:latin typeface="Merriweather"/>
              </a:rPr>
              <a:t> </a:t>
            </a:r>
            <a:r>
              <a:rPr lang="ru-RU" b="0" i="0" dirty="0" err="1">
                <a:solidFill>
                  <a:srgbClr val="333333"/>
                </a:solidFill>
                <a:effectLst/>
                <a:latin typeface="Merriweather"/>
              </a:rPr>
              <a:t>Studio</a:t>
            </a:r>
            <a:r>
              <a:rPr lang="ru-RU" b="0" i="0" dirty="0">
                <a:solidFill>
                  <a:srgbClr val="333333"/>
                </a:solidFill>
                <a:effectLst/>
                <a:latin typeface="Merriweather"/>
              </a:rPr>
              <a:t> </a:t>
            </a:r>
            <a:r>
              <a:rPr lang="ru-RU" b="0" i="0" dirty="0" err="1">
                <a:solidFill>
                  <a:srgbClr val="333333"/>
                </a:solidFill>
                <a:effectLst/>
                <a:latin typeface="Merriweather"/>
              </a:rPr>
              <a:t>Team</a:t>
            </a:r>
            <a:r>
              <a:rPr lang="ru-RU" b="0" i="0" dirty="0">
                <a:solidFill>
                  <a:srgbClr val="333333"/>
                </a:solidFill>
                <a:effectLst/>
                <a:latin typeface="Merriweather"/>
              </a:rPr>
              <a:t> </a:t>
            </a:r>
            <a:r>
              <a:rPr lang="ru-RU" b="0" i="0" dirty="0" err="1">
                <a:solidFill>
                  <a:srgbClr val="333333"/>
                </a:solidFill>
                <a:effectLst/>
                <a:latin typeface="Merriweather"/>
              </a:rPr>
              <a:t>System</a:t>
            </a:r>
            <a:r>
              <a:rPr lang="ru-RU" b="0" i="0" dirty="0">
                <a:solidFill>
                  <a:srgbClr val="333333"/>
                </a:solidFill>
                <a:effectLst/>
                <a:latin typeface="Merriweather"/>
              </a:rPr>
              <a:t> для применения TFS в качестве серверной инфраструктуры хранилища информации или выделенного TFS управления приложениями</a:t>
            </a:r>
            <a:endParaRPr lang="en-US" dirty="0"/>
          </a:p>
        </p:txBody>
      </p:sp>
    </p:spTree>
    <p:extLst>
      <p:ext uri="{BB962C8B-B14F-4D97-AF65-F5344CB8AC3E}">
        <p14:creationId xmlns:p14="http://schemas.microsoft.com/office/powerpoint/2010/main" val="3117129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465336" y="431831"/>
            <a:ext cx="11359719" cy="6102134"/>
          </a:xfrm>
        </p:spPr>
        <p:txBody>
          <a:bodyPr>
            <a:normAutofit fontScale="92500"/>
          </a:bodyPr>
          <a:lstStyle/>
          <a:p>
            <a:r>
              <a:rPr lang="ru-RU" b="0" i="0" dirty="0">
                <a:solidFill>
                  <a:srgbClr val="333333"/>
                </a:solidFill>
                <a:effectLst/>
                <a:latin typeface="Merriweather"/>
              </a:rPr>
              <a:t>Сами веб-сервисы находятся на </a:t>
            </a:r>
            <a:r>
              <a:rPr lang="ru-RU" b="0" i="1" dirty="0">
                <a:solidFill>
                  <a:srgbClr val="333333"/>
                </a:solidFill>
                <a:effectLst/>
                <a:latin typeface="Merriweather"/>
              </a:rPr>
              <a:t>прикладном уровне</a:t>
            </a:r>
            <a:r>
              <a:rPr lang="ru-RU" b="0" i="0" dirty="0">
                <a:solidFill>
                  <a:srgbClr val="333333"/>
                </a:solidFill>
                <a:effectLst/>
                <a:latin typeface="Merriweather"/>
              </a:rPr>
              <a:t>. </a:t>
            </a:r>
            <a:endParaRPr lang="en-US" b="0" i="0" dirty="0">
              <a:solidFill>
                <a:srgbClr val="333333"/>
              </a:solidFill>
              <a:effectLst/>
              <a:latin typeface="Merriweather"/>
            </a:endParaRPr>
          </a:p>
          <a:p>
            <a:r>
              <a:rPr lang="ru-RU" b="0" i="1" dirty="0">
                <a:solidFill>
                  <a:srgbClr val="333333"/>
                </a:solidFill>
                <a:effectLst/>
                <a:latin typeface="Merriweather"/>
              </a:rPr>
              <a:t>Прикладной уровень</a:t>
            </a:r>
            <a:r>
              <a:rPr lang="ru-RU" b="0" i="0" dirty="0">
                <a:solidFill>
                  <a:srgbClr val="333333"/>
                </a:solidFill>
                <a:effectLst/>
                <a:latin typeface="Merriweather"/>
              </a:rPr>
              <a:t> также включает в себя веб-портал и репозиторий (хранилище) документации, поддерживаемые </a:t>
            </a:r>
            <a:r>
              <a:rPr lang="ru-RU" b="0" i="0" dirty="0" err="1">
                <a:solidFill>
                  <a:srgbClr val="333333"/>
                </a:solidFill>
                <a:effectLst/>
                <a:latin typeface="Merriweather"/>
              </a:rPr>
              <a:t>Windows</a:t>
            </a:r>
            <a:r>
              <a:rPr lang="ru-RU" b="0" i="0" dirty="0">
                <a:solidFill>
                  <a:srgbClr val="333333"/>
                </a:solidFill>
                <a:effectLst/>
                <a:latin typeface="Merriweather"/>
              </a:rPr>
              <a:t> </a:t>
            </a:r>
            <a:r>
              <a:rPr lang="ru-RU" b="0" i="0" dirty="0" err="1">
                <a:solidFill>
                  <a:srgbClr val="333333"/>
                </a:solidFill>
                <a:effectLst/>
                <a:latin typeface="Merriweather"/>
              </a:rPr>
              <a:t>SharePoint</a:t>
            </a:r>
            <a:r>
              <a:rPr lang="ru-RU" b="0" i="0" dirty="0">
                <a:solidFill>
                  <a:srgbClr val="333333"/>
                </a:solidFill>
                <a:effectLst/>
                <a:latin typeface="Merriweather"/>
              </a:rPr>
              <a:t> </a:t>
            </a:r>
            <a:r>
              <a:rPr lang="ru-RU" b="0" i="0" dirty="0" err="1">
                <a:solidFill>
                  <a:srgbClr val="333333"/>
                </a:solidFill>
                <a:effectLst/>
                <a:latin typeface="Merriweather"/>
              </a:rPr>
              <a:t>Services</a:t>
            </a:r>
            <a:r>
              <a:rPr lang="ru-RU" b="0" i="0" dirty="0">
                <a:solidFill>
                  <a:srgbClr val="333333"/>
                </a:solidFill>
                <a:effectLst/>
                <a:latin typeface="Merriweather"/>
              </a:rPr>
              <a:t>. </a:t>
            </a:r>
            <a:endParaRPr lang="en-US" b="0" i="0" dirty="0">
              <a:solidFill>
                <a:srgbClr val="333333"/>
              </a:solidFill>
              <a:effectLst/>
              <a:latin typeface="Merriweather"/>
            </a:endParaRPr>
          </a:p>
          <a:p>
            <a:r>
              <a:rPr lang="ru-RU" b="0" i="0" dirty="0">
                <a:solidFill>
                  <a:srgbClr val="333333"/>
                </a:solidFill>
                <a:effectLst/>
                <a:latin typeface="Merriweather"/>
              </a:rPr>
              <a:t>Веб-портал, называемый </a:t>
            </a:r>
            <a:r>
              <a:rPr lang="ru-RU" b="0" i="1" dirty="0" err="1">
                <a:solidFill>
                  <a:srgbClr val="333333"/>
                </a:solidFill>
                <a:effectLst/>
                <a:latin typeface="Merriweather"/>
              </a:rPr>
              <a:t>Team</a:t>
            </a:r>
            <a:r>
              <a:rPr lang="ru-RU" b="0" i="1" dirty="0">
                <a:solidFill>
                  <a:srgbClr val="333333"/>
                </a:solidFill>
                <a:effectLst/>
                <a:latin typeface="Merriweather"/>
              </a:rPr>
              <a:t> </a:t>
            </a:r>
            <a:r>
              <a:rPr lang="ru-RU" b="0" i="1" dirty="0" err="1">
                <a:solidFill>
                  <a:srgbClr val="333333"/>
                </a:solidFill>
                <a:effectLst/>
                <a:latin typeface="Merriweather"/>
              </a:rPr>
              <a:t>Project</a:t>
            </a:r>
            <a:r>
              <a:rPr lang="ru-RU" b="0" i="1" dirty="0">
                <a:solidFill>
                  <a:srgbClr val="333333"/>
                </a:solidFill>
                <a:effectLst/>
                <a:latin typeface="Merriweather"/>
              </a:rPr>
              <a:t> </a:t>
            </a:r>
            <a:r>
              <a:rPr lang="ru-RU" b="0" i="1" dirty="0" err="1">
                <a:solidFill>
                  <a:srgbClr val="333333"/>
                </a:solidFill>
                <a:effectLst/>
                <a:latin typeface="Merriweather"/>
              </a:rPr>
              <a:t>Portal</a:t>
            </a:r>
            <a:r>
              <a:rPr lang="ru-RU" b="0" i="0" dirty="0">
                <a:solidFill>
                  <a:srgbClr val="333333"/>
                </a:solidFill>
                <a:effectLst/>
                <a:latin typeface="Merriweather"/>
              </a:rPr>
              <a:t> (портал командного проекта), выступает в роли центра взаимодействия для проектов, управляемых TFS. Репозиторий документов используется как для элементов проекта, так и для отслеживания ревизий (документирование изменений), а также для накопления и обработки данных и генерации отчетов. </a:t>
            </a:r>
            <a:r>
              <a:rPr lang="ru-RU" b="0" i="1" dirty="0">
                <a:solidFill>
                  <a:srgbClr val="333333"/>
                </a:solidFill>
                <a:effectLst/>
                <a:latin typeface="Merriweather"/>
              </a:rPr>
              <a:t>Уровень данных</a:t>
            </a:r>
            <a:r>
              <a:rPr lang="ru-RU" b="0" i="0" dirty="0">
                <a:solidFill>
                  <a:srgbClr val="333333"/>
                </a:solidFill>
                <a:effectLst/>
                <a:latin typeface="Merriweather"/>
              </a:rPr>
              <a:t>, основывающийся в первую очередь на установленном SQL </a:t>
            </a:r>
            <a:r>
              <a:rPr lang="ru-RU" b="0" i="0" dirty="0" err="1">
                <a:solidFill>
                  <a:srgbClr val="333333"/>
                </a:solidFill>
                <a:effectLst/>
                <a:latin typeface="Merriweather"/>
              </a:rPr>
              <a:t>Server</a:t>
            </a:r>
            <a:r>
              <a:rPr lang="ru-RU" b="0" i="0" dirty="0">
                <a:solidFill>
                  <a:srgbClr val="333333"/>
                </a:solidFill>
                <a:effectLst/>
                <a:latin typeface="Merriweather"/>
              </a:rPr>
              <a:t> обеспечивает сервисы постоянного хранения данных для репозитория документов. </a:t>
            </a:r>
            <a:r>
              <a:rPr lang="ru-RU" b="0" i="1" dirty="0">
                <a:solidFill>
                  <a:srgbClr val="333333"/>
                </a:solidFill>
                <a:effectLst/>
                <a:latin typeface="Merriweather"/>
              </a:rPr>
              <a:t>Уровень данных</a:t>
            </a:r>
            <a:r>
              <a:rPr lang="ru-RU" b="0" i="0" dirty="0">
                <a:solidFill>
                  <a:srgbClr val="333333"/>
                </a:solidFill>
                <a:effectLst/>
                <a:latin typeface="Merriweather"/>
              </a:rPr>
              <a:t> и </a:t>
            </a:r>
            <a:r>
              <a:rPr lang="ru-RU" b="0" i="1" dirty="0">
                <a:solidFill>
                  <a:srgbClr val="333333"/>
                </a:solidFill>
                <a:effectLst/>
                <a:latin typeface="Merriweather"/>
              </a:rPr>
              <a:t>уровень приложений</a:t>
            </a:r>
            <a:r>
              <a:rPr lang="ru-RU" b="0" i="0" dirty="0">
                <a:solidFill>
                  <a:srgbClr val="333333"/>
                </a:solidFill>
                <a:effectLst/>
                <a:latin typeface="Merriweather"/>
              </a:rPr>
              <a:t> могут существовать на различных физических или виртуальных серверах при использовании </a:t>
            </a:r>
            <a:r>
              <a:rPr lang="ru-RU" b="0" i="0" dirty="0" err="1">
                <a:solidFill>
                  <a:srgbClr val="333333"/>
                </a:solidFill>
                <a:effectLst/>
                <a:latin typeface="Merriweather"/>
              </a:rPr>
              <a:t>Windows</a:t>
            </a:r>
            <a:r>
              <a:rPr lang="ru-RU" b="0" i="0" dirty="0">
                <a:solidFill>
                  <a:srgbClr val="333333"/>
                </a:solidFill>
                <a:effectLst/>
                <a:latin typeface="Merriweather"/>
              </a:rPr>
              <a:t> </a:t>
            </a:r>
            <a:r>
              <a:rPr lang="ru-RU" b="0" i="0" dirty="0" err="1">
                <a:solidFill>
                  <a:srgbClr val="333333"/>
                </a:solidFill>
                <a:effectLst/>
                <a:latin typeface="Merriweather"/>
              </a:rPr>
              <a:t>Server</a:t>
            </a:r>
            <a:r>
              <a:rPr lang="ru-RU" b="0" i="0" dirty="0">
                <a:solidFill>
                  <a:srgbClr val="333333"/>
                </a:solidFill>
                <a:effectLst/>
                <a:latin typeface="Merriweather"/>
              </a:rPr>
              <a:t> 2003 или более специализированных версий. </a:t>
            </a:r>
            <a:r>
              <a:rPr lang="ru-RU" b="0" i="1" dirty="0">
                <a:solidFill>
                  <a:srgbClr val="333333"/>
                </a:solidFill>
                <a:effectLst/>
                <a:latin typeface="Merriweather"/>
              </a:rPr>
              <a:t>Уровень данных</a:t>
            </a:r>
            <a:r>
              <a:rPr lang="ru-RU" b="0" i="0" dirty="0">
                <a:solidFill>
                  <a:srgbClr val="333333"/>
                </a:solidFill>
                <a:effectLst/>
                <a:latin typeface="Merriweather"/>
              </a:rPr>
              <a:t> не взаимодействует с </a:t>
            </a:r>
            <a:r>
              <a:rPr lang="ru-RU" b="0" i="1" dirty="0">
                <a:solidFill>
                  <a:srgbClr val="333333"/>
                </a:solidFill>
                <a:effectLst/>
                <a:latin typeface="Merriweather"/>
              </a:rPr>
              <a:t>клиентским уровнем</a:t>
            </a:r>
            <a:r>
              <a:rPr lang="ru-RU" b="0" i="0" dirty="0">
                <a:solidFill>
                  <a:srgbClr val="333333"/>
                </a:solidFill>
                <a:effectLst/>
                <a:latin typeface="Merriweather"/>
              </a:rPr>
              <a:t> напрямую, только через </a:t>
            </a:r>
            <a:r>
              <a:rPr lang="ru-RU" b="0" i="1" dirty="0">
                <a:solidFill>
                  <a:srgbClr val="333333"/>
                </a:solidFill>
                <a:effectLst/>
                <a:latin typeface="Merriweather"/>
              </a:rPr>
              <a:t>прикладной уровень</a:t>
            </a:r>
            <a:r>
              <a:rPr lang="ru-RU" b="0" i="0" dirty="0">
                <a:solidFill>
                  <a:srgbClr val="333333"/>
                </a:solidFill>
                <a:effectLst/>
                <a:latin typeface="Merriweather"/>
              </a:rPr>
              <a:t>.</a:t>
            </a:r>
            <a:endParaRPr lang="en-US" dirty="0"/>
          </a:p>
        </p:txBody>
      </p:sp>
    </p:spTree>
    <p:extLst>
      <p:ext uri="{BB962C8B-B14F-4D97-AF65-F5344CB8AC3E}">
        <p14:creationId xmlns:p14="http://schemas.microsoft.com/office/powerpoint/2010/main" val="36491003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349927" y="280909"/>
            <a:ext cx="11842073" cy="7158578"/>
          </a:xfrm>
        </p:spPr>
        <p:txBody>
          <a:bodyPr>
            <a:normAutofit fontScale="85000" lnSpcReduction="20000"/>
          </a:bodyPr>
          <a:lstStyle/>
          <a:p>
            <a:r>
              <a:rPr lang="ru-RU" b="0" i="0" dirty="0">
                <a:solidFill>
                  <a:srgbClr val="333333"/>
                </a:solidFill>
                <a:effectLst/>
                <a:latin typeface="Merriweather"/>
              </a:rPr>
              <a:t>Большая часть действий в </a:t>
            </a:r>
            <a:r>
              <a:rPr lang="ru-RU" b="0" i="0" dirty="0" err="1">
                <a:solidFill>
                  <a:srgbClr val="333333"/>
                </a:solidFill>
                <a:effectLst/>
                <a:latin typeface="Merriweather"/>
              </a:rPr>
              <a:t>Team</a:t>
            </a:r>
            <a:r>
              <a:rPr lang="ru-RU" b="0" i="0" dirty="0">
                <a:solidFill>
                  <a:srgbClr val="333333"/>
                </a:solidFill>
                <a:effectLst/>
                <a:latin typeface="Merriweather"/>
              </a:rPr>
              <a:t> </a:t>
            </a:r>
            <a:r>
              <a:rPr lang="ru-RU" b="0" i="0" dirty="0" err="1">
                <a:solidFill>
                  <a:srgbClr val="333333"/>
                </a:solidFill>
                <a:effectLst/>
                <a:latin typeface="Merriweather"/>
              </a:rPr>
              <a:t>Foundation</a:t>
            </a:r>
            <a:r>
              <a:rPr lang="ru-RU" b="0" i="0" dirty="0">
                <a:solidFill>
                  <a:srgbClr val="333333"/>
                </a:solidFill>
                <a:effectLst/>
                <a:latin typeface="Merriweather"/>
              </a:rPr>
              <a:t> </a:t>
            </a:r>
            <a:r>
              <a:rPr lang="ru-RU" b="0" i="0" dirty="0" err="1">
                <a:solidFill>
                  <a:srgbClr val="333333"/>
                </a:solidFill>
                <a:effectLst/>
                <a:latin typeface="Merriweather"/>
              </a:rPr>
              <a:t>Server</a:t>
            </a:r>
            <a:r>
              <a:rPr lang="ru-RU" b="0" i="0" dirty="0">
                <a:solidFill>
                  <a:srgbClr val="333333"/>
                </a:solidFill>
                <a:effectLst/>
                <a:latin typeface="Merriweather"/>
              </a:rPr>
              <a:t> происходит с «рабочими элементами». </a:t>
            </a:r>
            <a:endParaRPr lang="en-US" b="0" i="0" dirty="0">
              <a:solidFill>
                <a:srgbClr val="333333"/>
              </a:solidFill>
              <a:effectLst/>
              <a:latin typeface="Merriweather"/>
            </a:endParaRPr>
          </a:p>
          <a:p>
            <a:r>
              <a:rPr lang="ru-RU" b="0" i="0" dirty="0">
                <a:solidFill>
                  <a:srgbClr val="333333"/>
                </a:solidFill>
                <a:effectLst/>
                <a:latin typeface="Merriweather"/>
              </a:rPr>
              <a:t>Рабочими элементами называются отдельные единицы (шаги) работы, выполняемые поочередно. Во многих источниках они отождествляются с элементами типа «ошибка» (</a:t>
            </a:r>
            <a:r>
              <a:rPr lang="ru-RU" b="0" i="0" dirty="0" err="1">
                <a:solidFill>
                  <a:srgbClr val="333333"/>
                </a:solidFill>
                <a:effectLst/>
                <a:latin typeface="Merriweather"/>
              </a:rPr>
              <a:t>bug</a:t>
            </a:r>
            <a:r>
              <a:rPr lang="ru-RU" b="0" i="0" dirty="0">
                <a:solidFill>
                  <a:srgbClr val="333333"/>
                </a:solidFill>
                <a:effectLst/>
                <a:latin typeface="Merriweather"/>
              </a:rPr>
              <a:t>) в системах отслеживания ошибок наподобие </a:t>
            </a:r>
            <a:r>
              <a:rPr lang="ru-RU" b="0" i="0" dirty="0" err="1">
                <a:solidFill>
                  <a:srgbClr val="333333"/>
                </a:solidFill>
                <a:effectLst/>
                <a:latin typeface="Merriweather"/>
              </a:rPr>
              <a:t>Bugzilla</a:t>
            </a:r>
            <a:r>
              <a:rPr lang="ru-RU" b="0" i="0" dirty="0">
                <a:solidFill>
                  <a:srgbClr val="333333"/>
                </a:solidFill>
                <a:effectLst/>
                <a:latin typeface="Merriweather"/>
              </a:rPr>
              <a:t>, то есть в этом случае рабочий элемент имеет поля </a:t>
            </a:r>
            <a:r>
              <a:rPr lang="ru-RU" b="0" i="0" dirty="0" err="1">
                <a:solidFill>
                  <a:srgbClr val="333333"/>
                </a:solidFill>
                <a:effectLst/>
                <a:latin typeface="Merriweather"/>
              </a:rPr>
              <a:t>Area</a:t>
            </a:r>
            <a:r>
              <a:rPr lang="ru-RU" b="0" i="0" dirty="0">
                <a:solidFill>
                  <a:srgbClr val="333333"/>
                </a:solidFill>
                <a:effectLst/>
                <a:latin typeface="Merriweather"/>
              </a:rPr>
              <a:t> (связанная область), </a:t>
            </a:r>
            <a:r>
              <a:rPr lang="ru-RU" b="0" i="0" dirty="0" err="1">
                <a:solidFill>
                  <a:srgbClr val="333333"/>
                </a:solidFill>
                <a:effectLst/>
                <a:latin typeface="Merriweather"/>
              </a:rPr>
              <a:t>Iteration</a:t>
            </a:r>
            <a:r>
              <a:rPr lang="ru-RU" b="0" i="0" dirty="0">
                <a:solidFill>
                  <a:srgbClr val="333333"/>
                </a:solidFill>
                <a:effectLst/>
                <a:latin typeface="Merriweather"/>
              </a:rPr>
              <a:t> (состояние), </a:t>
            </a:r>
            <a:r>
              <a:rPr lang="ru-RU" b="0" i="0" dirty="0" err="1">
                <a:solidFill>
                  <a:srgbClr val="333333"/>
                </a:solidFill>
                <a:effectLst/>
                <a:latin typeface="Merriweather"/>
              </a:rPr>
              <a:t>Assignee</a:t>
            </a:r>
            <a:r>
              <a:rPr lang="ru-RU" b="0" i="0" dirty="0">
                <a:solidFill>
                  <a:srgbClr val="333333"/>
                </a:solidFill>
                <a:effectLst/>
                <a:latin typeface="Merriweather"/>
              </a:rPr>
              <a:t> (связан с), </a:t>
            </a:r>
            <a:r>
              <a:rPr lang="ru-RU" b="0" i="0" dirty="0" err="1">
                <a:solidFill>
                  <a:srgbClr val="333333"/>
                </a:solidFill>
                <a:effectLst/>
                <a:latin typeface="Merriweather"/>
              </a:rPr>
              <a:t>Reported</a:t>
            </a:r>
            <a:r>
              <a:rPr lang="ru-RU" b="0" i="0" dirty="0">
                <a:solidFill>
                  <a:srgbClr val="333333"/>
                </a:solidFill>
                <a:effectLst/>
                <a:latin typeface="Merriweather"/>
              </a:rPr>
              <a:t> </a:t>
            </a:r>
            <a:r>
              <a:rPr lang="ru-RU" b="0" i="0" dirty="0" err="1">
                <a:solidFill>
                  <a:srgbClr val="333333"/>
                </a:solidFill>
                <a:effectLst/>
                <a:latin typeface="Merriweather"/>
              </a:rPr>
              <a:t>By</a:t>
            </a:r>
            <a:r>
              <a:rPr lang="ru-RU" b="0" i="0" dirty="0">
                <a:solidFill>
                  <a:srgbClr val="333333"/>
                </a:solidFill>
                <a:effectLst/>
                <a:latin typeface="Merriweather"/>
              </a:rPr>
              <a:t> (кем создан) для указания соответствующей информации, историю, приложенные файлы, а также множество прочих атрибутов. </a:t>
            </a:r>
            <a:endParaRPr lang="en-US" b="0" i="0" dirty="0">
              <a:solidFill>
                <a:srgbClr val="333333"/>
              </a:solidFill>
              <a:effectLst/>
              <a:latin typeface="Merriweather"/>
            </a:endParaRPr>
          </a:p>
          <a:p>
            <a:r>
              <a:rPr lang="ru-RU" b="0" i="0" dirty="0">
                <a:solidFill>
                  <a:srgbClr val="333333"/>
                </a:solidFill>
                <a:effectLst/>
                <a:latin typeface="Merriweather"/>
              </a:rPr>
              <a:t>Рабочие элементы сами по себе могут быть нескольких типов, например </a:t>
            </a:r>
            <a:r>
              <a:rPr lang="ru-RU" b="0" i="1" dirty="0">
                <a:solidFill>
                  <a:srgbClr val="333333"/>
                </a:solidFill>
                <a:effectLst/>
                <a:latin typeface="Merriweather"/>
              </a:rPr>
              <a:t>Ошибка</a:t>
            </a:r>
            <a:r>
              <a:rPr lang="ru-RU" b="0" i="0" dirty="0">
                <a:solidFill>
                  <a:srgbClr val="333333"/>
                </a:solidFill>
                <a:effectLst/>
                <a:latin typeface="Merriweather"/>
              </a:rPr>
              <a:t>, </a:t>
            </a:r>
            <a:r>
              <a:rPr lang="ru-RU" b="0" i="1" dirty="0">
                <a:solidFill>
                  <a:srgbClr val="333333"/>
                </a:solidFill>
                <a:effectLst/>
                <a:latin typeface="Merriweather"/>
              </a:rPr>
              <a:t>Задача</a:t>
            </a:r>
            <a:r>
              <a:rPr lang="ru-RU" b="0" i="0" dirty="0">
                <a:solidFill>
                  <a:srgbClr val="333333"/>
                </a:solidFill>
                <a:effectLst/>
                <a:latin typeface="Merriweather"/>
              </a:rPr>
              <a:t>, </a:t>
            </a:r>
            <a:r>
              <a:rPr lang="ru-RU" b="0" i="1" dirty="0">
                <a:solidFill>
                  <a:srgbClr val="333333"/>
                </a:solidFill>
                <a:effectLst/>
                <a:latin typeface="Merriweather"/>
              </a:rPr>
              <a:t>Требование качества</a:t>
            </a:r>
            <a:r>
              <a:rPr lang="ru-RU" b="0" i="0" dirty="0">
                <a:solidFill>
                  <a:srgbClr val="333333"/>
                </a:solidFill>
                <a:effectLst/>
                <a:latin typeface="Merriweather"/>
              </a:rPr>
              <a:t>, </a:t>
            </a:r>
            <a:r>
              <a:rPr lang="ru-RU" b="0" i="1" dirty="0">
                <a:solidFill>
                  <a:srgbClr val="333333"/>
                </a:solidFill>
                <a:effectLst/>
                <a:latin typeface="Merriweather"/>
              </a:rPr>
              <a:t>Сценарий</a:t>
            </a:r>
            <a:r>
              <a:rPr lang="ru-RU" b="0" i="0" dirty="0">
                <a:solidFill>
                  <a:srgbClr val="333333"/>
                </a:solidFill>
                <a:effectLst/>
                <a:latin typeface="Merriweather"/>
              </a:rPr>
              <a:t> и т. д.. Выбранный фреймворк для любого взятого проекта в </a:t>
            </a:r>
            <a:r>
              <a:rPr lang="ru-RU" b="0" i="0" dirty="0" err="1">
                <a:solidFill>
                  <a:srgbClr val="333333"/>
                </a:solidFill>
                <a:effectLst/>
                <a:latin typeface="Merriweather"/>
              </a:rPr>
              <a:t>Team</a:t>
            </a:r>
            <a:r>
              <a:rPr lang="ru-RU" b="0" i="0" dirty="0">
                <a:solidFill>
                  <a:srgbClr val="333333"/>
                </a:solidFill>
                <a:effectLst/>
                <a:latin typeface="Merriweather"/>
              </a:rPr>
              <a:t> </a:t>
            </a:r>
            <a:r>
              <a:rPr lang="ru-RU" b="0" i="0" dirty="0" err="1">
                <a:solidFill>
                  <a:srgbClr val="333333"/>
                </a:solidFill>
                <a:effectLst/>
                <a:latin typeface="Merriweather"/>
              </a:rPr>
              <a:t>Foundation</a:t>
            </a:r>
            <a:r>
              <a:rPr lang="ru-RU" b="0" i="0" dirty="0">
                <a:solidFill>
                  <a:srgbClr val="333333"/>
                </a:solidFill>
                <a:effectLst/>
                <a:latin typeface="Merriweather"/>
              </a:rPr>
              <a:t> </a:t>
            </a:r>
            <a:r>
              <a:rPr lang="ru-RU" b="0" i="0" dirty="0" err="1">
                <a:solidFill>
                  <a:srgbClr val="333333"/>
                </a:solidFill>
                <a:effectLst/>
                <a:latin typeface="Merriweather"/>
              </a:rPr>
              <a:t>Server</a:t>
            </a:r>
            <a:r>
              <a:rPr lang="ru-RU" b="0" i="0" dirty="0">
                <a:solidFill>
                  <a:srgbClr val="333333"/>
                </a:solidFill>
                <a:effectLst/>
                <a:latin typeface="Merriweather"/>
              </a:rPr>
              <a:t> определяет какие типы рабочих элементов будут доступны и какими атрибутами каждый из типов будет обладать. </a:t>
            </a:r>
            <a:endParaRPr lang="en-US" b="0" i="0" dirty="0">
              <a:solidFill>
                <a:srgbClr val="333333"/>
              </a:solidFill>
              <a:effectLst/>
              <a:latin typeface="Merriweather"/>
            </a:endParaRPr>
          </a:p>
          <a:p>
            <a:r>
              <a:rPr lang="ru-RU" b="0" i="0" dirty="0">
                <a:solidFill>
                  <a:srgbClr val="333333"/>
                </a:solidFill>
                <a:effectLst/>
                <a:latin typeface="Merriweather"/>
              </a:rPr>
              <a:t>Эти элементы внутри приложения хранятся в XML-формате, а их схема может быть легко модифицирована для добавления новых атрибутов к различным элементам или создания новых элементов на проектной основе. Каждый рабочий элемент имеет соответствующие методики контроля, которые определяют, кому какие именно элементы доступны и какие действия он с ними может производить (просмотр, редактирование, создание, удаление и др.). Также подразумевается использование уведомлений и возможности ведения логов, для отслеживания истории всего процесса создания, обращения к элементу или его изменения (определяется правами), а также предусматривается дополнительное уведомление определенных пользователей при наступлении определенных событий.</a:t>
            </a:r>
            <a:endParaRPr lang="en-US" dirty="0"/>
          </a:p>
        </p:txBody>
      </p:sp>
    </p:spTree>
    <p:extLst>
      <p:ext uri="{BB962C8B-B14F-4D97-AF65-F5344CB8AC3E}">
        <p14:creationId xmlns:p14="http://schemas.microsoft.com/office/powerpoint/2010/main" val="15918699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a:extLst>
              <a:ext uri="{FF2B5EF4-FFF2-40B4-BE49-F238E27FC236}">
                <a16:creationId xmlns:a16="http://schemas.microsoft.com/office/drawing/2014/main" id="{486843FB-3F0B-49D8-969B-C6EB1370221E}"/>
              </a:ext>
            </a:extLst>
          </p:cNvPr>
          <p:cNvSpPr>
            <a:spLocks noGrp="1"/>
          </p:cNvSpPr>
          <p:nvPr>
            <p:ph type="title"/>
          </p:nvPr>
        </p:nvSpPr>
        <p:spPr>
          <a:xfrm>
            <a:off x="838200" y="365125"/>
            <a:ext cx="10515600" cy="1325563"/>
          </a:xfrm>
        </p:spPr>
        <p:txBody>
          <a:bodyPr/>
          <a:lstStyle/>
          <a:p>
            <a:r>
              <a:rPr lang="ru-RU" dirty="0"/>
              <a:t>Логическая структура</a:t>
            </a:r>
            <a:endParaRPr lang="en-US" dirty="0"/>
          </a:p>
        </p:txBody>
      </p:sp>
      <p:pic>
        <p:nvPicPr>
          <p:cNvPr id="4" name="Picture 2" descr="Bb668951.image001(en-us,PandP.10).jpg">
            <a:extLst>
              <a:ext uri="{FF2B5EF4-FFF2-40B4-BE49-F238E27FC236}">
                <a16:creationId xmlns:a16="http://schemas.microsoft.com/office/drawing/2014/main" id="{71F7A731-849B-4258-85C5-F5ACC8DECD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743" y="1872341"/>
            <a:ext cx="6052796" cy="337903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Bb668951.image002(en-us,PandP.10).jpg">
            <a:extLst>
              <a:ext uri="{FF2B5EF4-FFF2-40B4-BE49-F238E27FC236}">
                <a16:creationId xmlns:a16="http://schemas.microsoft.com/office/drawing/2014/main" id="{8C1AA58E-B4E0-457F-907C-B1AC0991FE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295" y="1952134"/>
            <a:ext cx="5238750" cy="3219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94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80748" y="431831"/>
            <a:ext cx="10515600" cy="4351338"/>
          </a:xfrm>
        </p:spPr>
        <p:txBody>
          <a:bodyPr/>
          <a:lstStyle/>
          <a:p>
            <a:endParaRPr lang="ru-RU" b="0" i="0" dirty="0">
              <a:solidFill>
                <a:srgbClr val="202124"/>
              </a:solidFill>
              <a:effectLst/>
              <a:latin typeface="arial" panose="020B0604020202020204" pitchFamily="34" charset="0"/>
            </a:endParaRPr>
          </a:p>
          <a:p>
            <a:r>
              <a:rPr lang="ru-RU" b="0" i="0" dirty="0">
                <a:solidFill>
                  <a:srgbClr val="202124"/>
                </a:solidFill>
                <a:effectLst/>
                <a:latin typeface="arial" panose="020B0604020202020204" pitchFamily="34" charset="0"/>
              </a:rPr>
              <a:t>Система управления версиями (VCS) </a:t>
            </a:r>
          </a:p>
          <a:p>
            <a:r>
              <a:rPr lang="ru-RU" b="0" i="0" dirty="0">
                <a:solidFill>
                  <a:srgbClr val="202124"/>
                </a:solidFill>
                <a:effectLst/>
                <a:latin typeface="arial" panose="020B0604020202020204" pitchFamily="34" charset="0"/>
              </a:rPr>
              <a:t>также известная как система управления исходным кодом, — это </a:t>
            </a:r>
            <a:r>
              <a:rPr lang="ru-RU" b="1" i="0" dirty="0">
                <a:solidFill>
                  <a:srgbClr val="202124"/>
                </a:solidFill>
                <a:effectLst/>
                <a:latin typeface="arial" panose="020B0604020202020204" pitchFamily="34" charset="0"/>
              </a:rPr>
              <a:t>программное обеспечение для отслеживания изменений в файловой системе и управления ими</a:t>
            </a:r>
            <a:r>
              <a:rPr lang="ru-RU" b="0" i="0" dirty="0">
                <a:solidFill>
                  <a:srgbClr val="202124"/>
                </a:solidFill>
                <a:effectLst/>
                <a:latin typeface="arial" panose="020B0604020202020204" pitchFamily="34" charset="0"/>
              </a:rPr>
              <a:t>.</a:t>
            </a:r>
            <a:endParaRPr lang="en-US" dirty="0"/>
          </a:p>
        </p:txBody>
      </p:sp>
    </p:spTree>
    <p:extLst>
      <p:ext uri="{BB962C8B-B14F-4D97-AF65-F5344CB8AC3E}">
        <p14:creationId xmlns:p14="http://schemas.microsoft.com/office/powerpoint/2010/main" val="3298194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106BB71-683B-42CA-9C89-5593BB59ECC6}"/>
              </a:ext>
            </a:extLst>
          </p:cNvPr>
          <p:cNvSpPr txBox="1"/>
          <p:nvPr/>
        </p:nvSpPr>
        <p:spPr>
          <a:xfrm>
            <a:off x="399495" y="199564"/>
            <a:ext cx="11549849" cy="6186309"/>
          </a:xfrm>
          <a:prstGeom prst="rect">
            <a:avLst/>
          </a:prstGeom>
          <a:noFill/>
        </p:spPr>
        <p:txBody>
          <a:bodyPr wrap="square">
            <a:spAutoFit/>
          </a:bodyPr>
          <a:lstStyle/>
          <a:p>
            <a:pPr algn="l"/>
            <a:r>
              <a:rPr lang="ru-RU" sz="2200" b="1" i="0" dirty="0">
                <a:solidFill>
                  <a:srgbClr val="F14E32"/>
                </a:solidFill>
                <a:effectLst/>
                <a:latin typeface="Roboto Slab"/>
              </a:rPr>
              <a:t>О системе контроля версий</a:t>
            </a:r>
          </a:p>
          <a:p>
            <a:pPr algn="l"/>
            <a:r>
              <a:rPr lang="ru-RU" sz="2200" b="0" i="0" dirty="0">
                <a:solidFill>
                  <a:srgbClr val="4E443C"/>
                </a:solidFill>
                <a:effectLst/>
                <a:latin typeface="Arial" panose="020B0604020202020204" pitchFamily="34" charset="0"/>
              </a:rPr>
              <a:t>Что такое «система контроля версий» и почему это важно? </a:t>
            </a:r>
          </a:p>
          <a:p>
            <a:pPr algn="l"/>
            <a:endParaRPr lang="ru-RU" sz="2200" dirty="0">
              <a:solidFill>
                <a:srgbClr val="4E443C"/>
              </a:solidFill>
              <a:latin typeface="Arial" panose="020B0604020202020204" pitchFamily="34" charset="0"/>
            </a:endParaRPr>
          </a:p>
          <a:p>
            <a:pPr algn="l"/>
            <a:r>
              <a:rPr lang="ru-RU" sz="2200" b="0" i="0" dirty="0">
                <a:solidFill>
                  <a:srgbClr val="4E443C"/>
                </a:solidFill>
                <a:effectLst/>
                <a:latin typeface="Arial" panose="020B0604020202020204" pitchFamily="34" charset="0"/>
              </a:rPr>
              <a:t>Система контроля версий — это система, записывающая изменения в файл или набор файлов в течение времени и позволяющая вернуться позже к определённой версии. </a:t>
            </a:r>
          </a:p>
          <a:p>
            <a:pPr algn="l"/>
            <a:endParaRPr lang="ru-RU" sz="2200" dirty="0">
              <a:solidFill>
                <a:srgbClr val="4E443C"/>
              </a:solidFill>
              <a:latin typeface="Arial" panose="020B0604020202020204" pitchFamily="34" charset="0"/>
            </a:endParaRPr>
          </a:p>
          <a:p>
            <a:pPr algn="l"/>
            <a:r>
              <a:rPr lang="ru-RU" sz="2200" b="0" i="0" dirty="0">
                <a:solidFill>
                  <a:srgbClr val="4E443C"/>
                </a:solidFill>
                <a:effectLst/>
                <a:latin typeface="Arial" panose="020B0604020202020204" pitchFamily="34" charset="0"/>
              </a:rPr>
              <a:t>Для контроля версий файлов примером может быть использование исходного кода программного обеспечения, хотя на самом деле вы можете использовать контроль версий практически для любых типов файлов.</a:t>
            </a:r>
          </a:p>
          <a:p>
            <a:pPr algn="l"/>
            <a:r>
              <a:rPr lang="ru-RU" sz="2200" b="0" i="0" dirty="0">
                <a:solidFill>
                  <a:srgbClr val="4E443C"/>
                </a:solidFill>
                <a:effectLst/>
                <a:latin typeface="Arial" panose="020B0604020202020204" pitchFamily="34" charset="0"/>
              </a:rPr>
              <a:t>Если вы графический или </a:t>
            </a:r>
            <a:r>
              <a:rPr lang="ru-RU" sz="2200" b="0" i="0" dirty="0" err="1">
                <a:solidFill>
                  <a:srgbClr val="4E443C"/>
                </a:solidFill>
                <a:effectLst/>
                <a:latin typeface="Arial" panose="020B0604020202020204" pitchFamily="34" charset="0"/>
              </a:rPr>
              <a:t>web</a:t>
            </a:r>
            <a:r>
              <a:rPr lang="ru-RU" sz="2200" b="0" i="0" dirty="0">
                <a:solidFill>
                  <a:srgbClr val="4E443C"/>
                </a:solidFill>
                <a:effectLst/>
                <a:latin typeface="Arial" panose="020B0604020202020204" pitchFamily="34" charset="0"/>
              </a:rPr>
              <a:t>-дизайнер и хотите сохранить каждую версию изображения или макета (скорее всего, захотите), система контроля версий (далее СКВ) — как раз то, что нужно. Она позволяет вернуть файлы к состоянию, в котором они были до изменений, вернуть проект к исходному состоянию, увидеть изменения, увидеть, кто последний менял что-то и вызвал проблему, кто поставил задачу и когда и многое другое. </a:t>
            </a:r>
          </a:p>
          <a:p>
            <a:pPr algn="l"/>
            <a:r>
              <a:rPr lang="ru-RU" sz="2200" b="0" i="0" dirty="0">
                <a:solidFill>
                  <a:srgbClr val="4E443C"/>
                </a:solidFill>
                <a:effectLst/>
                <a:latin typeface="Arial" panose="020B0604020202020204" pitchFamily="34" charset="0"/>
              </a:rPr>
              <a:t>Использование СКВ также значит в целом, что, если вы сломали что-то или потеряли файлы, вы спокойно можете всё исправить. В дополнение ко всему вы получите всё это без каких-либо дополнительных усилий.</a:t>
            </a:r>
          </a:p>
        </p:txBody>
      </p:sp>
    </p:spTree>
    <p:extLst>
      <p:ext uri="{BB962C8B-B14F-4D97-AF65-F5344CB8AC3E}">
        <p14:creationId xmlns:p14="http://schemas.microsoft.com/office/powerpoint/2010/main" val="3457754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89626" y="751427"/>
            <a:ext cx="10515600" cy="4351338"/>
          </a:xfrm>
        </p:spPr>
        <p:txBody>
          <a:bodyPr/>
          <a:lstStyle/>
          <a:p>
            <a:r>
              <a:rPr lang="ru-RU" b="1" i="0" dirty="0">
                <a:solidFill>
                  <a:srgbClr val="4E443C"/>
                </a:solidFill>
                <a:effectLst/>
                <a:latin typeface="Roboto Slab"/>
              </a:rPr>
              <a:t>Локальные системы контроля версий</a:t>
            </a:r>
          </a:p>
          <a:p>
            <a:endParaRPr lang="ru-RU" b="1" i="0" dirty="0">
              <a:solidFill>
                <a:srgbClr val="4E443C"/>
              </a:solidFill>
              <a:effectLst/>
              <a:latin typeface="Roboto Slab"/>
            </a:endParaRPr>
          </a:p>
          <a:p>
            <a:endParaRPr lang="en-US" dirty="0"/>
          </a:p>
        </p:txBody>
      </p:sp>
      <p:pic>
        <p:nvPicPr>
          <p:cNvPr id="3" name="Объект 3">
            <a:extLst>
              <a:ext uri="{FF2B5EF4-FFF2-40B4-BE49-F238E27FC236}">
                <a16:creationId xmlns:a16="http://schemas.microsoft.com/office/drawing/2014/main" id="{058FD202-92FA-4700-976B-F2E98F2211D8}"/>
              </a:ext>
            </a:extLst>
          </p:cNvPr>
          <p:cNvPicPr>
            <a:picLocks noChangeAspect="1"/>
          </p:cNvPicPr>
          <p:nvPr/>
        </p:nvPicPr>
        <p:blipFill>
          <a:blip r:embed="rId2"/>
          <a:stretch>
            <a:fillRect/>
          </a:stretch>
        </p:blipFill>
        <p:spPr>
          <a:xfrm>
            <a:off x="3286195" y="1621439"/>
            <a:ext cx="5122461" cy="4351338"/>
          </a:xfrm>
          <a:prstGeom prst="rect">
            <a:avLst/>
          </a:prstGeom>
        </p:spPr>
      </p:pic>
    </p:spTree>
    <p:extLst>
      <p:ext uri="{BB962C8B-B14F-4D97-AF65-F5344CB8AC3E}">
        <p14:creationId xmlns:p14="http://schemas.microsoft.com/office/powerpoint/2010/main" val="300390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45235" y="431830"/>
            <a:ext cx="11475129" cy="6426170"/>
          </a:xfrm>
        </p:spPr>
        <p:txBody>
          <a:bodyPr>
            <a:normAutofit fontScale="92500"/>
          </a:bodyPr>
          <a:lstStyle/>
          <a:p>
            <a:pPr algn="l"/>
            <a:r>
              <a:rPr lang="ru-RU" b="0" i="0" dirty="0">
                <a:solidFill>
                  <a:srgbClr val="4E443C"/>
                </a:solidFill>
                <a:effectLst/>
                <a:latin typeface="Arial" panose="020B0604020202020204" pitchFamily="34" charset="0"/>
              </a:rPr>
              <a:t>Многие люди в качестве метода контроля версий применяют копирование файлов в отдельный каталог (возможно даже, каталог с отметкой по времени, если они достаточно сообразительны). </a:t>
            </a:r>
          </a:p>
          <a:p>
            <a:pPr algn="l"/>
            <a:r>
              <a:rPr lang="ru-RU" b="0" i="0" dirty="0">
                <a:solidFill>
                  <a:srgbClr val="4E443C"/>
                </a:solidFill>
                <a:effectLst/>
                <a:latin typeface="Arial" panose="020B0604020202020204" pitchFamily="34" charset="0"/>
              </a:rPr>
              <a:t>Данный подход очень распространён из-за его простоты, однако он невероятно сильно подвержен появлению ошибок. Можно легко забыть в каком каталоге вы находитесь и случайно изменить не тот файл или скопировать не те файлы, которые вы хотели.</a:t>
            </a:r>
          </a:p>
          <a:p>
            <a:pPr algn="l"/>
            <a:r>
              <a:rPr lang="ru-RU" b="0" i="0" dirty="0">
                <a:solidFill>
                  <a:srgbClr val="4E443C"/>
                </a:solidFill>
                <a:effectLst/>
                <a:latin typeface="Arial" panose="020B0604020202020204" pitchFamily="34" charset="0"/>
              </a:rPr>
              <a:t>Для того, чтобы решить эту проблему, программисты давным-давно разработали локальные СКВ с простой базой данных, которая хранит записи о всех изменениях в файлах, осуществляя тем самым контроль ревизий.</a:t>
            </a:r>
          </a:p>
          <a:p>
            <a:pPr algn="l"/>
            <a:r>
              <a:rPr lang="ru-RU" b="0" i="0" dirty="0">
                <a:solidFill>
                  <a:srgbClr val="4E443C"/>
                </a:solidFill>
                <a:effectLst/>
                <a:latin typeface="Arial" panose="020B0604020202020204" pitchFamily="34" charset="0"/>
              </a:rPr>
              <a:t>Одной из популярных СКВ была система RCS, которая и сегодня распространяется со многими компьютерами. </a:t>
            </a:r>
            <a:r>
              <a:rPr lang="ru-RU" b="0" i="0" u="none" strike="noStrike" dirty="0">
                <a:solidFill>
                  <a:srgbClr val="0388A6"/>
                </a:solidFill>
                <a:effectLst/>
                <a:latin typeface="Arial" panose="020B0604020202020204" pitchFamily="34" charset="0"/>
                <a:hlinkClick r:id="rId2"/>
              </a:rPr>
              <a:t>RCS</a:t>
            </a:r>
            <a:r>
              <a:rPr lang="ru-RU" b="0" i="0" dirty="0">
                <a:solidFill>
                  <a:srgbClr val="4E443C"/>
                </a:solidFill>
                <a:effectLst/>
                <a:latin typeface="Arial" panose="020B0604020202020204" pitchFamily="34" charset="0"/>
              </a:rPr>
              <a:t> хранит на диске наборы патчей (различий между файлами) в специальном формате, применяя которые она может воссоздавать состояние каждого файла в заданный момент времени.</a:t>
            </a:r>
          </a:p>
          <a:p>
            <a:endParaRPr lang="en-US" dirty="0"/>
          </a:p>
        </p:txBody>
      </p:sp>
    </p:spTree>
    <p:extLst>
      <p:ext uri="{BB962C8B-B14F-4D97-AF65-F5344CB8AC3E}">
        <p14:creationId xmlns:p14="http://schemas.microsoft.com/office/powerpoint/2010/main" val="1723426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491971" y="680406"/>
            <a:ext cx="10515600" cy="4351338"/>
          </a:xfrm>
        </p:spPr>
        <p:txBody>
          <a:bodyPr/>
          <a:lstStyle/>
          <a:p>
            <a:r>
              <a:rPr lang="ru-RU" b="1" i="0" dirty="0">
                <a:solidFill>
                  <a:srgbClr val="4E443C"/>
                </a:solidFill>
                <a:effectLst/>
                <a:latin typeface="Roboto Slab"/>
              </a:rPr>
              <a:t>Централизованные системы контроля версий</a:t>
            </a:r>
          </a:p>
          <a:p>
            <a:endParaRPr lang="en-US" dirty="0"/>
          </a:p>
        </p:txBody>
      </p:sp>
      <p:pic>
        <p:nvPicPr>
          <p:cNvPr id="3" name="Объект 3">
            <a:extLst>
              <a:ext uri="{FF2B5EF4-FFF2-40B4-BE49-F238E27FC236}">
                <a16:creationId xmlns:a16="http://schemas.microsoft.com/office/drawing/2014/main" id="{A1AC7A82-F44F-4F8A-AD89-78098D72F0F7}"/>
              </a:ext>
            </a:extLst>
          </p:cNvPr>
          <p:cNvPicPr>
            <a:picLocks noChangeAspect="1"/>
          </p:cNvPicPr>
          <p:nvPr/>
        </p:nvPicPr>
        <p:blipFill>
          <a:blip r:embed="rId2"/>
          <a:stretch>
            <a:fillRect/>
          </a:stretch>
        </p:blipFill>
        <p:spPr>
          <a:xfrm>
            <a:off x="3194032" y="1825625"/>
            <a:ext cx="5803935" cy="4351338"/>
          </a:xfrm>
          <a:prstGeom prst="rect">
            <a:avLst/>
          </a:prstGeom>
        </p:spPr>
      </p:pic>
    </p:spTree>
    <p:extLst>
      <p:ext uri="{BB962C8B-B14F-4D97-AF65-F5344CB8AC3E}">
        <p14:creationId xmlns:p14="http://schemas.microsoft.com/office/powerpoint/2010/main" val="16899165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54115" y="715916"/>
            <a:ext cx="10649504" cy="5525086"/>
          </a:xfrm>
        </p:spPr>
        <p:txBody>
          <a:bodyPr/>
          <a:lstStyle/>
          <a:p>
            <a:r>
              <a:rPr lang="ru-RU" b="0" i="0" dirty="0">
                <a:solidFill>
                  <a:srgbClr val="4E443C"/>
                </a:solidFill>
                <a:effectLst/>
                <a:latin typeface="Arial" panose="020B0604020202020204" pitchFamily="34" charset="0"/>
              </a:rPr>
              <a:t>Следующая серьёзная проблема, с которой сталкиваются люди, — это необходимость взаимодействовать с другими разработчиками. Для того, чтобы разобраться с ней, были разработаны централизованные системы контроля версий (ЦСКВ). Такие системы, как CVS, </a:t>
            </a:r>
            <a:r>
              <a:rPr lang="ru-RU" b="0" i="0" dirty="0" err="1">
                <a:solidFill>
                  <a:srgbClr val="4E443C"/>
                </a:solidFill>
                <a:effectLst/>
                <a:latin typeface="Arial" panose="020B0604020202020204" pitchFamily="34" charset="0"/>
              </a:rPr>
              <a:t>Subversion</a:t>
            </a:r>
            <a:r>
              <a:rPr lang="ru-RU" b="0" i="0" dirty="0">
                <a:solidFill>
                  <a:srgbClr val="4E443C"/>
                </a:solidFill>
                <a:effectLst/>
                <a:latin typeface="Arial" panose="020B0604020202020204" pitchFamily="34" charset="0"/>
              </a:rPr>
              <a:t> и </a:t>
            </a:r>
            <a:r>
              <a:rPr lang="ru-RU" b="0" i="0" dirty="0" err="1">
                <a:solidFill>
                  <a:srgbClr val="4E443C"/>
                </a:solidFill>
                <a:effectLst/>
                <a:latin typeface="Arial" panose="020B0604020202020204" pitchFamily="34" charset="0"/>
              </a:rPr>
              <a:t>Perforce</a:t>
            </a:r>
            <a:r>
              <a:rPr lang="ru-RU" b="0" i="0" dirty="0">
                <a:solidFill>
                  <a:srgbClr val="4E443C"/>
                </a:solidFill>
                <a:effectLst/>
                <a:latin typeface="Arial" panose="020B0604020202020204" pitchFamily="34" charset="0"/>
              </a:rPr>
              <a:t>, используют единственный сервер, содержащий все версии файлов, и некоторое количество клиентов, которые получают файлы из этого централизованного хранилища. Применение ЦСКВ являлось стандартом на протяжении многих лет.</a:t>
            </a:r>
            <a:endParaRPr lang="en-US" dirty="0"/>
          </a:p>
        </p:txBody>
      </p:sp>
    </p:spTree>
    <p:extLst>
      <p:ext uri="{BB962C8B-B14F-4D97-AF65-F5344CB8AC3E}">
        <p14:creationId xmlns:p14="http://schemas.microsoft.com/office/powerpoint/2010/main" val="34355767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36359" y="440708"/>
            <a:ext cx="11315329" cy="6279687"/>
          </a:xfrm>
        </p:spPr>
        <p:txBody>
          <a:bodyPr>
            <a:normAutofit fontScale="92500" lnSpcReduction="10000"/>
          </a:bodyPr>
          <a:lstStyle/>
          <a:p>
            <a:pPr algn="l"/>
            <a:r>
              <a:rPr lang="ru-RU" b="0" i="0" dirty="0">
                <a:solidFill>
                  <a:srgbClr val="4E443C"/>
                </a:solidFill>
                <a:effectLst/>
                <a:latin typeface="Arial" panose="020B0604020202020204" pitchFamily="34" charset="0"/>
              </a:rPr>
              <a:t>Такой подход имеет множество преимуществ, особенно перед локальными СКВ. Например, все разработчики проекта в определённой степени знают, чем занимается каждый из них. Администраторы имеют полный контроль над тем, кто и что может делать, и гораздо проще администрировать ЦСКВ, чем оперировать локальными базами данных на каждом клиенте.</a:t>
            </a:r>
          </a:p>
          <a:p>
            <a:pPr algn="l"/>
            <a:r>
              <a:rPr lang="ru-RU" b="0" i="0" dirty="0">
                <a:solidFill>
                  <a:srgbClr val="4E443C"/>
                </a:solidFill>
                <a:effectLst/>
                <a:latin typeface="Arial" panose="020B0604020202020204" pitchFamily="34" charset="0"/>
              </a:rPr>
              <a:t>Несмотря на это, данный подход тоже имеет серьёзные минусы. Самый очевидный минус — это единая точка отказа, представленная централизованным сервером. Если этот сервер выйдет из строя на час, то в течение этого времени никто не сможет использовать контроль версий для сохранения изменений, над которыми работает, а также никто не сможет обмениваться этими изменениями с другими разработчиками. Если жёсткий диск, на котором хранится центральная БД, повреждён, а своевременные бэкапы отсутствуют, вы потеряете всё — всю историю проекта, не считая единичных снимков репозитория, которые сохранились на локальных машинах разработчиков. Локальные СКВ страдают от той же самой проблемы: когда вся история проекта хранится в одном месте, вы рискуете потерять всё.</a:t>
            </a:r>
          </a:p>
          <a:p>
            <a:endParaRPr lang="en-US" dirty="0"/>
          </a:p>
        </p:txBody>
      </p:sp>
    </p:spTree>
    <p:extLst>
      <p:ext uri="{BB962C8B-B14F-4D97-AF65-F5344CB8AC3E}">
        <p14:creationId xmlns:p14="http://schemas.microsoft.com/office/powerpoint/2010/main" val="18504505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71870" y="511730"/>
            <a:ext cx="10515600" cy="4351338"/>
          </a:xfrm>
        </p:spPr>
        <p:txBody>
          <a:bodyPr/>
          <a:lstStyle/>
          <a:p>
            <a:r>
              <a:rPr lang="ru-RU" b="1" i="0" dirty="0">
                <a:solidFill>
                  <a:srgbClr val="4E443C"/>
                </a:solidFill>
                <a:effectLst/>
                <a:latin typeface="Roboto Slab"/>
              </a:rPr>
              <a:t>Распределённые системы контроля версий</a:t>
            </a:r>
          </a:p>
          <a:p>
            <a:endParaRPr lang="en-US" dirty="0"/>
          </a:p>
        </p:txBody>
      </p:sp>
      <p:pic>
        <p:nvPicPr>
          <p:cNvPr id="3" name="Объект 3">
            <a:extLst>
              <a:ext uri="{FF2B5EF4-FFF2-40B4-BE49-F238E27FC236}">
                <a16:creationId xmlns:a16="http://schemas.microsoft.com/office/drawing/2014/main" id="{4E8EF6CE-C376-4152-B7FB-89F80D83054B}"/>
              </a:ext>
            </a:extLst>
          </p:cNvPr>
          <p:cNvPicPr>
            <a:picLocks noChangeAspect="1"/>
          </p:cNvPicPr>
          <p:nvPr/>
        </p:nvPicPr>
        <p:blipFill>
          <a:blip r:embed="rId2"/>
          <a:stretch>
            <a:fillRect/>
          </a:stretch>
        </p:blipFill>
        <p:spPr>
          <a:xfrm>
            <a:off x="2438848" y="1253330"/>
            <a:ext cx="4618899" cy="5193697"/>
          </a:xfrm>
          <a:prstGeom prst="rect">
            <a:avLst/>
          </a:prstGeom>
        </p:spPr>
      </p:pic>
    </p:spTree>
    <p:extLst>
      <p:ext uri="{BB962C8B-B14F-4D97-AF65-F5344CB8AC3E}">
        <p14:creationId xmlns:p14="http://schemas.microsoft.com/office/powerpoint/2010/main" val="39406035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45236" y="724793"/>
            <a:ext cx="11350841" cy="5968969"/>
          </a:xfrm>
        </p:spPr>
        <p:txBody>
          <a:bodyPr>
            <a:normAutofit lnSpcReduction="10000"/>
          </a:bodyPr>
          <a:lstStyle/>
          <a:p>
            <a:r>
              <a:rPr lang="ru-RU" b="0" i="0" dirty="0">
                <a:solidFill>
                  <a:srgbClr val="4E443C"/>
                </a:solidFill>
                <a:effectLst/>
                <a:latin typeface="Arial" panose="020B0604020202020204" pitchFamily="34" charset="0"/>
              </a:rPr>
              <a:t>Здесь в игру вступают распределённые системы контроля версий (РСКВ). В РСКВ (таких как </a:t>
            </a:r>
            <a:r>
              <a:rPr lang="ru-RU" b="0" i="0" dirty="0" err="1">
                <a:solidFill>
                  <a:srgbClr val="4E443C"/>
                </a:solidFill>
                <a:effectLst/>
                <a:latin typeface="Arial" panose="020B0604020202020204" pitchFamily="34" charset="0"/>
              </a:rPr>
              <a:t>Git</a:t>
            </a:r>
            <a:r>
              <a:rPr lang="ru-RU" b="0" i="0" dirty="0">
                <a:solidFill>
                  <a:srgbClr val="4E443C"/>
                </a:solidFill>
                <a:effectLst/>
                <a:latin typeface="Arial" panose="020B0604020202020204" pitchFamily="34" charset="0"/>
              </a:rPr>
              <a:t>, </a:t>
            </a:r>
            <a:r>
              <a:rPr lang="ru-RU" b="0" i="0" dirty="0" err="1">
                <a:solidFill>
                  <a:srgbClr val="4E443C"/>
                </a:solidFill>
                <a:effectLst/>
                <a:latin typeface="Arial" panose="020B0604020202020204" pitchFamily="34" charset="0"/>
              </a:rPr>
              <a:t>Mercurial</a:t>
            </a:r>
            <a:r>
              <a:rPr lang="ru-RU" b="0" i="0" dirty="0">
                <a:solidFill>
                  <a:srgbClr val="4E443C"/>
                </a:solidFill>
                <a:effectLst/>
                <a:latin typeface="Arial" panose="020B0604020202020204" pitchFamily="34" charset="0"/>
              </a:rPr>
              <a:t>, </a:t>
            </a:r>
            <a:r>
              <a:rPr lang="ru-RU" b="0" i="0" dirty="0" err="1">
                <a:solidFill>
                  <a:srgbClr val="4E443C"/>
                </a:solidFill>
                <a:effectLst/>
                <a:latin typeface="Arial" panose="020B0604020202020204" pitchFamily="34" charset="0"/>
              </a:rPr>
              <a:t>Bazaar</a:t>
            </a:r>
            <a:r>
              <a:rPr lang="ru-RU" b="0" i="0" dirty="0">
                <a:solidFill>
                  <a:srgbClr val="4E443C"/>
                </a:solidFill>
                <a:effectLst/>
                <a:latin typeface="Arial" panose="020B0604020202020204" pitchFamily="34" charset="0"/>
              </a:rPr>
              <a:t> или </a:t>
            </a:r>
            <a:r>
              <a:rPr lang="ru-RU" b="0" i="0" dirty="0" err="1">
                <a:solidFill>
                  <a:srgbClr val="4E443C"/>
                </a:solidFill>
                <a:effectLst/>
                <a:latin typeface="Arial" panose="020B0604020202020204" pitchFamily="34" charset="0"/>
              </a:rPr>
              <a:t>Darcs</a:t>
            </a:r>
            <a:r>
              <a:rPr lang="ru-RU" b="0" i="0" dirty="0">
                <a:solidFill>
                  <a:srgbClr val="4E443C"/>
                </a:solidFill>
                <a:effectLst/>
                <a:latin typeface="Arial" panose="020B0604020202020204" pitchFamily="34" charset="0"/>
              </a:rPr>
              <a:t>) клиенты не просто скачивают снимок всех файлов (состояние файлов на определённый момент времени) — они полностью копируют репозиторий. В этом случае, если один из серверов, через который разработчики обменивались данными, умрёт, любой клиентский репозиторий может быть скопирован на другой сервер для продолжения работы. Каждая копия репозитория является полным бэкапом всех данных.</a:t>
            </a:r>
          </a:p>
          <a:p>
            <a:r>
              <a:rPr lang="ru-RU" b="0" i="0" dirty="0">
                <a:solidFill>
                  <a:srgbClr val="4E443C"/>
                </a:solidFill>
                <a:effectLst/>
                <a:latin typeface="Arial" panose="020B0604020202020204" pitchFamily="34" charset="0"/>
              </a:rPr>
              <a:t>Более того, многие РСКВ могут одновременно взаимодействовать с несколькими удалёнными репозиториями, благодаря этому вы можете работать с различными группами людей, применяя различные подходы единовременно в рамках одного проекта. Это позволяет применять сразу несколько подходов в разработке, например, иерархические модели, что совершенно невозможно в централизованных системах.</a:t>
            </a:r>
            <a:endParaRPr lang="en-US" dirty="0"/>
          </a:p>
        </p:txBody>
      </p:sp>
    </p:spTree>
    <p:extLst>
      <p:ext uri="{BB962C8B-B14F-4D97-AF65-F5344CB8AC3E}">
        <p14:creationId xmlns:p14="http://schemas.microsoft.com/office/powerpoint/2010/main" val="35408745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678402" y="609385"/>
            <a:ext cx="10515600" cy="4351338"/>
          </a:xfrm>
        </p:spPr>
        <p:txBody>
          <a:bodyPr/>
          <a:lstStyle/>
          <a:p>
            <a:pPr marL="0" indent="0">
              <a:buNone/>
            </a:pPr>
            <a:r>
              <a:rPr lang="en-US" b="1" i="0" dirty="0">
                <a:solidFill>
                  <a:srgbClr val="FF0000"/>
                </a:solidFill>
                <a:effectLst/>
                <a:latin typeface="Arial" panose="020B0604020202020204" pitchFamily="34" charset="0"/>
              </a:rPr>
              <a:t>Git</a:t>
            </a:r>
            <a:endParaRPr lang="ru-RU" b="1" i="0" dirty="0">
              <a:solidFill>
                <a:srgbClr val="FF0000"/>
              </a:solidFill>
              <a:effectLst/>
              <a:latin typeface="Arial" panose="020B0604020202020204" pitchFamily="34" charset="0"/>
            </a:endParaRPr>
          </a:p>
          <a:p>
            <a:pPr marL="0" indent="0">
              <a:buNone/>
            </a:pPr>
            <a:r>
              <a:rPr lang="ru-RU" b="1" dirty="0">
                <a:solidFill>
                  <a:srgbClr val="151F33"/>
                </a:solidFill>
                <a:latin typeface="Arial" panose="020B0604020202020204" pitchFamily="34" charset="0"/>
              </a:rPr>
              <a:t> </a:t>
            </a:r>
          </a:p>
          <a:p>
            <a:pPr marL="0" indent="0">
              <a:buNone/>
            </a:pPr>
            <a:r>
              <a:rPr lang="ru-RU" b="1" dirty="0">
                <a:solidFill>
                  <a:srgbClr val="151F33"/>
                </a:solidFill>
                <a:latin typeface="Arial" panose="020B0604020202020204" pitchFamily="34" charset="0"/>
              </a:rPr>
              <a:t>Преимущества</a:t>
            </a:r>
            <a:endParaRPr lang="ru-RU" b="1" i="0" dirty="0">
              <a:solidFill>
                <a:srgbClr val="151F33"/>
              </a:solidFill>
              <a:effectLst/>
              <a:latin typeface="Arial" panose="020B0604020202020204" pitchFamily="34" charset="0"/>
            </a:endParaRPr>
          </a:p>
          <a:p>
            <a:r>
              <a:rPr lang="ru-RU" dirty="0"/>
              <a:t>Скорость</a:t>
            </a:r>
            <a:endParaRPr lang="en-US" dirty="0"/>
          </a:p>
          <a:p>
            <a:r>
              <a:rPr lang="ru-RU" dirty="0"/>
              <a:t>простой дизайн</a:t>
            </a:r>
            <a:endParaRPr lang="en-US" dirty="0"/>
          </a:p>
          <a:p>
            <a:r>
              <a:rPr lang="ru-RU" dirty="0"/>
              <a:t>поддержка нелинейной разработки</a:t>
            </a:r>
            <a:endParaRPr lang="en-US" dirty="0"/>
          </a:p>
          <a:p>
            <a:r>
              <a:rPr lang="ru-RU" dirty="0" err="1"/>
              <a:t>Распределённость</a:t>
            </a:r>
            <a:endParaRPr lang="en-US" dirty="0"/>
          </a:p>
          <a:p>
            <a:r>
              <a:rPr lang="ru-RU" dirty="0"/>
              <a:t>поддержка больших проектов</a:t>
            </a:r>
            <a:endParaRPr lang="en-US" dirty="0"/>
          </a:p>
          <a:p>
            <a:endParaRPr lang="en-US" b="1" i="0" dirty="0">
              <a:solidFill>
                <a:srgbClr val="151F33"/>
              </a:solidFill>
              <a:effectLst/>
              <a:latin typeface="Arial" panose="020B0604020202020204" pitchFamily="34" charset="0"/>
            </a:endParaRPr>
          </a:p>
          <a:p>
            <a:endParaRPr lang="en-US" dirty="0"/>
          </a:p>
        </p:txBody>
      </p:sp>
    </p:spTree>
    <p:extLst>
      <p:ext uri="{BB962C8B-B14F-4D97-AF65-F5344CB8AC3E}">
        <p14:creationId xmlns:p14="http://schemas.microsoft.com/office/powerpoint/2010/main" val="17517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376560" y="396319"/>
            <a:ext cx="11341963" cy="6253055"/>
          </a:xfrm>
        </p:spPr>
        <p:txBody>
          <a:bodyPr>
            <a:normAutofit/>
          </a:bodyPr>
          <a:lstStyle/>
          <a:p>
            <a:r>
              <a:rPr lang="ru-RU" b="0" i="0" dirty="0" err="1">
                <a:solidFill>
                  <a:srgbClr val="172B53"/>
                </a:solidFill>
                <a:effectLst/>
                <a:latin typeface="Arial" panose="020B0604020202020204" pitchFamily="34" charset="0"/>
              </a:rPr>
              <a:t>Git</a:t>
            </a:r>
            <a:r>
              <a:rPr lang="ru-RU" b="0" i="0" dirty="0">
                <a:solidFill>
                  <a:srgbClr val="172B53"/>
                </a:solidFill>
                <a:effectLst/>
                <a:latin typeface="Arial" panose="020B0604020202020204" pitchFamily="34" charset="0"/>
              </a:rPr>
              <a:t> — это распределенная система контроля версий нашего кода. </a:t>
            </a:r>
          </a:p>
          <a:p>
            <a:endParaRPr lang="ru-RU" dirty="0">
              <a:solidFill>
                <a:srgbClr val="172B53"/>
              </a:solidFill>
              <a:latin typeface="Arial" panose="020B0604020202020204" pitchFamily="34" charset="0"/>
            </a:endParaRPr>
          </a:p>
          <a:p>
            <a:r>
              <a:rPr lang="ru-RU" b="0" i="0" dirty="0">
                <a:solidFill>
                  <a:srgbClr val="172B53"/>
                </a:solidFill>
                <a:effectLst/>
                <a:latin typeface="Arial" panose="020B0604020202020204" pitchFamily="34" charset="0"/>
              </a:rPr>
              <a:t>Для распределенных команд нужна какая-то система управления работы. Нужна, чтобы отслеживать изменения, которые происходят со временем. </a:t>
            </a:r>
          </a:p>
          <a:p>
            <a:r>
              <a:rPr lang="ru-RU" b="0" i="0" dirty="0">
                <a:solidFill>
                  <a:srgbClr val="172B53"/>
                </a:solidFill>
                <a:effectLst/>
                <a:latin typeface="Arial" panose="020B0604020202020204" pitchFamily="34" charset="0"/>
              </a:rPr>
              <a:t>То есть шаг за шагом мы видим, какие файлы изменились и как. Особенно это важно, когда анализируешь, что было проделано в рамках одной задачи: это дает возможность возвращаться назад. </a:t>
            </a:r>
          </a:p>
          <a:p>
            <a:r>
              <a:rPr lang="ru-RU" b="0" i="0" dirty="0">
                <a:solidFill>
                  <a:srgbClr val="172B53"/>
                </a:solidFill>
                <a:effectLst/>
                <a:latin typeface="Arial" panose="020B0604020202020204" pitchFamily="34" charset="0"/>
              </a:rPr>
              <a:t>Представим себе ситуацию: был работающий код, всё в нем было хорошо, но мы решили что-то улучшить, там подправить, сям подправить. Все ничего, но такое улучшение поломало половину функционала, сделало невозможным работу. </a:t>
            </a:r>
            <a:endParaRPr lang="en-US" dirty="0"/>
          </a:p>
        </p:txBody>
      </p:sp>
    </p:spTree>
    <p:extLst>
      <p:ext uri="{BB962C8B-B14F-4D97-AF65-F5344CB8AC3E}">
        <p14:creationId xmlns:p14="http://schemas.microsoft.com/office/powerpoint/2010/main" val="38220061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p:txBody>
          <a:bodyPr>
            <a:normAutofit lnSpcReduction="10000"/>
          </a:bodyPr>
          <a:lstStyle/>
          <a:p>
            <a:r>
              <a:rPr lang="ru-RU" b="0" i="0" dirty="0">
                <a:solidFill>
                  <a:srgbClr val="172B53"/>
                </a:solidFill>
                <a:effectLst/>
                <a:latin typeface="Arial" panose="020B0604020202020204" pitchFamily="34" charset="0"/>
              </a:rPr>
              <a:t>Без Гита нужно было бы часами сидеть и вспоминать, как же все было изначально. А так мы просто откатываемся на коммит назад — и все. </a:t>
            </a:r>
          </a:p>
          <a:p>
            <a:r>
              <a:rPr lang="ru-RU" b="0" i="0" dirty="0">
                <a:solidFill>
                  <a:srgbClr val="172B53"/>
                </a:solidFill>
                <a:effectLst/>
                <a:latin typeface="Arial" panose="020B0604020202020204" pitchFamily="34" charset="0"/>
              </a:rPr>
              <a:t>Или что делать, если есть два разработчика, которые делают одновременно свои изменения в коде? </a:t>
            </a:r>
          </a:p>
          <a:p>
            <a:r>
              <a:rPr lang="ru-RU" b="0" i="0" dirty="0">
                <a:solidFill>
                  <a:srgbClr val="172B53"/>
                </a:solidFill>
                <a:effectLst/>
                <a:latin typeface="Arial" panose="020B0604020202020204" pitchFamily="34" charset="0"/>
              </a:rPr>
              <a:t>Без Гита это выглядит так: они скопировали код из оригинала, сделали что нужно. Наступает момент, и оба хотят добавить свои изменения в главную папку. И что делать в этой ситуации?.. Я даже не берусь оценить время, чтоб проделать эту работу. Таких проблем не будет вовсе, если пользоваться Гитом.</a:t>
            </a:r>
            <a:endParaRPr lang="en-US" dirty="0"/>
          </a:p>
        </p:txBody>
      </p:sp>
    </p:spTree>
    <p:extLst>
      <p:ext uri="{BB962C8B-B14F-4D97-AF65-F5344CB8AC3E}">
        <p14:creationId xmlns:p14="http://schemas.microsoft.com/office/powerpoint/2010/main" val="29125703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80747" y="511730"/>
            <a:ext cx="10515600" cy="3350056"/>
          </a:xfrm>
        </p:spPr>
        <p:txBody>
          <a:bodyPr/>
          <a:lstStyle/>
          <a:p>
            <a:pPr algn="l"/>
            <a:r>
              <a:rPr lang="ru-RU" b="1" i="0" dirty="0">
                <a:solidFill>
                  <a:srgbClr val="171717"/>
                </a:solidFill>
                <a:effectLst/>
                <a:latin typeface="Segoe UI" panose="020B0502040204020203" pitchFamily="34" charset="0"/>
              </a:rPr>
              <a:t>Основы </a:t>
            </a:r>
            <a:r>
              <a:rPr lang="ru-RU" b="1" i="0" dirty="0" err="1">
                <a:solidFill>
                  <a:srgbClr val="171717"/>
                </a:solidFill>
                <a:effectLst/>
                <a:latin typeface="Segoe UI" panose="020B0502040204020203" pitchFamily="34" charset="0"/>
              </a:rPr>
              <a:t>Git</a:t>
            </a:r>
            <a:endParaRPr lang="ru-RU" b="1" i="0" dirty="0">
              <a:solidFill>
                <a:srgbClr val="171717"/>
              </a:solidFill>
              <a:effectLst/>
              <a:latin typeface="Segoe UI" panose="020B0502040204020203" pitchFamily="34" charset="0"/>
            </a:endParaRPr>
          </a:p>
          <a:p>
            <a:pPr algn="l"/>
            <a:r>
              <a:rPr lang="ru-RU" b="0" i="0" dirty="0">
                <a:solidFill>
                  <a:srgbClr val="171717"/>
                </a:solidFill>
                <a:effectLst/>
                <a:latin typeface="Segoe UI" panose="020B0502040204020203" pitchFamily="34" charset="0"/>
              </a:rPr>
              <a:t>При каждом сохранении работы </a:t>
            </a:r>
            <a:r>
              <a:rPr lang="ru-RU" b="0" i="0" dirty="0" err="1">
                <a:solidFill>
                  <a:srgbClr val="171717"/>
                </a:solidFill>
                <a:effectLst/>
                <a:latin typeface="Segoe UI" panose="020B0502040204020203" pitchFamily="34" charset="0"/>
              </a:rPr>
              <a:t>Git</a:t>
            </a:r>
            <a:r>
              <a:rPr lang="ru-RU" b="0" i="0" dirty="0">
                <a:solidFill>
                  <a:srgbClr val="171717"/>
                </a:solidFill>
                <a:effectLst/>
                <a:latin typeface="Segoe UI" panose="020B0502040204020203" pitchFamily="34" charset="0"/>
              </a:rPr>
              <a:t> создает фиксацию. Фиксация — это моментальный снимок всех файлов в определенный момент времени. Если файл не изменился с одной фиксации на следующую, </a:t>
            </a:r>
            <a:r>
              <a:rPr lang="ru-RU" b="0" i="0" dirty="0" err="1">
                <a:solidFill>
                  <a:srgbClr val="171717"/>
                </a:solidFill>
                <a:effectLst/>
                <a:latin typeface="Segoe UI" panose="020B0502040204020203" pitchFamily="34" charset="0"/>
              </a:rPr>
              <a:t>Git</a:t>
            </a:r>
            <a:r>
              <a:rPr lang="ru-RU" b="0" i="0" dirty="0">
                <a:solidFill>
                  <a:srgbClr val="171717"/>
                </a:solidFill>
                <a:effectLst/>
                <a:latin typeface="Segoe UI" panose="020B0502040204020203" pitchFamily="34" charset="0"/>
              </a:rPr>
              <a:t> использует ранее сохраненный файл. Эта конструкция отличается от других систем, которые хранят начальную версию файла и сохраняют запись изменений с течением времени.</a:t>
            </a:r>
          </a:p>
          <a:p>
            <a:pPr algn="l"/>
            <a:endParaRPr lang="ru-RU" dirty="0">
              <a:solidFill>
                <a:srgbClr val="171717"/>
              </a:solidFill>
              <a:latin typeface="Segoe UI" panose="020B0502040204020203" pitchFamily="34" charset="0"/>
            </a:endParaRPr>
          </a:p>
          <a:p>
            <a:pPr algn="l"/>
            <a:endParaRPr lang="ru-RU" b="0" i="0" dirty="0">
              <a:solidFill>
                <a:srgbClr val="171717"/>
              </a:solidFill>
              <a:effectLst/>
              <a:latin typeface="Segoe UI" panose="020B0502040204020203" pitchFamily="34" charset="0"/>
            </a:endParaRPr>
          </a:p>
          <a:p>
            <a:pPr algn="l"/>
            <a:endParaRPr lang="ru-RU" dirty="0">
              <a:solidFill>
                <a:srgbClr val="171717"/>
              </a:solidFill>
              <a:latin typeface="Segoe UI" panose="020B0502040204020203" pitchFamily="34" charset="0"/>
            </a:endParaRPr>
          </a:p>
          <a:p>
            <a:pPr algn="l"/>
            <a:endParaRPr lang="ru-RU" b="0" i="0" dirty="0">
              <a:solidFill>
                <a:srgbClr val="171717"/>
              </a:solidFill>
              <a:effectLst/>
              <a:latin typeface="Segoe UI" panose="020B0502040204020203" pitchFamily="34" charset="0"/>
            </a:endParaRPr>
          </a:p>
          <a:p>
            <a:pPr algn="l"/>
            <a:endParaRPr lang="ru-RU" b="0" i="0" dirty="0">
              <a:solidFill>
                <a:srgbClr val="171717"/>
              </a:solidFill>
              <a:effectLst/>
              <a:latin typeface="Segoe UI" panose="020B0502040204020203" pitchFamily="34" charset="0"/>
            </a:endParaRPr>
          </a:p>
          <a:p>
            <a:endParaRPr lang="en-US" dirty="0"/>
          </a:p>
        </p:txBody>
      </p:sp>
      <p:pic>
        <p:nvPicPr>
          <p:cNvPr id="5" name="Picture 2" descr="Линейный график разработки в Git">
            <a:extLst>
              <a:ext uri="{FF2B5EF4-FFF2-40B4-BE49-F238E27FC236}">
                <a16:creationId xmlns:a16="http://schemas.microsoft.com/office/drawing/2014/main" id="{1FC85EBE-53CB-4496-B6BF-9288DD0C56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7988" y="4181984"/>
            <a:ext cx="8556225" cy="2038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77992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634014" y="822448"/>
            <a:ext cx="10515600" cy="4351338"/>
          </a:xfrm>
        </p:spPr>
        <p:txBody>
          <a:bodyPr/>
          <a:lstStyle/>
          <a:p>
            <a:r>
              <a:rPr lang="ru-RU" b="0" i="0" dirty="0">
                <a:solidFill>
                  <a:srgbClr val="171717"/>
                </a:solidFill>
                <a:effectLst/>
                <a:latin typeface="Segoe UI" panose="020B0502040204020203" pitchFamily="34" charset="0"/>
              </a:rPr>
              <a:t>Фиксации создают ссылки на другие фиксации, формируя граф журнала разработки. Можно вернуть код к предыдущей фиксации, проверить, как файлы изменились с одной фиксации на следующую, и просмотреть сведения о том, где и когда были внесены изменения. Фиксации идентифицируются в </a:t>
            </a:r>
            <a:r>
              <a:rPr lang="ru-RU" b="0" i="0" dirty="0" err="1">
                <a:solidFill>
                  <a:srgbClr val="171717"/>
                </a:solidFill>
                <a:effectLst/>
                <a:latin typeface="Segoe UI" panose="020B0502040204020203" pitchFamily="34" charset="0"/>
              </a:rPr>
              <a:t>Git</a:t>
            </a:r>
            <a:r>
              <a:rPr lang="ru-RU" b="0" i="0" dirty="0">
                <a:solidFill>
                  <a:srgbClr val="171717"/>
                </a:solidFill>
                <a:effectLst/>
                <a:latin typeface="Segoe UI" panose="020B0502040204020203" pitchFamily="34" charset="0"/>
              </a:rPr>
              <a:t> уникальным криптографическим </a:t>
            </a:r>
            <a:r>
              <a:rPr lang="ru-RU" b="0" i="0" dirty="0" err="1">
                <a:solidFill>
                  <a:srgbClr val="171717"/>
                </a:solidFill>
                <a:effectLst/>
                <a:latin typeface="Segoe UI" panose="020B0502040204020203" pitchFamily="34" charset="0"/>
              </a:rPr>
              <a:t>хэшом</a:t>
            </a:r>
            <a:r>
              <a:rPr lang="ru-RU" b="0" i="0" dirty="0">
                <a:solidFill>
                  <a:srgbClr val="171717"/>
                </a:solidFill>
                <a:effectLst/>
                <a:latin typeface="Segoe UI" panose="020B0502040204020203" pitchFamily="34" charset="0"/>
              </a:rPr>
              <a:t> содержимого фиксации. Так как все </a:t>
            </a:r>
            <a:r>
              <a:rPr lang="ru-RU" b="0" i="0" dirty="0" err="1">
                <a:solidFill>
                  <a:srgbClr val="171717"/>
                </a:solidFill>
                <a:effectLst/>
                <a:latin typeface="Segoe UI" panose="020B0502040204020203" pitchFamily="34" charset="0"/>
              </a:rPr>
              <a:t>хэшируется</a:t>
            </a:r>
            <a:r>
              <a:rPr lang="ru-RU" b="0" i="0" dirty="0">
                <a:solidFill>
                  <a:srgbClr val="171717"/>
                </a:solidFill>
                <a:effectLst/>
                <a:latin typeface="Segoe UI" panose="020B0502040204020203" pitchFamily="34" charset="0"/>
              </a:rPr>
              <a:t>, невозможно вносить изменения, терять сведения или повреждены файлы без обнаружения </a:t>
            </a:r>
            <a:r>
              <a:rPr lang="ru-RU" b="0" i="0" dirty="0" err="1">
                <a:solidFill>
                  <a:srgbClr val="171717"/>
                </a:solidFill>
                <a:effectLst/>
                <a:latin typeface="Segoe UI" panose="020B0502040204020203" pitchFamily="34" charset="0"/>
              </a:rPr>
              <a:t>Git</a:t>
            </a:r>
            <a:r>
              <a:rPr lang="ru-RU" b="0" i="0" dirty="0">
                <a:solidFill>
                  <a:srgbClr val="171717"/>
                </a:solidFill>
                <a:effectLst/>
                <a:latin typeface="Segoe UI" panose="020B0502040204020203" pitchFamily="34" charset="0"/>
              </a:rPr>
              <a:t>.</a:t>
            </a:r>
            <a:endParaRPr lang="en-US" dirty="0"/>
          </a:p>
        </p:txBody>
      </p:sp>
    </p:spTree>
    <p:extLst>
      <p:ext uri="{BB962C8B-B14F-4D97-AF65-F5344CB8AC3E}">
        <p14:creationId xmlns:p14="http://schemas.microsoft.com/office/powerpoint/2010/main" val="8700026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767179" y="529486"/>
            <a:ext cx="10924712" cy="5818048"/>
          </a:xfrm>
        </p:spPr>
        <p:txBody>
          <a:bodyPr>
            <a:normAutofit/>
          </a:bodyPr>
          <a:lstStyle/>
          <a:p>
            <a:pPr algn="l"/>
            <a:r>
              <a:rPr lang="ru-RU" b="1" i="0" dirty="0">
                <a:solidFill>
                  <a:srgbClr val="171717"/>
                </a:solidFill>
                <a:effectLst/>
                <a:latin typeface="Segoe UI" panose="020B0502040204020203" pitchFamily="34" charset="0"/>
              </a:rPr>
              <a:t>Ветви</a:t>
            </a:r>
          </a:p>
          <a:p>
            <a:pPr algn="l"/>
            <a:r>
              <a:rPr lang="ru-RU" b="0" i="0" dirty="0">
                <a:solidFill>
                  <a:srgbClr val="171717"/>
                </a:solidFill>
                <a:effectLst/>
                <a:latin typeface="Segoe UI" panose="020B0502040204020203" pitchFamily="34" charset="0"/>
              </a:rPr>
              <a:t>Каждый разработчик сохраняет изменения в собственном локальном репозитории кода. В результате может быть много разных изменений, основанных на одной фиксации. </a:t>
            </a:r>
          </a:p>
          <a:p>
            <a:pPr algn="l"/>
            <a:endParaRPr lang="ru-RU" dirty="0">
              <a:solidFill>
                <a:srgbClr val="171717"/>
              </a:solidFill>
              <a:latin typeface="Segoe UI" panose="020B0502040204020203" pitchFamily="34" charset="0"/>
            </a:endParaRPr>
          </a:p>
          <a:p>
            <a:pPr algn="l"/>
            <a:r>
              <a:rPr lang="ru-RU" b="0" i="0" dirty="0" err="1">
                <a:solidFill>
                  <a:srgbClr val="171717"/>
                </a:solidFill>
                <a:effectLst/>
                <a:latin typeface="Segoe UI" panose="020B0502040204020203" pitchFamily="34" charset="0"/>
              </a:rPr>
              <a:t>Git</a:t>
            </a:r>
            <a:r>
              <a:rPr lang="ru-RU" b="0" i="0" dirty="0">
                <a:solidFill>
                  <a:srgbClr val="171717"/>
                </a:solidFill>
                <a:effectLst/>
                <a:latin typeface="Segoe UI" panose="020B0502040204020203" pitchFamily="34" charset="0"/>
              </a:rPr>
              <a:t> предоставляет средства для изоляции изменений и последующего их слияния. Ветви, которые являются упрощенными указателями для выполнения работы, управляют этим разделением. После завершения работы, созданной в ветви, эту ветвь можно снова объединить с основной ветвью команды (или магистралью).</a:t>
            </a:r>
          </a:p>
          <a:p>
            <a:pPr algn="l"/>
            <a:endParaRPr lang="ru-RU" dirty="0">
              <a:solidFill>
                <a:srgbClr val="171717"/>
              </a:solidFill>
              <a:latin typeface="Segoe UI" panose="020B0502040204020203" pitchFamily="34" charset="0"/>
            </a:endParaRPr>
          </a:p>
          <a:p>
            <a:pPr algn="l"/>
            <a:endParaRPr lang="ru-RU" b="0" i="0" dirty="0">
              <a:solidFill>
                <a:srgbClr val="171717"/>
              </a:solidFill>
              <a:effectLst/>
              <a:latin typeface="Segoe UI" panose="020B0502040204020203" pitchFamily="34" charset="0"/>
            </a:endParaRPr>
          </a:p>
          <a:p>
            <a:pPr algn="l"/>
            <a:endParaRPr lang="ru-RU" b="0" i="0" dirty="0">
              <a:solidFill>
                <a:srgbClr val="171717"/>
              </a:solidFill>
              <a:effectLst/>
              <a:latin typeface="Segoe UI" panose="020B0502040204020203" pitchFamily="34" charset="0"/>
            </a:endParaRPr>
          </a:p>
          <a:p>
            <a:endParaRPr lang="en-US" dirty="0"/>
          </a:p>
        </p:txBody>
      </p:sp>
    </p:spTree>
    <p:extLst>
      <p:ext uri="{BB962C8B-B14F-4D97-AF65-F5344CB8AC3E}">
        <p14:creationId xmlns:p14="http://schemas.microsoft.com/office/powerpoint/2010/main" val="36572020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Фиксации в ветви">
            <a:extLst>
              <a:ext uri="{FF2B5EF4-FFF2-40B4-BE49-F238E27FC236}">
                <a16:creationId xmlns:a16="http://schemas.microsoft.com/office/drawing/2014/main" id="{CF1FC342-482D-4ADC-A72F-551A2D6DF4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2183" y="1534427"/>
            <a:ext cx="9242683" cy="3789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7420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27482" y="751427"/>
            <a:ext cx="10809302" cy="5507330"/>
          </a:xfrm>
        </p:spPr>
        <p:txBody>
          <a:bodyPr>
            <a:normAutofit lnSpcReduction="10000"/>
          </a:bodyPr>
          <a:lstStyle/>
          <a:p>
            <a:r>
              <a:rPr lang="ru-RU" b="1" i="0" dirty="0">
                <a:solidFill>
                  <a:srgbClr val="171717"/>
                </a:solidFill>
                <a:effectLst/>
                <a:latin typeface="Segoe UI" panose="020B0502040204020203" pitchFamily="34" charset="0"/>
              </a:rPr>
              <a:t>Файлы и фиксации</a:t>
            </a:r>
          </a:p>
          <a:p>
            <a:r>
              <a:rPr lang="ru-RU" b="0" i="0" dirty="0">
                <a:solidFill>
                  <a:srgbClr val="171717"/>
                </a:solidFill>
                <a:effectLst/>
                <a:latin typeface="Segoe UI" panose="020B0502040204020203" pitchFamily="34" charset="0"/>
              </a:rPr>
              <a:t>Файлы в </a:t>
            </a:r>
            <a:r>
              <a:rPr lang="ru-RU" b="0" i="0" dirty="0" err="1">
                <a:solidFill>
                  <a:srgbClr val="171717"/>
                </a:solidFill>
                <a:effectLst/>
                <a:latin typeface="Segoe UI" panose="020B0502040204020203" pitchFamily="34" charset="0"/>
              </a:rPr>
              <a:t>Git</a:t>
            </a:r>
            <a:r>
              <a:rPr lang="ru-RU" b="0" i="0" dirty="0">
                <a:solidFill>
                  <a:srgbClr val="171717"/>
                </a:solidFill>
                <a:effectLst/>
                <a:latin typeface="Segoe UI" panose="020B0502040204020203" pitchFamily="34" charset="0"/>
              </a:rPr>
              <a:t> находятся в одном из трех состояний: измененных, промежуточных или зафиксированных. </a:t>
            </a:r>
          </a:p>
          <a:p>
            <a:r>
              <a:rPr lang="ru-RU" b="0" i="0" dirty="0">
                <a:solidFill>
                  <a:srgbClr val="171717"/>
                </a:solidFill>
                <a:effectLst/>
                <a:latin typeface="Segoe UI" panose="020B0502040204020203" pitchFamily="34" charset="0"/>
              </a:rPr>
              <a:t>При первом изменении файла изменения существуют только в рабочем каталоге. Они еще не являются частью фиксации или истории разработки. Разработчик должен </a:t>
            </a:r>
            <a:r>
              <a:rPr lang="ru-RU" b="0" i="1" dirty="0">
                <a:solidFill>
                  <a:srgbClr val="171717"/>
                </a:solidFill>
                <a:effectLst/>
                <a:latin typeface="Segoe UI" panose="020B0502040204020203" pitchFamily="34" charset="0"/>
              </a:rPr>
              <a:t>подготовить</a:t>
            </a:r>
            <a:r>
              <a:rPr lang="ru-RU" b="0" i="0" dirty="0">
                <a:solidFill>
                  <a:srgbClr val="171717"/>
                </a:solidFill>
                <a:effectLst/>
                <a:latin typeface="Segoe UI" panose="020B0502040204020203" pitchFamily="34" charset="0"/>
              </a:rPr>
              <a:t> измененные файлы для включения в фиксацию. </a:t>
            </a:r>
          </a:p>
          <a:p>
            <a:r>
              <a:rPr lang="ru-RU" b="0" i="0" dirty="0">
                <a:solidFill>
                  <a:srgbClr val="171717"/>
                </a:solidFill>
                <a:effectLst/>
                <a:latin typeface="Segoe UI" panose="020B0502040204020203" pitchFamily="34" charset="0"/>
              </a:rPr>
              <a:t>Промежуточная область содержит все изменения, которые необходимо включить в следующую фиксацию. Когда разработчик доволен промежуточными файлами, файлы упаковываются в виде </a:t>
            </a:r>
            <a:r>
              <a:rPr lang="ru-RU" b="0" i="1" dirty="0">
                <a:solidFill>
                  <a:srgbClr val="171717"/>
                </a:solidFill>
                <a:effectLst/>
                <a:latin typeface="Segoe UI" panose="020B0502040204020203" pitchFamily="34" charset="0"/>
              </a:rPr>
              <a:t>фиксации</a:t>
            </a:r>
            <a:r>
              <a:rPr lang="ru-RU" b="0" i="0" dirty="0">
                <a:solidFill>
                  <a:srgbClr val="171717"/>
                </a:solidFill>
                <a:effectLst/>
                <a:latin typeface="Segoe UI" panose="020B0502040204020203" pitchFamily="34" charset="0"/>
              </a:rPr>
              <a:t> с сообщением, описывающим изменения. Эта фиксация становится частью истории разработки.</a:t>
            </a:r>
            <a:endParaRPr lang="en-US" dirty="0"/>
          </a:p>
        </p:txBody>
      </p:sp>
    </p:spTree>
    <p:extLst>
      <p:ext uri="{BB962C8B-B14F-4D97-AF65-F5344CB8AC3E}">
        <p14:creationId xmlns:p14="http://schemas.microsoft.com/office/powerpoint/2010/main" val="37037571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Заголовок 1">
            <a:extLst>
              <a:ext uri="{FF2B5EF4-FFF2-40B4-BE49-F238E27FC236}">
                <a16:creationId xmlns:a16="http://schemas.microsoft.com/office/drawing/2014/main" id="{CE051497-8CFD-4264-AA6D-4A9AE2030E3A}"/>
              </a:ext>
            </a:extLst>
          </p:cNvPr>
          <p:cNvSpPr>
            <a:spLocks noGrp="1"/>
          </p:cNvSpPr>
          <p:nvPr>
            <p:ph type="title"/>
          </p:nvPr>
        </p:nvSpPr>
        <p:spPr>
          <a:xfrm>
            <a:off x="838200" y="365125"/>
            <a:ext cx="10515600" cy="1325563"/>
          </a:xfrm>
        </p:spPr>
        <p:txBody>
          <a:bodyPr/>
          <a:lstStyle/>
          <a:p>
            <a:r>
              <a:rPr lang="ru-RU" dirty="0"/>
              <a:t>Секции </a:t>
            </a:r>
            <a:r>
              <a:rPr lang="en-US" dirty="0" err="1"/>
              <a:t>Git</a:t>
            </a:r>
            <a:r>
              <a:rPr lang="en-US" dirty="0"/>
              <a:t>-</a:t>
            </a:r>
            <a:r>
              <a:rPr lang="ru-RU" dirty="0"/>
              <a:t>проекта</a:t>
            </a:r>
            <a:endParaRPr lang="en-US" dirty="0"/>
          </a:p>
        </p:txBody>
      </p:sp>
      <p:pic>
        <p:nvPicPr>
          <p:cNvPr id="4" name="Объект 3">
            <a:extLst>
              <a:ext uri="{FF2B5EF4-FFF2-40B4-BE49-F238E27FC236}">
                <a16:creationId xmlns:a16="http://schemas.microsoft.com/office/drawing/2014/main" id="{E1095F99-682B-4F6E-BC12-97C36CB931F8}"/>
              </a:ext>
            </a:extLst>
          </p:cNvPr>
          <p:cNvPicPr>
            <a:picLocks noGrp="1" noChangeAspect="1"/>
          </p:cNvPicPr>
          <p:nvPr>
            <p:ph idx="1"/>
          </p:nvPr>
        </p:nvPicPr>
        <p:blipFill>
          <a:blip r:embed="rId2"/>
          <a:stretch>
            <a:fillRect/>
          </a:stretch>
        </p:blipFill>
        <p:spPr>
          <a:xfrm>
            <a:off x="2103839" y="1825625"/>
            <a:ext cx="7984322" cy="4351338"/>
          </a:xfrm>
          <a:prstGeom prst="rect">
            <a:avLst/>
          </a:prstGeom>
        </p:spPr>
      </p:pic>
    </p:spTree>
    <p:extLst>
      <p:ext uri="{BB962C8B-B14F-4D97-AF65-F5344CB8AC3E}">
        <p14:creationId xmlns:p14="http://schemas.microsoft.com/office/powerpoint/2010/main" val="16093369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18603" y="884591"/>
            <a:ext cx="10844813" cy="5604985"/>
          </a:xfrm>
        </p:spPr>
        <p:txBody>
          <a:bodyPr>
            <a:normAutofit fontScale="70000" lnSpcReduction="20000"/>
          </a:bodyPr>
          <a:lstStyle/>
          <a:p>
            <a:pPr algn="l">
              <a:buFont typeface="Arial" panose="020B0604020202020204" pitchFamily="34" charset="0"/>
              <a:buChar char="•"/>
            </a:pPr>
            <a:r>
              <a:rPr lang="ru-RU" b="0" i="0" dirty="0">
                <a:solidFill>
                  <a:srgbClr val="172B53"/>
                </a:solidFill>
                <a:effectLst/>
                <a:latin typeface="Arial" panose="020B0604020202020204" pitchFamily="34" charset="0"/>
              </a:rPr>
              <a:t>У </a:t>
            </a:r>
            <a:r>
              <a:rPr lang="en-US" b="0" i="0" dirty="0">
                <a:solidFill>
                  <a:srgbClr val="172B53"/>
                </a:solidFill>
                <a:effectLst/>
                <a:latin typeface="Arial" panose="020B0604020202020204" pitchFamily="34" charset="0"/>
              </a:rPr>
              <a:t>Git</a:t>
            </a:r>
            <a:r>
              <a:rPr lang="ru-RU" b="0" i="0" dirty="0">
                <a:solidFill>
                  <a:srgbClr val="172B53"/>
                </a:solidFill>
                <a:effectLst/>
                <a:latin typeface="Arial" panose="020B0604020202020204" pitchFamily="34" charset="0"/>
              </a:rPr>
              <a:t> есть несколько состояний</a:t>
            </a:r>
          </a:p>
          <a:p>
            <a:pPr algn="l">
              <a:buFont typeface="Arial" panose="020B0604020202020204" pitchFamily="34" charset="0"/>
              <a:buChar char="•"/>
            </a:pPr>
            <a:r>
              <a:rPr lang="ru-RU" b="0" i="0" dirty="0" err="1">
                <a:solidFill>
                  <a:srgbClr val="172B53"/>
                </a:solidFill>
                <a:effectLst/>
                <a:latin typeface="Arial" panose="020B0604020202020204" pitchFamily="34" charset="0"/>
              </a:rPr>
              <a:t>неотслеживаемое</a:t>
            </a:r>
            <a:r>
              <a:rPr lang="ru-RU" b="0" i="0" dirty="0">
                <a:solidFill>
                  <a:srgbClr val="172B53"/>
                </a:solidFill>
                <a:effectLst/>
                <a:latin typeface="Arial" panose="020B0604020202020204" pitchFamily="34" charset="0"/>
              </a:rPr>
              <a:t> (</a:t>
            </a:r>
            <a:r>
              <a:rPr lang="ru-RU" b="0" i="0" dirty="0" err="1">
                <a:solidFill>
                  <a:srgbClr val="172B53"/>
                </a:solidFill>
                <a:effectLst/>
                <a:latin typeface="Arial" panose="020B0604020202020204" pitchFamily="34" charset="0"/>
              </a:rPr>
              <a:t>untracked</a:t>
            </a:r>
            <a:r>
              <a:rPr lang="ru-RU" b="0" i="0" dirty="0">
                <a:solidFill>
                  <a:srgbClr val="172B53"/>
                </a:solidFill>
                <a:effectLst/>
                <a:latin typeface="Arial" panose="020B0604020202020204" pitchFamily="34" charset="0"/>
              </a:rPr>
              <a:t>);</a:t>
            </a:r>
          </a:p>
          <a:p>
            <a:pPr algn="l">
              <a:buFont typeface="Arial" panose="020B0604020202020204" pitchFamily="34" charset="0"/>
              <a:buChar char="•"/>
            </a:pPr>
            <a:r>
              <a:rPr lang="ru-RU" b="0" i="0" dirty="0">
                <a:solidFill>
                  <a:srgbClr val="172B53"/>
                </a:solidFill>
                <a:effectLst/>
                <a:latin typeface="Arial" panose="020B0604020202020204" pitchFamily="34" charset="0"/>
              </a:rPr>
              <a:t>измененное (</a:t>
            </a:r>
            <a:r>
              <a:rPr lang="ru-RU" b="0" i="0" dirty="0" err="1">
                <a:solidFill>
                  <a:srgbClr val="172B53"/>
                </a:solidFill>
                <a:effectLst/>
                <a:latin typeface="Arial" panose="020B0604020202020204" pitchFamily="34" charset="0"/>
              </a:rPr>
              <a:t>modified</a:t>
            </a:r>
            <a:r>
              <a:rPr lang="ru-RU" b="0" i="0" dirty="0">
                <a:solidFill>
                  <a:srgbClr val="172B53"/>
                </a:solidFill>
                <a:effectLst/>
                <a:latin typeface="Arial" panose="020B0604020202020204" pitchFamily="34" charset="0"/>
              </a:rPr>
              <a:t>);</a:t>
            </a:r>
          </a:p>
          <a:p>
            <a:pPr algn="l">
              <a:buFont typeface="Arial" panose="020B0604020202020204" pitchFamily="34" charset="0"/>
              <a:buChar char="•"/>
            </a:pPr>
            <a:r>
              <a:rPr lang="ru-RU" b="0" i="0" dirty="0">
                <a:solidFill>
                  <a:srgbClr val="172B53"/>
                </a:solidFill>
                <a:effectLst/>
                <a:latin typeface="Arial" panose="020B0604020202020204" pitchFamily="34" charset="0"/>
              </a:rPr>
              <a:t>подготовленное (</a:t>
            </a:r>
            <a:r>
              <a:rPr lang="ru-RU" b="0" i="0" dirty="0" err="1">
                <a:solidFill>
                  <a:srgbClr val="172B53"/>
                </a:solidFill>
                <a:effectLst/>
                <a:latin typeface="Arial" panose="020B0604020202020204" pitchFamily="34" charset="0"/>
              </a:rPr>
              <a:t>staged</a:t>
            </a:r>
            <a:r>
              <a:rPr lang="ru-RU" b="0" i="0" dirty="0">
                <a:solidFill>
                  <a:srgbClr val="172B53"/>
                </a:solidFill>
                <a:effectLst/>
                <a:latin typeface="Arial" panose="020B0604020202020204" pitchFamily="34" charset="0"/>
              </a:rPr>
              <a:t>);</a:t>
            </a:r>
          </a:p>
          <a:p>
            <a:pPr algn="l">
              <a:buFont typeface="Arial" panose="020B0604020202020204" pitchFamily="34" charset="0"/>
              <a:buChar char="•"/>
            </a:pPr>
            <a:r>
              <a:rPr lang="ru-RU" b="0" i="0" dirty="0" err="1">
                <a:solidFill>
                  <a:srgbClr val="172B53"/>
                </a:solidFill>
                <a:effectLst/>
                <a:latin typeface="Arial" panose="020B0604020202020204" pitchFamily="34" charset="0"/>
              </a:rPr>
              <a:t>закомиченное</a:t>
            </a:r>
            <a:r>
              <a:rPr lang="ru-RU" b="0" i="0" dirty="0">
                <a:solidFill>
                  <a:srgbClr val="172B53"/>
                </a:solidFill>
                <a:effectLst/>
                <a:latin typeface="Arial" panose="020B0604020202020204" pitchFamily="34" charset="0"/>
              </a:rPr>
              <a:t> (</a:t>
            </a:r>
            <a:r>
              <a:rPr lang="ru-RU" b="0" i="0" dirty="0" err="1">
                <a:solidFill>
                  <a:srgbClr val="172B53"/>
                </a:solidFill>
                <a:effectLst/>
                <a:latin typeface="Arial" panose="020B0604020202020204" pitchFamily="34" charset="0"/>
              </a:rPr>
              <a:t>committed</a:t>
            </a:r>
            <a:r>
              <a:rPr lang="ru-RU" b="0" i="0" dirty="0">
                <a:solidFill>
                  <a:srgbClr val="172B53"/>
                </a:solidFill>
                <a:effectLst/>
                <a:latin typeface="Arial" panose="020B0604020202020204" pitchFamily="34" charset="0"/>
              </a:rPr>
              <a:t>).</a:t>
            </a:r>
          </a:p>
          <a:p>
            <a:pPr marL="0" indent="0" algn="l">
              <a:buNone/>
            </a:pPr>
            <a:endParaRPr lang="ru-RU" b="0" i="0" dirty="0">
              <a:solidFill>
                <a:srgbClr val="172B53"/>
              </a:solidFill>
              <a:effectLst/>
              <a:latin typeface="Arial" panose="020B0604020202020204" pitchFamily="34" charset="0"/>
            </a:endParaRPr>
          </a:p>
          <a:p>
            <a:pPr marL="0" indent="0" algn="l">
              <a:buNone/>
            </a:pPr>
            <a:r>
              <a:rPr lang="ru-RU" b="0" i="0" dirty="0">
                <a:solidFill>
                  <a:srgbClr val="172B53"/>
                </a:solidFill>
                <a:effectLst/>
                <a:latin typeface="Arial" panose="020B0604020202020204" pitchFamily="34" charset="0"/>
              </a:rPr>
              <a:t>Это состояния, в которых находятся файлы из нашего кода. То есть, их жизненный путь обычно выглядит так: </a:t>
            </a:r>
          </a:p>
          <a:p>
            <a:pPr marL="0" indent="0" algn="l">
              <a:buNone/>
            </a:pPr>
            <a:r>
              <a:rPr lang="ru-RU" b="0" i="0" dirty="0">
                <a:solidFill>
                  <a:srgbClr val="172B53"/>
                </a:solidFill>
                <a:effectLst/>
                <a:latin typeface="Arial" panose="020B0604020202020204" pitchFamily="34" charset="0"/>
              </a:rPr>
              <a:t>Файл, который создан и не добавлен в репозиторий, будет в состоянии </a:t>
            </a:r>
            <a:r>
              <a:rPr lang="ru-RU" b="0" i="0" dirty="0" err="1">
                <a:solidFill>
                  <a:srgbClr val="172B53"/>
                </a:solidFill>
                <a:effectLst/>
                <a:latin typeface="Arial" panose="020B0604020202020204" pitchFamily="34" charset="0"/>
              </a:rPr>
              <a:t>untracked</a:t>
            </a:r>
            <a:r>
              <a:rPr lang="ru-RU" b="0" i="0" dirty="0">
                <a:solidFill>
                  <a:srgbClr val="172B53"/>
                </a:solidFill>
                <a:effectLst/>
                <a:latin typeface="Arial" panose="020B0604020202020204" pitchFamily="34" charset="0"/>
              </a:rPr>
              <a:t>.</a:t>
            </a:r>
          </a:p>
          <a:p>
            <a:pPr marL="0" indent="0" algn="l">
              <a:buNone/>
            </a:pPr>
            <a:r>
              <a:rPr lang="ru-RU" b="0" i="0" dirty="0">
                <a:solidFill>
                  <a:srgbClr val="172B53"/>
                </a:solidFill>
                <a:effectLst/>
                <a:latin typeface="Arial" panose="020B0604020202020204" pitchFamily="34" charset="0"/>
              </a:rPr>
              <a:t>Делаем изменения в файлах, которые уже добавлены в гит репозиторий — находятся в состоянии </a:t>
            </a:r>
            <a:r>
              <a:rPr lang="ru-RU" b="0" i="0" dirty="0" err="1">
                <a:solidFill>
                  <a:srgbClr val="172B53"/>
                </a:solidFill>
                <a:effectLst/>
                <a:latin typeface="Arial" panose="020B0604020202020204" pitchFamily="34" charset="0"/>
              </a:rPr>
              <a:t>modified</a:t>
            </a:r>
            <a:r>
              <a:rPr lang="ru-RU" b="0" i="0" dirty="0">
                <a:solidFill>
                  <a:srgbClr val="172B53"/>
                </a:solidFill>
                <a:effectLst/>
                <a:latin typeface="Arial" panose="020B0604020202020204" pitchFamily="34" charset="0"/>
              </a:rPr>
              <a:t>.</a:t>
            </a:r>
          </a:p>
          <a:p>
            <a:pPr marL="0" indent="0" algn="l">
              <a:buNone/>
            </a:pPr>
            <a:r>
              <a:rPr lang="ru-RU" b="0" i="0" dirty="0">
                <a:solidFill>
                  <a:srgbClr val="172B53"/>
                </a:solidFill>
                <a:effectLst/>
                <a:latin typeface="Arial" panose="020B0604020202020204" pitchFamily="34" charset="0"/>
              </a:rPr>
              <a:t>Из тех файлов, которые мы изменили, выбираем только те (или все), которые нужны нам (например, скомпилированные классы нам не нужны), и эти классы с изменениями попадают в состояние </a:t>
            </a:r>
            <a:r>
              <a:rPr lang="ru-RU" b="0" i="0" dirty="0" err="1">
                <a:solidFill>
                  <a:srgbClr val="172B53"/>
                </a:solidFill>
                <a:effectLst/>
                <a:latin typeface="Arial" panose="020B0604020202020204" pitchFamily="34" charset="0"/>
              </a:rPr>
              <a:t>staged</a:t>
            </a:r>
            <a:r>
              <a:rPr lang="ru-RU" b="0" i="0" dirty="0">
                <a:solidFill>
                  <a:srgbClr val="172B53"/>
                </a:solidFill>
                <a:effectLst/>
                <a:latin typeface="Arial" panose="020B0604020202020204" pitchFamily="34" charset="0"/>
              </a:rPr>
              <a:t>.</a:t>
            </a:r>
          </a:p>
          <a:p>
            <a:pPr algn="l">
              <a:buFont typeface="+mj-lt"/>
              <a:buAutoNum type="arabicPeriod"/>
            </a:pPr>
            <a:endParaRPr lang="ru-RU" b="0" i="0" dirty="0">
              <a:solidFill>
                <a:srgbClr val="172B53"/>
              </a:solidFill>
              <a:effectLst/>
              <a:latin typeface="Arial" panose="020B0604020202020204" pitchFamily="34" charset="0"/>
            </a:endParaRPr>
          </a:p>
          <a:p>
            <a:pPr marL="0" indent="0" algn="l">
              <a:buNone/>
            </a:pPr>
            <a:r>
              <a:rPr lang="ru-RU" b="0" i="0" dirty="0">
                <a:solidFill>
                  <a:srgbClr val="172B53"/>
                </a:solidFill>
                <a:effectLst/>
                <a:latin typeface="Arial" panose="020B0604020202020204" pitchFamily="34" charset="0"/>
              </a:rPr>
              <a:t>Из заготовленных файлов из состояния </a:t>
            </a:r>
            <a:r>
              <a:rPr lang="ru-RU" b="0" i="0" dirty="0" err="1">
                <a:solidFill>
                  <a:srgbClr val="172B53"/>
                </a:solidFill>
                <a:effectLst/>
                <a:latin typeface="Arial" panose="020B0604020202020204" pitchFamily="34" charset="0"/>
              </a:rPr>
              <a:t>staged</a:t>
            </a:r>
            <a:r>
              <a:rPr lang="ru-RU" b="0" i="0" dirty="0">
                <a:solidFill>
                  <a:srgbClr val="172B53"/>
                </a:solidFill>
                <a:effectLst/>
                <a:latin typeface="Arial" panose="020B0604020202020204" pitchFamily="34" charset="0"/>
              </a:rPr>
              <a:t> создается коммит и переходит уже в гит репозиторий. После этого </a:t>
            </a:r>
            <a:r>
              <a:rPr lang="ru-RU" b="0" i="0" dirty="0" err="1">
                <a:solidFill>
                  <a:srgbClr val="172B53"/>
                </a:solidFill>
                <a:effectLst/>
                <a:latin typeface="Arial" panose="020B0604020202020204" pitchFamily="34" charset="0"/>
              </a:rPr>
              <a:t>staged</a:t>
            </a:r>
            <a:r>
              <a:rPr lang="ru-RU" b="0" i="0" dirty="0">
                <a:solidFill>
                  <a:srgbClr val="172B53"/>
                </a:solidFill>
                <a:effectLst/>
                <a:latin typeface="Arial" panose="020B0604020202020204" pitchFamily="34" charset="0"/>
              </a:rPr>
              <a:t> состояние — пустое. А вот </a:t>
            </a:r>
            <a:r>
              <a:rPr lang="ru-RU" b="0" i="0" dirty="0" err="1">
                <a:solidFill>
                  <a:srgbClr val="172B53"/>
                </a:solidFill>
                <a:effectLst/>
                <a:latin typeface="Arial" panose="020B0604020202020204" pitchFamily="34" charset="0"/>
              </a:rPr>
              <a:t>modified</a:t>
            </a:r>
            <a:r>
              <a:rPr lang="ru-RU" b="0" i="0" dirty="0">
                <a:solidFill>
                  <a:srgbClr val="172B53"/>
                </a:solidFill>
                <a:effectLst/>
                <a:latin typeface="Arial" panose="020B0604020202020204" pitchFamily="34" charset="0"/>
              </a:rPr>
              <a:t> еще может что-то содержать.</a:t>
            </a:r>
          </a:p>
          <a:p>
            <a:endParaRPr lang="en-US" b="1" dirty="0"/>
          </a:p>
        </p:txBody>
      </p:sp>
    </p:spTree>
    <p:extLst>
      <p:ext uri="{BB962C8B-B14F-4D97-AF65-F5344CB8AC3E}">
        <p14:creationId xmlns:p14="http://schemas.microsoft.com/office/powerpoint/2010/main" val="10154768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80748" y="556118"/>
            <a:ext cx="10515600" cy="4351338"/>
          </a:xfrm>
        </p:spPr>
        <p:txBody>
          <a:bodyPr>
            <a:normAutofit fontScale="92500" lnSpcReduction="20000"/>
          </a:bodyPr>
          <a:lstStyle/>
          <a:p>
            <a:pPr algn="l"/>
            <a:r>
              <a:rPr lang="ru-RU" b="1" i="0" dirty="0">
                <a:solidFill>
                  <a:srgbClr val="151F33"/>
                </a:solidFill>
                <a:effectLst/>
                <a:latin typeface="Arial" panose="020B0604020202020204" pitchFamily="34" charset="0"/>
              </a:rPr>
              <a:t>Что такое коммит</a:t>
            </a:r>
          </a:p>
          <a:p>
            <a:pPr algn="l">
              <a:buFont typeface="Arial" panose="020B0604020202020204" pitchFamily="34" charset="0"/>
              <a:buChar char="•"/>
            </a:pPr>
            <a:r>
              <a:rPr lang="ru-RU" b="0" i="0" dirty="0">
                <a:solidFill>
                  <a:srgbClr val="172B53"/>
                </a:solidFill>
                <a:effectLst/>
                <a:latin typeface="Arial" panose="020B0604020202020204" pitchFamily="34" charset="0"/>
              </a:rPr>
              <a:t>Коммит — это основной объект в управлении контроля версий. Он содержит все изменения за время этого коммита. </a:t>
            </a:r>
          </a:p>
          <a:p>
            <a:pPr algn="l">
              <a:buFont typeface="Arial" panose="020B0604020202020204" pitchFamily="34" charset="0"/>
              <a:buChar char="•"/>
            </a:pPr>
            <a:r>
              <a:rPr lang="ru-RU" b="0" i="0" dirty="0">
                <a:solidFill>
                  <a:srgbClr val="172B53"/>
                </a:solidFill>
                <a:effectLst/>
                <a:latin typeface="Arial" panose="020B0604020202020204" pitchFamily="34" charset="0"/>
              </a:rPr>
              <a:t>Коммиты связаны между с собой как односвязный список. А именно: Есть первый коммит. Когда создается второй коммит, то он (второй) знает, что идет после первого. И таким образом можно отследить информацию. Также у коммита есть еще своя информация, так называемые метаданные: уникальный идентификатор коммита, по которому можно его найти;</a:t>
            </a:r>
          </a:p>
          <a:p>
            <a:pPr algn="l">
              <a:buFont typeface="Arial" panose="020B0604020202020204" pitchFamily="34" charset="0"/>
              <a:buChar char="•"/>
            </a:pPr>
            <a:r>
              <a:rPr lang="ru-RU" b="0" i="0" dirty="0">
                <a:solidFill>
                  <a:srgbClr val="172B53"/>
                </a:solidFill>
                <a:effectLst/>
                <a:latin typeface="Arial" panose="020B0604020202020204" pitchFamily="34" charset="0"/>
              </a:rPr>
              <a:t>имя автора коммита, который создал его;</a:t>
            </a:r>
          </a:p>
          <a:p>
            <a:pPr algn="l">
              <a:buFont typeface="Arial" panose="020B0604020202020204" pitchFamily="34" charset="0"/>
              <a:buChar char="•"/>
            </a:pPr>
            <a:r>
              <a:rPr lang="ru-RU" b="0" i="0" dirty="0">
                <a:solidFill>
                  <a:srgbClr val="172B53"/>
                </a:solidFill>
                <a:effectLst/>
                <a:latin typeface="Arial" panose="020B0604020202020204" pitchFamily="34" charset="0"/>
              </a:rPr>
              <a:t>дата создания коммита;</a:t>
            </a:r>
          </a:p>
          <a:p>
            <a:pPr algn="l">
              <a:buFont typeface="Arial" panose="020B0604020202020204" pitchFamily="34" charset="0"/>
              <a:buChar char="•"/>
            </a:pPr>
            <a:r>
              <a:rPr lang="ru-RU" b="0" i="0" dirty="0">
                <a:solidFill>
                  <a:srgbClr val="172B53"/>
                </a:solidFill>
                <a:effectLst/>
                <a:latin typeface="Arial" panose="020B0604020202020204" pitchFamily="34" charset="0"/>
              </a:rPr>
              <a:t>комментарий, который описывает, что было сделано во время этого коммита.</a:t>
            </a:r>
          </a:p>
          <a:p>
            <a:endParaRPr lang="en-US" dirty="0"/>
          </a:p>
        </p:txBody>
      </p:sp>
    </p:spTree>
    <p:extLst>
      <p:ext uri="{BB962C8B-B14F-4D97-AF65-F5344CB8AC3E}">
        <p14:creationId xmlns:p14="http://schemas.microsoft.com/office/powerpoint/2010/main" val="6312841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696157" y="742550"/>
            <a:ext cx="10515600" cy="4351338"/>
          </a:xfrm>
        </p:spPr>
        <p:txBody>
          <a:bodyPr/>
          <a:lstStyle/>
          <a:p>
            <a:r>
              <a:rPr lang="ru-RU" b="1" dirty="0">
                <a:effectLst/>
                <a:latin typeface="Arial" panose="020B0604020202020204" pitchFamily="34" charset="0"/>
              </a:rPr>
              <a:t>Тестирование документации и требований</a:t>
            </a:r>
          </a:p>
          <a:p>
            <a:r>
              <a:rPr lang="ru-RU" dirty="0">
                <a:effectLst/>
                <a:latin typeface="Arial" panose="020B0604020202020204" pitchFamily="34" charset="0"/>
              </a:rPr>
              <a:t>Требование (</a:t>
            </a:r>
            <a:r>
              <a:rPr lang="ru-RU" dirty="0" err="1">
                <a:effectLst/>
                <a:latin typeface="Arial" panose="020B0604020202020204" pitchFamily="34" charset="0"/>
              </a:rPr>
              <a:t>requirement</a:t>
            </a:r>
            <a:r>
              <a:rPr lang="ru-RU" dirty="0">
                <a:effectLst/>
                <a:latin typeface="Arial" panose="020B0604020202020204" pitchFamily="34" charset="0"/>
              </a:rPr>
              <a:t>) — описание того, какие функции и с соблюдением каких условий должно выполнять приложение в процессе решения полезной для пользователя задачи.</a:t>
            </a:r>
          </a:p>
          <a:p>
            <a:endParaRPr lang="en-US" dirty="0"/>
          </a:p>
        </p:txBody>
      </p:sp>
    </p:spTree>
    <p:extLst>
      <p:ext uri="{BB962C8B-B14F-4D97-AF65-F5344CB8AC3E}">
        <p14:creationId xmlns:p14="http://schemas.microsoft.com/office/powerpoint/2010/main" val="8417716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71870" y="1124289"/>
            <a:ext cx="10515600" cy="4351338"/>
          </a:xfrm>
        </p:spPr>
        <p:txBody>
          <a:bodyPr>
            <a:normAutofit lnSpcReduction="10000"/>
          </a:bodyPr>
          <a:lstStyle/>
          <a:p>
            <a:r>
              <a:rPr lang="ru-RU" dirty="0">
                <a:effectLst/>
                <a:latin typeface="Arial" panose="020B0604020202020204" pitchFamily="34" charset="0"/>
              </a:rPr>
              <a:t>если поискать определения требований в литературе 10-20-30-летней давности, то можно заметить, что</a:t>
            </a:r>
            <a:br>
              <a:rPr lang="ru-RU" dirty="0"/>
            </a:br>
            <a:r>
              <a:rPr lang="ru-RU" dirty="0">
                <a:effectLst/>
                <a:latin typeface="Arial" panose="020B0604020202020204" pitchFamily="34" charset="0"/>
              </a:rPr>
              <a:t>изначально о пользователях, их задачах и полезных для них свойствах приложения в определении требования не было сказано. </a:t>
            </a:r>
          </a:p>
          <a:p>
            <a:r>
              <a:rPr lang="ru-RU" dirty="0">
                <a:effectLst/>
                <a:latin typeface="Arial" panose="020B0604020202020204" pitchFamily="34" charset="0"/>
              </a:rPr>
              <a:t>Пользователь выступал некоей абстрактной фигурой, не имеющей отношения к приложению. В настоящее время такой подход недопустим, т.к. он не только</a:t>
            </a:r>
            <a:br>
              <a:rPr lang="ru-RU" dirty="0"/>
            </a:br>
            <a:r>
              <a:rPr lang="ru-RU" dirty="0">
                <a:effectLst/>
                <a:latin typeface="Arial" panose="020B0604020202020204" pitchFamily="34" charset="0"/>
              </a:rPr>
              <a:t>приводит к коммерческому провалу продукта на рынке, но и многократно повышает затраты на разработку и тестирование.</a:t>
            </a:r>
            <a:endParaRPr lang="en-US" dirty="0"/>
          </a:p>
        </p:txBody>
      </p:sp>
    </p:spTree>
    <p:extLst>
      <p:ext uri="{BB962C8B-B14F-4D97-AF65-F5344CB8AC3E}">
        <p14:creationId xmlns:p14="http://schemas.microsoft.com/office/powerpoint/2010/main" val="8309134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562991" y="680406"/>
            <a:ext cx="11430741" cy="6412852"/>
          </a:xfrm>
        </p:spPr>
        <p:txBody>
          <a:bodyPr>
            <a:normAutofit fontScale="70000" lnSpcReduction="20000"/>
          </a:bodyPr>
          <a:lstStyle/>
          <a:p>
            <a:r>
              <a:rPr lang="ru-RU" dirty="0">
                <a:effectLst/>
                <a:latin typeface="Arial" panose="020B0604020202020204" pitchFamily="34" charset="0"/>
              </a:rPr>
              <a:t>Важность требований</a:t>
            </a:r>
          </a:p>
          <a:p>
            <a:br>
              <a:rPr lang="ru-RU" dirty="0"/>
            </a:br>
            <a:r>
              <a:rPr lang="ru-RU" dirty="0">
                <a:effectLst/>
                <a:latin typeface="Arial" panose="020B0604020202020204" pitchFamily="34" charset="0"/>
              </a:rPr>
              <a:t>Требования являются отправной точкой для определения того, что проектная</a:t>
            </a:r>
            <a:br>
              <a:rPr lang="ru-RU" dirty="0"/>
            </a:br>
            <a:r>
              <a:rPr lang="ru-RU" dirty="0">
                <a:effectLst/>
                <a:latin typeface="Arial" panose="020B0604020202020204" pitchFamily="34" charset="0"/>
              </a:rPr>
              <a:t>команда будет проектировать, реализовывать и тестировать. Элементарная логика говорит нам, что если в требованиях что-то «не то», то и реализовано будет «не то», т.е. колоссальная работа множества людей будет выполнена впустую. Эту мысль иллюстрирует рисунок 2.2.a.</a:t>
            </a:r>
          </a:p>
          <a:p>
            <a:br>
              <a:rPr lang="ru-RU" dirty="0"/>
            </a:br>
            <a:r>
              <a:rPr lang="ru-RU" dirty="0">
                <a:effectLst/>
                <a:latin typeface="Arial" panose="020B0604020202020204" pitchFamily="34" charset="0"/>
              </a:rPr>
              <a:t>Брайан </a:t>
            </a:r>
            <a:r>
              <a:rPr lang="ru-RU" dirty="0" err="1">
                <a:effectLst/>
                <a:latin typeface="Arial" panose="020B0604020202020204" pitchFamily="34" charset="0"/>
              </a:rPr>
              <a:t>Хэнкс</a:t>
            </a:r>
            <a:r>
              <a:rPr lang="ru-RU" dirty="0">
                <a:effectLst/>
                <a:latin typeface="Arial" panose="020B0604020202020204" pitchFamily="34" charset="0"/>
              </a:rPr>
              <a:t>, описывая важность требований, подчёркивает, что они:</a:t>
            </a:r>
            <a:br>
              <a:rPr lang="ru-RU" dirty="0"/>
            </a:br>
            <a:endParaRPr lang="en-US" dirty="0">
              <a:latin typeface="Arial" panose="020B0604020202020204" pitchFamily="34" charset="0"/>
            </a:endParaRPr>
          </a:p>
          <a:p>
            <a:r>
              <a:rPr lang="ru-RU" dirty="0">
                <a:effectLst/>
                <a:latin typeface="Arial" panose="020B0604020202020204" pitchFamily="34" charset="0"/>
              </a:rPr>
              <a:t>Позволяют понять, что и с соблюдением каких условий система должна делать.</a:t>
            </a:r>
            <a:br>
              <a:rPr lang="ru-RU" dirty="0"/>
            </a:br>
            <a:endParaRPr lang="en-US" dirty="0">
              <a:latin typeface="Arial" panose="020B0604020202020204" pitchFamily="34" charset="0"/>
            </a:endParaRPr>
          </a:p>
          <a:p>
            <a:r>
              <a:rPr lang="ru-RU" dirty="0">
                <a:effectLst/>
                <a:latin typeface="Arial" panose="020B0604020202020204" pitchFamily="34" charset="0"/>
              </a:rPr>
              <a:t>Предоставляют возможность оценить масштаб изменений и управлять изменениями.</a:t>
            </a:r>
            <a:br>
              <a:rPr lang="ru-RU" dirty="0"/>
            </a:br>
            <a:endParaRPr lang="en-US" dirty="0">
              <a:latin typeface="Arial" panose="020B0604020202020204" pitchFamily="34" charset="0"/>
            </a:endParaRPr>
          </a:p>
          <a:p>
            <a:r>
              <a:rPr lang="ru-RU" dirty="0">
                <a:effectLst/>
                <a:latin typeface="Arial" panose="020B0604020202020204" pitchFamily="34" charset="0"/>
              </a:rPr>
              <a:t>Являются основой для формирования плана проекта (в том числе плана тестирования).</a:t>
            </a:r>
            <a:br>
              <a:rPr lang="ru-RU" dirty="0"/>
            </a:br>
            <a:endParaRPr lang="en-US" dirty="0">
              <a:latin typeface="Arial" panose="020B0604020202020204" pitchFamily="34" charset="0"/>
            </a:endParaRPr>
          </a:p>
          <a:p>
            <a:r>
              <a:rPr lang="ru-RU" dirty="0">
                <a:effectLst/>
                <a:latin typeface="Arial" panose="020B0604020202020204" pitchFamily="34" charset="0"/>
              </a:rPr>
              <a:t>Помогают предотвращать или разрешать конфликтные ситуации.</a:t>
            </a:r>
            <a:br>
              <a:rPr lang="ru-RU" dirty="0"/>
            </a:br>
            <a:endParaRPr lang="en-US" dirty="0">
              <a:latin typeface="Arial" panose="020B0604020202020204" pitchFamily="34" charset="0"/>
            </a:endParaRPr>
          </a:p>
          <a:p>
            <a:r>
              <a:rPr lang="ru-RU" dirty="0">
                <a:effectLst/>
                <a:latin typeface="Arial" panose="020B0604020202020204" pitchFamily="34" charset="0"/>
              </a:rPr>
              <a:t>Упрощают расстановку приоритетов в наборе задач.</a:t>
            </a:r>
            <a:br>
              <a:rPr lang="ru-RU" dirty="0"/>
            </a:br>
            <a:endParaRPr lang="en-US" dirty="0">
              <a:latin typeface="Arial" panose="020B0604020202020204" pitchFamily="34" charset="0"/>
            </a:endParaRPr>
          </a:p>
          <a:p>
            <a:r>
              <a:rPr lang="ru-RU" dirty="0">
                <a:effectLst/>
                <a:latin typeface="Arial" panose="020B0604020202020204" pitchFamily="34" charset="0"/>
              </a:rPr>
              <a:t>Позволяют объективно оценить степень прогресса в разработке проекта.</a:t>
            </a:r>
            <a:endParaRPr lang="en-US" dirty="0"/>
          </a:p>
        </p:txBody>
      </p:sp>
    </p:spTree>
    <p:extLst>
      <p:ext uri="{BB962C8B-B14F-4D97-AF65-F5344CB8AC3E}">
        <p14:creationId xmlns:p14="http://schemas.microsoft.com/office/powerpoint/2010/main" val="17058527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Объект 6">
            <a:extLst>
              <a:ext uri="{FF2B5EF4-FFF2-40B4-BE49-F238E27FC236}">
                <a16:creationId xmlns:a16="http://schemas.microsoft.com/office/drawing/2014/main" id="{CBA2E9E9-8679-4927-AD03-DCDC1BE25ABE}"/>
              </a:ext>
            </a:extLst>
          </p:cNvPr>
          <p:cNvSpPr>
            <a:spLocks noGrp="1"/>
          </p:cNvSpPr>
          <p:nvPr>
            <p:ph idx="1"/>
          </p:nvPr>
        </p:nvSpPr>
        <p:spPr>
          <a:xfrm>
            <a:off x="740546" y="1088778"/>
            <a:ext cx="10515600" cy="4351338"/>
          </a:xfrm>
        </p:spPr>
        <p:txBody>
          <a:bodyPr>
            <a:normAutofit fontScale="92500" lnSpcReduction="10000"/>
          </a:bodyPr>
          <a:lstStyle/>
          <a:p>
            <a:r>
              <a:rPr lang="ru-RU" dirty="0">
                <a:effectLst/>
                <a:latin typeface="Arial" panose="020B0604020202020204" pitchFamily="34" charset="0"/>
              </a:rPr>
              <a:t>Вне зависимости от того, какая модель разработки ПО используется на проекте, чем позже будет обнаружена проблема, тем сложнее и дороже будет её решение. </a:t>
            </a:r>
            <a:endParaRPr lang="en-US" dirty="0">
              <a:effectLst/>
              <a:latin typeface="Arial" panose="020B0604020202020204" pitchFamily="34" charset="0"/>
            </a:endParaRPr>
          </a:p>
          <a:p>
            <a:pPr marL="0" indent="0">
              <a:buNone/>
            </a:pPr>
            <a:r>
              <a:rPr lang="ru-RU" dirty="0">
                <a:effectLst/>
                <a:latin typeface="Arial" panose="020B0604020202020204" pitchFamily="34" charset="0"/>
              </a:rPr>
              <a:t>А в самом начале («водопада», «спуска по букве v», «итерации», «витка</a:t>
            </a:r>
            <a:r>
              <a:rPr lang="en-US" dirty="0">
                <a:effectLst/>
                <a:latin typeface="Arial" panose="020B0604020202020204" pitchFamily="34" charset="0"/>
              </a:rPr>
              <a:t> </a:t>
            </a:r>
            <a:r>
              <a:rPr lang="ru-RU" dirty="0">
                <a:effectLst/>
                <a:latin typeface="Arial" panose="020B0604020202020204" pitchFamily="34" charset="0"/>
              </a:rPr>
              <a:t>спирали») идёт планирование и работа с требованиями.</a:t>
            </a:r>
            <a:br>
              <a:rPr lang="ru-RU" dirty="0"/>
            </a:br>
            <a:r>
              <a:rPr lang="ru-RU" dirty="0">
                <a:effectLst/>
                <a:latin typeface="Arial" panose="020B0604020202020204" pitchFamily="34" charset="0"/>
              </a:rPr>
              <a:t>Если проблема в требованиях будет выяснена на этой стадии, её решение</a:t>
            </a:r>
            <a:br>
              <a:rPr lang="ru-RU" dirty="0"/>
            </a:br>
            <a:r>
              <a:rPr lang="ru-RU" dirty="0">
                <a:effectLst/>
                <a:latin typeface="Arial" panose="020B0604020202020204" pitchFamily="34" charset="0"/>
              </a:rPr>
              <a:t>может свестись к исправлению пары слов в тексте, в то время как недоработка,</a:t>
            </a:r>
            <a:br>
              <a:rPr lang="ru-RU" dirty="0"/>
            </a:br>
            <a:r>
              <a:rPr lang="ru-RU" dirty="0">
                <a:effectLst/>
                <a:latin typeface="Arial" panose="020B0604020202020204" pitchFamily="34" charset="0"/>
              </a:rPr>
              <a:t>вызванная пропущенной проблемой в требованиях и обнаруженная на стадии эксплуатации, может даже полностью уничтожить проект</a:t>
            </a:r>
            <a:endParaRPr lang="en-US" dirty="0"/>
          </a:p>
        </p:txBody>
      </p:sp>
    </p:spTree>
    <p:extLst>
      <p:ext uri="{BB962C8B-B14F-4D97-AF65-F5344CB8AC3E}">
        <p14:creationId xmlns:p14="http://schemas.microsoft.com/office/powerpoint/2010/main" val="8904412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Объект 2">
            <a:extLst>
              <a:ext uri="{FF2B5EF4-FFF2-40B4-BE49-F238E27FC236}">
                <a16:creationId xmlns:a16="http://schemas.microsoft.com/office/drawing/2014/main" id="{E19D93DB-3785-466F-8DD3-5706D644D7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4864" y="1172683"/>
            <a:ext cx="10247531" cy="5012476"/>
          </a:xfrm>
        </p:spPr>
      </p:pic>
    </p:spTree>
    <p:extLst>
      <p:ext uri="{BB962C8B-B14F-4D97-AF65-F5344CB8AC3E}">
        <p14:creationId xmlns:p14="http://schemas.microsoft.com/office/powerpoint/2010/main" val="27063424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598502" y="973367"/>
            <a:ext cx="11075633" cy="5782539"/>
          </a:xfrm>
        </p:spPr>
        <p:txBody>
          <a:bodyPr>
            <a:normAutofit/>
          </a:bodyPr>
          <a:lstStyle/>
          <a:p>
            <a:r>
              <a:rPr lang="ru-RU" dirty="0">
                <a:solidFill>
                  <a:srgbClr val="FF0000"/>
                </a:solidFill>
                <a:effectLst/>
                <a:latin typeface="Arial" panose="020B0604020202020204" pitchFamily="34" charset="0"/>
              </a:rPr>
              <a:t>Ещё одним аргументом </a:t>
            </a:r>
            <a:r>
              <a:rPr lang="ru-RU" dirty="0">
                <a:effectLst/>
                <a:latin typeface="Arial" panose="020B0604020202020204" pitchFamily="34" charset="0"/>
              </a:rPr>
              <a:t>в пользу тестирования требований является то, что,</a:t>
            </a:r>
            <a:br>
              <a:rPr lang="ru-RU" dirty="0"/>
            </a:br>
            <a:r>
              <a:rPr lang="ru-RU" dirty="0">
                <a:effectLst/>
                <a:latin typeface="Arial" panose="020B0604020202020204" pitchFamily="34" charset="0"/>
              </a:rPr>
              <a:t>по разным оценкам, в них зарождается от ½ до ¾ всех проблем с программным</a:t>
            </a:r>
            <a:br>
              <a:rPr lang="ru-RU" dirty="0"/>
            </a:br>
            <a:r>
              <a:rPr lang="ru-RU" dirty="0">
                <a:effectLst/>
                <a:latin typeface="Arial" panose="020B0604020202020204" pitchFamily="34" charset="0"/>
              </a:rPr>
              <a:t>обеспечением. В итоге есть риск, что получится так, как показано на рисунке 2.2.b.</a:t>
            </a:r>
            <a:br>
              <a:rPr lang="ru-RU" dirty="0"/>
            </a:br>
            <a:r>
              <a:rPr lang="ru-RU" dirty="0">
                <a:effectLst/>
                <a:latin typeface="Arial" panose="020B0604020202020204" pitchFamily="34" charset="0"/>
              </a:rPr>
              <a:t>Поскольку мы постоянно говорим «документация и требования», а не просто</a:t>
            </a:r>
            <a:r>
              <a:rPr lang="en-US" dirty="0">
                <a:effectLst/>
                <a:latin typeface="Arial" panose="020B0604020202020204" pitchFamily="34" charset="0"/>
              </a:rPr>
              <a:t> </a:t>
            </a:r>
            <a:r>
              <a:rPr lang="ru-RU" dirty="0">
                <a:effectLst/>
                <a:latin typeface="Arial" panose="020B0604020202020204" pitchFamily="34" charset="0"/>
              </a:rPr>
              <a:t>«требования», то стоит рассмотреть перечень документации, которая должна подвергаться тестированию в процессе разработки ПО (хотя далее мы будем концентрироваться именно на требованиях).</a:t>
            </a:r>
            <a:endParaRPr lang="en-US" dirty="0"/>
          </a:p>
        </p:txBody>
      </p:sp>
    </p:spTree>
    <p:extLst>
      <p:ext uri="{BB962C8B-B14F-4D97-AF65-F5344CB8AC3E}">
        <p14:creationId xmlns:p14="http://schemas.microsoft.com/office/powerpoint/2010/main" val="39039741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Объект 2">
            <a:extLst>
              <a:ext uri="{FF2B5EF4-FFF2-40B4-BE49-F238E27FC236}">
                <a16:creationId xmlns:a16="http://schemas.microsoft.com/office/drawing/2014/main" id="{FA1A343F-D712-4657-B546-A88DBEA740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98989" y="419874"/>
            <a:ext cx="9188389" cy="6212461"/>
          </a:xfrm>
        </p:spPr>
      </p:pic>
    </p:spTree>
    <p:extLst>
      <p:ext uri="{BB962C8B-B14F-4D97-AF65-F5344CB8AC3E}">
        <p14:creationId xmlns:p14="http://schemas.microsoft.com/office/powerpoint/2010/main" val="25563705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607380" y="778060"/>
            <a:ext cx="10515600" cy="4351338"/>
          </a:xfrm>
        </p:spPr>
        <p:txBody>
          <a:bodyPr/>
          <a:lstStyle/>
          <a:p>
            <a:r>
              <a:rPr lang="ru-RU" dirty="0">
                <a:effectLst/>
                <a:latin typeface="Arial" panose="020B0604020202020204" pitchFamily="34" charset="0"/>
              </a:rPr>
              <a:t>В общем случае документацию можно разделить на два больших вида в зависимости от времени и места её использования</a:t>
            </a:r>
          </a:p>
          <a:p>
            <a:r>
              <a:rPr lang="ru-RU" dirty="0" err="1">
                <a:effectLst/>
                <a:latin typeface="Arial" panose="020B0604020202020204" pitchFamily="34" charset="0"/>
              </a:rPr>
              <a:t>Продуктная</a:t>
            </a:r>
            <a:r>
              <a:rPr lang="ru-RU" dirty="0">
                <a:effectLst/>
                <a:latin typeface="Arial" panose="020B0604020202020204" pitchFamily="34" charset="0"/>
              </a:rPr>
              <a:t> документация </a:t>
            </a:r>
            <a:endParaRPr lang="ru-RU" dirty="0">
              <a:latin typeface="Arial" panose="020B0604020202020204" pitchFamily="34" charset="0"/>
            </a:endParaRPr>
          </a:p>
          <a:p>
            <a:r>
              <a:rPr lang="ru-RU" dirty="0">
                <a:effectLst/>
                <a:latin typeface="Arial" panose="020B0604020202020204" pitchFamily="34" charset="0"/>
              </a:rPr>
              <a:t>Проектная документация </a:t>
            </a:r>
            <a:endParaRPr lang="en-US" dirty="0"/>
          </a:p>
        </p:txBody>
      </p:sp>
    </p:spTree>
    <p:extLst>
      <p:ext uri="{BB962C8B-B14F-4D97-AF65-F5344CB8AC3E}">
        <p14:creationId xmlns:p14="http://schemas.microsoft.com/office/powerpoint/2010/main" val="23368617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509726" y="724793"/>
            <a:ext cx="10791548" cy="5755905"/>
          </a:xfrm>
        </p:spPr>
        <p:txBody>
          <a:bodyPr>
            <a:normAutofit fontScale="85000" lnSpcReduction="10000"/>
          </a:bodyPr>
          <a:lstStyle/>
          <a:p>
            <a:r>
              <a:rPr lang="ru-RU" sz="3600" b="1" dirty="0" err="1">
                <a:effectLst/>
                <a:latin typeface="Arial" panose="020B0604020202020204" pitchFamily="34" charset="0"/>
              </a:rPr>
              <a:t>Продуктная</a:t>
            </a:r>
            <a:r>
              <a:rPr lang="ru-RU" sz="3600" b="1" dirty="0">
                <a:effectLst/>
                <a:latin typeface="Arial" panose="020B0604020202020204" pitchFamily="34" charset="0"/>
              </a:rPr>
              <a:t> документация </a:t>
            </a:r>
            <a:r>
              <a:rPr lang="ru-RU" dirty="0">
                <a:effectLst/>
                <a:latin typeface="Arial" panose="020B0604020202020204" pitchFamily="34" charset="0"/>
              </a:rPr>
              <a:t>(</a:t>
            </a:r>
            <a:r>
              <a:rPr lang="en-US" dirty="0">
                <a:effectLst/>
                <a:latin typeface="Arial" panose="020B0604020202020204" pitchFamily="34" charset="0"/>
              </a:rPr>
              <a:t>product documentation, development documentation) </a:t>
            </a:r>
            <a:r>
              <a:rPr lang="ru-RU" dirty="0">
                <a:effectLst/>
                <a:latin typeface="Arial" panose="020B0604020202020204" pitchFamily="34" charset="0"/>
              </a:rPr>
              <a:t>используется проектной командой во время разработки и поддержки</a:t>
            </a:r>
            <a:br>
              <a:rPr lang="ru-RU" dirty="0"/>
            </a:br>
            <a:r>
              <a:rPr lang="ru-RU" dirty="0">
                <a:effectLst/>
                <a:latin typeface="Arial" panose="020B0604020202020204" pitchFamily="34" charset="0"/>
              </a:rPr>
              <a:t>продукта. </a:t>
            </a:r>
          </a:p>
          <a:p>
            <a:r>
              <a:rPr lang="ru-RU" dirty="0">
                <a:effectLst/>
                <a:latin typeface="Arial" panose="020B0604020202020204" pitchFamily="34" charset="0"/>
                <a:cs typeface="Arial" panose="020B0604020202020204" pitchFamily="34" charset="0"/>
              </a:rPr>
              <a:t>Она включает:</a:t>
            </a:r>
            <a:br>
              <a:rPr lang="ru-RU" dirty="0">
                <a:latin typeface="Arial" panose="020B0604020202020204" pitchFamily="34" charset="0"/>
                <a:cs typeface="Arial" panose="020B0604020202020204" pitchFamily="34" charset="0"/>
              </a:rPr>
            </a:br>
            <a:r>
              <a:rPr lang="ru-RU" dirty="0">
                <a:effectLst/>
                <a:latin typeface="Arial" panose="020B0604020202020204" pitchFamily="34" charset="0"/>
                <a:cs typeface="Arial" panose="020B0604020202020204" pitchFamily="34" charset="0"/>
              </a:rPr>
              <a:t>План проекта (</a:t>
            </a:r>
            <a:r>
              <a:rPr lang="en-US" dirty="0">
                <a:effectLst/>
                <a:latin typeface="Arial" panose="020B0604020202020204" pitchFamily="34" charset="0"/>
                <a:cs typeface="Arial" panose="020B0604020202020204" pitchFamily="34" charset="0"/>
              </a:rPr>
              <a:t>project management plan) </a:t>
            </a:r>
            <a:r>
              <a:rPr lang="ru-RU" dirty="0">
                <a:effectLst/>
                <a:latin typeface="Arial" panose="020B0604020202020204" pitchFamily="34" charset="0"/>
                <a:cs typeface="Arial" panose="020B0604020202020204" pitchFamily="34" charset="0"/>
              </a:rPr>
              <a:t>и в том числе тестовый план</a:t>
            </a:r>
            <a:br>
              <a:rPr lang="ru-RU" dirty="0">
                <a:latin typeface="Arial" panose="020B0604020202020204" pitchFamily="34" charset="0"/>
                <a:cs typeface="Arial" panose="020B0604020202020204" pitchFamily="34" charset="0"/>
              </a:rPr>
            </a:br>
            <a:r>
              <a:rPr lang="ru-RU" dirty="0">
                <a:effectLst/>
                <a:latin typeface="Arial" panose="020B0604020202020204" pitchFamily="34" charset="0"/>
                <a:cs typeface="Arial" panose="020B0604020202020204" pitchFamily="34" charset="0"/>
              </a:rPr>
              <a:t>(</a:t>
            </a:r>
            <a:r>
              <a:rPr lang="en-US" dirty="0">
                <a:effectLst/>
                <a:latin typeface="Arial" panose="020B0604020202020204" pitchFamily="34" charset="0"/>
                <a:cs typeface="Arial" panose="020B0604020202020204" pitchFamily="34" charset="0"/>
              </a:rPr>
              <a:t>test plan).</a:t>
            </a:r>
            <a:br>
              <a:rPr lang="en-US" dirty="0">
                <a:latin typeface="Arial" panose="020B0604020202020204" pitchFamily="34" charset="0"/>
                <a:cs typeface="Arial" panose="020B0604020202020204" pitchFamily="34" charset="0"/>
              </a:rPr>
            </a:br>
            <a:r>
              <a:rPr lang="ru-RU" dirty="0">
                <a:effectLst/>
                <a:latin typeface="Arial" panose="020B0604020202020204" pitchFamily="34" charset="0"/>
                <a:cs typeface="Arial" panose="020B0604020202020204" pitchFamily="34" charset="0"/>
              </a:rPr>
              <a:t>Требования к программному продукту (</a:t>
            </a:r>
            <a:r>
              <a:rPr lang="en-US" dirty="0">
                <a:effectLst/>
                <a:latin typeface="Arial" panose="020B0604020202020204" pitchFamily="34" charset="0"/>
                <a:cs typeface="Arial" panose="020B0604020202020204" pitchFamily="34" charset="0"/>
              </a:rPr>
              <a:t>product requirements document,</a:t>
            </a:r>
            <a:br>
              <a:rPr lang="en-US" dirty="0">
                <a:latin typeface="Arial" panose="020B0604020202020204" pitchFamily="34" charset="0"/>
                <a:cs typeface="Arial" panose="020B0604020202020204" pitchFamily="34" charset="0"/>
              </a:rPr>
            </a:br>
            <a:r>
              <a:rPr lang="en-US" dirty="0">
                <a:effectLst/>
                <a:latin typeface="Arial" panose="020B0604020202020204" pitchFamily="34" charset="0"/>
                <a:cs typeface="Arial" panose="020B0604020202020204" pitchFamily="34" charset="0"/>
              </a:rPr>
              <a:t>PRD) </a:t>
            </a:r>
            <a:r>
              <a:rPr lang="ru-RU" dirty="0">
                <a:effectLst/>
                <a:latin typeface="Arial" panose="020B0604020202020204" pitchFamily="34" charset="0"/>
                <a:cs typeface="Arial" panose="020B0604020202020204" pitchFamily="34" charset="0"/>
              </a:rPr>
              <a:t>и функциональные спецификации (</a:t>
            </a:r>
            <a:r>
              <a:rPr lang="en-US" dirty="0">
                <a:effectLst/>
                <a:latin typeface="Arial" panose="020B0604020202020204" pitchFamily="34" charset="0"/>
                <a:cs typeface="Arial" panose="020B0604020202020204" pitchFamily="34" charset="0"/>
              </a:rPr>
              <a:t>functional specifications document, FSD; software requirements specification, SRS).</a:t>
            </a:r>
            <a:endParaRPr lang="ru-RU" dirty="0">
              <a:effectLst/>
              <a:latin typeface="Arial" panose="020B0604020202020204" pitchFamily="34" charset="0"/>
              <a:cs typeface="Arial" panose="020B0604020202020204" pitchFamily="34" charset="0"/>
            </a:endParaRPr>
          </a:p>
          <a:p>
            <a:r>
              <a:rPr lang="en-US" dirty="0">
                <a:effectLst/>
                <a:latin typeface="Arial" panose="020B0604020202020204" pitchFamily="34" charset="0"/>
                <a:cs typeface="Arial" panose="020B0604020202020204" pitchFamily="34" charset="0"/>
              </a:rPr>
              <a:t> </a:t>
            </a:r>
            <a:r>
              <a:rPr lang="ru-RU" dirty="0">
                <a:effectLst/>
                <a:latin typeface="Arial" panose="020B0604020202020204" pitchFamily="34" charset="0"/>
                <a:cs typeface="Arial" panose="020B0604020202020204" pitchFamily="34" charset="0"/>
              </a:rPr>
              <a:t>Архитектуру и дизайн (</a:t>
            </a:r>
            <a:r>
              <a:rPr lang="en-US" dirty="0">
                <a:effectLst/>
                <a:latin typeface="Arial" panose="020B0604020202020204" pitchFamily="34" charset="0"/>
                <a:cs typeface="Arial" panose="020B0604020202020204" pitchFamily="34" charset="0"/>
              </a:rPr>
              <a:t>architecture and design).</a:t>
            </a:r>
            <a:br>
              <a:rPr lang="en-US" dirty="0">
                <a:latin typeface="Arial" panose="020B0604020202020204" pitchFamily="34" charset="0"/>
                <a:cs typeface="Arial" panose="020B0604020202020204" pitchFamily="34" charset="0"/>
              </a:rPr>
            </a:br>
            <a:r>
              <a:rPr lang="en-US" dirty="0">
                <a:effectLst/>
                <a:latin typeface="Arial" panose="020B0604020202020204" pitchFamily="34" charset="0"/>
                <a:cs typeface="Arial" panose="020B0604020202020204" pitchFamily="34" charset="0"/>
              </a:rPr>
              <a:t> </a:t>
            </a:r>
          </a:p>
          <a:p>
            <a:r>
              <a:rPr lang="ru-RU" dirty="0">
                <a:effectLst/>
                <a:latin typeface="Arial" panose="020B0604020202020204" pitchFamily="34" charset="0"/>
                <a:cs typeface="Arial" panose="020B0604020202020204" pitchFamily="34" charset="0"/>
              </a:rPr>
              <a:t>Тест-кейсы и наборы тест-кейсов (</a:t>
            </a:r>
            <a:r>
              <a:rPr lang="en-US" dirty="0">
                <a:effectLst/>
                <a:latin typeface="Arial" panose="020B0604020202020204" pitchFamily="34" charset="0"/>
                <a:cs typeface="Arial" panose="020B0604020202020204" pitchFamily="34" charset="0"/>
              </a:rPr>
              <a:t>test cases, test suites).</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r>
              <a:rPr lang="ru-RU" dirty="0">
                <a:effectLst/>
                <a:latin typeface="Arial" panose="020B0604020202020204" pitchFamily="34" charset="0"/>
                <a:cs typeface="Arial" panose="020B0604020202020204" pitchFamily="34" charset="0"/>
              </a:rPr>
              <a:t>Технические спецификации (</a:t>
            </a:r>
            <a:r>
              <a:rPr lang="en-US" dirty="0">
                <a:effectLst/>
                <a:latin typeface="Arial" panose="020B0604020202020204" pitchFamily="34" charset="0"/>
                <a:cs typeface="Arial" panose="020B0604020202020204" pitchFamily="34" charset="0"/>
              </a:rPr>
              <a:t>technical specifications), </a:t>
            </a:r>
            <a:r>
              <a:rPr lang="ru-RU" dirty="0">
                <a:effectLst/>
                <a:latin typeface="Arial" panose="020B0604020202020204" pitchFamily="34" charset="0"/>
                <a:cs typeface="Arial" panose="020B0604020202020204" pitchFamily="34" charset="0"/>
              </a:rPr>
              <a:t>такие как схемы</a:t>
            </a:r>
            <a:br>
              <a:rPr lang="ru-RU" dirty="0">
                <a:latin typeface="Arial" panose="020B0604020202020204" pitchFamily="34" charset="0"/>
                <a:cs typeface="Arial" panose="020B0604020202020204" pitchFamily="34" charset="0"/>
              </a:rPr>
            </a:br>
            <a:r>
              <a:rPr lang="ru-RU" dirty="0">
                <a:effectLst/>
                <a:latin typeface="Arial" panose="020B0604020202020204" pitchFamily="34" charset="0"/>
                <a:cs typeface="Arial" panose="020B0604020202020204" pitchFamily="34" charset="0"/>
              </a:rPr>
              <a:t>баз данных, описания алгоритмов, интерфейсов и т.д.</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90812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420948" y="485096"/>
            <a:ext cx="11572783" cy="6084379"/>
          </a:xfrm>
        </p:spPr>
        <p:txBody>
          <a:bodyPr>
            <a:normAutofit/>
          </a:bodyPr>
          <a:lstStyle/>
          <a:p>
            <a:r>
              <a:rPr lang="ru-RU" b="1" dirty="0">
                <a:effectLst/>
                <a:latin typeface="Arial" panose="020B0604020202020204" pitchFamily="34" charset="0"/>
              </a:rPr>
              <a:t>Проектная документация </a:t>
            </a:r>
            <a:r>
              <a:rPr lang="ru-RU" sz="2400" dirty="0">
                <a:effectLst/>
                <a:latin typeface="Arial" panose="020B0604020202020204" pitchFamily="34" charset="0"/>
                <a:cs typeface="Arial" panose="020B0604020202020204" pitchFamily="34" charset="0"/>
              </a:rPr>
              <a:t>(</a:t>
            </a:r>
            <a:r>
              <a:rPr lang="ru-RU" sz="2400" dirty="0" err="1">
                <a:effectLst/>
                <a:latin typeface="Arial" panose="020B0604020202020204" pitchFamily="34" charset="0"/>
                <a:cs typeface="Arial" panose="020B0604020202020204" pitchFamily="34" charset="0"/>
              </a:rPr>
              <a:t>project</a:t>
            </a:r>
            <a:r>
              <a:rPr lang="ru-RU" sz="2400" dirty="0">
                <a:effectLst/>
                <a:latin typeface="Arial" panose="020B0604020202020204" pitchFamily="34" charset="0"/>
                <a:cs typeface="Arial" panose="020B0604020202020204" pitchFamily="34" charset="0"/>
              </a:rPr>
              <a:t> </a:t>
            </a:r>
            <a:r>
              <a:rPr lang="ru-RU" sz="2400" dirty="0" err="1">
                <a:effectLst/>
                <a:latin typeface="Arial" panose="020B0604020202020204" pitchFamily="34" charset="0"/>
                <a:cs typeface="Arial" panose="020B0604020202020204" pitchFamily="34" charset="0"/>
              </a:rPr>
              <a:t>documentation</a:t>
            </a:r>
            <a:r>
              <a:rPr lang="ru-RU" sz="2400" dirty="0">
                <a:effectLst/>
                <a:latin typeface="Arial" panose="020B0604020202020204" pitchFamily="34" charset="0"/>
                <a:cs typeface="Arial" panose="020B0604020202020204" pitchFamily="34" charset="0"/>
              </a:rPr>
              <a:t>) </a:t>
            </a:r>
            <a:endParaRPr lang="en-US" sz="2400" dirty="0">
              <a:effectLst/>
              <a:latin typeface="Arial" panose="020B0604020202020204" pitchFamily="34" charset="0"/>
              <a:cs typeface="Arial" panose="020B0604020202020204" pitchFamily="34" charset="0"/>
            </a:endParaRPr>
          </a:p>
          <a:p>
            <a:r>
              <a:rPr lang="ru-RU" sz="2400" dirty="0">
                <a:effectLst/>
                <a:latin typeface="Arial" panose="020B0604020202020204" pitchFamily="34" charset="0"/>
                <a:cs typeface="Arial" panose="020B0604020202020204" pitchFamily="34" charset="0"/>
              </a:rPr>
              <a:t>включает в себя как</a:t>
            </a:r>
            <a:r>
              <a:rPr lang="en-US" sz="2400" dirty="0">
                <a:effectLst/>
                <a:latin typeface="Arial" panose="020B0604020202020204" pitchFamily="34" charset="0"/>
                <a:cs typeface="Arial" panose="020B0604020202020204" pitchFamily="34" charset="0"/>
              </a:rPr>
              <a:t> </a:t>
            </a:r>
            <a:r>
              <a:rPr lang="ru-RU" sz="2400" dirty="0" err="1">
                <a:effectLst/>
                <a:latin typeface="Arial" panose="020B0604020202020204" pitchFamily="34" charset="0"/>
                <a:cs typeface="Arial" panose="020B0604020202020204" pitchFamily="34" charset="0"/>
              </a:rPr>
              <a:t>продуктную</a:t>
            </a:r>
            <a:r>
              <a:rPr lang="ru-RU" sz="2400" dirty="0">
                <a:effectLst/>
                <a:latin typeface="Arial" panose="020B0604020202020204" pitchFamily="34" charset="0"/>
                <a:cs typeface="Arial" panose="020B0604020202020204" pitchFamily="34" charset="0"/>
              </a:rPr>
              <a:t> документацию, так и некоторые дополнительные виды документации и используется не только на стадии разработки, но и на более ранних и</a:t>
            </a:r>
            <a:br>
              <a:rPr lang="ru-RU" sz="2400" dirty="0">
                <a:latin typeface="Arial" panose="020B0604020202020204" pitchFamily="34" charset="0"/>
                <a:cs typeface="Arial" panose="020B0604020202020204" pitchFamily="34" charset="0"/>
              </a:rPr>
            </a:br>
            <a:r>
              <a:rPr lang="ru-RU" sz="2400" dirty="0">
                <a:effectLst/>
                <a:latin typeface="Arial" panose="020B0604020202020204" pitchFamily="34" charset="0"/>
                <a:cs typeface="Arial" panose="020B0604020202020204" pitchFamily="34" charset="0"/>
              </a:rPr>
              <a:t>поздних стадиях (например, на стадии внедрения и эксплуатации). Она включает:</a:t>
            </a:r>
            <a:endParaRPr lang="en-US" sz="2400" dirty="0">
              <a:effectLst/>
              <a:latin typeface="Arial" panose="020B0604020202020204" pitchFamily="34" charset="0"/>
              <a:cs typeface="Arial" panose="020B0604020202020204" pitchFamily="34" charset="0"/>
            </a:endParaRPr>
          </a:p>
          <a:p>
            <a:r>
              <a:rPr lang="ru-RU" sz="2400" dirty="0">
                <a:effectLst/>
                <a:latin typeface="Arial" panose="020B0604020202020204" pitchFamily="34" charset="0"/>
                <a:cs typeface="Arial" panose="020B0604020202020204" pitchFamily="34" charset="0"/>
              </a:rPr>
              <a:t>Пользовательскую и сопроводительную документацию (</a:t>
            </a:r>
            <a:r>
              <a:rPr lang="ru-RU" sz="2400" dirty="0" err="1">
                <a:effectLst/>
                <a:latin typeface="Arial" panose="020B0604020202020204" pitchFamily="34" charset="0"/>
                <a:cs typeface="Arial" panose="020B0604020202020204" pitchFamily="34" charset="0"/>
              </a:rPr>
              <a:t>user</a:t>
            </a:r>
            <a:r>
              <a:rPr lang="ru-RU" sz="2400" dirty="0">
                <a:effectLst/>
                <a:latin typeface="Arial" panose="020B0604020202020204" pitchFamily="34" charset="0"/>
                <a:cs typeface="Arial" panose="020B0604020202020204" pitchFamily="34" charset="0"/>
              </a:rPr>
              <a:t> </a:t>
            </a:r>
            <a:r>
              <a:rPr lang="ru-RU" sz="2400" dirty="0" err="1">
                <a:effectLst/>
                <a:latin typeface="Arial" panose="020B0604020202020204" pitchFamily="34" charset="0"/>
                <a:cs typeface="Arial" panose="020B0604020202020204" pitchFamily="34" charset="0"/>
              </a:rPr>
              <a:t>and</a:t>
            </a:r>
            <a:r>
              <a:rPr lang="ru-RU" sz="2400" dirty="0">
                <a:effectLst/>
                <a:latin typeface="Arial" panose="020B0604020202020204" pitchFamily="34" charset="0"/>
                <a:cs typeface="Arial" panose="020B0604020202020204" pitchFamily="34" charset="0"/>
              </a:rPr>
              <a:t> </a:t>
            </a:r>
            <a:r>
              <a:rPr lang="ru-RU" sz="2400" dirty="0" err="1">
                <a:effectLst/>
                <a:latin typeface="Arial" panose="020B0604020202020204" pitchFamily="34" charset="0"/>
                <a:cs typeface="Arial" panose="020B0604020202020204" pitchFamily="34" charset="0"/>
              </a:rPr>
              <a:t>ac</a:t>
            </a:r>
            <a:r>
              <a:rPr lang="ru-RU" sz="2400" dirty="0">
                <a:effectLst/>
                <a:latin typeface="Arial" panose="020B0604020202020204" pitchFamily="34" charset="0"/>
                <a:cs typeface="Arial" panose="020B0604020202020204" pitchFamily="34" charset="0"/>
              </a:rPr>
              <a:t>-</a:t>
            </a:r>
            <a:br>
              <a:rPr lang="ru-RU" sz="2400" dirty="0">
                <a:latin typeface="Arial" panose="020B0604020202020204" pitchFamily="34" charset="0"/>
                <a:cs typeface="Arial" panose="020B0604020202020204" pitchFamily="34" charset="0"/>
              </a:rPr>
            </a:br>
            <a:r>
              <a:rPr lang="ru-RU" sz="2400" dirty="0" err="1">
                <a:effectLst/>
                <a:latin typeface="Arial" panose="020B0604020202020204" pitchFamily="34" charset="0"/>
                <a:cs typeface="Arial" panose="020B0604020202020204" pitchFamily="34" charset="0"/>
              </a:rPr>
              <a:t>companying</a:t>
            </a:r>
            <a:r>
              <a:rPr lang="ru-RU" sz="2400" dirty="0">
                <a:effectLst/>
                <a:latin typeface="Arial" panose="020B0604020202020204" pitchFamily="34" charset="0"/>
                <a:cs typeface="Arial" panose="020B0604020202020204" pitchFamily="34" charset="0"/>
              </a:rPr>
              <a:t> </a:t>
            </a:r>
            <a:r>
              <a:rPr lang="ru-RU" sz="2400" dirty="0" err="1">
                <a:effectLst/>
                <a:latin typeface="Arial" panose="020B0604020202020204" pitchFamily="34" charset="0"/>
                <a:cs typeface="Arial" panose="020B0604020202020204" pitchFamily="34" charset="0"/>
              </a:rPr>
              <a:t>documentation</a:t>
            </a:r>
            <a:r>
              <a:rPr lang="ru-RU" sz="2400" dirty="0">
                <a:effectLst/>
                <a:latin typeface="Arial" panose="020B0604020202020204" pitchFamily="34" charset="0"/>
                <a:cs typeface="Arial" panose="020B0604020202020204" pitchFamily="34" charset="0"/>
              </a:rPr>
              <a:t>), такую как встроенная помощь, руководство по установке и использованию, лицензионные соглашения и т.д.</a:t>
            </a:r>
            <a:br>
              <a:rPr lang="ru-RU" sz="2400" dirty="0">
                <a:latin typeface="Arial" panose="020B0604020202020204" pitchFamily="34" charset="0"/>
                <a:cs typeface="Arial" panose="020B0604020202020204" pitchFamily="34" charset="0"/>
              </a:rPr>
            </a:br>
            <a:r>
              <a:rPr lang="ru-RU" sz="2400" dirty="0">
                <a:effectLst/>
                <a:latin typeface="Arial" panose="020B0604020202020204" pitchFamily="34" charset="0"/>
                <a:cs typeface="Arial" panose="020B0604020202020204" pitchFamily="34" charset="0"/>
              </a:rPr>
              <a:t> </a:t>
            </a:r>
            <a:endParaRPr lang="en-US" sz="2400" dirty="0">
              <a:effectLst/>
              <a:latin typeface="Arial" panose="020B0604020202020204" pitchFamily="34" charset="0"/>
              <a:cs typeface="Arial" panose="020B0604020202020204" pitchFamily="34" charset="0"/>
            </a:endParaRPr>
          </a:p>
          <a:p>
            <a:r>
              <a:rPr lang="ru-RU" sz="2400" dirty="0">
                <a:effectLst/>
                <a:latin typeface="Arial" panose="020B0604020202020204" pitchFamily="34" charset="0"/>
                <a:cs typeface="Arial" panose="020B0604020202020204" pitchFamily="34" charset="0"/>
              </a:rPr>
              <a:t>Маркетинговую документацию (</a:t>
            </a:r>
            <a:r>
              <a:rPr lang="ru-RU" sz="2400" dirty="0" err="1">
                <a:effectLst/>
                <a:latin typeface="Arial" panose="020B0604020202020204" pitchFamily="34" charset="0"/>
                <a:cs typeface="Arial" panose="020B0604020202020204" pitchFamily="34" charset="0"/>
              </a:rPr>
              <a:t>market</a:t>
            </a:r>
            <a:r>
              <a:rPr lang="ru-RU" sz="2400" dirty="0">
                <a:effectLst/>
                <a:latin typeface="Arial" panose="020B0604020202020204" pitchFamily="34" charset="0"/>
                <a:cs typeface="Arial" panose="020B0604020202020204" pitchFamily="34" charset="0"/>
              </a:rPr>
              <a:t> </a:t>
            </a:r>
            <a:r>
              <a:rPr lang="ru-RU" sz="2400" dirty="0" err="1">
                <a:effectLst/>
                <a:latin typeface="Arial" panose="020B0604020202020204" pitchFamily="34" charset="0"/>
                <a:cs typeface="Arial" panose="020B0604020202020204" pitchFamily="34" charset="0"/>
              </a:rPr>
              <a:t>requirements</a:t>
            </a:r>
            <a:r>
              <a:rPr lang="ru-RU" sz="2400" dirty="0">
                <a:effectLst/>
                <a:latin typeface="Arial" panose="020B0604020202020204" pitchFamily="34" charset="0"/>
                <a:cs typeface="Arial" panose="020B0604020202020204" pitchFamily="34" charset="0"/>
              </a:rPr>
              <a:t> </a:t>
            </a:r>
            <a:r>
              <a:rPr lang="ru-RU" sz="2400" dirty="0" err="1">
                <a:effectLst/>
                <a:latin typeface="Arial" panose="020B0604020202020204" pitchFamily="34" charset="0"/>
                <a:cs typeface="Arial" panose="020B0604020202020204" pitchFamily="34" charset="0"/>
              </a:rPr>
              <a:t>document</a:t>
            </a:r>
            <a:r>
              <a:rPr lang="ru-RU" sz="2400" dirty="0">
                <a:effectLst/>
                <a:latin typeface="Arial" panose="020B0604020202020204" pitchFamily="34" charset="0"/>
                <a:cs typeface="Arial" panose="020B0604020202020204" pitchFamily="34" charset="0"/>
              </a:rPr>
              <a:t>, MRD),</a:t>
            </a:r>
            <a:br>
              <a:rPr lang="ru-RU" sz="2400" dirty="0">
                <a:latin typeface="Arial" panose="020B0604020202020204" pitchFamily="34" charset="0"/>
                <a:cs typeface="Arial" panose="020B0604020202020204" pitchFamily="34" charset="0"/>
              </a:rPr>
            </a:br>
            <a:r>
              <a:rPr lang="ru-RU" sz="2400" dirty="0">
                <a:effectLst/>
                <a:latin typeface="Arial" panose="020B0604020202020204" pitchFamily="34" charset="0"/>
                <a:cs typeface="Arial" panose="020B0604020202020204" pitchFamily="34" charset="0"/>
              </a:rPr>
              <a:t>которую представители разработчика или заказчика используют как на</a:t>
            </a:r>
            <a:br>
              <a:rPr lang="ru-RU" sz="2400" dirty="0">
                <a:latin typeface="Arial" panose="020B0604020202020204" pitchFamily="34" charset="0"/>
                <a:cs typeface="Arial" panose="020B0604020202020204" pitchFamily="34" charset="0"/>
              </a:rPr>
            </a:br>
            <a:r>
              <a:rPr lang="ru-RU" sz="2400" dirty="0">
                <a:effectLst/>
                <a:latin typeface="Arial" panose="020B0604020202020204" pitchFamily="34" charset="0"/>
                <a:cs typeface="Arial" panose="020B0604020202020204" pitchFamily="34" charset="0"/>
              </a:rPr>
              <a:t>начальных этапах (для уточнения сути и концепции проекта), так и на</a:t>
            </a:r>
            <a:br>
              <a:rPr lang="ru-RU" sz="2400" dirty="0">
                <a:latin typeface="Arial" panose="020B0604020202020204" pitchFamily="34" charset="0"/>
                <a:cs typeface="Arial" panose="020B0604020202020204" pitchFamily="34" charset="0"/>
              </a:rPr>
            </a:br>
            <a:r>
              <a:rPr lang="ru-RU" sz="2400" dirty="0">
                <a:effectLst/>
                <a:latin typeface="Arial" panose="020B0604020202020204" pitchFamily="34" charset="0"/>
                <a:cs typeface="Arial" panose="020B0604020202020204" pitchFamily="34" charset="0"/>
              </a:rPr>
              <a:t>финальных этапах развития проекта (для продвижения продукта на</a:t>
            </a:r>
            <a:br>
              <a:rPr lang="ru-RU" sz="2400" dirty="0">
                <a:latin typeface="Arial" panose="020B0604020202020204" pitchFamily="34" charset="0"/>
                <a:cs typeface="Arial" panose="020B0604020202020204" pitchFamily="34" charset="0"/>
              </a:rPr>
            </a:br>
            <a:r>
              <a:rPr lang="ru-RU" sz="2400" dirty="0">
                <a:effectLst/>
                <a:latin typeface="Arial" panose="020B0604020202020204" pitchFamily="34" charset="0"/>
                <a:cs typeface="Arial" panose="020B0604020202020204" pitchFamily="34" charset="0"/>
              </a:rPr>
              <a:t>рынке).</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44541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562992" y="511730"/>
            <a:ext cx="10515600" cy="4351338"/>
          </a:xfrm>
        </p:spPr>
        <p:txBody>
          <a:bodyPr/>
          <a:lstStyle/>
          <a:p>
            <a:r>
              <a:rPr lang="ru-RU" b="1" dirty="0">
                <a:effectLst/>
                <a:latin typeface="Arial" panose="020B0604020202020204" pitchFamily="34" charset="0"/>
              </a:rPr>
              <a:t>Уровни и типы требований</a:t>
            </a:r>
            <a:br>
              <a:rPr lang="ru-RU" dirty="0"/>
            </a:br>
            <a:r>
              <a:rPr lang="ru-RU" dirty="0">
                <a:effectLst/>
                <a:latin typeface="Arial" panose="020B0604020202020204" pitchFamily="34" charset="0"/>
              </a:rPr>
              <a:t>Форма представления, степень детализации и перечень полезных свойств требований зависят от уровней и типов требований</a:t>
            </a:r>
            <a:endParaRPr lang="en-US" dirty="0"/>
          </a:p>
        </p:txBody>
      </p:sp>
    </p:spTree>
    <p:extLst>
      <p:ext uri="{BB962C8B-B14F-4D97-AF65-F5344CB8AC3E}">
        <p14:creationId xmlns:p14="http://schemas.microsoft.com/office/powerpoint/2010/main" val="40962329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509725" y="689283"/>
            <a:ext cx="11359719" cy="6004480"/>
          </a:xfrm>
        </p:spPr>
        <p:txBody>
          <a:bodyPr>
            <a:normAutofit fontScale="85000" lnSpcReduction="20000"/>
          </a:bodyPr>
          <a:lstStyle/>
          <a:p>
            <a:r>
              <a:rPr lang="ru-RU" b="1" dirty="0">
                <a:effectLst/>
                <a:latin typeface="Arial" panose="020B0604020202020204" pitchFamily="34" charset="0"/>
              </a:rPr>
              <a:t>Бизнес-требования</a:t>
            </a:r>
            <a:r>
              <a:rPr lang="ru-RU" dirty="0">
                <a:effectLst/>
                <a:latin typeface="Arial" panose="020B0604020202020204" pitchFamily="34" charset="0"/>
              </a:rPr>
              <a:t> (</a:t>
            </a:r>
            <a:r>
              <a:rPr lang="ru-RU" dirty="0" err="1">
                <a:effectLst/>
                <a:latin typeface="Arial" panose="020B0604020202020204" pitchFamily="34" charset="0"/>
              </a:rPr>
              <a:t>business</a:t>
            </a:r>
            <a:r>
              <a:rPr lang="ru-RU" dirty="0">
                <a:effectLst/>
                <a:latin typeface="Arial" panose="020B0604020202020204" pitchFamily="34" charset="0"/>
              </a:rPr>
              <a:t> </a:t>
            </a:r>
            <a:r>
              <a:rPr lang="ru-RU" dirty="0" err="1">
                <a:effectLst/>
                <a:latin typeface="Arial" panose="020B0604020202020204" pitchFamily="34" charset="0"/>
              </a:rPr>
              <a:t>requirements</a:t>
            </a:r>
            <a:r>
              <a:rPr lang="ru-RU" dirty="0">
                <a:effectLst/>
                <a:latin typeface="Arial" panose="020B0604020202020204" pitchFamily="34" charset="0"/>
              </a:rPr>
              <a:t>) выражают цель, ради которой</a:t>
            </a:r>
            <a:br>
              <a:rPr lang="ru-RU" dirty="0"/>
            </a:br>
            <a:r>
              <a:rPr lang="ru-RU" dirty="0">
                <a:effectLst/>
                <a:latin typeface="Arial" panose="020B0604020202020204" pitchFamily="34" charset="0"/>
              </a:rPr>
              <a:t>разрабатывается продукт (зачем вообще он нужен, какая от него ожидается</a:t>
            </a:r>
            <a:br>
              <a:rPr lang="ru-RU" dirty="0"/>
            </a:br>
            <a:r>
              <a:rPr lang="ru-RU" dirty="0">
                <a:effectLst/>
                <a:latin typeface="Arial" panose="020B0604020202020204" pitchFamily="34" charset="0"/>
              </a:rPr>
              <a:t>польза). </a:t>
            </a:r>
          </a:p>
          <a:p>
            <a:r>
              <a:rPr lang="ru-RU" dirty="0">
                <a:effectLst/>
                <a:latin typeface="Arial" panose="020B0604020202020204" pitchFamily="34" charset="0"/>
              </a:rPr>
              <a:t>Результатом выявления требований на этом уровне является общее виде-</a:t>
            </a:r>
            <a:br>
              <a:rPr lang="ru-RU" dirty="0"/>
            </a:br>
            <a:r>
              <a:rPr lang="ru-RU" dirty="0" err="1">
                <a:effectLst/>
                <a:latin typeface="Arial" panose="020B0604020202020204" pitchFamily="34" charset="0"/>
              </a:rPr>
              <a:t>ние</a:t>
            </a:r>
            <a:r>
              <a:rPr lang="ru-RU" dirty="0">
                <a:effectLst/>
                <a:latin typeface="Arial" panose="020B0604020202020204" pitchFamily="34" charset="0"/>
              </a:rPr>
              <a:t> (</a:t>
            </a:r>
            <a:r>
              <a:rPr lang="ru-RU" dirty="0" err="1">
                <a:effectLst/>
                <a:latin typeface="Arial" panose="020B0604020202020204" pitchFamily="34" charset="0"/>
              </a:rPr>
              <a:t>vision</a:t>
            </a:r>
            <a:r>
              <a:rPr lang="ru-RU" dirty="0">
                <a:effectLst/>
                <a:latin typeface="Arial" panose="020B0604020202020204" pitchFamily="34" charset="0"/>
              </a:rPr>
              <a:t> </a:t>
            </a:r>
            <a:r>
              <a:rPr lang="ru-RU" dirty="0" err="1">
                <a:effectLst/>
                <a:latin typeface="Arial" panose="020B0604020202020204" pitchFamily="34" charset="0"/>
              </a:rPr>
              <a:t>and</a:t>
            </a:r>
            <a:r>
              <a:rPr lang="ru-RU" dirty="0">
                <a:effectLst/>
                <a:latin typeface="Arial" panose="020B0604020202020204" pitchFamily="34" charset="0"/>
              </a:rPr>
              <a:t> </a:t>
            </a:r>
            <a:r>
              <a:rPr lang="ru-RU" dirty="0" err="1">
                <a:effectLst/>
                <a:latin typeface="Arial" panose="020B0604020202020204" pitchFamily="34" charset="0"/>
              </a:rPr>
              <a:t>scope</a:t>
            </a:r>
            <a:r>
              <a:rPr lang="ru-RU" dirty="0">
                <a:effectLst/>
                <a:latin typeface="Arial" panose="020B0604020202020204" pitchFamily="34" charset="0"/>
              </a:rPr>
              <a:t>) — документ, который, как правило, представлен простым текстом и таблицами. Здесь нет детализации поведения системы и иных технических характеристик, но вполне могут быть определены приоритеты решаемых бизнес-задач, риски и т.п.</a:t>
            </a:r>
            <a:br>
              <a:rPr lang="ru-RU" dirty="0"/>
            </a:br>
            <a:endParaRPr lang="ru-RU" dirty="0"/>
          </a:p>
          <a:p>
            <a:r>
              <a:rPr lang="ru-RU" dirty="0">
                <a:effectLst/>
                <a:latin typeface="Arial" panose="020B0604020202020204" pitchFamily="34" charset="0"/>
              </a:rPr>
              <a:t>Несколько простых, изолированных от контекста и друг от друга примеров</a:t>
            </a:r>
            <a:br>
              <a:rPr lang="ru-RU" dirty="0"/>
            </a:br>
            <a:r>
              <a:rPr lang="ru-RU" dirty="0">
                <a:effectLst/>
                <a:latin typeface="Arial" panose="020B0604020202020204" pitchFamily="34" charset="0"/>
              </a:rPr>
              <a:t>бизнес-требований:</a:t>
            </a:r>
            <a:br>
              <a:rPr lang="ru-RU" dirty="0"/>
            </a:br>
            <a:endParaRPr lang="ru-RU" dirty="0"/>
          </a:p>
          <a:p>
            <a:r>
              <a:rPr lang="ru-RU" dirty="0">
                <a:effectLst/>
                <a:latin typeface="Arial" panose="020B0604020202020204" pitchFamily="34" charset="0"/>
              </a:rPr>
              <a:t>Нужен инструмент, в реальном времени отображающий наиболее выгод-</a:t>
            </a:r>
            <a:br>
              <a:rPr lang="ru-RU" dirty="0"/>
            </a:br>
            <a:r>
              <a:rPr lang="ru-RU" dirty="0" err="1">
                <a:effectLst/>
                <a:latin typeface="Arial" panose="020B0604020202020204" pitchFamily="34" charset="0"/>
              </a:rPr>
              <a:t>ный</a:t>
            </a:r>
            <a:r>
              <a:rPr lang="ru-RU" dirty="0">
                <a:effectLst/>
                <a:latin typeface="Arial" panose="020B0604020202020204" pitchFamily="34" charset="0"/>
              </a:rPr>
              <a:t> курс покупки и продажи валюты.</a:t>
            </a:r>
            <a:br>
              <a:rPr lang="ru-RU" dirty="0"/>
            </a:br>
            <a:endParaRPr lang="ru-RU" dirty="0">
              <a:latin typeface="Arial" panose="020B0604020202020204" pitchFamily="34" charset="0"/>
            </a:endParaRPr>
          </a:p>
          <a:p>
            <a:r>
              <a:rPr lang="ru-RU" dirty="0">
                <a:effectLst/>
                <a:latin typeface="Arial" panose="020B0604020202020204" pitchFamily="34" charset="0"/>
              </a:rPr>
              <a:t>Необходимо в два-три раза повысить количество заявок, </a:t>
            </a:r>
            <a:r>
              <a:rPr lang="ru-RU" dirty="0" err="1">
                <a:effectLst/>
                <a:latin typeface="Arial" panose="020B0604020202020204" pitchFamily="34" charset="0"/>
              </a:rPr>
              <a:t>обрабатывае</a:t>
            </a:r>
            <a:r>
              <a:rPr lang="ru-RU" dirty="0">
                <a:effectLst/>
                <a:latin typeface="Arial" panose="020B0604020202020204" pitchFamily="34" charset="0"/>
              </a:rPr>
              <a:t>-</a:t>
            </a:r>
            <a:br>
              <a:rPr lang="ru-RU" dirty="0"/>
            </a:br>
            <a:r>
              <a:rPr lang="ru-RU" dirty="0" err="1">
                <a:effectLst/>
                <a:latin typeface="Arial" panose="020B0604020202020204" pitchFamily="34" charset="0"/>
              </a:rPr>
              <a:t>мых</a:t>
            </a:r>
            <a:r>
              <a:rPr lang="ru-RU" dirty="0">
                <a:effectLst/>
                <a:latin typeface="Arial" panose="020B0604020202020204" pitchFamily="34" charset="0"/>
              </a:rPr>
              <a:t> одним оператором за смену.</a:t>
            </a:r>
            <a:br>
              <a:rPr lang="ru-RU" dirty="0"/>
            </a:br>
            <a:endParaRPr lang="ru-RU" dirty="0">
              <a:latin typeface="Arial" panose="020B0604020202020204" pitchFamily="34" charset="0"/>
            </a:endParaRPr>
          </a:p>
          <a:p>
            <a:r>
              <a:rPr lang="ru-RU" dirty="0">
                <a:effectLst/>
                <a:latin typeface="Arial" panose="020B0604020202020204" pitchFamily="34" charset="0"/>
              </a:rPr>
              <a:t>Нужно автоматизировать процесс выписки товарно-транспортных</a:t>
            </a:r>
            <a:br>
              <a:rPr lang="ru-RU" dirty="0"/>
            </a:br>
            <a:r>
              <a:rPr lang="ru-RU" dirty="0">
                <a:effectLst/>
                <a:latin typeface="Arial" panose="020B0604020202020204" pitchFamily="34" charset="0"/>
              </a:rPr>
              <a:t>накладных на основе договоров</a:t>
            </a:r>
            <a:endParaRPr lang="en-US" dirty="0"/>
          </a:p>
        </p:txBody>
      </p:sp>
    </p:spTree>
    <p:extLst>
      <p:ext uri="{BB962C8B-B14F-4D97-AF65-F5344CB8AC3E}">
        <p14:creationId xmlns:p14="http://schemas.microsoft.com/office/powerpoint/2010/main" val="40514765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Объект 2">
            <a:extLst>
              <a:ext uri="{FF2B5EF4-FFF2-40B4-BE49-F238E27FC236}">
                <a16:creationId xmlns:a16="http://schemas.microsoft.com/office/drawing/2014/main" id="{1CF6C97E-FB99-4089-945F-2A73BD293F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4365" y="665825"/>
            <a:ext cx="11391556" cy="5592931"/>
          </a:xfrm>
        </p:spPr>
      </p:pic>
    </p:spTree>
    <p:extLst>
      <p:ext uri="{BB962C8B-B14F-4D97-AF65-F5344CB8AC3E}">
        <p14:creationId xmlns:p14="http://schemas.microsoft.com/office/powerpoint/2010/main" val="39536985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616258" y="582750"/>
            <a:ext cx="11173287" cy="5871315"/>
          </a:xfrm>
        </p:spPr>
        <p:txBody>
          <a:bodyPr>
            <a:normAutofit fontScale="85000" lnSpcReduction="20000"/>
          </a:bodyPr>
          <a:lstStyle/>
          <a:p>
            <a:r>
              <a:rPr lang="ru-RU" b="1" dirty="0">
                <a:effectLst/>
                <a:latin typeface="Arial" panose="020B0604020202020204" pitchFamily="34" charset="0"/>
              </a:rPr>
              <a:t>Пользовательские требования </a:t>
            </a:r>
            <a:r>
              <a:rPr lang="ru-RU" dirty="0">
                <a:effectLst/>
                <a:latin typeface="Arial" panose="020B0604020202020204" pitchFamily="34" charset="0"/>
              </a:rPr>
              <a:t>(</a:t>
            </a:r>
            <a:r>
              <a:rPr lang="ru-RU" dirty="0" err="1">
                <a:effectLst/>
                <a:latin typeface="Arial" panose="020B0604020202020204" pitchFamily="34" charset="0"/>
              </a:rPr>
              <a:t>user</a:t>
            </a:r>
            <a:r>
              <a:rPr lang="ru-RU" dirty="0">
                <a:effectLst/>
                <a:latin typeface="Arial" panose="020B0604020202020204" pitchFamily="34" charset="0"/>
              </a:rPr>
              <a:t> </a:t>
            </a:r>
            <a:r>
              <a:rPr lang="ru-RU" dirty="0" err="1">
                <a:effectLst/>
                <a:latin typeface="Arial" panose="020B0604020202020204" pitchFamily="34" charset="0"/>
              </a:rPr>
              <a:t>requirements</a:t>
            </a:r>
            <a:r>
              <a:rPr lang="ru-RU" dirty="0">
                <a:effectLst/>
                <a:latin typeface="Arial" panose="020B0604020202020204" pitchFamily="34" charset="0"/>
              </a:rPr>
              <a:t>) описывают задачи, которые пользователь может выполнять с помощью разрабатываемой системы (реакцию системы на действия пользователя, сценарии работы пользователя). Поскольку здесь уже появляется описание поведения системы, требования этого уровня могут быть использованы для оценки объёма работ, стоимости проекта,</a:t>
            </a:r>
            <a:r>
              <a:rPr lang="en-US" dirty="0">
                <a:effectLst/>
                <a:latin typeface="Arial" panose="020B0604020202020204" pitchFamily="34" charset="0"/>
              </a:rPr>
              <a:t> </a:t>
            </a:r>
            <a:r>
              <a:rPr lang="ru-RU" dirty="0">
                <a:effectLst/>
                <a:latin typeface="Arial" panose="020B0604020202020204" pitchFamily="34" charset="0"/>
              </a:rPr>
              <a:t>времени разработки и т.д.</a:t>
            </a:r>
          </a:p>
          <a:p>
            <a:r>
              <a:rPr lang="ru-RU" dirty="0">
                <a:effectLst/>
                <a:latin typeface="Arial" panose="020B0604020202020204" pitchFamily="34" charset="0"/>
              </a:rPr>
              <a:t> Пользовательские требования оформляются в виде вариантов использования (</a:t>
            </a:r>
            <a:r>
              <a:rPr lang="ru-RU" dirty="0" err="1">
                <a:effectLst/>
                <a:latin typeface="Arial" panose="020B0604020202020204" pitchFamily="34" charset="0"/>
              </a:rPr>
              <a:t>use</a:t>
            </a:r>
            <a:r>
              <a:rPr lang="ru-RU" dirty="0">
                <a:effectLst/>
                <a:latin typeface="Arial" panose="020B0604020202020204" pitchFamily="34" charset="0"/>
              </a:rPr>
              <a:t> </a:t>
            </a:r>
            <a:r>
              <a:rPr lang="ru-RU" dirty="0" err="1">
                <a:effectLst/>
                <a:latin typeface="Arial" panose="020B0604020202020204" pitchFamily="34" charset="0"/>
              </a:rPr>
              <a:t>cases</a:t>
            </a:r>
            <a:r>
              <a:rPr lang="ru-RU" dirty="0">
                <a:effectLst/>
                <a:latin typeface="Arial" panose="020B0604020202020204" pitchFamily="34" charset="0"/>
              </a:rPr>
              <a:t>), пользовательских историй (</a:t>
            </a:r>
            <a:r>
              <a:rPr lang="ru-RU" dirty="0" err="1">
                <a:effectLst/>
                <a:latin typeface="Arial" panose="020B0604020202020204" pitchFamily="34" charset="0"/>
              </a:rPr>
              <a:t>user</a:t>
            </a:r>
            <a:r>
              <a:rPr lang="ru-RU" dirty="0">
                <a:effectLst/>
                <a:latin typeface="Arial" panose="020B0604020202020204" pitchFamily="34" charset="0"/>
              </a:rPr>
              <a:t> </a:t>
            </a:r>
            <a:r>
              <a:rPr lang="ru-RU" dirty="0" err="1">
                <a:effectLst/>
                <a:latin typeface="Arial" panose="020B0604020202020204" pitchFamily="34" charset="0"/>
              </a:rPr>
              <a:t>stories</a:t>
            </a:r>
            <a:r>
              <a:rPr lang="ru-RU" dirty="0">
                <a:effectLst/>
                <a:latin typeface="Arial" panose="020B0604020202020204" pitchFamily="34" charset="0"/>
              </a:rPr>
              <a:t>),</a:t>
            </a:r>
            <a:br>
              <a:rPr lang="ru-RU" dirty="0"/>
            </a:br>
            <a:r>
              <a:rPr lang="ru-RU" dirty="0">
                <a:effectLst/>
                <a:latin typeface="Arial" panose="020B0604020202020204" pitchFamily="34" charset="0"/>
              </a:rPr>
              <a:t>пользовательских сценариев (</a:t>
            </a:r>
            <a:r>
              <a:rPr lang="ru-RU" dirty="0" err="1">
                <a:effectLst/>
                <a:latin typeface="Arial" panose="020B0604020202020204" pitchFamily="34" charset="0"/>
              </a:rPr>
              <a:t>user</a:t>
            </a:r>
            <a:r>
              <a:rPr lang="ru-RU" dirty="0">
                <a:effectLst/>
                <a:latin typeface="Arial" panose="020B0604020202020204" pitchFamily="34" charset="0"/>
              </a:rPr>
              <a:t> </a:t>
            </a:r>
            <a:r>
              <a:rPr lang="ru-RU" dirty="0" err="1">
                <a:effectLst/>
                <a:latin typeface="Arial" panose="020B0604020202020204" pitchFamily="34" charset="0"/>
              </a:rPr>
              <a:t>scenarios</a:t>
            </a:r>
            <a:r>
              <a:rPr lang="ru-RU" dirty="0">
                <a:effectLst/>
                <a:latin typeface="Arial" panose="020B0604020202020204" pitchFamily="34" charset="0"/>
              </a:rPr>
              <a:t>). </a:t>
            </a:r>
          </a:p>
          <a:p>
            <a:r>
              <a:rPr lang="ru-RU" dirty="0">
                <a:effectLst/>
                <a:latin typeface="Arial" panose="020B0604020202020204" pitchFamily="34" charset="0"/>
              </a:rPr>
              <a:t>Например:</a:t>
            </a:r>
            <a:br>
              <a:rPr lang="ru-RU" dirty="0"/>
            </a:br>
            <a:endParaRPr lang="ru-RU" dirty="0">
              <a:latin typeface="Arial" panose="020B0604020202020204" pitchFamily="34" charset="0"/>
            </a:endParaRPr>
          </a:p>
          <a:p>
            <a:r>
              <a:rPr lang="ru-RU" dirty="0">
                <a:effectLst/>
                <a:latin typeface="Arial" panose="020B0604020202020204" pitchFamily="34" charset="0"/>
              </a:rPr>
              <a:t>При первом входе пользователя в систему должно отображаться лицензионное соглашение.</a:t>
            </a:r>
            <a:br>
              <a:rPr lang="ru-RU" dirty="0"/>
            </a:br>
            <a:endParaRPr lang="ru-RU" dirty="0">
              <a:latin typeface="Arial" panose="020B0604020202020204" pitchFamily="34" charset="0"/>
            </a:endParaRPr>
          </a:p>
          <a:p>
            <a:r>
              <a:rPr lang="ru-RU" dirty="0">
                <a:effectLst/>
                <a:latin typeface="Arial" panose="020B0604020202020204" pitchFamily="34" charset="0"/>
              </a:rPr>
              <a:t>Администратор должен иметь возможность просматривать список всех</a:t>
            </a:r>
            <a:br>
              <a:rPr lang="ru-RU" dirty="0"/>
            </a:br>
            <a:r>
              <a:rPr lang="ru-RU" dirty="0">
                <a:effectLst/>
                <a:latin typeface="Arial" panose="020B0604020202020204" pitchFamily="34" charset="0"/>
              </a:rPr>
              <a:t>пользователей, работающих в данный момент в системе.</a:t>
            </a:r>
            <a:br>
              <a:rPr lang="ru-RU" dirty="0"/>
            </a:br>
            <a:endParaRPr lang="ru-RU" dirty="0">
              <a:latin typeface="Arial" panose="020B0604020202020204" pitchFamily="34" charset="0"/>
            </a:endParaRPr>
          </a:p>
          <a:p>
            <a:r>
              <a:rPr lang="ru-RU" dirty="0">
                <a:effectLst/>
                <a:latin typeface="Arial" panose="020B0604020202020204" pitchFamily="34" charset="0"/>
              </a:rPr>
              <a:t>При первом сохранении новой статьи система должна выдавать запрос</a:t>
            </a:r>
            <a:br>
              <a:rPr lang="ru-RU" dirty="0"/>
            </a:br>
            <a:r>
              <a:rPr lang="ru-RU" dirty="0">
                <a:effectLst/>
                <a:latin typeface="Arial" panose="020B0604020202020204" pitchFamily="34" charset="0"/>
              </a:rPr>
              <a:t>на сохранение в виде черновика или публикацию.</a:t>
            </a:r>
            <a:endParaRPr lang="en-US" dirty="0"/>
          </a:p>
        </p:txBody>
      </p:sp>
    </p:spTree>
    <p:extLst>
      <p:ext uri="{BB962C8B-B14F-4D97-AF65-F5344CB8AC3E}">
        <p14:creationId xmlns:p14="http://schemas.microsoft.com/office/powerpoint/2010/main" val="10514683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838200" y="778060"/>
            <a:ext cx="10889202" cy="5773660"/>
          </a:xfrm>
        </p:spPr>
        <p:txBody>
          <a:bodyPr>
            <a:normAutofit fontScale="92500" lnSpcReduction="20000"/>
          </a:bodyPr>
          <a:lstStyle/>
          <a:p>
            <a:r>
              <a:rPr lang="ru-RU" b="1" dirty="0">
                <a:solidFill>
                  <a:srgbClr val="FF0000"/>
                </a:solidFill>
                <a:effectLst/>
                <a:latin typeface="Arial" panose="020B0604020202020204" pitchFamily="34" charset="0"/>
              </a:rPr>
              <a:t>Бизнес-правила </a:t>
            </a:r>
            <a:r>
              <a:rPr lang="ru-RU" dirty="0">
                <a:solidFill>
                  <a:srgbClr val="FF0000"/>
                </a:solidFill>
                <a:effectLst/>
                <a:latin typeface="Arial" panose="020B0604020202020204" pitchFamily="34" charset="0"/>
              </a:rPr>
              <a:t>(</a:t>
            </a:r>
            <a:r>
              <a:rPr lang="ru-RU" dirty="0" err="1">
                <a:effectLst/>
                <a:latin typeface="Arial" panose="020B0604020202020204" pitchFamily="34" charset="0"/>
              </a:rPr>
              <a:t>business</a:t>
            </a:r>
            <a:r>
              <a:rPr lang="ru-RU" dirty="0">
                <a:effectLst/>
                <a:latin typeface="Arial" panose="020B0604020202020204" pitchFamily="34" charset="0"/>
              </a:rPr>
              <a:t> </a:t>
            </a:r>
            <a:r>
              <a:rPr lang="ru-RU" dirty="0" err="1">
                <a:effectLst/>
                <a:latin typeface="Arial" panose="020B0604020202020204" pitchFamily="34" charset="0"/>
              </a:rPr>
              <a:t>rules</a:t>
            </a:r>
            <a:r>
              <a:rPr lang="ru-RU" dirty="0">
                <a:effectLst/>
                <a:latin typeface="Arial" panose="020B0604020202020204" pitchFamily="34" charset="0"/>
              </a:rPr>
              <a:t>) описывают особенности принятых в предметной области (и/или непосредственно у заказчика) процессов, ограничений и иных правил. Эти правила могут относиться к бизнес-процессам, правилам работы</a:t>
            </a:r>
            <a:br>
              <a:rPr lang="ru-RU" dirty="0"/>
            </a:br>
            <a:r>
              <a:rPr lang="ru-RU" dirty="0">
                <a:effectLst/>
                <a:latin typeface="Arial" panose="020B0604020202020204" pitchFamily="34" charset="0"/>
              </a:rPr>
              <a:t>сотрудников, нюансам работы ПО и т.д.</a:t>
            </a:r>
            <a:br>
              <a:rPr lang="ru-RU" dirty="0"/>
            </a:br>
            <a:r>
              <a:rPr lang="ru-RU" dirty="0">
                <a:effectLst/>
                <a:latin typeface="Arial" panose="020B0604020202020204" pitchFamily="34" charset="0"/>
              </a:rPr>
              <a:t>Несколько простых, изолированных от контекста и друг от друга примеров</a:t>
            </a:r>
            <a:br>
              <a:rPr lang="ru-RU" dirty="0"/>
            </a:br>
            <a:r>
              <a:rPr lang="ru-RU" dirty="0">
                <a:effectLst/>
                <a:latin typeface="Arial" panose="020B0604020202020204" pitchFamily="34" charset="0"/>
              </a:rPr>
              <a:t>бизнес-правил:</a:t>
            </a:r>
            <a:br>
              <a:rPr lang="ru-RU" dirty="0"/>
            </a:br>
            <a:endParaRPr lang="ru-RU" dirty="0">
              <a:latin typeface="Arial" panose="020B0604020202020204" pitchFamily="34" charset="0"/>
            </a:endParaRPr>
          </a:p>
          <a:p>
            <a:r>
              <a:rPr lang="ru-RU" dirty="0">
                <a:effectLst/>
                <a:latin typeface="Arial" panose="020B0604020202020204" pitchFamily="34" charset="0"/>
              </a:rPr>
              <a:t>Никакой документ, просмотренный посетителями сайта хотя бы один раз, не может быть отредактирован или удалён.</a:t>
            </a:r>
            <a:br>
              <a:rPr lang="ru-RU" dirty="0"/>
            </a:br>
            <a:endParaRPr lang="ru-RU" dirty="0">
              <a:latin typeface="Arial" panose="020B0604020202020204" pitchFamily="34" charset="0"/>
            </a:endParaRPr>
          </a:p>
          <a:p>
            <a:r>
              <a:rPr lang="ru-RU" dirty="0">
                <a:effectLst/>
                <a:latin typeface="Arial" panose="020B0604020202020204" pitchFamily="34" charset="0"/>
              </a:rPr>
              <a:t>Публикация статьи возможна только после утверждения главным редактором.</a:t>
            </a:r>
            <a:br>
              <a:rPr lang="ru-RU" dirty="0"/>
            </a:br>
            <a:endParaRPr lang="ru-RU" dirty="0">
              <a:latin typeface="Arial" panose="020B0604020202020204" pitchFamily="34" charset="0"/>
            </a:endParaRPr>
          </a:p>
          <a:p>
            <a:r>
              <a:rPr lang="ru-RU" dirty="0">
                <a:effectLst/>
                <a:latin typeface="Arial" panose="020B0604020202020204" pitchFamily="34" charset="0"/>
              </a:rPr>
              <a:t>Подключение к системе извне офиса запрещено в нерабочее время.</a:t>
            </a:r>
            <a:endParaRPr lang="en-US" dirty="0"/>
          </a:p>
        </p:txBody>
      </p:sp>
    </p:spTree>
    <p:extLst>
      <p:ext uri="{BB962C8B-B14F-4D97-AF65-F5344CB8AC3E}">
        <p14:creationId xmlns:p14="http://schemas.microsoft.com/office/powerpoint/2010/main" val="13141453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394316" y="431831"/>
            <a:ext cx="11377474" cy="6004480"/>
          </a:xfrm>
        </p:spPr>
        <p:txBody>
          <a:bodyPr>
            <a:normAutofit fontScale="92500" lnSpcReduction="20000"/>
          </a:bodyPr>
          <a:lstStyle/>
          <a:p>
            <a:r>
              <a:rPr lang="ru-RU" b="1" dirty="0">
                <a:effectLst/>
                <a:latin typeface="Arial" panose="020B0604020202020204" pitchFamily="34" charset="0"/>
              </a:rPr>
              <a:t>Атрибуты качества </a:t>
            </a:r>
            <a:r>
              <a:rPr lang="ru-RU" dirty="0">
                <a:effectLst/>
                <a:latin typeface="Arial" panose="020B0604020202020204" pitchFamily="34" charset="0"/>
              </a:rPr>
              <a:t>(</a:t>
            </a:r>
            <a:r>
              <a:rPr lang="ru-RU" dirty="0" err="1">
                <a:effectLst/>
                <a:latin typeface="Arial" panose="020B0604020202020204" pitchFamily="34" charset="0"/>
              </a:rPr>
              <a:t>quality</a:t>
            </a:r>
            <a:r>
              <a:rPr lang="ru-RU" dirty="0">
                <a:effectLst/>
                <a:latin typeface="Arial" panose="020B0604020202020204" pitchFamily="34" charset="0"/>
              </a:rPr>
              <a:t> </a:t>
            </a:r>
            <a:r>
              <a:rPr lang="ru-RU" dirty="0" err="1">
                <a:effectLst/>
                <a:latin typeface="Arial" panose="020B0604020202020204" pitchFamily="34" charset="0"/>
              </a:rPr>
              <a:t>attributes</a:t>
            </a:r>
            <a:r>
              <a:rPr lang="ru-RU" dirty="0">
                <a:effectLst/>
                <a:latin typeface="Arial" panose="020B0604020202020204" pitchFamily="34" charset="0"/>
              </a:rPr>
              <a:t>) расширяют собой нефункциональные требования и на уровне пользовательских требований могут быть представлены в виде описания ключевых для проекта показателей качества (свойств продукта, не связанных с функциональностью, но являющихся важными для достижения целей создания продукта — производительность, масштабируемость, восстанавливаемость). Атрибутов качества очень много, но для любого проекта реально важными является лишь некоторое их подмножество.</a:t>
            </a:r>
            <a:br>
              <a:rPr lang="ru-RU" dirty="0"/>
            </a:br>
            <a:r>
              <a:rPr lang="ru-RU" dirty="0">
                <a:effectLst/>
                <a:latin typeface="Arial" panose="020B0604020202020204" pitchFamily="34" charset="0"/>
              </a:rPr>
              <a:t>Например:</a:t>
            </a:r>
            <a:br>
              <a:rPr lang="ru-RU" dirty="0"/>
            </a:br>
            <a:endParaRPr lang="ru-RU" dirty="0"/>
          </a:p>
          <a:p>
            <a:r>
              <a:rPr lang="ru-RU" dirty="0">
                <a:effectLst/>
                <a:latin typeface="Arial" panose="020B0604020202020204" pitchFamily="34" charset="0"/>
              </a:rPr>
              <a:t>Максимальное время готовности системы к выполнению новой команды после отмены предыдущей не может превышать одну секунду.</a:t>
            </a:r>
          </a:p>
          <a:p>
            <a:r>
              <a:rPr lang="ru-RU" sz="2900" dirty="0">
                <a:latin typeface="Arial" panose="020B0604020202020204" pitchFamily="34" charset="0"/>
              </a:rPr>
              <a:t>Внесённые в текст статьи изменения не должны быть утеряны при нарушении соединения между клиентом и сервером.</a:t>
            </a:r>
          </a:p>
          <a:p>
            <a:r>
              <a:rPr lang="ru-RU" sz="2900" dirty="0">
                <a:latin typeface="Arial" panose="020B0604020202020204" pitchFamily="34" charset="0"/>
              </a:rPr>
              <a:t>Приложение должно поддерживать добавление произвольного количества неиероглифических языков интерфейса</a:t>
            </a:r>
            <a:endParaRPr lang="en-US" sz="2900" dirty="0">
              <a:latin typeface="Arial" panose="020B0604020202020204" pitchFamily="34" charset="0"/>
            </a:endParaRPr>
          </a:p>
        </p:txBody>
      </p:sp>
    </p:spTree>
    <p:extLst>
      <p:ext uri="{BB962C8B-B14F-4D97-AF65-F5344CB8AC3E}">
        <p14:creationId xmlns:p14="http://schemas.microsoft.com/office/powerpoint/2010/main" val="4630225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616259" y="769183"/>
            <a:ext cx="11350840" cy="5755904"/>
          </a:xfrm>
        </p:spPr>
        <p:txBody>
          <a:bodyPr>
            <a:normAutofit fontScale="92500" lnSpcReduction="20000"/>
          </a:bodyPr>
          <a:lstStyle/>
          <a:p>
            <a:r>
              <a:rPr lang="ru-RU" b="1" dirty="0">
                <a:effectLst/>
                <a:latin typeface="Arial" panose="020B0604020202020204" pitchFamily="34" charset="0"/>
              </a:rPr>
              <a:t>Функциональные требов</a:t>
            </a:r>
            <a:r>
              <a:rPr lang="ru-RU" dirty="0">
                <a:effectLst/>
                <a:latin typeface="Arial" panose="020B0604020202020204" pitchFamily="34" charset="0"/>
              </a:rPr>
              <a:t>ания (</a:t>
            </a:r>
            <a:r>
              <a:rPr lang="ru-RU" dirty="0" err="1">
                <a:effectLst/>
                <a:latin typeface="Arial" panose="020B0604020202020204" pitchFamily="34" charset="0"/>
              </a:rPr>
              <a:t>functional</a:t>
            </a:r>
            <a:r>
              <a:rPr lang="ru-RU" dirty="0">
                <a:effectLst/>
                <a:latin typeface="Arial" panose="020B0604020202020204" pitchFamily="34" charset="0"/>
              </a:rPr>
              <a:t> </a:t>
            </a:r>
            <a:r>
              <a:rPr lang="ru-RU" dirty="0" err="1">
                <a:effectLst/>
                <a:latin typeface="Arial" panose="020B0604020202020204" pitchFamily="34" charset="0"/>
              </a:rPr>
              <a:t>requirements</a:t>
            </a:r>
            <a:r>
              <a:rPr lang="ru-RU" dirty="0">
                <a:effectLst/>
                <a:latin typeface="Arial" panose="020B0604020202020204" pitchFamily="34" charset="0"/>
              </a:rPr>
              <a:t>) описывают поведение системы, т.е. её действия (вычисления, преобразования, проверки, обработку</a:t>
            </a:r>
            <a:br>
              <a:rPr lang="ru-RU" dirty="0"/>
            </a:br>
            <a:r>
              <a:rPr lang="ru-RU" dirty="0">
                <a:effectLst/>
                <a:latin typeface="Arial" panose="020B0604020202020204" pitchFamily="34" charset="0"/>
              </a:rPr>
              <a:t>и т.д.) В контексте проектирования функциональные требования в основном влияют на дизайн системы.</a:t>
            </a:r>
          </a:p>
          <a:p>
            <a:pPr marL="0" indent="0">
              <a:buNone/>
            </a:pPr>
            <a:r>
              <a:rPr lang="ru-RU" dirty="0">
                <a:effectLst/>
                <a:latin typeface="Arial" panose="020B0604020202020204" pitchFamily="34" charset="0"/>
              </a:rPr>
              <a:t>Несколько простых, изолированных от контекста и друг от друга примеров</a:t>
            </a:r>
            <a:br>
              <a:rPr lang="ru-RU" dirty="0"/>
            </a:br>
            <a:r>
              <a:rPr lang="ru-RU" dirty="0">
                <a:effectLst/>
                <a:latin typeface="Arial" panose="020B0604020202020204" pitchFamily="34" charset="0"/>
              </a:rPr>
              <a:t>функциональных требований:</a:t>
            </a:r>
            <a:br>
              <a:rPr lang="ru-RU" dirty="0"/>
            </a:br>
            <a:endParaRPr lang="ru-RU" dirty="0">
              <a:latin typeface="Arial" panose="020B0604020202020204" pitchFamily="34" charset="0"/>
            </a:endParaRPr>
          </a:p>
          <a:p>
            <a:r>
              <a:rPr lang="ru-RU" dirty="0">
                <a:effectLst/>
                <a:latin typeface="Arial" panose="020B0604020202020204" pitchFamily="34" charset="0"/>
              </a:rPr>
              <a:t>В процессе инсталляции приложение должно проверять остаток свободного места на целевом носителе.</a:t>
            </a:r>
            <a:br>
              <a:rPr lang="ru-RU" dirty="0"/>
            </a:br>
            <a:endParaRPr lang="ru-RU" dirty="0">
              <a:latin typeface="Arial" panose="020B0604020202020204" pitchFamily="34" charset="0"/>
            </a:endParaRPr>
          </a:p>
          <a:p>
            <a:r>
              <a:rPr lang="ru-RU" dirty="0">
                <a:effectLst/>
                <a:latin typeface="Arial" panose="020B0604020202020204" pitchFamily="34" charset="0"/>
              </a:rPr>
              <a:t>Система должна автоматически выполнять резервное копирование данных ежедневно в указанный момент времени.</a:t>
            </a:r>
            <a:br>
              <a:rPr lang="ru-RU" dirty="0"/>
            </a:br>
            <a:endParaRPr lang="ru-RU" dirty="0">
              <a:latin typeface="Arial" panose="020B0604020202020204" pitchFamily="34" charset="0"/>
            </a:endParaRPr>
          </a:p>
          <a:p>
            <a:r>
              <a:rPr lang="ru-RU" dirty="0">
                <a:effectLst/>
                <a:latin typeface="Arial" panose="020B0604020202020204" pitchFamily="34" charset="0"/>
              </a:rPr>
              <a:t>Электронный адрес пользователя, вводимый при регистрации, должен</a:t>
            </a:r>
            <a:br>
              <a:rPr lang="ru-RU" dirty="0"/>
            </a:br>
            <a:r>
              <a:rPr lang="ru-RU" dirty="0">
                <a:effectLst/>
                <a:latin typeface="Arial" panose="020B0604020202020204" pitchFamily="34" charset="0"/>
              </a:rPr>
              <a:t>быть проверен на соответствие требованиям RFC822.</a:t>
            </a:r>
            <a:endParaRPr lang="en-US" dirty="0"/>
          </a:p>
        </p:txBody>
      </p:sp>
    </p:spTree>
    <p:extLst>
      <p:ext uri="{BB962C8B-B14F-4D97-AF65-F5344CB8AC3E}">
        <p14:creationId xmlns:p14="http://schemas.microsoft.com/office/powerpoint/2010/main" val="20588979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491970" y="316420"/>
            <a:ext cx="11386351" cy="6297443"/>
          </a:xfrm>
        </p:spPr>
        <p:txBody>
          <a:bodyPr>
            <a:normAutofit fontScale="77500" lnSpcReduction="20000"/>
          </a:bodyPr>
          <a:lstStyle/>
          <a:p>
            <a:r>
              <a:rPr lang="ru-RU" b="1" dirty="0">
                <a:effectLst/>
                <a:latin typeface="Arial" panose="020B0604020202020204" pitchFamily="34" charset="0"/>
              </a:rPr>
              <a:t>Нефункциональные требования </a:t>
            </a:r>
            <a:r>
              <a:rPr lang="ru-RU" dirty="0">
                <a:effectLst/>
                <a:latin typeface="Arial" panose="020B0604020202020204" pitchFamily="34" charset="0"/>
              </a:rPr>
              <a:t>(</a:t>
            </a:r>
            <a:r>
              <a:rPr lang="ru-RU" dirty="0" err="1">
                <a:effectLst/>
                <a:latin typeface="Arial" panose="020B0604020202020204" pitchFamily="34" charset="0"/>
              </a:rPr>
              <a:t>non-functional</a:t>
            </a:r>
            <a:r>
              <a:rPr lang="ru-RU" dirty="0">
                <a:effectLst/>
                <a:latin typeface="Arial" panose="020B0604020202020204" pitchFamily="34" charset="0"/>
              </a:rPr>
              <a:t> </a:t>
            </a:r>
            <a:r>
              <a:rPr lang="ru-RU" dirty="0" err="1">
                <a:effectLst/>
                <a:latin typeface="Arial" panose="020B0604020202020204" pitchFamily="34" charset="0"/>
              </a:rPr>
              <a:t>requirements</a:t>
            </a:r>
            <a:r>
              <a:rPr lang="ru-RU" dirty="0">
                <a:effectLst/>
                <a:latin typeface="Arial" panose="020B0604020202020204" pitchFamily="34" charset="0"/>
              </a:rPr>
              <a:t>) описывают</a:t>
            </a:r>
            <a:br>
              <a:rPr lang="ru-RU" dirty="0"/>
            </a:br>
            <a:r>
              <a:rPr lang="ru-RU" dirty="0">
                <a:effectLst/>
                <a:latin typeface="Arial" panose="020B0604020202020204" pitchFamily="34" charset="0"/>
              </a:rPr>
              <a:t>свойства системы (удобство использования, безопасность, надёжность, расширяемость и т.д.), которыми она должна обладать при реализации своего поведения.</a:t>
            </a:r>
            <a:br>
              <a:rPr lang="ru-RU" dirty="0"/>
            </a:br>
            <a:r>
              <a:rPr lang="ru-RU" dirty="0">
                <a:effectLst/>
                <a:latin typeface="Arial" panose="020B0604020202020204" pitchFamily="34" charset="0"/>
              </a:rPr>
              <a:t>Здесь приводится более техническое и детальное описание атрибутов качества. В</a:t>
            </a:r>
            <a:br>
              <a:rPr lang="ru-RU" dirty="0"/>
            </a:br>
            <a:r>
              <a:rPr lang="ru-RU" dirty="0">
                <a:effectLst/>
                <a:latin typeface="Arial" panose="020B0604020202020204" pitchFamily="34" charset="0"/>
              </a:rPr>
              <a:t>контексте проектирования нефункциональные требования в основном влияют на</a:t>
            </a:r>
            <a:br>
              <a:rPr lang="ru-RU" dirty="0"/>
            </a:br>
            <a:r>
              <a:rPr lang="ru-RU" dirty="0">
                <a:effectLst/>
                <a:latin typeface="Arial" panose="020B0604020202020204" pitchFamily="34" charset="0"/>
              </a:rPr>
              <a:t>архитектуру системы.</a:t>
            </a:r>
            <a:br>
              <a:rPr lang="ru-RU" dirty="0"/>
            </a:br>
            <a:endParaRPr lang="ru-RU" dirty="0"/>
          </a:p>
          <a:p>
            <a:r>
              <a:rPr lang="ru-RU" dirty="0">
                <a:effectLst/>
                <a:latin typeface="Arial" panose="020B0604020202020204" pitchFamily="34" charset="0"/>
              </a:rPr>
              <a:t>Например</a:t>
            </a:r>
            <a:endParaRPr lang="ru-RU" dirty="0">
              <a:latin typeface="Arial" panose="020B0604020202020204" pitchFamily="34" charset="0"/>
            </a:endParaRPr>
          </a:p>
          <a:p>
            <a:r>
              <a:rPr lang="ru-RU" dirty="0">
                <a:effectLst/>
                <a:latin typeface="Arial" panose="020B0604020202020204" pitchFamily="34" charset="0"/>
              </a:rPr>
              <a:t>При одновременной непрерывной работе с системой 1000 пользователей,</a:t>
            </a:r>
            <a:br>
              <a:rPr lang="ru-RU" dirty="0"/>
            </a:br>
            <a:r>
              <a:rPr lang="ru-RU" dirty="0">
                <a:effectLst/>
                <a:latin typeface="Arial" panose="020B0604020202020204" pitchFamily="34" charset="0"/>
              </a:rPr>
              <a:t>минимальное время между возникновением сбоев должно быть более или</a:t>
            </a:r>
            <a:br>
              <a:rPr lang="ru-RU" dirty="0"/>
            </a:br>
            <a:r>
              <a:rPr lang="ru-RU" dirty="0">
                <a:effectLst/>
                <a:latin typeface="Arial" panose="020B0604020202020204" pitchFamily="34" charset="0"/>
              </a:rPr>
              <a:t>равно 100 часов.</a:t>
            </a:r>
            <a:br>
              <a:rPr lang="ru-RU" dirty="0"/>
            </a:br>
            <a:endParaRPr lang="ru-RU" dirty="0">
              <a:latin typeface="Arial" panose="020B0604020202020204" pitchFamily="34" charset="0"/>
            </a:endParaRPr>
          </a:p>
          <a:p>
            <a:r>
              <a:rPr lang="ru-RU" dirty="0">
                <a:effectLst/>
                <a:latin typeface="Arial" panose="020B0604020202020204" pitchFamily="34" charset="0"/>
              </a:rPr>
              <a:t>Ни при каких условиях общий объём используемой приложением памяти не</a:t>
            </a:r>
            <a:br>
              <a:rPr lang="ru-RU" dirty="0"/>
            </a:br>
            <a:r>
              <a:rPr lang="ru-RU" dirty="0">
                <a:effectLst/>
                <a:latin typeface="Arial" panose="020B0604020202020204" pitchFamily="34" charset="0"/>
              </a:rPr>
              <a:t>может превышать 2 ГБ.</a:t>
            </a:r>
            <a:br>
              <a:rPr lang="ru-RU" dirty="0"/>
            </a:br>
            <a:endParaRPr lang="ru-RU" dirty="0">
              <a:latin typeface="Arial" panose="020B0604020202020204" pitchFamily="34" charset="0"/>
            </a:endParaRPr>
          </a:p>
          <a:p>
            <a:r>
              <a:rPr lang="ru-RU" dirty="0">
                <a:effectLst/>
                <a:latin typeface="Arial" panose="020B0604020202020204" pitchFamily="34" charset="0"/>
              </a:rPr>
              <a:t>Размер шрифта для любой надписи на экране должен поддерживать</a:t>
            </a:r>
            <a:br>
              <a:rPr lang="ru-RU" dirty="0"/>
            </a:br>
            <a:r>
              <a:rPr lang="ru-RU" dirty="0">
                <a:effectLst/>
                <a:latin typeface="Arial" panose="020B0604020202020204" pitchFamily="34" charset="0"/>
              </a:rPr>
              <a:t>настройку в диапазоне от 5 до 15 пунктов.</a:t>
            </a:r>
            <a:br>
              <a:rPr lang="ru-RU" dirty="0"/>
            </a:br>
            <a:endParaRPr lang="ru-RU" dirty="0"/>
          </a:p>
          <a:p>
            <a:pPr marL="0" indent="0">
              <a:buNone/>
            </a:pPr>
            <a:r>
              <a:rPr lang="ru-RU" dirty="0">
                <a:effectLst/>
                <a:latin typeface="Arial" panose="020B0604020202020204" pitchFamily="34" charset="0"/>
              </a:rPr>
              <a:t>Следующие требования в общем случае могут быть отнесены к нефункциональным, однако их часто выделяют в отдельные подгруппы(рассмотрим 3 но их может быть намного больше)</a:t>
            </a:r>
            <a:endParaRPr lang="en-US" dirty="0"/>
          </a:p>
        </p:txBody>
      </p:sp>
    </p:spTree>
    <p:extLst>
      <p:ext uri="{BB962C8B-B14F-4D97-AF65-F5344CB8AC3E}">
        <p14:creationId xmlns:p14="http://schemas.microsoft.com/office/powerpoint/2010/main" val="12844075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598503" y="733671"/>
            <a:ext cx="10515600" cy="4351338"/>
          </a:xfrm>
        </p:spPr>
        <p:txBody>
          <a:bodyPr>
            <a:normAutofit fontScale="77500" lnSpcReduction="20000"/>
          </a:bodyPr>
          <a:lstStyle/>
          <a:p>
            <a:r>
              <a:rPr lang="ru-RU" b="1" dirty="0">
                <a:effectLst/>
                <a:latin typeface="Arial" panose="020B0604020202020204" pitchFamily="34" charset="0"/>
              </a:rPr>
              <a:t>Ограничения </a:t>
            </a:r>
            <a:r>
              <a:rPr lang="ru-RU" dirty="0">
                <a:effectLst/>
                <a:latin typeface="Arial" panose="020B0604020202020204" pitchFamily="34" charset="0"/>
              </a:rPr>
              <a:t>(</a:t>
            </a:r>
            <a:r>
              <a:rPr lang="ru-RU" dirty="0" err="1">
                <a:effectLst/>
                <a:latin typeface="Arial" panose="020B0604020202020204" pitchFamily="34" charset="0"/>
              </a:rPr>
              <a:t>limitations</a:t>
            </a:r>
            <a:r>
              <a:rPr lang="ru-RU" dirty="0">
                <a:effectLst/>
                <a:latin typeface="Arial" panose="020B0604020202020204" pitchFamily="34" charset="0"/>
              </a:rPr>
              <a:t>, </a:t>
            </a:r>
            <a:r>
              <a:rPr lang="ru-RU" dirty="0" err="1">
                <a:effectLst/>
                <a:latin typeface="Arial" panose="020B0604020202020204" pitchFamily="34" charset="0"/>
              </a:rPr>
              <a:t>constraints</a:t>
            </a:r>
            <a:r>
              <a:rPr lang="ru-RU" dirty="0">
                <a:effectLst/>
                <a:latin typeface="Arial" panose="020B0604020202020204" pitchFamily="34" charset="0"/>
              </a:rPr>
              <a:t>) представляют собой факторы, ограни-</a:t>
            </a:r>
            <a:br>
              <a:rPr lang="ru-RU" dirty="0"/>
            </a:br>
            <a:r>
              <a:rPr lang="ru-RU" dirty="0" err="1">
                <a:effectLst/>
                <a:latin typeface="Arial" panose="020B0604020202020204" pitchFamily="34" charset="0"/>
              </a:rPr>
              <a:t>чивающие</a:t>
            </a:r>
            <a:r>
              <a:rPr lang="ru-RU" dirty="0">
                <a:effectLst/>
                <a:latin typeface="Arial" panose="020B0604020202020204" pitchFamily="34" charset="0"/>
              </a:rPr>
              <a:t> выбор способов и средств (в том числе инструментов) реализации продукта.</a:t>
            </a:r>
          </a:p>
          <a:p>
            <a:r>
              <a:rPr lang="ru-RU" dirty="0">
                <a:effectLst/>
                <a:latin typeface="Arial" panose="020B0604020202020204" pitchFamily="34" charset="0"/>
              </a:rPr>
              <a:t>например</a:t>
            </a:r>
            <a:endParaRPr lang="ru-RU" dirty="0">
              <a:latin typeface="Arial" panose="020B0604020202020204" pitchFamily="34" charset="0"/>
            </a:endParaRPr>
          </a:p>
          <a:p>
            <a:r>
              <a:rPr lang="ru-RU" dirty="0">
                <a:effectLst/>
                <a:latin typeface="Arial" panose="020B0604020202020204" pitchFamily="34" charset="0"/>
              </a:rPr>
              <a:t>Все элементы интерфейса должны отображаться без прокрутки при раз-</a:t>
            </a:r>
            <a:br>
              <a:rPr lang="ru-RU" dirty="0"/>
            </a:br>
            <a:r>
              <a:rPr lang="ru-RU" dirty="0">
                <a:effectLst/>
                <a:latin typeface="Arial" panose="020B0604020202020204" pitchFamily="34" charset="0"/>
              </a:rPr>
              <a:t>решениях экрана от 800x600 до 1920x1080.</a:t>
            </a:r>
            <a:br>
              <a:rPr lang="ru-RU" dirty="0"/>
            </a:br>
            <a:endParaRPr lang="ru-RU" dirty="0">
              <a:latin typeface="Arial" panose="020B0604020202020204" pitchFamily="34" charset="0"/>
            </a:endParaRPr>
          </a:p>
          <a:p>
            <a:r>
              <a:rPr lang="ru-RU" dirty="0">
                <a:effectLst/>
                <a:latin typeface="Arial" panose="020B0604020202020204" pitchFamily="34" charset="0"/>
              </a:rPr>
              <a:t>Не допускается использование </a:t>
            </a:r>
            <a:r>
              <a:rPr lang="ru-RU" dirty="0" err="1">
                <a:effectLst/>
                <a:latin typeface="Arial" panose="020B0604020202020204" pitchFamily="34" charset="0"/>
              </a:rPr>
              <a:t>Flash</a:t>
            </a:r>
            <a:r>
              <a:rPr lang="ru-RU" dirty="0">
                <a:effectLst/>
                <a:latin typeface="Arial" panose="020B0604020202020204" pitchFamily="34" charset="0"/>
              </a:rPr>
              <a:t> при реализации клиентской части</a:t>
            </a:r>
            <a:br>
              <a:rPr lang="ru-RU" dirty="0"/>
            </a:br>
            <a:r>
              <a:rPr lang="ru-RU" dirty="0">
                <a:effectLst/>
                <a:latin typeface="Arial" panose="020B0604020202020204" pitchFamily="34" charset="0"/>
              </a:rPr>
              <a:t>приложения.</a:t>
            </a:r>
            <a:br>
              <a:rPr lang="ru-RU" dirty="0"/>
            </a:br>
            <a:endParaRPr lang="ru-RU" dirty="0">
              <a:latin typeface="Arial" panose="020B0604020202020204" pitchFamily="34" charset="0"/>
            </a:endParaRPr>
          </a:p>
          <a:p>
            <a:r>
              <a:rPr lang="ru-RU" dirty="0">
                <a:effectLst/>
                <a:latin typeface="Arial" panose="020B0604020202020204" pitchFamily="34" charset="0"/>
              </a:rPr>
              <a:t>Приложение должно сохранять способность реализовывать функции с</a:t>
            </a:r>
            <a:br>
              <a:rPr lang="ru-RU" dirty="0"/>
            </a:br>
            <a:r>
              <a:rPr lang="ru-RU" dirty="0">
                <a:effectLst/>
                <a:latin typeface="Arial" panose="020B0604020202020204" pitchFamily="34" charset="0"/>
              </a:rPr>
              <a:t>уровнем важности «критический» при отсутствии у клиента поддержки</a:t>
            </a:r>
            <a:br>
              <a:rPr lang="ru-RU" dirty="0"/>
            </a:br>
            <a:r>
              <a:rPr lang="ru-RU" dirty="0" err="1">
                <a:effectLst/>
                <a:latin typeface="Arial" panose="020B0604020202020204" pitchFamily="34" charset="0"/>
              </a:rPr>
              <a:t>JavaScript</a:t>
            </a:r>
            <a:r>
              <a:rPr lang="ru-RU" dirty="0">
                <a:effectLst/>
                <a:latin typeface="Arial" panose="020B0604020202020204" pitchFamily="34" charset="0"/>
              </a:rPr>
              <a:t>.</a:t>
            </a:r>
            <a:endParaRPr lang="en-US" dirty="0"/>
          </a:p>
        </p:txBody>
      </p:sp>
    </p:spTree>
    <p:extLst>
      <p:ext uri="{BB962C8B-B14F-4D97-AF65-F5344CB8AC3E}">
        <p14:creationId xmlns:p14="http://schemas.microsoft.com/office/powerpoint/2010/main" val="15779494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426128" y="648070"/>
            <a:ext cx="10927672" cy="5528893"/>
          </a:xfrm>
        </p:spPr>
        <p:txBody>
          <a:bodyPr>
            <a:normAutofit lnSpcReduction="10000"/>
          </a:bodyPr>
          <a:lstStyle/>
          <a:p>
            <a:r>
              <a:rPr lang="ru-RU" b="1" dirty="0">
                <a:effectLst/>
                <a:latin typeface="Arial" panose="020B0604020202020204" pitchFamily="34" charset="0"/>
              </a:rPr>
              <a:t>Требования к интерфейсам </a:t>
            </a:r>
            <a:r>
              <a:rPr lang="ru-RU" dirty="0">
                <a:effectLst/>
                <a:latin typeface="Arial" panose="020B0604020202020204" pitchFamily="34" charset="0"/>
              </a:rPr>
              <a:t>(</a:t>
            </a:r>
            <a:r>
              <a:rPr lang="ru-RU" dirty="0" err="1">
                <a:effectLst/>
                <a:latin typeface="Arial" panose="020B0604020202020204" pitchFamily="34" charset="0"/>
              </a:rPr>
              <a:t>external</a:t>
            </a:r>
            <a:r>
              <a:rPr lang="ru-RU" dirty="0">
                <a:effectLst/>
                <a:latin typeface="Arial" panose="020B0604020202020204" pitchFamily="34" charset="0"/>
              </a:rPr>
              <a:t> </a:t>
            </a:r>
            <a:r>
              <a:rPr lang="ru-RU" dirty="0" err="1">
                <a:effectLst/>
                <a:latin typeface="Arial" panose="020B0604020202020204" pitchFamily="34" charset="0"/>
              </a:rPr>
              <a:t>interfaces</a:t>
            </a:r>
            <a:r>
              <a:rPr lang="ru-RU" dirty="0">
                <a:effectLst/>
                <a:latin typeface="Arial" panose="020B0604020202020204" pitchFamily="34" charset="0"/>
              </a:rPr>
              <a:t> </a:t>
            </a:r>
            <a:r>
              <a:rPr lang="ru-RU" dirty="0" err="1">
                <a:effectLst/>
                <a:latin typeface="Arial" panose="020B0604020202020204" pitchFamily="34" charset="0"/>
              </a:rPr>
              <a:t>requirements</a:t>
            </a:r>
            <a:r>
              <a:rPr lang="ru-RU" dirty="0">
                <a:effectLst/>
                <a:latin typeface="Arial" panose="020B0604020202020204" pitchFamily="34" charset="0"/>
              </a:rPr>
              <a:t>) описывают</a:t>
            </a:r>
            <a:br>
              <a:rPr lang="ru-RU" dirty="0"/>
            </a:br>
            <a:r>
              <a:rPr lang="ru-RU" dirty="0">
                <a:effectLst/>
                <a:latin typeface="Arial" panose="020B0604020202020204" pitchFamily="34" charset="0"/>
              </a:rPr>
              <a:t>особенности взаимодействия разрабатываемой системы с другими системами и операционной средой.</a:t>
            </a:r>
            <a:br>
              <a:rPr lang="ru-RU" dirty="0"/>
            </a:br>
            <a:r>
              <a:rPr lang="ru-RU" dirty="0">
                <a:effectLst/>
                <a:latin typeface="Arial" panose="020B0604020202020204" pitchFamily="34" charset="0"/>
              </a:rPr>
              <a:t>Например</a:t>
            </a:r>
          </a:p>
          <a:p>
            <a:r>
              <a:rPr lang="ru-RU" dirty="0">
                <a:effectLst/>
                <a:latin typeface="Arial" panose="020B0604020202020204" pitchFamily="34" charset="0"/>
              </a:rPr>
              <a:t> Обмен данными между клиентской и серверной частями приложения при осуществлении фоновых AJAX-запросов должен быть реализован в формате JSON.</a:t>
            </a:r>
            <a:br>
              <a:rPr lang="ru-RU" dirty="0"/>
            </a:br>
            <a:endParaRPr lang="ru-RU" dirty="0">
              <a:latin typeface="Arial" panose="020B0604020202020204" pitchFamily="34" charset="0"/>
            </a:endParaRPr>
          </a:p>
          <a:p>
            <a:r>
              <a:rPr lang="ru-RU" dirty="0">
                <a:effectLst/>
                <a:latin typeface="Arial" panose="020B0604020202020204" pitchFamily="34" charset="0"/>
              </a:rPr>
              <a:t>Протоколирование событий должно вестись в журнале событий операционной системы.</a:t>
            </a:r>
            <a:br>
              <a:rPr lang="ru-RU" dirty="0"/>
            </a:br>
            <a:endParaRPr lang="ru-RU" dirty="0">
              <a:latin typeface="Arial" panose="020B0604020202020204" pitchFamily="34" charset="0"/>
            </a:endParaRPr>
          </a:p>
          <a:p>
            <a:r>
              <a:rPr lang="ru-RU" dirty="0">
                <a:effectLst/>
                <a:latin typeface="Arial" panose="020B0604020202020204" pitchFamily="34" charset="0"/>
              </a:rPr>
              <a:t>Соединение с почтовым сервером должно выполняться согласно RFC3207(«SMTP </a:t>
            </a:r>
            <a:r>
              <a:rPr lang="ru-RU" dirty="0" err="1">
                <a:effectLst/>
                <a:latin typeface="Arial" panose="020B0604020202020204" pitchFamily="34" charset="0"/>
              </a:rPr>
              <a:t>over</a:t>
            </a:r>
            <a:r>
              <a:rPr lang="ru-RU" dirty="0">
                <a:effectLst/>
                <a:latin typeface="Arial" panose="020B0604020202020204" pitchFamily="34" charset="0"/>
              </a:rPr>
              <a:t> TLS»)</a:t>
            </a:r>
            <a:endParaRPr lang="en-US" dirty="0"/>
          </a:p>
        </p:txBody>
      </p:sp>
    </p:spTree>
    <p:extLst>
      <p:ext uri="{BB962C8B-B14F-4D97-AF65-F5344CB8AC3E}">
        <p14:creationId xmlns:p14="http://schemas.microsoft.com/office/powerpoint/2010/main" val="129787972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A981BFCE-5B03-43F1-9440-5A530D9F41BB}"/>
              </a:ext>
            </a:extLst>
          </p:cNvPr>
          <p:cNvSpPr>
            <a:spLocks noGrp="1"/>
          </p:cNvSpPr>
          <p:nvPr>
            <p:ph idx="1"/>
          </p:nvPr>
        </p:nvSpPr>
        <p:spPr>
          <a:xfrm>
            <a:off x="550416" y="772356"/>
            <a:ext cx="11061576" cy="5690587"/>
          </a:xfrm>
        </p:spPr>
        <p:txBody>
          <a:bodyPr>
            <a:normAutofit fontScale="85000" lnSpcReduction="20000"/>
          </a:bodyPr>
          <a:lstStyle/>
          <a:p>
            <a:r>
              <a:rPr lang="ru-RU" b="1" dirty="0">
                <a:effectLst/>
                <a:latin typeface="Arial" panose="020B0604020202020204" pitchFamily="34" charset="0"/>
              </a:rPr>
              <a:t>Требования к данным </a:t>
            </a:r>
            <a:r>
              <a:rPr lang="ru-RU" dirty="0">
                <a:effectLst/>
                <a:latin typeface="Arial" panose="020B0604020202020204" pitchFamily="34" charset="0"/>
              </a:rPr>
              <a:t>(</a:t>
            </a:r>
            <a:r>
              <a:rPr lang="ru-RU" dirty="0" err="1">
                <a:effectLst/>
                <a:latin typeface="Arial" panose="020B0604020202020204" pitchFamily="34" charset="0"/>
              </a:rPr>
              <a:t>data</a:t>
            </a:r>
            <a:r>
              <a:rPr lang="ru-RU" dirty="0">
                <a:effectLst/>
                <a:latin typeface="Arial" panose="020B0604020202020204" pitchFamily="34" charset="0"/>
              </a:rPr>
              <a:t> </a:t>
            </a:r>
            <a:r>
              <a:rPr lang="ru-RU" dirty="0" err="1">
                <a:effectLst/>
                <a:latin typeface="Arial" panose="020B0604020202020204" pitchFamily="34" charset="0"/>
              </a:rPr>
              <a:t>requirements</a:t>
            </a:r>
            <a:r>
              <a:rPr lang="ru-RU" dirty="0">
                <a:effectLst/>
                <a:latin typeface="Arial" panose="020B0604020202020204" pitchFamily="34" charset="0"/>
              </a:rPr>
              <a:t>) описывают структуры данных (и</a:t>
            </a:r>
            <a:br>
              <a:rPr lang="ru-RU" dirty="0"/>
            </a:br>
            <a:r>
              <a:rPr lang="ru-RU" dirty="0">
                <a:effectLst/>
                <a:latin typeface="Arial" panose="020B0604020202020204" pitchFamily="34" charset="0"/>
              </a:rPr>
              <a:t>сами данные), являющиеся неотъемлемой частью разрабатываемой системы. Часто сюда относят описание базы данных и особенностей её использования.</a:t>
            </a:r>
            <a:br>
              <a:rPr lang="ru-RU" dirty="0"/>
            </a:br>
            <a:endParaRPr lang="ru-RU" dirty="0"/>
          </a:p>
          <a:p>
            <a:pPr marL="0" indent="0">
              <a:buNone/>
            </a:pPr>
            <a:r>
              <a:rPr lang="ru-RU" dirty="0">
                <a:effectLst/>
                <a:latin typeface="Arial" panose="020B0604020202020204" pitchFamily="34" charset="0"/>
              </a:rPr>
              <a:t>Например</a:t>
            </a:r>
          </a:p>
          <a:p>
            <a:r>
              <a:rPr lang="ru-RU" dirty="0">
                <a:effectLst/>
                <a:latin typeface="Arial" panose="020B0604020202020204" pitchFamily="34" charset="0"/>
              </a:rPr>
              <a:t> Все данные системы, за исключением пользовательских документов,</a:t>
            </a:r>
            <a:br>
              <a:rPr lang="ru-RU" dirty="0"/>
            </a:br>
            <a:r>
              <a:rPr lang="ru-RU" dirty="0">
                <a:effectLst/>
                <a:latin typeface="Arial" panose="020B0604020202020204" pitchFamily="34" charset="0"/>
              </a:rPr>
              <a:t>должны храниться в БД под управлением СУБД </a:t>
            </a:r>
            <a:r>
              <a:rPr lang="ru-RU" dirty="0" err="1">
                <a:effectLst/>
                <a:latin typeface="Arial" panose="020B0604020202020204" pitchFamily="34" charset="0"/>
              </a:rPr>
              <a:t>MySQL</a:t>
            </a:r>
            <a:r>
              <a:rPr lang="ru-RU" dirty="0">
                <a:effectLst/>
                <a:latin typeface="Arial" panose="020B0604020202020204" pitchFamily="34" charset="0"/>
              </a:rPr>
              <a:t>, пользовательские</a:t>
            </a:r>
            <a:br>
              <a:rPr lang="ru-RU" dirty="0"/>
            </a:br>
            <a:r>
              <a:rPr lang="ru-RU" dirty="0">
                <a:effectLst/>
                <a:latin typeface="Arial" panose="020B0604020202020204" pitchFamily="34" charset="0"/>
              </a:rPr>
              <a:t>документы должны храниться в БД под управлением СУБД </a:t>
            </a:r>
            <a:r>
              <a:rPr lang="ru-RU" dirty="0" err="1">
                <a:effectLst/>
                <a:latin typeface="Arial" panose="020B0604020202020204" pitchFamily="34" charset="0"/>
              </a:rPr>
              <a:t>MongoDB</a:t>
            </a:r>
            <a:r>
              <a:rPr lang="ru-RU" dirty="0">
                <a:effectLst/>
                <a:latin typeface="Arial" panose="020B0604020202020204" pitchFamily="34" charset="0"/>
              </a:rPr>
              <a:t>.</a:t>
            </a:r>
            <a:br>
              <a:rPr lang="ru-RU" dirty="0"/>
            </a:br>
            <a:endParaRPr lang="ru-RU" dirty="0">
              <a:latin typeface="Arial" panose="020B0604020202020204" pitchFamily="34" charset="0"/>
            </a:endParaRPr>
          </a:p>
          <a:p>
            <a:r>
              <a:rPr lang="ru-RU" dirty="0">
                <a:effectLst/>
                <a:latin typeface="Arial" panose="020B0604020202020204" pitchFamily="34" charset="0"/>
              </a:rPr>
              <a:t>Информация о кассовых транзакциях за текущий месяц должна храниться</a:t>
            </a:r>
            <a:br>
              <a:rPr lang="ru-RU" dirty="0"/>
            </a:br>
            <a:r>
              <a:rPr lang="ru-RU" dirty="0">
                <a:effectLst/>
                <a:latin typeface="Arial" panose="020B0604020202020204" pitchFamily="34" charset="0"/>
              </a:rPr>
              <a:t>в операционной таблице, а по завершении месяца переноситься в архивную.</a:t>
            </a:r>
            <a:br>
              <a:rPr lang="ru-RU" dirty="0"/>
            </a:br>
            <a:endParaRPr lang="ru-RU" dirty="0">
              <a:latin typeface="Arial" panose="020B0604020202020204" pitchFamily="34" charset="0"/>
            </a:endParaRPr>
          </a:p>
          <a:p>
            <a:r>
              <a:rPr lang="ru-RU" dirty="0">
                <a:effectLst/>
                <a:latin typeface="Arial" panose="020B0604020202020204" pitchFamily="34" charset="0"/>
              </a:rPr>
              <a:t>Для ускорения операций поиска по тексту статей и обзоров должны быть</a:t>
            </a:r>
            <a:br>
              <a:rPr lang="ru-RU" dirty="0"/>
            </a:br>
            <a:r>
              <a:rPr lang="ru-RU" dirty="0">
                <a:effectLst/>
                <a:latin typeface="Arial" panose="020B0604020202020204" pitchFamily="34" charset="0"/>
              </a:rPr>
              <a:t>предусмотрены полнотекстовые индексы на соответствующих полях</a:t>
            </a:r>
            <a:br>
              <a:rPr lang="ru-RU" dirty="0"/>
            </a:br>
            <a:r>
              <a:rPr lang="ru-RU" dirty="0">
                <a:effectLst/>
                <a:latin typeface="Arial" panose="020B0604020202020204" pitchFamily="34" charset="0"/>
              </a:rPr>
              <a:t>таблиц</a:t>
            </a:r>
            <a:endParaRPr lang="en-US" dirty="0"/>
          </a:p>
        </p:txBody>
      </p:sp>
    </p:spTree>
    <p:extLst>
      <p:ext uri="{BB962C8B-B14F-4D97-AF65-F5344CB8AC3E}">
        <p14:creationId xmlns:p14="http://schemas.microsoft.com/office/powerpoint/2010/main" val="20603069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767178" y="786938"/>
            <a:ext cx="11182165" cy="5773660"/>
          </a:xfrm>
        </p:spPr>
        <p:txBody>
          <a:bodyPr>
            <a:normAutofit/>
          </a:bodyPr>
          <a:lstStyle/>
          <a:p>
            <a:r>
              <a:rPr lang="ru-RU" b="1" dirty="0">
                <a:effectLst/>
                <a:latin typeface="Arial" panose="020B0604020202020204" pitchFamily="34" charset="0"/>
              </a:rPr>
              <a:t>Спецификация требований </a:t>
            </a:r>
            <a:r>
              <a:rPr lang="ru-RU" dirty="0">
                <a:effectLst/>
                <a:latin typeface="Arial" panose="020B0604020202020204" pitchFamily="34" charset="0"/>
              </a:rPr>
              <a:t>(</a:t>
            </a:r>
            <a:r>
              <a:rPr lang="ru-RU" dirty="0" err="1">
                <a:effectLst/>
                <a:latin typeface="Arial" panose="020B0604020202020204" pitchFamily="34" charset="0"/>
              </a:rPr>
              <a:t>software</a:t>
            </a:r>
            <a:r>
              <a:rPr lang="ru-RU" dirty="0">
                <a:effectLst/>
                <a:latin typeface="Arial" panose="020B0604020202020204" pitchFamily="34" charset="0"/>
              </a:rPr>
              <a:t> </a:t>
            </a:r>
            <a:r>
              <a:rPr lang="ru-RU" dirty="0" err="1">
                <a:effectLst/>
                <a:latin typeface="Arial" panose="020B0604020202020204" pitchFamily="34" charset="0"/>
              </a:rPr>
              <a:t>requirements</a:t>
            </a:r>
            <a:r>
              <a:rPr lang="ru-RU" dirty="0">
                <a:effectLst/>
                <a:latin typeface="Arial" panose="020B0604020202020204" pitchFamily="34" charset="0"/>
              </a:rPr>
              <a:t> </a:t>
            </a:r>
            <a:r>
              <a:rPr lang="ru-RU" dirty="0" err="1">
                <a:effectLst/>
                <a:latin typeface="Arial" panose="020B0604020202020204" pitchFamily="34" charset="0"/>
              </a:rPr>
              <a:t>specification</a:t>
            </a:r>
            <a:r>
              <a:rPr lang="ru-RU" dirty="0">
                <a:effectLst/>
                <a:latin typeface="Arial" panose="020B0604020202020204" pitchFamily="34" charset="0"/>
              </a:rPr>
              <a:t>, SRS) объединяет в себе описание всех требований уровня продукта и может представлять собой весьма объёмный документ (сотни и тысячи страниц).</a:t>
            </a:r>
            <a:br>
              <a:rPr lang="ru-RU" dirty="0"/>
            </a:br>
            <a:r>
              <a:rPr lang="ru-RU" dirty="0">
                <a:effectLst/>
                <a:latin typeface="Arial" panose="020B0604020202020204" pitchFamily="34" charset="0"/>
              </a:rPr>
              <a:t>Поскольку требований может быть очень много, а их приходится не только единожды написать и согласовать между собой, но и постоянно обновлять, работу проектной команды по управлению требованиями значительно облегчают соответствующие инструментальные средства (</a:t>
            </a:r>
            <a:r>
              <a:rPr lang="ru-RU" dirty="0" err="1">
                <a:effectLst/>
                <a:latin typeface="Arial" panose="020B0604020202020204" pitchFamily="34" charset="0"/>
              </a:rPr>
              <a:t>requirements</a:t>
            </a:r>
            <a:r>
              <a:rPr lang="ru-RU" dirty="0">
                <a:effectLst/>
                <a:latin typeface="Arial" panose="020B0604020202020204" pitchFamily="34" charset="0"/>
              </a:rPr>
              <a:t> </a:t>
            </a:r>
            <a:r>
              <a:rPr lang="ru-RU" dirty="0" err="1">
                <a:effectLst/>
                <a:latin typeface="Arial" panose="020B0604020202020204" pitchFamily="34" charset="0"/>
              </a:rPr>
              <a:t>management</a:t>
            </a:r>
            <a:r>
              <a:rPr lang="ru-RU" dirty="0">
                <a:effectLst/>
                <a:latin typeface="Arial" panose="020B0604020202020204" pitchFamily="34" charset="0"/>
              </a:rPr>
              <a:t> </a:t>
            </a:r>
            <a:r>
              <a:rPr lang="ru-RU" dirty="0" err="1">
                <a:effectLst/>
                <a:latin typeface="Arial" panose="020B0604020202020204" pitchFamily="34" charset="0"/>
              </a:rPr>
              <a:t>tools</a:t>
            </a:r>
            <a:r>
              <a:rPr lang="ru-RU" dirty="0">
                <a:effectLst/>
                <a:latin typeface="Arial" panose="020B0604020202020204" pitchFamily="34" charset="0"/>
              </a:rPr>
              <a:t>)</a:t>
            </a:r>
            <a:endParaRPr lang="en-US" dirty="0"/>
          </a:p>
        </p:txBody>
      </p:sp>
    </p:spTree>
    <p:extLst>
      <p:ext uri="{BB962C8B-B14F-4D97-AF65-F5344CB8AC3E}">
        <p14:creationId xmlns:p14="http://schemas.microsoft.com/office/powerpoint/2010/main" val="25449178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642890" y="502851"/>
            <a:ext cx="11093389" cy="6128767"/>
          </a:xfrm>
        </p:spPr>
        <p:txBody>
          <a:bodyPr>
            <a:normAutofit fontScale="70000" lnSpcReduction="20000"/>
          </a:bodyPr>
          <a:lstStyle/>
          <a:p>
            <a:pPr marL="0" indent="0">
              <a:buNone/>
            </a:pPr>
            <a:r>
              <a:rPr lang="ru-RU" b="1" dirty="0">
                <a:effectLst/>
                <a:latin typeface="Times New Roman" panose="02020603050405020304" pitchFamily="18" charset="0"/>
              </a:rPr>
              <a:t>ТЕСТИРОВАНИЯ В ПРОЦЕССЕ РАЗРАБОТКИ ПО</a:t>
            </a:r>
          </a:p>
          <a:p>
            <a:pPr marL="0" indent="0">
              <a:lnSpc>
                <a:spcPct val="120000"/>
              </a:lnSpc>
              <a:spcBef>
                <a:spcPts val="0"/>
              </a:spcBef>
              <a:buNone/>
            </a:pPr>
            <a:r>
              <a:rPr lang="ru-RU" b="1" dirty="0">
                <a:effectLst/>
                <a:latin typeface="Times New Roman" panose="02020603050405020304" pitchFamily="18" charset="0"/>
              </a:rPr>
              <a:t>Аналитический отдел. </a:t>
            </a:r>
            <a:r>
              <a:rPr lang="ru-RU" dirty="0">
                <a:effectLst/>
                <a:latin typeface="Times New Roman" panose="02020603050405020304" pitchFamily="18" charset="0"/>
              </a:rPr>
              <a:t>В задачи аналитического отдела входят:</a:t>
            </a:r>
            <a:br>
              <a:rPr lang="ru-RU" dirty="0"/>
            </a:br>
            <a:endParaRPr lang="ru-RU" sz="3400" dirty="0"/>
          </a:p>
          <a:p>
            <a:pPr marL="0" indent="0">
              <a:lnSpc>
                <a:spcPct val="120000"/>
              </a:lnSpc>
              <a:spcBef>
                <a:spcPts val="0"/>
              </a:spcBef>
              <a:buNone/>
            </a:pPr>
            <a:r>
              <a:rPr lang="ru-RU" sz="3400" dirty="0">
                <a:effectLst/>
                <a:latin typeface="Times New Roman" panose="02020603050405020304" pitchFamily="18" charset="0"/>
              </a:rPr>
              <a:t>- определение концепций и функционального направления развития программного</a:t>
            </a:r>
            <a:br>
              <a:rPr lang="ru-RU" sz="3400" dirty="0"/>
            </a:br>
            <a:r>
              <a:rPr lang="ru-RU" sz="3400" dirty="0">
                <a:effectLst/>
                <a:latin typeface="Times New Roman" panose="02020603050405020304" pitchFamily="18" charset="0"/>
              </a:rPr>
              <a:t>продукта;</a:t>
            </a:r>
            <a:br>
              <a:rPr lang="ru-RU" sz="3400" dirty="0"/>
            </a:br>
            <a:r>
              <a:rPr lang="ru-RU" sz="3400" dirty="0"/>
              <a:t>- </a:t>
            </a:r>
            <a:r>
              <a:rPr lang="ru-RU" sz="3400" dirty="0">
                <a:effectLst/>
                <a:latin typeface="Times New Roman" panose="02020603050405020304" pitchFamily="18" charset="0"/>
              </a:rPr>
              <a:t>проведение предпроектного обследования;</a:t>
            </a:r>
            <a:br>
              <a:rPr lang="ru-RU" sz="3400" dirty="0"/>
            </a:br>
            <a:r>
              <a:rPr lang="ru-RU" sz="3400" dirty="0"/>
              <a:t>- </a:t>
            </a:r>
            <a:r>
              <a:rPr lang="ru-RU" sz="3400" dirty="0">
                <a:effectLst/>
                <a:latin typeface="Times New Roman" panose="02020603050405020304" pitchFamily="18" charset="0"/>
              </a:rPr>
              <a:t>определение функциональных возможностей системы;</a:t>
            </a:r>
            <a:br>
              <a:rPr lang="ru-RU" sz="3400" dirty="0"/>
            </a:br>
            <a:r>
              <a:rPr lang="ru-RU" sz="3400" dirty="0"/>
              <a:t>- </a:t>
            </a:r>
            <a:r>
              <a:rPr lang="ru-RU" sz="3400" dirty="0">
                <a:effectLst/>
                <a:latin typeface="Times New Roman" panose="02020603050405020304" pitchFamily="18" charset="0"/>
              </a:rPr>
              <a:t>определение (совместно с разработчиками) технических требований к системе;</a:t>
            </a:r>
            <a:br>
              <a:rPr lang="ru-RU" sz="3400" dirty="0"/>
            </a:br>
            <a:r>
              <a:rPr lang="ru-RU" sz="3400" dirty="0"/>
              <a:t>- </a:t>
            </a:r>
            <a:r>
              <a:rPr lang="ru-RU" sz="3400" dirty="0">
                <a:effectLst/>
                <a:latin typeface="Times New Roman" panose="02020603050405020304" pitchFamily="18" charset="0"/>
              </a:rPr>
              <a:t>описание бизнес-процессов предметной области в терминах, понятных разработчикам</a:t>
            </a:r>
            <a:br>
              <a:rPr lang="ru-RU" sz="3400" dirty="0"/>
            </a:br>
            <a:r>
              <a:rPr lang="ru-RU" sz="3400" dirty="0">
                <a:effectLst/>
                <a:latin typeface="Times New Roman" panose="02020603050405020304" pitchFamily="18" charset="0"/>
              </a:rPr>
              <a:t>(постановки задач и спецификации на разработку);</a:t>
            </a:r>
            <a:br>
              <a:rPr lang="ru-RU" sz="3400" dirty="0"/>
            </a:br>
            <a:r>
              <a:rPr lang="ru-RU" sz="3400" dirty="0"/>
              <a:t>- </a:t>
            </a:r>
            <a:r>
              <a:rPr lang="ru-RU" sz="3400" dirty="0">
                <a:effectLst/>
                <a:latin typeface="Times New Roman" panose="02020603050405020304" pitchFamily="18" charset="0"/>
              </a:rPr>
              <a:t>написание постановок задач и спецификаций на доработку программного средства при</a:t>
            </a:r>
            <a:br>
              <a:rPr lang="ru-RU" sz="3400" dirty="0"/>
            </a:br>
            <a:r>
              <a:rPr lang="ru-RU" sz="3400" dirty="0">
                <a:effectLst/>
                <a:latin typeface="Times New Roman" panose="02020603050405020304" pitchFamily="18" charset="0"/>
              </a:rPr>
              <a:t>изменении законодательства, требований клиентов, расширении функциональных</a:t>
            </a:r>
            <a:br>
              <a:rPr lang="ru-RU" sz="3400" dirty="0"/>
            </a:br>
            <a:r>
              <a:rPr lang="ru-RU" sz="3400" dirty="0">
                <a:effectLst/>
                <a:latin typeface="Times New Roman" panose="02020603050405020304" pitchFamily="18" charset="0"/>
              </a:rPr>
              <a:t>возможностей продукта;</a:t>
            </a:r>
          </a:p>
          <a:p>
            <a:pPr marL="0" indent="0">
              <a:lnSpc>
                <a:spcPct val="120000"/>
              </a:lnSpc>
              <a:spcBef>
                <a:spcPts val="0"/>
              </a:spcBef>
              <a:buNone/>
            </a:pPr>
            <a:r>
              <a:rPr lang="ru-RU" sz="3400" dirty="0">
                <a:effectLst/>
                <a:latin typeface="Arial" panose="020B0604020202020204" pitchFamily="34" charset="0"/>
              </a:rPr>
              <a:t> - </a:t>
            </a:r>
            <a:r>
              <a:rPr lang="ru-RU" sz="3400" dirty="0">
                <a:effectLst/>
                <a:latin typeface="Times New Roman" panose="02020603050405020304" pitchFamily="18" charset="0"/>
              </a:rPr>
              <a:t>контроль процесса реализации новых возможностей в программных продуктах</a:t>
            </a:r>
            <a:br>
              <a:rPr lang="ru-RU" sz="3400" dirty="0"/>
            </a:br>
            <a:r>
              <a:rPr lang="ru-RU" sz="3400" dirty="0">
                <a:effectLst/>
                <a:latin typeface="Times New Roman" panose="02020603050405020304" pitchFamily="18" charset="0"/>
              </a:rPr>
              <a:t>компании.</a:t>
            </a:r>
            <a:endParaRPr lang="en-US" sz="3400" dirty="0"/>
          </a:p>
        </p:txBody>
      </p:sp>
    </p:spTree>
    <p:extLst>
      <p:ext uri="{BB962C8B-B14F-4D97-AF65-F5344CB8AC3E}">
        <p14:creationId xmlns:p14="http://schemas.microsoft.com/office/powerpoint/2010/main" val="24039924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257452" y="328474"/>
            <a:ext cx="11620870" cy="6169980"/>
          </a:xfrm>
        </p:spPr>
        <p:txBody>
          <a:bodyPr>
            <a:normAutofit fontScale="92500" lnSpcReduction="10000"/>
          </a:bodyPr>
          <a:lstStyle/>
          <a:p>
            <a:pPr marL="0" indent="0">
              <a:buNone/>
            </a:pPr>
            <a:r>
              <a:rPr lang="ru-RU" b="1" dirty="0">
                <a:effectLst/>
                <a:latin typeface="Times New Roman" panose="02020603050405020304" pitchFamily="18" charset="0"/>
              </a:rPr>
              <a:t>Отдел документации</a:t>
            </a:r>
            <a:r>
              <a:rPr lang="ru-RU" dirty="0">
                <a:effectLst/>
                <a:latin typeface="Times New Roman" panose="02020603050405020304" pitchFamily="18" charset="0"/>
              </a:rPr>
              <a:t>. Часто данный отдел не выделяется в обособленную структуру, он</a:t>
            </a:r>
            <a:br>
              <a:rPr lang="ru-RU" dirty="0"/>
            </a:br>
            <a:r>
              <a:rPr lang="ru-RU" dirty="0">
                <a:effectLst/>
                <a:latin typeface="Times New Roman" panose="02020603050405020304" pitchFamily="18" charset="0"/>
              </a:rPr>
              <a:t>может входить, например, в состав аналитического отдела.</a:t>
            </a:r>
            <a:br>
              <a:rPr lang="ru-RU" dirty="0"/>
            </a:br>
            <a:r>
              <a:rPr lang="ru-RU" dirty="0">
                <a:effectLst/>
                <a:latin typeface="Times New Roman" panose="02020603050405020304" pitchFamily="18" charset="0"/>
              </a:rPr>
              <a:t>В задачи отдела входят написание технической документации для конечного пользователя,</a:t>
            </a:r>
            <a:br>
              <a:rPr lang="ru-RU" dirty="0"/>
            </a:br>
            <a:r>
              <a:rPr lang="ru-RU" dirty="0">
                <a:effectLst/>
                <a:latin typeface="Times New Roman" panose="02020603050405020304" pitchFamily="18" charset="0"/>
              </a:rPr>
              <a:t>отслеживание изменений в программном средстве и актуализация в документации.</a:t>
            </a:r>
            <a:br>
              <a:rPr lang="ru-RU" dirty="0"/>
            </a:br>
            <a:r>
              <a:rPr lang="ru-RU" b="1" dirty="0">
                <a:effectLst/>
                <a:latin typeface="Times New Roman" panose="02020603050405020304" pitchFamily="18" charset="0"/>
              </a:rPr>
              <a:t>Отдел разработки</a:t>
            </a:r>
            <a:r>
              <a:rPr lang="ru-RU" dirty="0">
                <a:effectLst/>
                <a:latin typeface="Times New Roman" panose="02020603050405020304" pitchFamily="18" charset="0"/>
              </a:rPr>
              <a:t>. Это ключевой отдел для фирмы. Если без остальных отделов зачастую можно обойтись, то без отдела разработки нельзя. В его задачи входят:</a:t>
            </a:r>
            <a:br>
              <a:rPr lang="ru-RU" dirty="0"/>
            </a:br>
            <a:r>
              <a:rPr lang="ru-RU" dirty="0"/>
              <a:t>- </a:t>
            </a:r>
            <a:r>
              <a:rPr lang="ru-RU" dirty="0">
                <a:effectLst/>
                <a:latin typeface="Times New Roman" panose="02020603050405020304" pitchFamily="18" charset="0"/>
              </a:rPr>
              <a:t>определение (совместно с аналитиками) технических требований к системе;</a:t>
            </a:r>
            <a:br>
              <a:rPr lang="ru-RU" dirty="0"/>
            </a:br>
            <a:r>
              <a:rPr lang="ru-RU" dirty="0">
                <a:latin typeface="Arial" panose="020B0604020202020204" pitchFamily="34" charset="0"/>
              </a:rPr>
              <a:t>- </a:t>
            </a:r>
            <a:r>
              <a:rPr lang="ru-RU" dirty="0">
                <a:effectLst/>
                <a:latin typeface="Times New Roman" panose="02020603050405020304" pitchFamily="18" charset="0"/>
              </a:rPr>
              <a:t>реализация базовых функций программного средства;</a:t>
            </a:r>
            <a:br>
              <a:rPr lang="ru-RU" dirty="0"/>
            </a:br>
            <a:r>
              <a:rPr lang="ru-RU" dirty="0"/>
              <a:t>- </a:t>
            </a:r>
            <a:r>
              <a:rPr lang="ru-RU" dirty="0">
                <a:effectLst/>
                <a:latin typeface="Times New Roman" panose="02020603050405020304" pitchFamily="18" charset="0"/>
              </a:rPr>
              <a:t>расширение перечня функций программного средства (реализация доработок);</a:t>
            </a:r>
            <a:br>
              <a:rPr lang="ru-RU" dirty="0"/>
            </a:br>
            <a:r>
              <a:rPr lang="ru-RU" dirty="0">
                <a:latin typeface="Arial" panose="020B0604020202020204" pitchFamily="34" charset="0"/>
              </a:rPr>
              <a:t>- </a:t>
            </a:r>
            <a:r>
              <a:rPr lang="ru-RU" dirty="0">
                <a:effectLst/>
                <a:latin typeface="Times New Roman" panose="02020603050405020304" pitchFamily="18" charset="0"/>
              </a:rPr>
              <a:t>исправление найденных ошибок;</a:t>
            </a:r>
            <a:br>
              <a:rPr lang="ru-RU" dirty="0"/>
            </a:br>
            <a:r>
              <a:rPr lang="ru-RU" dirty="0">
                <a:latin typeface="Arial" panose="020B0604020202020204" pitchFamily="34" charset="0"/>
              </a:rPr>
              <a:t>- </a:t>
            </a:r>
            <a:r>
              <a:rPr lang="ru-RU" dirty="0">
                <a:effectLst/>
                <a:latin typeface="Times New Roman" panose="02020603050405020304" pitchFamily="18" charset="0"/>
              </a:rPr>
              <a:t>адаптация программного продукта для функционирования в других условиях (переход на новую СУБД, новый язык программирования и пр.);</a:t>
            </a:r>
            <a:br>
              <a:rPr lang="ru-RU" dirty="0"/>
            </a:br>
            <a:r>
              <a:rPr lang="ru-RU" dirty="0">
                <a:latin typeface="Arial" panose="020B0604020202020204" pitchFamily="34" charset="0"/>
              </a:rPr>
              <a:t>- </a:t>
            </a:r>
            <a:r>
              <a:rPr lang="ru-RU" dirty="0">
                <a:effectLst/>
                <a:latin typeface="Times New Roman" panose="02020603050405020304" pitchFamily="18" charset="0"/>
              </a:rPr>
              <a:t>оптимизация программного продукта (увеличение быстродействия, надежности и пр.)</a:t>
            </a:r>
            <a:endParaRPr lang="en-US" dirty="0"/>
          </a:p>
        </p:txBody>
      </p:sp>
    </p:spTree>
    <p:extLst>
      <p:ext uri="{BB962C8B-B14F-4D97-AF65-F5344CB8AC3E}">
        <p14:creationId xmlns:p14="http://schemas.microsoft.com/office/powerpoint/2010/main" val="5951135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385438" y="289788"/>
            <a:ext cx="11670437" cy="6368464"/>
          </a:xfrm>
        </p:spPr>
        <p:txBody>
          <a:bodyPr>
            <a:normAutofit fontScale="92500" lnSpcReduction="20000"/>
          </a:bodyPr>
          <a:lstStyle/>
          <a:p>
            <a:r>
              <a:rPr lang="ru-RU" b="1" dirty="0">
                <a:solidFill>
                  <a:srgbClr val="FF0000"/>
                </a:solidFill>
                <a:effectLst/>
                <a:latin typeface="Times New Roman" panose="02020603050405020304" pitchFamily="18" charset="0"/>
              </a:rPr>
              <a:t>Отдел технической поддержки </a:t>
            </a:r>
            <a:r>
              <a:rPr lang="ru-RU" dirty="0">
                <a:effectLst/>
                <a:latin typeface="Times New Roman" panose="02020603050405020304" pitchFamily="18" charset="0"/>
              </a:rPr>
              <a:t>(горячая линия). Осуществляет консультации</a:t>
            </a:r>
            <a:br>
              <a:rPr lang="ru-RU" dirty="0"/>
            </a:br>
            <a:r>
              <a:rPr lang="ru-RU" dirty="0">
                <a:effectLst/>
                <a:latin typeface="Times New Roman" panose="02020603050405020304" pitchFamily="18" charset="0"/>
              </a:rPr>
              <a:t>пользователей по вопросам, связанным с установкой и эксплуатацией программного средства по</a:t>
            </a:r>
            <a:br>
              <a:rPr lang="ru-RU" dirty="0"/>
            </a:br>
            <a:r>
              <a:rPr lang="ru-RU" dirty="0">
                <a:effectLst/>
                <a:latin typeface="Times New Roman" panose="02020603050405020304" pitchFamily="18" charset="0"/>
              </a:rPr>
              <a:t>различным каналам связи (телефон, почта, электронная почта).</a:t>
            </a:r>
            <a:endParaRPr lang="ru-RU" dirty="0">
              <a:effectLst/>
            </a:endParaRPr>
          </a:p>
          <a:p>
            <a:pPr marL="0" indent="0">
              <a:buNone/>
            </a:pPr>
            <a:br>
              <a:rPr lang="ru-RU" dirty="0"/>
            </a:br>
            <a:r>
              <a:rPr lang="ru-RU" b="1" dirty="0">
                <a:effectLst/>
                <a:latin typeface="Times New Roman" panose="02020603050405020304" pitchFamily="18" charset="0"/>
              </a:rPr>
              <a:t>Отдел тестирования</a:t>
            </a:r>
            <a:r>
              <a:rPr lang="ru-RU" dirty="0">
                <a:effectLst/>
                <a:latin typeface="Times New Roman" panose="02020603050405020304" pitchFamily="18" charset="0"/>
              </a:rPr>
              <a:t>. В задачи отдела входят:</a:t>
            </a:r>
            <a:br>
              <a:rPr lang="ru-RU" dirty="0"/>
            </a:br>
            <a:r>
              <a:rPr lang="ru-RU" dirty="0">
                <a:effectLst/>
                <a:latin typeface="Arial" panose="020B0604020202020204" pitchFamily="34" charset="0"/>
              </a:rPr>
              <a:t> </a:t>
            </a:r>
            <a:r>
              <a:rPr lang="ru-RU" dirty="0">
                <a:effectLst/>
                <a:latin typeface="Times New Roman" panose="02020603050405020304" pitchFamily="18" charset="0"/>
              </a:rPr>
              <a:t>комплексный контроль качества;</a:t>
            </a:r>
            <a:br>
              <a:rPr lang="ru-RU" dirty="0"/>
            </a:br>
            <a:r>
              <a:rPr lang="ru-RU" dirty="0">
                <a:effectLst/>
                <a:latin typeface="Arial" panose="020B0604020202020204" pitchFamily="34" charset="0"/>
              </a:rPr>
              <a:t> </a:t>
            </a:r>
            <a:r>
              <a:rPr lang="ru-RU" dirty="0">
                <a:effectLst/>
                <a:latin typeface="Times New Roman" panose="02020603050405020304" pitchFamily="18" charset="0"/>
              </a:rPr>
              <a:t>подготовка тестовой документации (планы тестирования и пр.);</a:t>
            </a:r>
            <a:br>
              <a:rPr lang="ru-RU" dirty="0"/>
            </a:br>
            <a:r>
              <a:rPr lang="ru-RU" dirty="0">
                <a:effectLst/>
                <a:latin typeface="Arial" panose="020B0604020202020204" pitchFamily="34" charset="0"/>
              </a:rPr>
              <a:t> </a:t>
            </a:r>
            <a:r>
              <a:rPr lang="ru-RU" dirty="0">
                <a:effectLst/>
                <a:latin typeface="Times New Roman" panose="02020603050405020304" pitchFamily="18" charset="0"/>
              </a:rPr>
              <a:t>обнаружение и локализация ошибок в функционировании программных продуктов;</a:t>
            </a:r>
            <a:br>
              <a:rPr lang="ru-RU" dirty="0"/>
            </a:br>
            <a:r>
              <a:rPr lang="ru-RU" dirty="0">
                <a:effectLst/>
                <a:latin typeface="Arial" panose="020B0604020202020204" pitchFamily="34" charset="0"/>
              </a:rPr>
              <a:t> </a:t>
            </a:r>
            <a:r>
              <a:rPr lang="ru-RU" dirty="0">
                <a:effectLst/>
                <a:latin typeface="Times New Roman" panose="02020603050405020304" pitchFamily="18" charset="0"/>
              </a:rPr>
              <a:t>фиксирование и отслеживание ошибок в функционировании программных средств;</a:t>
            </a:r>
            <a:br>
              <a:rPr lang="ru-RU" dirty="0"/>
            </a:br>
            <a:r>
              <a:rPr lang="ru-RU" dirty="0">
                <a:effectLst/>
                <a:latin typeface="Arial" panose="020B0604020202020204" pitchFamily="34" charset="0"/>
              </a:rPr>
              <a:t> </a:t>
            </a:r>
            <a:r>
              <a:rPr lang="ru-RU" dirty="0">
                <a:effectLst/>
                <a:latin typeface="Times New Roman" panose="02020603050405020304" pitchFamily="18" charset="0"/>
              </a:rPr>
              <a:t>проверка соответствия документации программного продукта стандартам и реально</a:t>
            </a:r>
            <a:br>
              <a:rPr lang="ru-RU" dirty="0"/>
            </a:br>
            <a:r>
              <a:rPr lang="ru-RU" dirty="0">
                <a:effectLst/>
                <a:latin typeface="Times New Roman" panose="02020603050405020304" pitchFamily="18" charset="0"/>
              </a:rPr>
              <a:t>реализованным функциям;</a:t>
            </a:r>
            <a:br>
              <a:rPr lang="ru-RU" dirty="0"/>
            </a:br>
            <a:r>
              <a:rPr lang="ru-RU" dirty="0">
                <a:effectLst/>
                <a:latin typeface="Arial" panose="020B0604020202020204" pitchFamily="34" charset="0"/>
              </a:rPr>
              <a:t> </a:t>
            </a:r>
            <a:r>
              <a:rPr lang="ru-RU" dirty="0">
                <a:effectLst/>
                <a:latin typeface="Times New Roman" panose="02020603050405020304" pitchFamily="18" charset="0"/>
              </a:rPr>
              <a:t>участие в разработке и внедрении системы качества;</a:t>
            </a:r>
            <a:br>
              <a:rPr lang="ru-RU" dirty="0"/>
            </a:br>
            <a:r>
              <a:rPr lang="ru-RU" dirty="0">
                <a:effectLst/>
                <a:latin typeface="Arial" panose="020B0604020202020204" pitchFamily="34" charset="0"/>
              </a:rPr>
              <a:t> </a:t>
            </a:r>
            <a:r>
              <a:rPr lang="ru-RU" dirty="0">
                <a:effectLst/>
                <a:latin typeface="Times New Roman" panose="02020603050405020304" pitchFamily="18" charset="0"/>
              </a:rPr>
              <a:t>автоматизация тестирования;</a:t>
            </a:r>
            <a:br>
              <a:rPr lang="ru-RU" dirty="0"/>
            </a:br>
            <a:r>
              <a:rPr lang="ru-RU" dirty="0">
                <a:effectLst/>
                <a:latin typeface="Arial" panose="020B0604020202020204" pitchFamily="34" charset="0"/>
              </a:rPr>
              <a:t> </a:t>
            </a:r>
            <a:r>
              <a:rPr lang="ru-RU" dirty="0">
                <a:effectLst/>
                <a:latin typeface="Times New Roman" panose="02020603050405020304" pitchFamily="18" charset="0"/>
              </a:rPr>
              <a:t>оценка производительности разрабатываемых программных средств на различных</a:t>
            </a:r>
            <a:br>
              <a:rPr lang="ru-RU" dirty="0"/>
            </a:br>
            <a:r>
              <a:rPr lang="ru-RU" dirty="0">
                <a:effectLst/>
                <a:latin typeface="Times New Roman" panose="02020603050405020304" pitchFamily="18" charset="0"/>
              </a:rPr>
              <a:t>программно-аппаратных платформах и их специфических конфигурациях</a:t>
            </a:r>
            <a:endParaRPr lang="en-US" dirty="0"/>
          </a:p>
        </p:txBody>
      </p:sp>
    </p:spTree>
    <p:extLst>
      <p:ext uri="{BB962C8B-B14F-4D97-AF65-F5344CB8AC3E}">
        <p14:creationId xmlns:p14="http://schemas.microsoft.com/office/powerpoint/2010/main" val="100482914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536359" y="272033"/>
            <a:ext cx="10515600" cy="4351338"/>
          </a:xfrm>
        </p:spPr>
        <p:txBody>
          <a:bodyPr>
            <a:normAutofit fontScale="77500" lnSpcReduction="20000"/>
          </a:bodyPr>
          <a:lstStyle/>
          <a:p>
            <a:r>
              <a:rPr lang="ru-RU" dirty="0">
                <a:effectLst/>
                <a:latin typeface="Times New Roman" panose="02020603050405020304" pitchFamily="18" charset="0"/>
              </a:rPr>
              <a:t> </a:t>
            </a:r>
            <a:r>
              <a:rPr lang="ru-RU" b="1" dirty="0">
                <a:effectLst/>
                <a:latin typeface="Times New Roman" panose="02020603050405020304" pitchFamily="18" charset="0"/>
              </a:rPr>
              <a:t>МЕТОДОЛОГИЯ ТЕСТИРОВАНИЯ</a:t>
            </a:r>
            <a:br>
              <a:rPr lang="ru-RU" dirty="0"/>
            </a:br>
            <a:r>
              <a:rPr lang="ru-RU" dirty="0">
                <a:effectLst/>
                <a:latin typeface="Times New Roman" panose="02020603050405020304" pitchFamily="18" charset="0"/>
              </a:rPr>
              <a:t>В терминологии профессионалов тестирования (программного и некоторого аппаратного</a:t>
            </a:r>
            <a:br>
              <a:rPr lang="ru-RU" dirty="0"/>
            </a:br>
            <a:r>
              <a:rPr lang="ru-RU" dirty="0">
                <a:effectLst/>
                <a:latin typeface="Times New Roman" panose="02020603050405020304" pitchFamily="18" charset="0"/>
              </a:rPr>
              <a:t>обеспечения), фразы «тестирование белого ящика» и «тестирование чёрного ящика» относятся к</a:t>
            </a:r>
            <a:br>
              <a:rPr lang="ru-RU" dirty="0"/>
            </a:br>
            <a:r>
              <a:rPr lang="ru-RU" dirty="0">
                <a:effectLst/>
                <a:latin typeface="Times New Roman" panose="02020603050405020304" pitchFamily="18" charset="0"/>
              </a:rPr>
              <a:t>тому, имеет ли разработчик тестов доступ к исходному коду тестируемого программного</a:t>
            </a:r>
            <a:br>
              <a:rPr lang="ru-RU" dirty="0"/>
            </a:br>
            <a:r>
              <a:rPr lang="ru-RU" dirty="0">
                <a:effectLst/>
                <a:latin typeface="Times New Roman" panose="02020603050405020304" pitchFamily="18" charset="0"/>
              </a:rPr>
              <a:t>обеспечения, или же тестирование выполняется через пользовательский интерфейс либо</a:t>
            </a:r>
            <a:br>
              <a:rPr lang="ru-RU" dirty="0"/>
            </a:br>
            <a:r>
              <a:rPr lang="ru-RU" dirty="0">
                <a:effectLst/>
                <a:latin typeface="Times New Roman" panose="02020603050405020304" pitchFamily="18" charset="0"/>
              </a:rPr>
              <a:t>прикладной программный интерфейс, предоставленный тестируемым модулем.</a:t>
            </a:r>
            <a:br>
              <a:rPr lang="ru-RU" dirty="0"/>
            </a:br>
            <a:r>
              <a:rPr lang="ru-RU" dirty="0">
                <a:effectLst/>
                <a:latin typeface="Times New Roman" panose="02020603050405020304" pitchFamily="18" charset="0"/>
              </a:rPr>
              <a:t>При тестировании методом белого ящика (</a:t>
            </a:r>
            <a:r>
              <a:rPr lang="ru-RU" dirty="0" err="1">
                <a:effectLst/>
                <a:latin typeface="Times New Roman" panose="02020603050405020304" pitchFamily="18" charset="0"/>
              </a:rPr>
              <a:t>white-box</a:t>
            </a:r>
            <a:r>
              <a:rPr lang="ru-RU" dirty="0">
                <a:effectLst/>
                <a:latin typeface="Times New Roman" panose="02020603050405020304" pitchFamily="18" charset="0"/>
              </a:rPr>
              <a:t> </a:t>
            </a:r>
            <a:r>
              <a:rPr lang="ru-RU" dirty="0" err="1">
                <a:effectLst/>
                <a:latin typeface="Times New Roman" panose="02020603050405020304" pitchFamily="18" charset="0"/>
              </a:rPr>
              <a:t>testing</a:t>
            </a:r>
            <a:r>
              <a:rPr lang="ru-RU" dirty="0">
                <a:effectLst/>
                <a:latin typeface="Times New Roman" panose="02020603050405020304" pitchFamily="18" charset="0"/>
              </a:rPr>
              <a:t>, также говорят — прозрачного</a:t>
            </a:r>
            <a:br>
              <a:rPr lang="ru-RU" dirty="0"/>
            </a:br>
            <a:r>
              <a:rPr lang="ru-RU" dirty="0">
                <a:effectLst/>
                <a:latin typeface="Times New Roman" panose="02020603050405020304" pitchFamily="18" charset="0"/>
              </a:rPr>
              <a:t>ящика, оно же структурное тестирование), разработчик теста имеет доступ к исходному коду</a:t>
            </a:r>
            <a:br>
              <a:rPr lang="ru-RU" dirty="0"/>
            </a:br>
            <a:r>
              <a:rPr lang="ru-RU" dirty="0">
                <a:effectLst/>
                <a:latin typeface="Times New Roman" panose="02020603050405020304" pitchFamily="18" charset="0"/>
              </a:rPr>
              <a:t>программ и может писать код, который связан с библиотеками тестируемого программного</a:t>
            </a:r>
            <a:br>
              <a:rPr lang="ru-RU" dirty="0"/>
            </a:br>
            <a:r>
              <a:rPr lang="ru-RU" dirty="0">
                <a:effectLst/>
                <a:latin typeface="Times New Roman" panose="02020603050405020304" pitchFamily="18" charset="0"/>
              </a:rPr>
              <a:t>обеспечения. На рисунке 4.1 можно увидеть схематическое изображение данного метода.</a:t>
            </a:r>
          </a:p>
          <a:p>
            <a:endParaRPr lang="en-US" dirty="0"/>
          </a:p>
        </p:txBody>
      </p:sp>
      <p:pic>
        <p:nvPicPr>
          <p:cNvPr id="4" name="Рисунок 3">
            <a:extLst>
              <a:ext uri="{FF2B5EF4-FFF2-40B4-BE49-F238E27FC236}">
                <a16:creationId xmlns:a16="http://schemas.microsoft.com/office/drawing/2014/main" id="{E145001C-F9C9-4A82-888F-C43AD97267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4623371"/>
            <a:ext cx="10200443" cy="1926032"/>
          </a:xfrm>
          <a:prstGeom prst="rect">
            <a:avLst/>
          </a:prstGeom>
        </p:spPr>
      </p:pic>
    </p:spTree>
    <p:extLst>
      <p:ext uri="{BB962C8B-B14F-4D97-AF65-F5344CB8AC3E}">
        <p14:creationId xmlns:p14="http://schemas.microsoft.com/office/powerpoint/2010/main" val="9685578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341051" y="405198"/>
            <a:ext cx="10515600" cy="4351338"/>
          </a:xfrm>
        </p:spPr>
        <p:txBody>
          <a:bodyPr/>
          <a:lstStyle/>
          <a:p>
            <a:r>
              <a:rPr lang="ru-RU" dirty="0">
                <a:effectLst/>
                <a:latin typeface="Times New Roman" panose="02020603050405020304" pitchFamily="18" charset="0"/>
              </a:rPr>
              <a:t>Тесты создаются на основе знаний о структуре самой системы и о том, как она работает.</a:t>
            </a:r>
            <a:br>
              <a:rPr lang="ru-RU" dirty="0"/>
            </a:br>
            <a:r>
              <a:rPr lang="ru-RU" dirty="0">
                <a:effectLst/>
                <a:latin typeface="Times New Roman" panose="02020603050405020304" pitchFamily="18" charset="0"/>
              </a:rPr>
              <a:t>Критерии полноты основаны на проценте элементов кода, которые отработали в ходе выполнения</a:t>
            </a:r>
            <a:br>
              <a:rPr lang="ru-RU" dirty="0"/>
            </a:br>
            <a:r>
              <a:rPr lang="ru-RU" dirty="0">
                <a:effectLst/>
                <a:latin typeface="Times New Roman" panose="02020603050405020304" pitchFamily="18" charset="0"/>
              </a:rPr>
              <a:t>тестов. Для оценки степени соответствия требованиям могут привлекаться дополнительные знания</a:t>
            </a:r>
            <a:br>
              <a:rPr lang="ru-RU" dirty="0"/>
            </a:br>
            <a:r>
              <a:rPr lang="ru-RU" dirty="0">
                <a:effectLst/>
                <a:latin typeface="Times New Roman" panose="02020603050405020304" pitchFamily="18" charset="0"/>
              </a:rPr>
              <a:t>о связи требований с определенными ограничениями на значения внутренних данных системы</a:t>
            </a:r>
            <a:br>
              <a:rPr lang="ru-RU" dirty="0"/>
            </a:br>
            <a:r>
              <a:rPr lang="ru-RU" dirty="0">
                <a:effectLst/>
                <a:latin typeface="Times New Roman" panose="02020603050405020304" pitchFamily="18" charset="0"/>
              </a:rPr>
              <a:t>(например, на значения параметров вызовов, результатов и локальных переменных).</a:t>
            </a:r>
            <a:endParaRPr lang="en-US" dirty="0"/>
          </a:p>
        </p:txBody>
      </p:sp>
    </p:spTree>
    <p:extLst>
      <p:ext uri="{BB962C8B-B14F-4D97-AF65-F5344CB8AC3E}">
        <p14:creationId xmlns:p14="http://schemas.microsoft.com/office/powerpoint/2010/main" val="335383004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5D5C16-8DE6-41E5-821C-2A56715C3D43}"/>
              </a:ext>
            </a:extLst>
          </p:cNvPr>
          <p:cNvSpPr txBox="1"/>
          <p:nvPr/>
        </p:nvSpPr>
        <p:spPr>
          <a:xfrm>
            <a:off x="257452" y="2"/>
            <a:ext cx="11934547" cy="6370975"/>
          </a:xfrm>
          <a:prstGeom prst="rect">
            <a:avLst/>
          </a:prstGeom>
          <a:noFill/>
        </p:spPr>
        <p:txBody>
          <a:bodyPr wrap="square">
            <a:spAutoFit/>
          </a:bodyPr>
          <a:lstStyle/>
          <a:p>
            <a:r>
              <a:rPr lang="ru-RU" sz="2400" b="1" dirty="0">
                <a:effectLst/>
                <a:latin typeface="Times New Roman" panose="02020603050405020304" pitchFamily="18" charset="0"/>
              </a:rPr>
              <a:t>Тестировании методом чёрного ящика</a:t>
            </a:r>
            <a:br>
              <a:rPr lang="ru-RU" dirty="0"/>
            </a:br>
            <a:r>
              <a:rPr lang="ru-RU" sz="2400" dirty="0">
                <a:effectLst/>
                <a:latin typeface="Times New Roman" panose="02020603050405020304" pitchFamily="18" charset="0"/>
              </a:rPr>
              <a:t>тестировщик имеет доступ к программному обеспечению только через те же интерфейсы, что и заказчик или пользователь, либо через внешние интерфейсы, позволяющие другому компьютеру либо другому процессу подключиться к системе для тестирования.</a:t>
            </a:r>
          </a:p>
          <a:p>
            <a:r>
              <a:rPr lang="ru-RU" sz="2400" b="1" i="1" dirty="0">
                <a:effectLst/>
                <a:latin typeface="Times New Roman" panose="02020603050405020304" pitchFamily="18" charset="0"/>
              </a:rPr>
              <a:t>Тестирование черного ящика</a:t>
            </a:r>
            <a:r>
              <a:rPr lang="ru-RU" sz="2400" dirty="0">
                <a:effectLst/>
                <a:latin typeface="Times New Roman" panose="02020603050405020304" pitchFamily="18" charset="0"/>
              </a:rPr>
              <a:t>, нацеленное на проверку требований. Тесты для него и критерий полноты тестирования строятся на основе требований и ограничений, четко зафиксированных в спецификациях, стандартах, внутренних нормативных документах. Часто такое тестирование называется тестированием на соответствие (</a:t>
            </a:r>
            <a:r>
              <a:rPr lang="ru-RU" sz="2400" dirty="0" err="1">
                <a:effectLst/>
                <a:latin typeface="Times New Roman" panose="02020603050405020304" pitchFamily="18" charset="0"/>
              </a:rPr>
              <a:t>conformance</a:t>
            </a:r>
            <a:r>
              <a:rPr lang="ru-RU" sz="2400" dirty="0">
                <a:effectLst/>
                <a:latin typeface="Times New Roman" panose="02020603050405020304" pitchFamily="18" charset="0"/>
              </a:rPr>
              <a:t> </a:t>
            </a:r>
            <a:r>
              <a:rPr lang="ru-RU" sz="2400" dirty="0" err="1">
                <a:effectLst/>
                <a:latin typeface="Times New Roman" panose="02020603050405020304" pitchFamily="18" charset="0"/>
              </a:rPr>
              <a:t>testing</a:t>
            </a:r>
            <a:r>
              <a:rPr lang="ru-RU" sz="2400" dirty="0">
                <a:effectLst/>
                <a:latin typeface="Times New Roman" panose="02020603050405020304" pitchFamily="18" charset="0"/>
              </a:rPr>
              <a:t>). </a:t>
            </a:r>
          </a:p>
          <a:p>
            <a:r>
              <a:rPr lang="ru-RU" sz="2400" dirty="0">
                <a:effectLst/>
                <a:latin typeface="Times New Roman" panose="02020603050405020304" pitchFamily="18" charset="0"/>
              </a:rPr>
              <a:t>Частным случаем его является </a:t>
            </a:r>
            <a:r>
              <a:rPr lang="ru-RU" sz="2400" i="1" dirty="0">
                <a:effectLst/>
                <a:latin typeface="Times New Roman" panose="02020603050405020304" pitchFamily="18" charset="0"/>
              </a:rPr>
              <a:t>функциональное тестиров</a:t>
            </a:r>
            <a:r>
              <a:rPr lang="ru-RU" sz="2400" dirty="0">
                <a:effectLst/>
                <a:latin typeface="Times New Roman" panose="02020603050405020304" pitchFamily="18" charset="0"/>
              </a:rPr>
              <a:t>ание — тесты для него, а также используемые критерии полноты проведенного тестирования определяют на основе требований к функциональности.</a:t>
            </a:r>
          </a:p>
          <a:p>
            <a:r>
              <a:rPr lang="ru-RU" sz="2400" dirty="0">
                <a:effectLst/>
                <a:latin typeface="Times New Roman" panose="02020603050405020304" pitchFamily="18" charset="0"/>
              </a:rPr>
              <a:t>Помимо методов тестирования «белый ящик» и «черный ящик» различают тестирование методом </a:t>
            </a:r>
            <a:r>
              <a:rPr lang="ru-RU" sz="2400" b="1" dirty="0">
                <a:effectLst/>
                <a:latin typeface="Times New Roman" panose="02020603050405020304" pitchFamily="18" charset="0"/>
              </a:rPr>
              <a:t>«серого ящика</a:t>
            </a:r>
            <a:r>
              <a:rPr lang="ru-RU" sz="2400" dirty="0">
                <a:effectLst/>
                <a:latin typeface="Times New Roman" panose="02020603050405020304" pitchFamily="18" charset="0"/>
              </a:rPr>
              <a:t>», </a:t>
            </a:r>
            <a:br>
              <a:rPr lang="ru-RU" sz="2400" dirty="0"/>
            </a:br>
            <a:r>
              <a:rPr lang="ru-RU" sz="2400" dirty="0">
                <a:effectLst/>
                <a:latin typeface="Times New Roman" panose="02020603050405020304" pitchFamily="18" charset="0"/>
              </a:rPr>
              <a:t>В данном случае у человека, который разрабатывает тест кейсы, есть некоторая информация о внутренней структуре приложения или о деталях реализации. Данный метод применяется в последнее время чаще предыдущих</a:t>
            </a:r>
            <a:endParaRPr lang="en-US" sz="2400" dirty="0"/>
          </a:p>
        </p:txBody>
      </p:sp>
    </p:spTree>
    <p:extLst>
      <p:ext uri="{BB962C8B-B14F-4D97-AF65-F5344CB8AC3E}">
        <p14:creationId xmlns:p14="http://schemas.microsoft.com/office/powerpoint/2010/main" val="25417988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D135AEA-8EEE-4F40-99E3-619BEEC31CFF}"/>
              </a:ext>
            </a:extLst>
          </p:cNvPr>
          <p:cNvSpPr>
            <a:spLocks noGrp="1"/>
          </p:cNvSpPr>
          <p:nvPr>
            <p:ph type="title"/>
          </p:nvPr>
        </p:nvSpPr>
        <p:spPr/>
        <p:txBody>
          <a:bodyPr/>
          <a:lstStyle/>
          <a:p>
            <a:r>
              <a:rPr lang="ru-RU" sz="2400" b="1" dirty="0">
                <a:effectLst/>
                <a:latin typeface="Times New Roman" panose="02020603050405020304" pitchFamily="18" charset="0"/>
              </a:rPr>
              <a:t>УРОВНИ ТЕСТИРОВАНИЯ</a:t>
            </a:r>
            <a:br>
              <a:rPr lang="ru-RU" sz="4400" b="1" dirty="0">
                <a:effectLst/>
                <a:latin typeface="Times New Roman" panose="02020603050405020304" pitchFamily="18" charset="0"/>
              </a:rPr>
            </a:br>
            <a:endParaRPr lang="en-US" dirty="0"/>
          </a:p>
        </p:txBody>
      </p:sp>
      <p:pic>
        <p:nvPicPr>
          <p:cNvPr id="5" name="Объект 4">
            <a:extLst>
              <a:ext uri="{FF2B5EF4-FFF2-40B4-BE49-F238E27FC236}">
                <a16:creationId xmlns:a16="http://schemas.microsoft.com/office/drawing/2014/main" id="{1052217B-BE5C-4D4E-B463-4F78E2F837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5752" y="1473693"/>
            <a:ext cx="8982638" cy="4451651"/>
          </a:xfrm>
        </p:spPr>
      </p:pic>
    </p:spTree>
    <p:extLst>
      <p:ext uri="{BB962C8B-B14F-4D97-AF65-F5344CB8AC3E}">
        <p14:creationId xmlns:p14="http://schemas.microsoft.com/office/powerpoint/2010/main" val="8569356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465337" y="547240"/>
            <a:ext cx="11555027" cy="5951213"/>
          </a:xfrm>
        </p:spPr>
        <p:txBody>
          <a:bodyPr>
            <a:normAutofit fontScale="77500" lnSpcReduction="20000"/>
          </a:bodyPr>
          <a:lstStyle/>
          <a:p>
            <a:r>
              <a:rPr lang="ru-RU" sz="4400" b="1" dirty="0">
                <a:effectLst/>
                <a:latin typeface="Times New Roman" panose="02020603050405020304" pitchFamily="18" charset="0"/>
              </a:rPr>
              <a:t>УРОВНИ ТЕСТИРОВАНИЯ</a:t>
            </a:r>
          </a:p>
          <a:p>
            <a:r>
              <a:rPr lang="ru-RU" sz="3600" dirty="0">
                <a:effectLst/>
                <a:latin typeface="Times New Roman" panose="02020603050405020304" pitchFamily="18" charset="0"/>
              </a:rPr>
              <a:t>Существует классификация видов тестирования, которая основана на том уровне детализации</a:t>
            </a:r>
            <a:br>
              <a:rPr lang="ru-RU" sz="3600" dirty="0"/>
            </a:br>
            <a:r>
              <a:rPr lang="ru-RU" sz="3600" dirty="0">
                <a:effectLst/>
                <a:latin typeface="Times New Roman" panose="02020603050405020304" pitchFamily="18" charset="0"/>
              </a:rPr>
              <a:t>работ проекта, на который оно нацелено. </a:t>
            </a:r>
          </a:p>
          <a:p>
            <a:r>
              <a:rPr lang="ru-RU" sz="3600" dirty="0">
                <a:effectLst/>
                <a:latin typeface="Times New Roman" panose="02020603050405020304" pitchFamily="18" charset="0"/>
              </a:rPr>
              <a:t>Модульное тестирование (</a:t>
            </a:r>
            <a:r>
              <a:rPr lang="ru-RU" sz="3600" dirty="0" err="1">
                <a:effectLst/>
                <a:latin typeface="Times New Roman" panose="02020603050405020304" pitchFamily="18" charset="0"/>
              </a:rPr>
              <a:t>Unit-testing</a:t>
            </a:r>
            <a:r>
              <a:rPr lang="ru-RU" sz="3600" dirty="0">
                <a:effectLst/>
                <a:latin typeface="Times New Roman" panose="02020603050405020304" pitchFamily="18" charset="0"/>
              </a:rPr>
              <a:t>) — уровень тестирования, на котором тестируется</a:t>
            </a:r>
            <a:br>
              <a:rPr lang="ru-RU" sz="3600" dirty="0"/>
            </a:br>
            <a:r>
              <a:rPr lang="ru-RU" sz="3600" dirty="0">
                <a:effectLst/>
                <a:latin typeface="Times New Roman" panose="02020603050405020304" pitchFamily="18" charset="0"/>
              </a:rPr>
              <a:t>минимально возможный для тестирования компонент, например, отдельный класс или функция.</a:t>
            </a:r>
            <a:br>
              <a:rPr lang="ru-RU" sz="3600" dirty="0"/>
            </a:br>
            <a:r>
              <a:rPr lang="ru-RU" sz="3600" dirty="0">
                <a:effectLst/>
                <a:latin typeface="Times New Roman" panose="02020603050405020304" pitchFamily="18" charset="0"/>
              </a:rPr>
              <a:t>На этом уровне применяются методы «белого ящика». </a:t>
            </a:r>
          </a:p>
          <a:p>
            <a:r>
              <a:rPr lang="ru-RU" sz="3600" dirty="0">
                <a:effectLst/>
                <a:latin typeface="Times New Roman" panose="02020603050405020304" pitchFamily="18" charset="0"/>
              </a:rPr>
              <a:t>В современных проектах </a:t>
            </a:r>
            <a:r>
              <a:rPr lang="ru-RU" sz="3600" b="1" dirty="0">
                <a:effectLst/>
                <a:latin typeface="Times New Roman" panose="02020603050405020304" pitchFamily="18" charset="0"/>
              </a:rPr>
              <a:t>модульное тестирование </a:t>
            </a:r>
            <a:r>
              <a:rPr lang="ru-RU" sz="3600" dirty="0">
                <a:effectLst/>
                <a:latin typeface="Times New Roman" panose="02020603050405020304" pitchFamily="18" charset="0"/>
              </a:rPr>
              <a:t>(«юнит-</a:t>
            </a:r>
            <a:r>
              <a:rPr lang="ru-RU" sz="3600" dirty="0" err="1">
                <a:effectLst/>
                <a:latin typeface="Times New Roman" panose="02020603050405020304" pitchFamily="18" charset="0"/>
              </a:rPr>
              <a:t>тестинг</a:t>
            </a:r>
            <a:r>
              <a:rPr lang="ru-RU" sz="3600" dirty="0">
                <a:effectLst/>
                <a:latin typeface="Times New Roman" panose="02020603050405020304" pitchFamily="18" charset="0"/>
              </a:rPr>
              <a:t>») осуществляется разработчиками .</a:t>
            </a:r>
            <a:br>
              <a:rPr lang="ru-RU" sz="3600" dirty="0"/>
            </a:br>
            <a:r>
              <a:rPr lang="ru-RU" sz="3600" i="1" dirty="0">
                <a:effectLst/>
                <a:latin typeface="Times New Roman" panose="02020603050405020304" pitchFamily="18" charset="0"/>
              </a:rPr>
              <a:t>Модульное тестирование </a:t>
            </a:r>
            <a:r>
              <a:rPr lang="ru-RU" sz="3600" dirty="0">
                <a:effectLst/>
                <a:latin typeface="Times New Roman" panose="02020603050405020304" pitchFamily="18" charset="0"/>
              </a:rPr>
              <a:t>предназначено для проверки правильности отдельных модулей, </a:t>
            </a:r>
            <a:r>
              <a:rPr lang="ru-RU" sz="3600" dirty="0" err="1">
                <a:effectLst/>
                <a:latin typeface="Times New Roman" panose="02020603050405020304" pitchFamily="18" charset="0"/>
              </a:rPr>
              <a:t>внезависимости</a:t>
            </a:r>
            <a:r>
              <a:rPr lang="ru-RU" sz="3600" dirty="0">
                <a:effectLst/>
                <a:latin typeface="Times New Roman" panose="02020603050405020304" pitchFamily="18" charset="0"/>
              </a:rPr>
              <a:t> от их окружения. При этом проверяется, что если модуль получает на вход данные,</a:t>
            </a:r>
            <a:br>
              <a:rPr lang="ru-RU" sz="3600" dirty="0"/>
            </a:br>
            <a:r>
              <a:rPr lang="ru-RU" sz="3600" dirty="0">
                <a:effectLst/>
                <a:latin typeface="Times New Roman" panose="02020603050405020304" pitchFamily="18" charset="0"/>
              </a:rPr>
              <a:t>удовлетворяющие определенным критериям корректности, то и результаты его корректны. </a:t>
            </a:r>
          </a:p>
        </p:txBody>
      </p:sp>
    </p:spTree>
    <p:extLst>
      <p:ext uri="{BB962C8B-B14F-4D97-AF65-F5344CB8AC3E}">
        <p14:creationId xmlns:p14="http://schemas.microsoft.com/office/powerpoint/2010/main" val="20490496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248575" y="363984"/>
            <a:ext cx="11105225" cy="5812979"/>
          </a:xfrm>
        </p:spPr>
        <p:txBody>
          <a:bodyPr>
            <a:normAutofit fontScale="92500" lnSpcReduction="20000"/>
          </a:bodyPr>
          <a:lstStyle/>
          <a:p>
            <a:r>
              <a:rPr lang="ru-RU" sz="2800" dirty="0">
                <a:effectLst/>
                <a:latin typeface="Times New Roman" panose="02020603050405020304" pitchFamily="18" charset="0"/>
              </a:rPr>
              <a:t>Для описания критериев корректности входных и выходных данных часто используют программные</a:t>
            </a:r>
            <a:br>
              <a:rPr lang="ru-RU" sz="2800" dirty="0"/>
            </a:br>
            <a:r>
              <a:rPr lang="ru-RU" sz="2800" dirty="0">
                <a:effectLst/>
                <a:latin typeface="Times New Roman" panose="02020603050405020304" pitchFamily="18" charset="0"/>
              </a:rPr>
              <a:t>контракты — предусловия, описывающие для каждой операции, на каких входных данных она</a:t>
            </a:r>
            <a:br>
              <a:rPr lang="ru-RU" sz="2800" dirty="0"/>
            </a:br>
            <a:r>
              <a:rPr lang="ru-RU" sz="2800" dirty="0">
                <a:effectLst/>
                <a:latin typeface="Times New Roman" panose="02020603050405020304" pitchFamily="18" charset="0"/>
              </a:rPr>
              <a:t>предназначена работать, постусловия, описывающие для каждой операции, как должны</a:t>
            </a:r>
            <a:br>
              <a:rPr lang="ru-RU" sz="2800" dirty="0"/>
            </a:br>
            <a:r>
              <a:rPr lang="ru-RU" sz="2800" dirty="0">
                <a:effectLst/>
                <a:latin typeface="Times New Roman" panose="02020603050405020304" pitchFamily="18" charset="0"/>
              </a:rPr>
              <a:t>соотноситься входные данные с возвращаемыми ею результатами, и инварианты, определяющие</a:t>
            </a:r>
            <a:br>
              <a:rPr lang="ru-RU" sz="2800" dirty="0"/>
            </a:br>
            <a:r>
              <a:rPr lang="ru-RU" sz="2800" dirty="0">
                <a:effectLst/>
                <a:latin typeface="Times New Roman" panose="02020603050405020304" pitchFamily="18" charset="0"/>
              </a:rPr>
              <a:t>критерии целостности внутренних данных модуля.</a:t>
            </a:r>
            <a:br>
              <a:rPr lang="ru-RU" sz="2800" dirty="0"/>
            </a:br>
            <a:endParaRPr lang="ru-RU" sz="2800" dirty="0"/>
          </a:p>
          <a:p>
            <a:r>
              <a:rPr lang="ru-RU" sz="2800" b="1" i="1" dirty="0">
                <a:effectLst/>
                <a:latin typeface="Times New Roman" panose="02020603050405020304" pitchFamily="18" charset="0"/>
              </a:rPr>
              <a:t>Основной недостаток модульного тестирования </a:t>
            </a:r>
            <a:r>
              <a:rPr lang="ru-RU" sz="2800" dirty="0">
                <a:effectLst/>
                <a:latin typeface="Times New Roman" panose="02020603050405020304" pitchFamily="18" charset="0"/>
              </a:rPr>
              <a:t>состоит в том, что проводить его можно, только когда проверяемый элемент программы уже разработан. Снизить влияние этого ограничения можно, подготавливая тесты (а это — наиболее трудоемкая часть тестирования) на основе требований заранее, когда исходного кода еще нет.</a:t>
            </a:r>
            <a:br>
              <a:rPr lang="ru-RU" sz="2800" dirty="0"/>
            </a:br>
            <a:endParaRPr lang="ru-RU" sz="2800" dirty="0"/>
          </a:p>
          <a:p>
            <a:pPr marL="0" indent="0">
              <a:buNone/>
            </a:pPr>
            <a:r>
              <a:rPr lang="ru-RU" sz="2800" dirty="0">
                <a:effectLst/>
                <a:latin typeface="Times New Roman" panose="02020603050405020304" pitchFamily="18" charset="0"/>
              </a:rPr>
              <a:t>Модульное тестирование является важной составной частью отладочного тестирования,</a:t>
            </a:r>
            <a:br>
              <a:rPr lang="ru-RU" sz="2800" dirty="0"/>
            </a:br>
            <a:r>
              <a:rPr lang="ru-RU" sz="2800" dirty="0">
                <a:effectLst/>
                <a:latin typeface="Times New Roman" panose="02020603050405020304" pitchFamily="18" charset="0"/>
              </a:rPr>
              <a:t>выполняемого разработчиками для отладки написанного ими кода.</a:t>
            </a:r>
            <a:endParaRPr lang="en-US" sz="2800" dirty="0"/>
          </a:p>
          <a:p>
            <a:endParaRPr lang="en-US" dirty="0"/>
          </a:p>
        </p:txBody>
      </p:sp>
    </p:spTree>
    <p:extLst>
      <p:ext uri="{BB962C8B-B14F-4D97-AF65-F5344CB8AC3E}">
        <p14:creationId xmlns:p14="http://schemas.microsoft.com/office/powerpoint/2010/main" val="13260962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491970" y="343054"/>
            <a:ext cx="11279820" cy="6279688"/>
          </a:xfrm>
        </p:spPr>
        <p:txBody>
          <a:bodyPr>
            <a:normAutofit fontScale="92500" lnSpcReduction="10000"/>
          </a:bodyPr>
          <a:lstStyle/>
          <a:p>
            <a:r>
              <a:rPr lang="ru-RU" b="1" dirty="0">
                <a:effectLst/>
                <a:latin typeface="Times New Roman" panose="02020603050405020304" pitchFamily="18" charset="0"/>
              </a:rPr>
              <a:t>Интеграционное тестирование </a:t>
            </a:r>
            <a:r>
              <a:rPr lang="ru-RU" dirty="0">
                <a:effectLst/>
                <a:latin typeface="Times New Roman" panose="02020603050405020304" pitchFamily="18" charset="0"/>
              </a:rPr>
              <a:t>(</a:t>
            </a:r>
            <a:r>
              <a:rPr lang="ru-RU" dirty="0" err="1">
                <a:effectLst/>
                <a:latin typeface="Times New Roman" panose="02020603050405020304" pitchFamily="18" charset="0"/>
              </a:rPr>
              <a:t>Integration</a:t>
            </a:r>
            <a:r>
              <a:rPr lang="ru-RU" dirty="0">
                <a:effectLst/>
                <a:latin typeface="Times New Roman" panose="02020603050405020304" pitchFamily="18" charset="0"/>
              </a:rPr>
              <a:t> </a:t>
            </a:r>
            <a:r>
              <a:rPr lang="ru-RU" dirty="0" err="1">
                <a:effectLst/>
                <a:latin typeface="Times New Roman" panose="02020603050405020304" pitchFamily="18" charset="0"/>
              </a:rPr>
              <a:t>testing</a:t>
            </a:r>
            <a:r>
              <a:rPr lang="ru-RU" dirty="0">
                <a:effectLst/>
                <a:latin typeface="Times New Roman" panose="02020603050405020304" pitchFamily="18" charset="0"/>
              </a:rPr>
              <a:t>) – уровень тестирования, на котором</a:t>
            </a:r>
            <a:br>
              <a:rPr lang="ru-RU" dirty="0"/>
            </a:br>
            <a:r>
              <a:rPr lang="ru-RU" dirty="0">
                <a:effectLst/>
                <a:latin typeface="Times New Roman" panose="02020603050405020304" pitchFamily="18" charset="0"/>
              </a:rPr>
              <a:t>отдельные программные модули объединяются и тестируются в группе. Обычно интеграционное тестирование проводится после модульного тестирования (юнит-тесты для модулей должны быть выполнены и найденные ошибки исправлены) </a:t>
            </a:r>
            <a:br>
              <a:rPr lang="ru-RU" dirty="0"/>
            </a:br>
            <a:endParaRPr lang="ru-RU" dirty="0"/>
          </a:p>
          <a:p>
            <a:r>
              <a:rPr lang="ru-RU" dirty="0">
                <a:effectLst/>
                <a:latin typeface="Times New Roman" panose="02020603050405020304" pitchFamily="18" charset="0"/>
              </a:rPr>
              <a:t>Интеграционное тестирование в качестве входных данных использует модули, над которыми было проведено модульное тестирование, группирует их в более крупные множества, выполняет тесты, определённые в плане тестирования для этих множеств, и представляет их в качестве</a:t>
            </a:r>
            <a:br>
              <a:rPr lang="ru-RU" dirty="0"/>
            </a:br>
            <a:r>
              <a:rPr lang="ru-RU" dirty="0">
                <a:effectLst/>
                <a:latin typeface="Times New Roman" panose="02020603050405020304" pitchFamily="18" charset="0"/>
              </a:rPr>
              <a:t>выходных данных и входных для последующего системного тестирования.</a:t>
            </a:r>
            <a:br>
              <a:rPr lang="ru-RU" dirty="0"/>
            </a:br>
            <a:r>
              <a:rPr lang="ru-RU" dirty="0">
                <a:effectLst/>
                <a:latin typeface="Times New Roman" panose="02020603050405020304" pitchFamily="18" charset="0"/>
              </a:rPr>
              <a:t>При этом проверяется, что в ходе совместной работы модули обмениваются данными и вызовами операций, не нарушая взаимных ограничений на такое взаимодействие, например, предусловий вызываемых операций.</a:t>
            </a:r>
            <a:endParaRPr lang="ru-RU" dirty="0">
              <a:effectLst/>
            </a:endParaRPr>
          </a:p>
          <a:p>
            <a:pPr marL="0" indent="0">
              <a:buNone/>
            </a:pPr>
            <a:br>
              <a:rPr lang="ru-RU" dirty="0"/>
            </a:br>
            <a:r>
              <a:rPr lang="ru-RU" dirty="0">
                <a:effectLst/>
                <a:latin typeface="Times New Roman" panose="02020603050405020304" pitchFamily="18" charset="0"/>
              </a:rPr>
              <a:t>Интеграционное тестирование выполняется разработчиками используется при отладке, но на более позднем этапе разработки</a:t>
            </a:r>
            <a:endParaRPr lang="en-US" dirty="0"/>
          </a:p>
        </p:txBody>
      </p:sp>
    </p:spTree>
    <p:extLst>
      <p:ext uri="{BB962C8B-B14F-4D97-AF65-F5344CB8AC3E}">
        <p14:creationId xmlns:p14="http://schemas.microsoft.com/office/powerpoint/2010/main" val="23463870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420949" y="414074"/>
            <a:ext cx="11270941" cy="6137645"/>
          </a:xfrm>
        </p:spPr>
        <p:txBody>
          <a:bodyPr>
            <a:normAutofit lnSpcReduction="10000"/>
          </a:bodyPr>
          <a:lstStyle/>
          <a:p>
            <a:r>
              <a:rPr lang="ru-RU" b="1" dirty="0">
                <a:effectLst/>
                <a:latin typeface="Times New Roman" panose="02020603050405020304" pitchFamily="18" charset="0"/>
              </a:rPr>
              <a:t>Системное тестирование </a:t>
            </a:r>
            <a:r>
              <a:rPr lang="ru-RU" dirty="0">
                <a:effectLst/>
                <a:latin typeface="Times New Roman" panose="02020603050405020304" pitchFamily="18" charset="0"/>
              </a:rPr>
              <a:t>(</a:t>
            </a:r>
            <a:r>
              <a:rPr lang="ru-RU" dirty="0" err="1">
                <a:effectLst/>
                <a:latin typeface="Times New Roman" panose="02020603050405020304" pitchFamily="18" charset="0"/>
              </a:rPr>
              <a:t>System</a:t>
            </a:r>
            <a:r>
              <a:rPr lang="ru-RU" dirty="0">
                <a:effectLst/>
                <a:latin typeface="Times New Roman" panose="02020603050405020304" pitchFamily="18" charset="0"/>
              </a:rPr>
              <a:t> </a:t>
            </a:r>
            <a:r>
              <a:rPr lang="ru-RU" dirty="0" err="1">
                <a:effectLst/>
                <a:latin typeface="Times New Roman" panose="02020603050405020304" pitchFamily="18" charset="0"/>
              </a:rPr>
              <a:t>testing</a:t>
            </a:r>
            <a:r>
              <a:rPr lang="ru-RU" dirty="0">
                <a:effectLst/>
                <a:latin typeface="Times New Roman" panose="02020603050405020304" pitchFamily="18" charset="0"/>
              </a:rPr>
              <a:t>) - это тестирование программного обеспечения, выполняемое на полной, интегрированной системе, с целью проверки соответствия системы исходным требованиям.</a:t>
            </a:r>
          </a:p>
          <a:p>
            <a:r>
              <a:rPr lang="ru-RU" dirty="0">
                <a:effectLst/>
                <a:latin typeface="Times New Roman" panose="02020603050405020304" pitchFamily="18" charset="0"/>
              </a:rPr>
              <a:t> Системное тестирование относится к методам тестирования «чёрного</a:t>
            </a:r>
            <a:br>
              <a:rPr lang="ru-RU" dirty="0"/>
            </a:br>
            <a:r>
              <a:rPr lang="ru-RU" dirty="0">
                <a:effectLst/>
                <a:latin typeface="Times New Roman" panose="02020603050405020304" pitchFamily="18" charset="0"/>
              </a:rPr>
              <a:t>ящика», и, тем самым, не требует знаний о внутреннем устройстве системы.</a:t>
            </a:r>
            <a:br>
              <a:rPr lang="ru-RU" dirty="0"/>
            </a:br>
            <a:r>
              <a:rPr lang="ru-RU" dirty="0">
                <a:effectLst/>
                <a:latin typeface="Times New Roman" panose="02020603050405020304" pitchFamily="18" charset="0"/>
              </a:rPr>
              <a:t>Системное тестирование выполняется через внешние интерфейсы программного обеспечения и тесно связано с тестированием пользовательского интерфейса (или через пользовательский</a:t>
            </a:r>
            <a:br>
              <a:rPr lang="ru-RU" dirty="0"/>
            </a:br>
            <a:r>
              <a:rPr lang="ru-RU" dirty="0">
                <a:effectLst/>
                <a:latin typeface="Times New Roman" panose="02020603050405020304" pitchFamily="18" charset="0"/>
              </a:rPr>
              <a:t>интерфейс), проводимым при помощи имитации действий пользователей над элементами этого интерфейса. </a:t>
            </a:r>
          </a:p>
          <a:p>
            <a:r>
              <a:rPr lang="ru-RU" dirty="0">
                <a:effectLst/>
                <a:latin typeface="Times New Roman" panose="02020603050405020304" pitchFamily="18" charset="0"/>
              </a:rPr>
              <a:t>Частными случаями этого вида тестирования являются тестирование графического пользовательского интерфейса (</a:t>
            </a:r>
            <a:r>
              <a:rPr lang="ru-RU" dirty="0" err="1">
                <a:effectLst/>
                <a:latin typeface="Times New Roman" panose="02020603050405020304" pitchFamily="18" charset="0"/>
              </a:rPr>
              <a:t>Graphical</a:t>
            </a:r>
            <a:r>
              <a:rPr lang="ru-RU" dirty="0">
                <a:effectLst/>
                <a:latin typeface="Times New Roman" panose="02020603050405020304" pitchFamily="18" charset="0"/>
              </a:rPr>
              <a:t> </a:t>
            </a:r>
            <a:r>
              <a:rPr lang="ru-RU" dirty="0" err="1">
                <a:effectLst/>
                <a:latin typeface="Times New Roman" panose="02020603050405020304" pitchFamily="18" charset="0"/>
              </a:rPr>
              <a:t>User</a:t>
            </a:r>
            <a:r>
              <a:rPr lang="ru-RU" dirty="0">
                <a:effectLst/>
                <a:latin typeface="Times New Roman" panose="02020603050405020304" pitchFamily="18" charset="0"/>
              </a:rPr>
              <a:t> </a:t>
            </a:r>
            <a:r>
              <a:rPr lang="ru-RU" dirty="0" err="1">
                <a:effectLst/>
                <a:latin typeface="Times New Roman" panose="02020603050405020304" pitchFamily="18" charset="0"/>
              </a:rPr>
              <a:t>Interface</a:t>
            </a:r>
            <a:r>
              <a:rPr lang="ru-RU" dirty="0">
                <a:effectLst/>
                <a:latin typeface="Times New Roman" panose="02020603050405020304" pitchFamily="18" charset="0"/>
              </a:rPr>
              <a:t>, GUI) и пользовательского интерфейса </a:t>
            </a:r>
            <a:r>
              <a:rPr lang="ru-RU" dirty="0" err="1">
                <a:effectLst/>
                <a:latin typeface="Times New Roman" panose="02020603050405020304" pitchFamily="18" charset="0"/>
              </a:rPr>
              <a:t>Web</a:t>
            </a:r>
            <a:r>
              <a:rPr lang="ru-RU" dirty="0">
                <a:effectLst/>
                <a:latin typeface="Times New Roman" panose="02020603050405020304" pitchFamily="18" charset="0"/>
              </a:rPr>
              <a:t>-приложений (</a:t>
            </a:r>
            <a:r>
              <a:rPr lang="ru-RU" dirty="0" err="1">
                <a:effectLst/>
                <a:latin typeface="Times New Roman" panose="02020603050405020304" pitchFamily="18" charset="0"/>
              </a:rPr>
              <a:t>WebUI</a:t>
            </a:r>
            <a:r>
              <a:rPr lang="ru-RU" dirty="0">
                <a:effectLst/>
                <a:latin typeface="Times New Roman" panose="02020603050405020304" pitchFamily="18" charset="0"/>
              </a:rPr>
              <a:t>). Системное тестирование выполняется инженерами по тестированию</a:t>
            </a:r>
            <a:endParaRPr lang="en-US" dirty="0"/>
          </a:p>
        </p:txBody>
      </p:sp>
    </p:spTree>
    <p:extLst>
      <p:ext uri="{BB962C8B-B14F-4D97-AF65-F5344CB8AC3E}">
        <p14:creationId xmlns:p14="http://schemas.microsoft.com/office/powerpoint/2010/main" val="117310809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376561" y="369687"/>
            <a:ext cx="10515600" cy="4351338"/>
          </a:xfrm>
        </p:spPr>
        <p:txBody>
          <a:bodyPr/>
          <a:lstStyle/>
          <a:p>
            <a:r>
              <a:rPr lang="ru-RU" b="1" dirty="0">
                <a:effectLst/>
                <a:latin typeface="Times New Roman" panose="02020603050405020304" pitchFamily="18" charset="0"/>
              </a:rPr>
              <a:t>Приемочное тестирование </a:t>
            </a:r>
            <a:r>
              <a:rPr lang="ru-RU" dirty="0">
                <a:effectLst/>
                <a:latin typeface="Times New Roman" panose="02020603050405020304" pitchFamily="18" charset="0"/>
              </a:rPr>
              <a:t>(</a:t>
            </a:r>
            <a:r>
              <a:rPr lang="ru-RU" dirty="0" err="1">
                <a:effectLst/>
                <a:latin typeface="Times New Roman" panose="02020603050405020304" pitchFamily="18" charset="0"/>
              </a:rPr>
              <a:t>Acceptance</a:t>
            </a:r>
            <a:r>
              <a:rPr lang="ru-RU" dirty="0">
                <a:effectLst/>
                <a:latin typeface="Times New Roman" panose="02020603050405020304" pitchFamily="18" charset="0"/>
              </a:rPr>
              <a:t> </a:t>
            </a:r>
            <a:r>
              <a:rPr lang="ru-RU" dirty="0" err="1">
                <a:effectLst/>
                <a:latin typeface="Times New Roman" panose="02020603050405020304" pitchFamily="18" charset="0"/>
              </a:rPr>
              <a:t>testing</a:t>
            </a:r>
            <a:r>
              <a:rPr lang="ru-RU" dirty="0">
                <a:effectLst/>
                <a:latin typeface="Times New Roman" panose="02020603050405020304" pitchFamily="18" charset="0"/>
              </a:rPr>
              <a:t>) - это тестирование готового продукта</a:t>
            </a:r>
            <a:br>
              <a:rPr lang="ru-RU" dirty="0"/>
            </a:br>
            <a:r>
              <a:rPr lang="ru-RU" dirty="0">
                <a:effectLst/>
                <a:latin typeface="Times New Roman" panose="02020603050405020304" pitchFamily="18" charset="0"/>
              </a:rPr>
              <a:t>конечными пользователями на реальном окружении, в котором будет функционировать</a:t>
            </a:r>
            <a:br>
              <a:rPr lang="ru-RU" dirty="0"/>
            </a:br>
            <a:r>
              <a:rPr lang="ru-RU" dirty="0">
                <a:effectLst/>
                <a:latin typeface="Times New Roman" panose="02020603050405020304" pitchFamily="18" charset="0"/>
              </a:rPr>
              <a:t>тестируемое приложение. Приемочные тесты разрабатываются пользователями, обычно, в виде</a:t>
            </a:r>
            <a:br>
              <a:rPr lang="ru-RU" dirty="0"/>
            </a:br>
            <a:r>
              <a:rPr lang="ru-RU" dirty="0">
                <a:effectLst/>
                <a:latin typeface="Times New Roman" panose="02020603050405020304" pitchFamily="18" charset="0"/>
              </a:rPr>
              <a:t>сценариев. Для того, чтобы найти больше ошибок рекомендуется планировать не только</a:t>
            </a:r>
            <a:br>
              <a:rPr lang="ru-RU" dirty="0"/>
            </a:br>
            <a:r>
              <a:rPr lang="ru-RU" dirty="0">
                <a:effectLst/>
                <a:latin typeface="Times New Roman" panose="02020603050405020304" pitchFamily="18" charset="0"/>
              </a:rPr>
              <a:t>системное тестирование и приемочное, но и модульное и интеграционное</a:t>
            </a:r>
            <a:endParaRPr lang="en-US" dirty="0"/>
          </a:p>
        </p:txBody>
      </p:sp>
    </p:spTree>
    <p:extLst>
      <p:ext uri="{BB962C8B-B14F-4D97-AF65-F5344CB8AC3E}">
        <p14:creationId xmlns:p14="http://schemas.microsoft.com/office/powerpoint/2010/main" val="22542910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625136" y="556117"/>
            <a:ext cx="11315330" cy="5924581"/>
          </a:xfrm>
        </p:spPr>
        <p:txBody>
          <a:bodyPr>
            <a:normAutofit/>
          </a:bodyPr>
          <a:lstStyle/>
          <a:p>
            <a:r>
              <a:rPr lang="ru-RU" b="1" dirty="0">
                <a:solidFill>
                  <a:srgbClr val="FF0000"/>
                </a:solidFill>
                <a:effectLst/>
                <a:latin typeface="Times New Roman" panose="02020603050405020304" pitchFamily="18" charset="0"/>
              </a:rPr>
              <a:t>Статическое тестиров</a:t>
            </a:r>
            <a:r>
              <a:rPr lang="ru-RU" dirty="0">
                <a:solidFill>
                  <a:srgbClr val="FF0000"/>
                </a:solidFill>
                <a:effectLst/>
                <a:latin typeface="Times New Roman" panose="02020603050405020304" pitchFamily="18" charset="0"/>
              </a:rPr>
              <a:t>ание </a:t>
            </a:r>
            <a:r>
              <a:rPr lang="ru-RU" dirty="0">
                <a:effectLst/>
                <a:latin typeface="Times New Roman" panose="02020603050405020304" pitchFamily="18" charset="0"/>
              </a:rPr>
              <a:t>(</a:t>
            </a:r>
            <a:r>
              <a:rPr lang="ru-RU" dirty="0" err="1">
                <a:effectLst/>
                <a:latin typeface="Times New Roman" panose="02020603050405020304" pitchFamily="18" charset="0"/>
              </a:rPr>
              <a:t>Static</a:t>
            </a:r>
            <a:r>
              <a:rPr lang="ru-RU" dirty="0">
                <a:effectLst/>
                <a:latin typeface="Times New Roman" panose="02020603050405020304" pitchFamily="18" charset="0"/>
              </a:rPr>
              <a:t> </a:t>
            </a:r>
            <a:r>
              <a:rPr lang="ru-RU" dirty="0" err="1">
                <a:effectLst/>
                <a:latin typeface="Times New Roman" panose="02020603050405020304" pitchFamily="18" charset="0"/>
              </a:rPr>
              <a:t>testing</a:t>
            </a:r>
            <a:r>
              <a:rPr lang="ru-RU" dirty="0">
                <a:effectLst/>
                <a:latin typeface="Times New Roman" panose="02020603050405020304" pitchFamily="18" charset="0"/>
              </a:rPr>
              <a:t>) – тестирование, в ходе которого тестируемая программа (код) не выполняется (запускается). Анализ программы происходит на основе исходного кода, который вычитывается вручную, либо анализируется специальными инструментами.</a:t>
            </a:r>
            <a:br>
              <a:rPr lang="ru-RU" dirty="0"/>
            </a:br>
            <a:br>
              <a:rPr lang="ru-RU" dirty="0"/>
            </a:br>
            <a:r>
              <a:rPr lang="ru-RU" dirty="0">
                <a:effectLst/>
                <a:latin typeface="Times New Roman" panose="02020603050405020304" pitchFamily="18" charset="0"/>
              </a:rPr>
              <a:t>Примеры статического тестирования:</a:t>
            </a:r>
            <a:br>
              <a:rPr lang="ru-RU" dirty="0"/>
            </a:br>
            <a:r>
              <a:rPr lang="ru-RU" dirty="0">
                <a:latin typeface="Arial" panose="020B0604020202020204" pitchFamily="34" charset="0"/>
              </a:rPr>
              <a:t>-</a:t>
            </a:r>
            <a:r>
              <a:rPr lang="ru-RU" dirty="0">
                <a:effectLst/>
                <a:latin typeface="Arial" panose="020B0604020202020204" pitchFamily="34" charset="0"/>
              </a:rPr>
              <a:t> </a:t>
            </a:r>
            <a:r>
              <a:rPr lang="ru-RU" dirty="0">
                <a:effectLst/>
                <a:latin typeface="Times New Roman" panose="02020603050405020304" pitchFamily="18" charset="0"/>
              </a:rPr>
              <a:t>обзоры (</a:t>
            </a:r>
            <a:r>
              <a:rPr lang="ru-RU" dirty="0" err="1">
                <a:effectLst/>
                <a:latin typeface="Times New Roman" panose="02020603050405020304" pitchFamily="18" charset="0"/>
              </a:rPr>
              <a:t>Reviews</a:t>
            </a:r>
            <a:r>
              <a:rPr lang="ru-RU" dirty="0">
                <a:effectLst/>
                <a:latin typeface="Times New Roman" panose="02020603050405020304" pitchFamily="18" charset="0"/>
              </a:rPr>
              <a:t>);</a:t>
            </a:r>
            <a:br>
              <a:rPr lang="ru-RU" dirty="0"/>
            </a:br>
            <a:r>
              <a:rPr lang="ru-RU" dirty="0">
                <a:latin typeface="Arial" panose="020B0604020202020204" pitchFamily="34" charset="0"/>
              </a:rPr>
              <a:t>-</a:t>
            </a:r>
            <a:r>
              <a:rPr lang="ru-RU" dirty="0">
                <a:effectLst/>
                <a:latin typeface="Arial" panose="020B0604020202020204" pitchFamily="34" charset="0"/>
              </a:rPr>
              <a:t> </a:t>
            </a:r>
            <a:r>
              <a:rPr lang="ru-RU" dirty="0">
                <a:effectLst/>
                <a:latin typeface="Times New Roman" panose="02020603050405020304" pitchFamily="18" charset="0"/>
              </a:rPr>
              <a:t>инспекции (</a:t>
            </a:r>
            <a:r>
              <a:rPr lang="ru-RU" dirty="0" err="1">
                <a:effectLst/>
                <a:latin typeface="Times New Roman" panose="02020603050405020304" pitchFamily="18" charset="0"/>
              </a:rPr>
              <a:t>Inspections</a:t>
            </a:r>
            <a:r>
              <a:rPr lang="ru-RU" dirty="0">
                <a:effectLst/>
                <a:latin typeface="Times New Roman" panose="02020603050405020304" pitchFamily="18" charset="0"/>
              </a:rPr>
              <a:t>);</a:t>
            </a:r>
            <a:br>
              <a:rPr lang="ru-RU" dirty="0"/>
            </a:br>
            <a:r>
              <a:rPr lang="ru-RU" dirty="0">
                <a:latin typeface="Arial" panose="020B0604020202020204" pitchFamily="34" charset="0"/>
              </a:rPr>
              <a:t>-</a:t>
            </a:r>
            <a:r>
              <a:rPr lang="ru-RU" dirty="0">
                <a:effectLst/>
                <a:latin typeface="Arial" panose="020B0604020202020204" pitchFamily="34" charset="0"/>
              </a:rPr>
              <a:t> </a:t>
            </a:r>
            <a:r>
              <a:rPr lang="ru-RU" dirty="0">
                <a:effectLst/>
                <a:latin typeface="Times New Roman" panose="02020603050405020304" pitchFamily="18" charset="0"/>
              </a:rPr>
              <a:t>сквозные просмотры (</a:t>
            </a:r>
            <a:r>
              <a:rPr lang="ru-RU" dirty="0" err="1">
                <a:effectLst/>
                <a:latin typeface="Times New Roman" panose="02020603050405020304" pitchFamily="18" charset="0"/>
              </a:rPr>
              <a:t>Walkthroughs</a:t>
            </a:r>
            <a:r>
              <a:rPr lang="ru-RU" dirty="0">
                <a:effectLst/>
                <a:latin typeface="Times New Roman" panose="02020603050405020304" pitchFamily="18" charset="0"/>
              </a:rPr>
              <a:t>);</a:t>
            </a:r>
            <a:br>
              <a:rPr lang="ru-RU" dirty="0"/>
            </a:br>
            <a:r>
              <a:rPr lang="ru-RU" dirty="0">
                <a:latin typeface="Arial" panose="020B0604020202020204" pitchFamily="34" charset="0"/>
              </a:rPr>
              <a:t>-</a:t>
            </a:r>
            <a:r>
              <a:rPr lang="ru-RU" dirty="0">
                <a:effectLst/>
                <a:latin typeface="Arial" panose="020B0604020202020204" pitchFamily="34" charset="0"/>
              </a:rPr>
              <a:t> </a:t>
            </a:r>
            <a:r>
              <a:rPr lang="ru-RU" dirty="0">
                <a:effectLst/>
                <a:latin typeface="Times New Roman" panose="02020603050405020304" pitchFamily="18" charset="0"/>
              </a:rPr>
              <a:t>аудиты (</a:t>
            </a:r>
            <a:r>
              <a:rPr lang="ru-RU" dirty="0" err="1">
                <a:effectLst/>
                <a:latin typeface="Times New Roman" panose="02020603050405020304" pitchFamily="18" charset="0"/>
              </a:rPr>
              <a:t>Audits</a:t>
            </a:r>
            <a:r>
              <a:rPr lang="ru-RU" dirty="0">
                <a:effectLst/>
                <a:latin typeface="Times New Roman" panose="02020603050405020304" pitchFamily="18" charset="0"/>
              </a:rPr>
              <a:t>)</a:t>
            </a:r>
            <a:endParaRPr lang="en-US" dirty="0"/>
          </a:p>
        </p:txBody>
      </p:sp>
    </p:spTree>
    <p:extLst>
      <p:ext uri="{BB962C8B-B14F-4D97-AF65-F5344CB8AC3E}">
        <p14:creationId xmlns:p14="http://schemas.microsoft.com/office/powerpoint/2010/main" val="155481288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461638" y="378564"/>
            <a:ext cx="11221375" cy="6173155"/>
          </a:xfrm>
        </p:spPr>
        <p:txBody>
          <a:bodyPr>
            <a:normAutofit/>
          </a:bodyPr>
          <a:lstStyle/>
          <a:p>
            <a:r>
              <a:rPr lang="ru-RU" b="1" dirty="0">
                <a:effectLst/>
                <a:latin typeface="Times New Roman" panose="02020603050405020304" pitchFamily="18" charset="0"/>
              </a:rPr>
              <a:t>Динамическое тестирование </a:t>
            </a:r>
            <a:r>
              <a:rPr lang="ru-RU" dirty="0">
                <a:effectLst/>
                <a:latin typeface="Times New Roman" panose="02020603050405020304" pitchFamily="18" charset="0"/>
              </a:rPr>
              <a:t>(</a:t>
            </a:r>
            <a:r>
              <a:rPr lang="ru-RU" dirty="0" err="1">
                <a:effectLst/>
                <a:latin typeface="Times New Roman" panose="02020603050405020304" pitchFamily="18" charset="0"/>
              </a:rPr>
              <a:t>Dynamic</a:t>
            </a:r>
            <a:r>
              <a:rPr lang="ru-RU" dirty="0">
                <a:effectLst/>
                <a:latin typeface="Times New Roman" panose="02020603050405020304" pitchFamily="18" charset="0"/>
              </a:rPr>
              <a:t> </a:t>
            </a:r>
            <a:r>
              <a:rPr lang="ru-RU" dirty="0" err="1">
                <a:effectLst/>
                <a:latin typeface="Times New Roman" panose="02020603050405020304" pitchFamily="18" charset="0"/>
              </a:rPr>
              <a:t>testing</a:t>
            </a:r>
            <a:r>
              <a:rPr lang="ru-RU" dirty="0">
                <a:effectLst/>
                <a:latin typeface="Times New Roman" panose="02020603050405020304" pitchFamily="18" charset="0"/>
              </a:rPr>
              <a:t>) – тестирование, в ходе которого тестируемая программа (код) выполняется (запускается).</a:t>
            </a:r>
            <a:br>
              <a:rPr lang="ru-RU" dirty="0"/>
            </a:br>
            <a:endParaRPr lang="ru-RU" dirty="0"/>
          </a:p>
          <a:p>
            <a:r>
              <a:rPr lang="ru-RU" b="1" i="1" dirty="0">
                <a:effectLst/>
                <a:latin typeface="Times New Roman" panose="02020603050405020304" pitchFamily="18" charset="0"/>
              </a:rPr>
              <a:t>Альфа-тестировани</a:t>
            </a:r>
            <a:r>
              <a:rPr lang="ru-RU" dirty="0">
                <a:effectLst/>
                <a:latin typeface="Times New Roman" panose="02020603050405020304" pitchFamily="18" charset="0"/>
              </a:rPr>
              <a:t>е — тестирование в процессе разработки.</a:t>
            </a:r>
            <a:br>
              <a:rPr lang="ru-RU" dirty="0"/>
            </a:br>
            <a:r>
              <a:rPr lang="ru-RU" b="1" i="1" dirty="0">
                <a:effectLst/>
                <a:latin typeface="Times New Roman" panose="02020603050405020304" pitchFamily="18" charset="0"/>
              </a:rPr>
              <a:t>Бета-тестирование </a:t>
            </a:r>
            <a:r>
              <a:rPr lang="ru-RU" dirty="0">
                <a:effectLst/>
                <a:latin typeface="Times New Roman" panose="02020603050405020304" pitchFamily="18" charset="0"/>
              </a:rPr>
              <a:t>— тестирование выполняется пользователями (</a:t>
            </a:r>
            <a:r>
              <a:rPr lang="ru-RU" dirty="0" err="1">
                <a:effectLst/>
                <a:latin typeface="Times New Roman" panose="02020603050405020304" pitchFamily="18" charset="0"/>
              </a:rPr>
              <a:t>end-users</a:t>
            </a:r>
            <a:r>
              <a:rPr lang="ru-RU" dirty="0">
                <a:effectLst/>
                <a:latin typeface="Times New Roman" panose="02020603050405020304" pitchFamily="18" charset="0"/>
              </a:rPr>
              <a:t>).</a:t>
            </a:r>
            <a:br>
              <a:rPr lang="ru-RU" dirty="0"/>
            </a:br>
            <a:r>
              <a:rPr lang="ru-RU" dirty="0">
                <a:effectLst/>
                <a:latin typeface="Times New Roman" panose="02020603050405020304" pitchFamily="18" charset="0"/>
              </a:rPr>
              <a:t>Перед тем, как выпускается программное обеспечение, как минимум, оно должно проходить стадии альфа (внутреннее пробное использование) и бета (пробное использование с привлечением</a:t>
            </a:r>
            <a:br>
              <a:rPr lang="ru-RU" dirty="0"/>
            </a:br>
            <a:r>
              <a:rPr lang="ru-RU" dirty="0">
                <a:effectLst/>
                <a:latin typeface="Times New Roman" panose="02020603050405020304" pitchFamily="18" charset="0"/>
              </a:rPr>
              <a:t>отобранных внешних пользователей) версий. Отчеты об ошибках, поступающие от пользователей этих версий продукта, обрабатываются в соответствии с определенными процедурами, включающими подтверждающие тесты (любого уровня), проводимые специалистами группы разработки. Данный вид тестирования не может быть заранее спланирован.</a:t>
            </a:r>
            <a:endParaRPr lang="en-US" dirty="0"/>
          </a:p>
        </p:txBody>
      </p:sp>
    </p:spTree>
    <p:extLst>
      <p:ext uri="{BB962C8B-B14F-4D97-AF65-F5344CB8AC3E}">
        <p14:creationId xmlns:p14="http://schemas.microsoft.com/office/powerpoint/2010/main" val="157080190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346229" y="390616"/>
            <a:ext cx="11683014" cy="6294269"/>
          </a:xfrm>
        </p:spPr>
        <p:txBody>
          <a:bodyPr>
            <a:normAutofit fontScale="85000" lnSpcReduction="10000"/>
          </a:bodyPr>
          <a:lstStyle/>
          <a:p>
            <a:r>
              <a:rPr lang="ru-RU" b="1" dirty="0">
                <a:effectLst/>
                <a:latin typeface="Times New Roman" panose="02020603050405020304" pitchFamily="18" charset="0"/>
              </a:rPr>
              <a:t>Регрессионное тестирование </a:t>
            </a:r>
            <a:r>
              <a:rPr lang="ru-RU" dirty="0">
                <a:effectLst/>
                <a:latin typeface="Times New Roman" panose="02020603050405020304" pitchFamily="18" charset="0"/>
              </a:rPr>
              <a:t>(</a:t>
            </a:r>
            <a:r>
              <a:rPr lang="ru-RU" dirty="0" err="1">
                <a:effectLst/>
                <a:latin typeface="Times New Roman" panose="02020603050405020304" pitchFamily="18" charset="0"/>
              </a:rPr>
              <a:t>Regression</a:t>
            </a:r>
            <a:r>
              <a:rPr lang="ru-RU" dirty="0">
                <a:effectLst/>
                <a:latin typeface="Times New Roman" panose="02020603050405020304" pitchFamily="18" charset="0"/>
              </a:rPr>
              <a:t> </a:t>
            </a:r>
            <a:r>
              <a:rPr lang="ru-RU" dirty="0" err="1">
                <a:effectLst/>
                <a:latin typeface="Times New Roman" panose="02020603050405020304" pitchFamily="18" charset="0"/>
              </a:rPr>
              <a:t>testing</a:t>
            </a:r>
            <a:r>
              <a:rPr lang="ru-RU" dirty="0">
                <a:effectLst/>
                <a:latin typeface="Times New Roman" panose="02020603050405020304" pitchFamily="18" charset="0"/>
              </a:rPr>
              <a:t>) – тестирование функциональности, которая была уже протестирована до внесения какого-либо изменения .</a:t>
            </a:r>
            <a:br>
              <a:rPr lang="ru-RU" dirty="0"/>
            </a:br>
            <a:r>
              <a:rPr lang="ru-RU" dirty="0">
                <a:effectLst/>
                <a:latin typeface="Times New Roman" panose="02020603050405020304" pitchFamily="18" charset="0"/>
              </a:rPr>
              <a:t>После внесения изменений в очередную версию программы, регрессионные тесты</a:t>
            </a:r>
            <a:br>
              <a:rPr lang="ru-RU" dirty="0"/>
            </a:br>
            <a:r>
              <a:rPr lang="ru-RU" dirty="0">
                <a:effectLst/>
                <a:latin typeface="Times New Roman" panose="02020603050405020304" pitchFamily="18" charset="0"/>
              </a:rPr>
              <a:t>подтверждают, что сделанные изменения не повлияли на работоспособность остальной</a:t>
            </a:r>
            <a:br>
              <a:rPr lang="ru-RU" dirty="0"/>
            </a:br>
            <a:r>
              <a:rPr lang="ru-RU" dirty="0">
                <a:effectLst/>
                <a:latin typeface="Times New Roman" panose="02020603050405020304" pitchFamily="18" charset="0"/>
              </a:rPr>
              <a:t>функциональности приложения. Регрессионное тестирование может выполняться как вручную, так и средствами автоматизации тестирования.</a:t>
            </a:r>
            <a:br>
              <a:rPr lang="ru-RU" dirty="0"/>
            </a:br>
            <a:endParaRPr lang="ru-RU" dirty="0"/>
          </a:p>
          <a:p>
            <a:r>
              <a:rPr lang="ru-RU" dirty="0">
                <a:effectLst/>
                <a:latin typeface="Times New Roman" panose="02020603050405020304" pitchFamily="18" charset="0"/>
              </a:rPr>
              <a:t>Определение успешности регрессионных тестов (IEEE 610-90 “</a:t>
            </a:r>
            <a:r>
              <a:rPr lang="ru-RU" dirty="0" err="1">
                <a:effectLst/>
                <a:latin typeface="Times New Roman" panose="02020603050405020304" pitchFamily="18" charset="0"/>
              </a:rPr>
              <a:t>Standard</a:t>
            </a:r>
            <a:r>
              <a:rPr lang="ru-RU" dirty="0">
                <a:effectLst/>
                <a:latin typeface="Times New Roman" panose="02020603050405020304" pitchFamily="18" charset="0"/>
              </a:rPr>
              <a:t> </a:t>
            </a:r>
            <a:r>
              <a:rPr lang="ru-RU" dirty="0" err="1">
                <a:effectLst/>
                <a:latin typeface="Times New Roman" panose="02020603050405020304" pitchFamily="18" charset="0"/>
              </a:rPr>
              <a:t>Glossary</a:t>
            </a:r>
            <a:r>
              <a:rPr lang="ru-RU" dirty="0">
                <a:effectLst/>
                <a:latin typeface="Times New Roman" panose="02020603050405020304" pitchFamily="18" charset="0"/>
              </a:rPr>
              <a:t> </a:t>
            </a:r>
            <a:r>
              <a:rPr lang="ru-RU" dirty="0" err="1">
                <a:effectLst/>
                <a:latin typeface="Times New Roman" panose="02020603050405020304" pitchFamily="18" charset="0"/>
              </a:rPr>
              <a:t>of</a:t>
            </a:r>
            <a:r>
              <a:rPr lang="ru-RU" dirty="0">
                <a:effectLst/>
                <a:latin typeface="Times New Roman" panose="02020603050405020304" pitchFamily="18" charset="0"/>
              </a:rPr>
              <a:t> </a:t>
            </a:r>
            <a:r>
              <a:rPr lang="ru-RU" dirty="0" err="1">
                <a:effectLst/>
                <a:latin typeface="Times New Roman" panose="02020603050405020304" pitchFamily="18" charset="0"/>
              </a:rPr>
              <a:t>Software</a:t>
            </a:r>
            <a:r>
              <a:rPr lang="ru-RU" dirty="0">
                <a:effectLst/>
                <a:latin typeface="Times New Roman" panose="02020603050405020304" pitchFamily="18" charset="0"/>
              </a:rPr>
              <a:t> </a:t>
            </a:r>
            <a:r>
              <a:rPr lang="ru-RU" dirty="0" err="1">
                <a:effectLst/>
                <a:latin typeface="Times New Roman" panose="02020603050405020304" pitchFamily="18" charset="0"/>
              </a:rPr>
              <a:t>Engineering</a:t>
            </a:r>
            <a:r>
              <a:rPr lang="ru-RU" dirty="0">
                <a:effectLst/>
                <a:latin typeface="Times New Roman" panose="02020603050405020304" pitchFamily="18" charset="0"/>
              </a:rPr>
              <a:t> </a:t>
            </a:r>
            <a:r>
              <a:rPr lang="ru-RU" dirty="0" err="1">
                <a:effectLst/>
                <a:latin typeface="Times New Roman" panose="02020603050405020304" pitchFamily="18" charset="0"/>
              </a:rPr>
              <a:t>Terminology</a:t>
            </a:r>
            <a:r>
              <a:rPr lang="ru-RU" dirty="0">
                <a:effectLst/>
                <a:latin typeface="Times New Roman" panose="02020603050405020304" pitchFamily="18" charset="0"/>
              </a:rPr>
              <a:t>”) гласит: “повторное выборочное тестирование системы или компонент для проверки сделанных модификаций не должно приводить к непредусмотренным эффектам”. </a:t>
            </a:r>
          </a:p>
          <a:p>
            <a:r>
              <a:rPr lang="ru-RU" dirty="0">
                <a:effectLst/>
                <a:latin typeface="Times New Roman" panose="02020603050405020304" pitchFamily="18" charset="0"/>
              </a:rPr>
              <a:t>На практике это означает, что если система успешно проходила тесты до внесения модификаций, она должна их проходить и после внесения таковых. Основная проблема регрессионного тестирования заключается в поиске компромисса между имеющимися ресурсами и необходимостью проведения таких тестов по мере внесения каждого изменения. В определенной степени, задача состоит в том,</a:t>
            </a:r>
            <a:br>
              <a:rPr lang="ru-RU" dirty="0"/>
            </a:br>
            <a:r>
              <a:rPr lang="ru-RU" dirty="0">
                <a:effectLst/>
                <a:latin typeface="Times New Roman" panose="02020603050405020304" pitchFamily="18" charset="0"/>
              </a:rPr>
              <a:t>чтобы определить критерии “масштабов” изменений, с достижением которых необходимо проводить регрессионные тесты.</a:t>
            </a:r>
            <a:endParaRPr lang="en-US" dirty="0"/>
          </a:p>
        </p:txBody>
      </p:sp>
    </p:spTree>
    <p:extLst>
      <p:ext uri="{BB962C8B-B14F-4D97-AF65-F5344CB8AC3E}">
        <p14:creationId xmlns:p14="http://schemas.microsoft.com/office/powerpoint/2010/main" val="28957208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589625" y="644895"/>
            <a:ext cx="10515600" cy="4351338"/>
          </a:xfrm>
        </p:spPr>
        <p:txBody>
          <a:bodyPr/>
          <a:lstStyle/>
          <a:p>
            <a:r>
              <a:rPr lang="ru-RU" b="1" dirty="0">
                <a:effectLst/>
                <a:latin typeface="Times New Roman" panose="02020603050405020304" pitchFamily="18" charset="0"/>
              </a:rPr>
              <a:t>«Смок-тест»</a:t>
            </a:r>
            <a:r>
              <a:rPr lang="ru-RU" dirty="0">
                <a:effectLst/>
                <a:latin typeface="Times New Roman" panose="02020603050405020304" pitchFamily="18" charset="0"/>
              </a:rPr>
              <a:t> (</a:t>
            </a:r>
            <a:r>
              <a:rPr lang="ru-RU" dirty="0" err="1">
                <a:effectLst/>
                <a:latin typeface="Times New Roman" panose="02020603050405020304" pitchFamily="18" charset="0"/>
              </a:rPr>
              <a:t>Smoke</a:t>
            </a:r>
            <a:r>
              <a:rPr lang="ru-RU" dirty="0">
                <a:effectLst/>
                <a:latin typeface="Times New Roman" panose="02020603050405020304" pitchFamily="18" charset="0"/>
              </a:rPr>
              <a:t> </a:t>
            </a:r>
            <a:r>
              <a:rPr lang="ru-RU" dirty="0" err="1">
                <a:effectLst/>
                <a:latin typeface="Times New Roman" panose="02020603050405020304" pitchFamily="18" charset="0"/>
              </a:rPr>
              <a:t>Testing</a:t>
            </a:r>
            <a:r>
              <a:rPr lang="ru-RU" dirty="0">
                <a:effectLst/>
                <a:latin typeface="Times New Roman" panose="02020603050405020304" pitchFamily="18" charset="0"/>
              </a:rPr>
              <a:t>, «дымовое тестирование») в тестировании означает минимальный набор тестов на явные ошибки. Дымовой тест обычно выполняется самим</a:t>
            </a:r>
            <a:br>
              <a:rPr lang="ru-RU" dirty="0"/>
            </a:br>
            <a:r>
              <a:rPr lang="ru-RU" dirty="0">
                <a:effectLst/>
                <a:latin typeface="Times New Roman" panose="02020603050405020304" pitchFamily="18" charset="0"/>
              </a:rPr>
              <a:t>программистом; не проходящую этот тест программу не имеет смысла отдавать на более глубокое тестирование </a:t>
            </a:r>
            <a:endParaRPr lang="en-US" dirty="0"/>
          </a:p>
        </p:txBody>
      </p:sp>
    </p:spTree>
    <p:extLst>
      <p:ext uri="{BB962C8B-B14F-4D97-AF65-F5344CB8AC3E}">
        <p14:creationId xmlns:p14="http://schemas.microsoft.com/office/powerpoint/2010/main" val="26451050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509725" y="698160"/>
            <a:ext cx="11093389" cy="5800293"/>
          </a:xfrm>
        </p:spPr>
        <p:txBody>
          <a:bodyPr/>
          <a:lstStyle/>
          <a:p>
            <a:pPr algn="ctr"/>
            <a:r>
              <a:rPr lang="ru-RU" b="1" i="0" u="none" strike="noStrike" baseline="0" dirty="0">
                <a:latin typeface="TimesNewRomanPS-BoldMT"/>
              </a:rPr>
              <a:t>ВИДЫ ТЕСТИРОВАНИЯ</a:t>
            </a:r>
          </a:p>
          <a:p>
            <a:pPr algn="l"/>
            <a:r>
              <a:rPr lang="ru-RU" sz="2400" b="1" i="1" u="none" strike="noStrike" baseline="0" dirty="0">
                <a:latin typeface="TimesNewRomanPS-BoldItalicMT"/>
              </a:rPr>
              <a:t>Функциональное тестирование </a:t>
            </a:r>
            <a:r>
              <a:rPr lang="ru-RU" sz="2400" b="0" i="0" u="none" strike="noStrike" baseline="0" dirty="0">
                <a:latin typeface="TimesNewRomanPSMT"/>
              </a:rPr>
              <a:t>(</a:t>
            </a:r>
            <a:r>
              <a:rPr lang="ru-RU" sz="2400" b="0" i="0" u="none" strike="noStrike" baseline="0" dirty="0" err="1">
                <a:latin typeface="TimesNewRomanPSMT"/>
              </a:rPr>
              <a:t>Functional</a:t>
            </a:r>
            <a:r>
              <a:rPr lang="ru-RU" sz="2400" b="0" i="0" u="none" strike="noStrike" baseline="0" dirty="0">
                <a:latin typeface="TimesNewRomanPSMT"/>
              </a:rPr>
              <a:t> </a:t>
            </a:r>
            <a:r>
              <a:rPr lang="ru-RU" sz="2400" b="0" i="0" u="none" strike="noStrike" baseline="0" dirty="0" err="1">
                <a:latin typeface="TimesNewRomanPSMT"/>
              </a:rPr>
              <a:t>testing</a:t>
            </a:r>
            <a:r>
              <a:rPr lang="ru-RU" sz="2400" b="0" i="0" u="none" strike="noStrike" baseline="0" dirty="0">
                <a:latin typeface="TimesNewRomanPSMT"/>
              </a:rPr>
              <a:t>) - цель данного тестирования состоит в том, чтобы убедиться в надлежащем функционировании объекта тестирования:</a:t>
            </a:r>
          </a:p>
          <a:p>
            <a:pPr algn="l"/>
            <a:r>
              <a:rPr lang="ru-RU" sz="2400" b="0" i="0" u="none" strike="noStrike" baseline="0" dirty="0">
                <a:latin typeface="SymbolMT"/>
              </a:rPr>
              <a:t> </a:t>
            </a:r>
            <a:r>
              <a:rPr lang="ru-RU" sz="2400" b="0" i="0" u="none" strike="noStrike" baseline="0" dirty="0">
                <a:latin typeface="TimesNewRomanPSMT"/>
              </a:rPr>
              <a:t>каждое функциональное требование транслируется в тест-кейсы (используя техники «черного ящика») для того, чтобы проверить, что система функционирует в точности,</a:t>
            </a:r>
          </a:p>
          <a:p>
            <a:pPr algn="l"/>
            <a:r>
              <a:rPr lang="ru-RU" sz="2400" b="0" i="0" u="none" strike="noStrike" baseline="0" dirty="0">
                <a:latin typeface="TimesNewRomanPSMT"/>
              </a:rPr>
              <a:t>как и описано в спецификации (функциональных требованиях к системе);</a:t>
            </a:r>
          </a:p>
          <a:p>
            <a:pPr marL="0" indent="0" algn="l">
              <a:buNone/>
            </a:pPr>
            <a:r>
              <a:rPr lang="ru-RU" sz="2400" b="0" i="0" u="none" strike="noStrike" baseline="0" dirty="0">
                <a:latin typeface="SymbolMT"/>
              </a:rPr>
              <a:t> </a:t>
            </a:r>
            <a:r>
              <a:rPr lang="ru-RU" sz="2400" b="0" i="0" u="none" strike="noStrike" baseline="0" dirty="0">
                <a:latin typeface="TimesNewRomanPSMT"/>
              </a:rPr>
              <a:t>проверятся, все ли функциональные требования действительно</a:t>
            </a:r>
          </a:p>
          <a:p>
            <a:pPr marL="0" indent="0" algn="l">
              <a:buNone/>
            </a:pPr>
            <a:r>
              <a:rPr lang="ru-RU" sz="2400" b="0" i="0" u="none" strike="noStrike" baseline="0" dirty="0">
                <a:latin typeface="TimesNewRomanPSMT"/>
              </a:rPr>
              <a:t>запрограммированы/реализованы.</a:t>
            </a:r>
            <a:endParaRPr lang="en-US" sz="2400" dirty="0"/>
          </a:p>
        </p:txBody>
      </p:sp>
    </p:spTree>
    <p:extLst>
      <p:ext uri="{BB962C8B-B14F-4D97-AF65-F5344CB8AC3E}">
        <p14:creationId xmlns:p14="http://schemas.microsoft.com/office/powerpoint/2010/main" val="36949002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A2EE6F0-9CD0-45A4-B24D-230E6107C3C5}"/>
              </a:ext>
            </a:extLst>
          </p:cNvPr>
          <p:cNvSpPr>
            <a:spLocks noGrp="1"/>
          </p:cNvSpPr>
          <p:nvPr>
            <p:ph idx="1"/>
          </p:nvPr>
        </p:nvSpPr>
        <p:spPr>
          <a:xfrm>
            <a:off x="625136" y="671528"/>
            <a:ext cx="11102266" cy="5951214"/>
          </a:xfrm>
        </p:spPr>
        <p:txBody>
          <a:bodyPr>
            <a:noAutofit/>
          </a:bodyPr>
          <a:lstStyle/>
          <a:p>
            <a:pPr algn="l"/>
            <a:r>
              <a:rPr lang="ru-RU" sz="2200" b="1" i="1" u="none" strike="noStrike" baseline="0" dirty="0">
                <a:latin typeface="TimesNewRomanPS-BoldItalicMT"/>
              </a:rPr>
              <a:t>Тестирование производительности </a:t>
            </a:r>
            <a:r>
              <a:rPr lang="ru-RU" sz="2200" b="0" i="0" u="none" strike="noStrike" baseline="0" dirty="0">
                <a:latin typeface="TimesNewRomanPSMT"/>
              </a:rPr>
              <a:t>(</a:t>
            </a:r>
            <a:r>
              <a:rPr lang="ru-RU" sz="2200" b="0" i="0" u="none" strike="noStrike" baseline="0" dirty="0" err="1">
                <a:latin typeface="TimesNewRomanPSMT"/>
              </a:rPr>
              <a:t>Perfomance</a:t>
            </a:r>
            <a:r>
              <a:rPr lang="ru-RU" sz="2200" b="0" i="0" u="none" strike="noStrike" baseline="0" dirty="0">
                <a:latin typeface="TimesNewRomanPSMT"/>
              </a:rPr>
              <a:t> </a:t>
            </a:r>
            <a:r>
              <a:rPr lang="ru-RU" sz="2200" b="0" i="0" u="none" strike="noStrike" baseline="0" dirty="0" err="1">
                <a:latin typeface="TimesNewRomanPSMT"/>
              </a:rPr>
              <a:t>testing</a:t>
            </a:r>
            <a:r>
              <a:rPr lang="ru-RU" sz="2200" b="0" i="0" u="none" strike="noStrike" baseline="0" dirty="0">
                <a:latin typeface="TimesNewRomanPSMT"/>
              </a:rPr>
              <a:t>) - тестирование, которое проводится с целью определения, как быстро работает система или её часть под определённой нагрузкой.</a:t>
            </a:r>
          </a:p>
          <a:p>
            <a:pPr algn="l"/>
            <a:r>
              <a:rPr lang="ru-RU" sz="2200" b="0" i="0" u="none" strike="noStrike" baseline="0" dirty="0">
                <a:latin typeface="TimesNewRomanPSMT"/>
              </a:rPr>
              <a:t>Также может служить для проверки и подтверждения других атрибутов качества системы, таких как масштабируемость, надёжность и потребление ресурсов. </a:t>
            </a:r>
          </a:p>
          <a:p>
            <a:pPr algn="l"/>
            <a:r>
              <a:rPr lang="ru-RU" sz="2200" b="0" i="0" u="none" strike="noStrike" baseline="0" dirty="0">
                <a:latin typeface="TimesNewRomanPSMT"/>
              </a:rPr>
              <a:t>Существует особый подвид таких тестов, когда делается попытка достижения количественных пределов, обусловленных характеристиками самой системы и ее операционного окружения:</a:t>
            </a:r>
          </a:p>
          <a:p>
            <a:pPr algn="l"/>
            <a:r>
              <a:rPr lang="ru-RU" sz="2200" b="0" i="0" u="none" strike="noStrike" baseline="0" dirty="0">
                <a:latin typeface="SymbolMT"/>
              </a:rPr>
              <a:t> </a:t>
            </a:r>
            <a:r>
              <a:rPr lang="ru-RU" sz="2200" b="0" i="0" u="none" strike="noStrike" baseline="0" dirty="0">
                <a:latin typeface="TimesNewRomanPSMT"/>
              </a:rPr>
              <a:t>продемонстрировать, что система удовлетворяет критериям производительности при</a:t>
            </a:r>
          </a:p>
          <a:p>
            <a:pPr algn="l"/>
            <a:r>
              <a:rPr lang="ru-RU" sz="2200" b="0" i="0" u="none" strike="noStrike" baseline="0" dirty="0">
                <a:latin typeface="TimesNewRomanPSMT"/>
              </a:rPr>
              <a:t>заданных условиях;</a:t>
            </a:r>
          </a:p>
          <a:p>
            <a:pPr algn="l"/>
            <a:r>
              <a:rPr lang="ru-RU" sz="2200" b="0" i="0" u="none" strike="noStrike" baseline="0" dirty="0">
                <a:latin typeface="TimesNewRomanPSMT"/>
              </a:rPr>
              <a:t>измерить, какая часть системы является причиной «плохой» производительности</a:t>
            </a:r>
          </a:p>
          <a:p>
            <a:pPr algn="l"/>
            <a:r>
              <a:rPr lang="ru-RU" sz="2200" b="0" i="0" u="none" strike="noStrike" baseline="0" dirty="0">
                <a:latin typeface="TimesNewRomanPSMT"/>
              </a:rPr>
              <a:t>системы;</a:t>
            </a:r>
          </a:p>
          <a:p>
            <a:pPr algn="l"/>
            <a:r>
              <a:rPr lang="ru-RU" sz="2200" b="0" i="0" u="none" strike="noStrike" baseline="0" dirty="0">
                <a:latin typeface="SymbolMT"/>
              </a:rPr>
              <a:t> </a:t>
            </a:r>
            <a:r>
              <a:rPr lang="ru-RU" sz="2200" b="0" i="0" u="none" strike="noStrike" baseline="0" dirty="0">
                <a:latin typeface="TimesNewRomanPSMT"/>
              </a:rPr>
              <a:t>измерить время реакции на действие пользователя, время отклика на запрос, и </a:t>
            </a:r>
            <a:r>
              <a:rPr lang="ru-RU" sz="2200" b="0" i="0" u="none" strike="noStrike" baseline="0" dirty="0" err="1">
                <a:latin typeface="TimesNewRomanPSMT"/>
              </a:rPr>
              <a:t>т.д</a:t>
            </a:r>
            <a:r>
              <a:rPr lang="ru-RU" sz="2200" b="0" i="0" u="none" strike="noStrike" baseline="0" dirty="0">
                <a:latin typeface="TimesNewRomanPSMT"/>
              </a:rPr>
              <a:t> </a:t>
            </a:r>
            <a:endParaRPr lang="en-US" sz="2200" dirty="0"/>
          </a:p>
        </p:txBody>
      </p:sp>
    </p:spTree>
    <p:extLst>
      <p:ext uri="{BB962C8B-B14F-4D97-AF65-F5344CB8AC3E}">
        <p14:creationId xmlns:p14="http://schemas.microsoft.com/office/powerpoint/2010/main" val="41369026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639192" y="932155"/>
            <a:ext cx="10714608" cy="5244808"/>
          </a:xfrm>
        </p:spPr>
        <p:txBody>
          <a:bodyPr>
            <a:normAutofit/>
          </a:bodyPr>
          <a:lstStyle/>
          <a:p>
            <a:pPr algn="l">
              <a:lnSpc>
                <a:spcPct val="150000"/>
              </a:lnSpc>
            </a:pPr>
            <a:r>
              <a:rPr lang="ru-RU" sz="2400" b="1" i="1" u="none" strike="noStrike" baseline="0" dirty="0">
                <a:latin typeface="TimesNewRomanPS-BoldItalicMT"/>
              </a:rPr>
              <a:t>Стрессовое тестирование </a:t>
            </a:r>
            <a:r>
              <a:rPr lang="ru-RU" sz="2400" b="0" i="0" u="none" strike="noStrike" baseline="0" dirty="0">
                <a:latin typeface="TimesNewRomanPSMT"/>
              </a:rPr>
              <a:t>(</a:t>
            </a:r>
            <a:r>
              <a:rPr lang="ru-RU" sz="2400" b="0" i="0" u="none" strike="noStrike" baseline="0" dirty="0" err="1">
                <a:latin typeface="TimesNewRomanPSMT"/>
              </a:rPr>
              <a:t>Stress</a:t>
            </a:r>
            <a:r>
              <a:rPr lang="ru-RU" sz="2400" b="0" i="0" u="none" strike="noStrike" baseline="0" dirty="0">
                <a:latin typeface="TimesNewRomanPSMT"/>
              </a:rPr>
              <a:t> </a:t>
            </a:r>
            <a:r>
              <a:rPr lang="ru-RU" sz="2400" b="0" i="0" u="none" strike="noStrike" baseline="0" dirty="0" err="1">
                <a:latin typeface="TimesNewRomanPSMT"/>
              </a:rPr>
              <a:t>testing</a:t>
            </a:r>
            <a:r>
              <a:rPr lang="ru-RU" sz="2400" b="0" i="0" u="none" strike="noStrike" baseline="0" dirty="0">
                <a:latin typeface="TimesNewRomanPSMT"/>
              </a:rPr>
              <a:t>) - обычно используется для понимания пределов пропускной способности приложения. </a:t>
            </a:r>
          </a:p>
          <a:p>
            <a:pPr algn="l">
              <a:lnSpc>
                <a:spcPct val="150000"/>
              </a:lnSpc>
            </a:pPr>
            <a:r>
              <a:rPr lang="ru-RU" sz="2400" b="0" i="0" u="none" strike="noStrike" baseline="0" dirty="0">
                <a:latin typeface="TimesNewRomanPSMT"/>
              </a:rPr>
              <a:t>Этот тип тестирования проводится для определения надёжности системы во время экстремальных или диспропорциональных нагрузок и отвечает на вопросы о достаточной производительности системы в случае, если текущая нагрузка сильно превысит ожидаемый максимум.</a:t>
            </a:r>
            <a:endParaRPr lang="en-US" sz="2400" dirty="0"/>
          </a:p>
        </p:txBody>
      </p:sp>
    </p:spTree>
    <p:extLst>
      <p:ext uri="{BB962C8B-B14F-4D97-AF65-F5344CB8AC3E}">
        <p14:creationId xmlns:p14="http://schemas.microsoft.com/office/powerpoint/2010/main" val="353317400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772356" y="636017"/>
            <a:ext cx="11419643" cy="4140170"/>
          </a:xfrm>
        </p:spPr>
        <p:txBody>
          <a:bodyPr>
            <a:noAutofit/>
          </a:bodyPr>
          <a:lstStyle/>
          <a:p>
            <a:pPr algn="l">
              <a:lnSpc>
                <a:spcPct val="150000"/>
              </a:lnSpc>
            </a:pPr>
            <a:r>
              <a:rPr lang="ru-RU" sz="2200" b="1" i="1" u="none" strike="noStrike" baseline="0" dirty="0">
                <a:latin typeface="TimesNewRomanPS-BoldItalicMT"/>
              </a:rPr>
              <a:t>Нагрузочное тестирование </a:t>
            </a:r>
            <a:r>
              <a:rPr lang="ru-RU" sz="2200" b="0" i="0" u="none" strike="noStrike" baseline="0" dirty="0">
                <a:latin typeface="TimesNewRomanPSMT"/>
              </a:rPr>
              <a:t>(</a:t>
            </a:r>
            <a:r>
              <a:rPr lang="ru-RU" sz="2200" b="0" i="0" u="none" strike="noStrike" baseline="0" dirty="0" err="1">
                <a:latin typeface="TimesNewRomanPSMT"/>
              </a:rPr>
              <a:t>Load</a:t>
            </a:r>
            <a:r>
              <a:rPr lang="ru-RU" sz="2200" b="0" i="0" u="none" strike="noStrike" baseline="0" dirty="0">
                <a:latin typeface="TimesNewRomanPSMT"/>
              </a:rPr>
              <a:t> </a:t>
            </a:r>
            <a:r>
              <a:rPr lang="ru-RU" sz="2200" b="0" i="0" u="none" strike="noStrike" baseline="0" dirty="0" err="1">
                <a:latin typeface="TimesNewRomanPSMT"/>
              </a:rPr>
              <a:t>testing</a:t>
            </a:r>
            <a:r>
              <a:rPr lang="ru-RU" sz="2200" b="0" i="0" u="none" strike="noStrike" baseline="0" dirty="0">
                <a:latin typeface="TimesNewRomanPSMT"/>
              </a:rPr>
              <a:t>) - это простейшая форма тестирования производительности. </a:t>
            </a:r>
          </a:p>
          <a:p>
            <a:pPr algn="l">
              <a:lnSpc>
                <a:spcPct val="150000"/>
              </a:lnSpc>
            </a:pPr>
            <a:r>
              <a:rPr lang="ru-RU" sz="2200" b="0" i="0" u="none" strike="noStrike" baseline="0" dirty="0">
                <a:latin typeface="TimesNewRomanPSMT"/>
              </a:rPr>
              <a:t>Нагрузочное тестирование обычно проводится для того, чтобы оценить</a:t>
            </a:r>
          </a:p>
          <a:p>
            <a:pPr marL="0" indent="0" algn="l">
              <a:lnSpc>
                <a:spcPct val="150000"/>
              </a:lnSpc>
              <a:buNone/>
            </a:pPr>
            <a:r>
              <a:rPr lang="ru-RU" sz="2200" b="0" i="0" u="none" strike="noStrike" baseline="0" dirty="0">
                <a:latin typeface="TimesNewRomanPSMT"/>
              </a:rPr>
              <a:t>поведение приложения под заданной ожидаемой нагрузкой. </a:t>
            </a:r>
          </a:p>
          <a:p>
            <a:pPr marL="0" indent="0" algn="l">
              <a:lnSpc>
                <a:spcPct val="150000"/>
              </a:lnSpc>
              <a:buNone/>
            </a:pPr>
            <a:r>
              <a:rPr lang="ru-RU" sz="2200" b="0" i="0" u="none" strike="noStrike" baseline="0" dirty="0">
                <a:latin typeface="TimesNewRomanPSMT"/>
              </a:rPr>
              <a:t>Этой нагрузкой может быть, например, ожидаемое количество одновременно работающих пользователей приложения, совершающих заданное число транзакций за интервал времени. </a:t>
            </a:r>
          </a:p>
          <a:p>
            <a:pPr marL="0" indent="0" algn="l">
              <a:lnSpc>
                <a:spcPct val="150000"/>
              </a:lnSpc>
              <a:buNone/>
            </a:pPr>
            <a:r>
              <a:rPr lang="ru-RU" sz="2200" b="0" i="0" u="none" strike="noStrike" baseline="0" dirty="0">
                <a:latin typeface="TimesNewRomanPSMT"/>
              </a:rPr>
              <a:t>Такой тип тестирования обычно позволяет получить время отклика всех самых важных бизнес-транзакций. В случае наблюдения за базой данных, сервером приложений, сетью и т. д., этот тип тестирования может также идентифицировать некоторые узкие места приложения.</a:t>
            </a:r>
            <a:endParaRPr lang="en-US" sz="2200" dirty="0"/>
          </a:p>
        </p:txBody>
      </p:sp>
    </p:spTree>
    <p:extLst>
      <p:ext uri="{BB962C8B-B14F-4D97-AF65-F5344CB8AC3E}">
        <p14:creationId xmlns:p14="http://schemas.microsoft.com/office/powerpoint/2010/main" val="23544538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562993" y="857959"/>
            <a:ext cx="10515600" cy="4351338"/>
          </a:xfrm>
        </p:spPr>
        <p:txBody>
          <a:bodyPr>
            <a:noAutofit/>
          </a:bodyPr>
          <a:lstStyle/>
          <a:p>
            <a:pPr algn="l">
              <a:lnSpc>
                <a:spcPct val="150000"/>
              </a:lnSpc>
            </a:pPr>
            <a:r>
              <a:rPr lang="ru-RU" sz="2200" b="1" i="1" u="none" strike="noStrike" baseline="0" dirty="0">
                <a:latin typeface="TimesNewRomanPS-BoldItalicMT"/>
              </a:rPr>
              <a:t>Тестирование стабильности </a:t>
            </a:r>
            <a:r>
              <a:rPr lang="ru-RU" sz="2200" b="0" i="0" u="none" strike="noStrike" baseline="0" dirty="0">
                <a:latin typeface="TimesNewRomanPSMT"/>
              </a:rPr>
              <a:t>(</a:t>
            </a:r>
            <a:r>
              <a:rPr lang="ru-RU" sz="2200" b="0" i="0" u="none" strike="noStrike" baseline="0" dirty="0" err="1">
                <a:latin typeface="TimesNewRomanPSMT"/>
              </a:rPr>
              <a:t>Stability</a:t>
            </a:r>
            <a:r>
              <a:rPr lang="ru-RU" sz="2200" b="0" i="0" u="none" strike="noStrike" baseline="0" dirty="0">
                <a:latin typeface="TimesNewRomanPSMT"/>
              </a:rPr>
              <a:t> </a:t>
            </a:r>
            <a:r>
              <a:rPr lang="ru-RU" sz="2200" b="0" i="0" u="none" strike="noStrike" baseline="0" dirty="0" err="1">
                <a:latin typeface="TimesNewRomanPSMT"/>
              </a:rPr>
              <a:t>testing</a:t>
            </a:r>
            <a:r>
              <a:rPr lang="ru-RU" sz="2200" b="0" i="0" u="none" strike="noStrike" baseline="0" dirty="0">
                <a:latin typeface="TimesNewRomanPSMT"/>
              </a:rPr>
              <a:t>) проводится с целью убедиться в том, что приложение выдерживает ожидаемую нагрузку в течение длительного времени. При проведении этого вида тестирования осуществляется наблюдение за потреблением приложением памяти,  чтобы выявить потенциальные утечки. </a:t>
            </a:r>
          </a:p>
          <a:p>
            <a:pPr algn="l">
              <a:lnSpc>
                <a:spcPct val="150000"/>
              </a:lnSpc>
            </a:pPr>
            <a:r>
              <a:rPr lang="ru-RU" sz="2200" b="0" i="0" u="none" strike="noStrike" baseline="0" dirty="0">
                <a:latin typeface="TimesNewRomanPSMT"/>
              </a:rPr>
              <a:t>Такое тестирование выявляет деградацию производительности, выражающуюся в снижении скорости обработки информации и/или увеличением времени ответа приложения после продолжительной работы по сравнению с началом теста</a:t>
            </a:r>
            <a:endParaRPr lang="en-US" sz="2200" dirty="0"/>
          </a:p>
        </p:txBody>
      </p:sp>
    </p:spTree>
    <p:extLst>
      <p:ext uri="{BB962C8B-B14F-4D97-AF65-F5344CB8AC3E}">
        <p14:creationId xmlns:p14="http://schemas.microsoft.com/office/powerpoint/2010/main" val="30324527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554115" y="440709"/>
            <a:ext cx="11404106" cy="4575174"/>
          </a:xfrm>
        </p:spPr>
        <p:txBody>
          <a:bodyPr>
            <a:noAutofit/>
          </a:bodyPr>
          <a:lstStyle/>
          <a:p>
            <a:pPr algn="l">
              <a:lnSpc>
                <a:spcPct val="150000"/>
              </a:lnSpc>
            </a:pPr>
            <a:r>
              <a:rPr lang="ru-RU" sz="2200" b="1" i="1" u="none" strike="noStrike" baseline="0" dirty="0">
                <a:latin typeface="TimesNewRomanPS-BoldItalicMT"/>
              </a:rPr>
              <a:t>Тестирование удобства использования (</a:t>
            </a:r>
            <a:r>
              <a:rPr lang="ru-RU" sz="2200" b="1" i="1" u="none" strike="noStrike" baseline="0" dirty="0" err="1">
                <a:latin typeface="TimesNewRomanPS-BoldItalicMT"/>
              </a:rPr>
              <a:t>Usability</a:t>
            </a:r>
            <a:r>
              <a:rPr lang="ru-RU" sz="2200" b="1" i="1" u="none" strike="noStrike" baseline="0" dirty="0">
                <a:latin typeface="TimesNewRomanPS-BoldItalicMT"/>
              </a:rPr>
              <a:t> </a:t>
            </a:r>
            <a:r>
              <a:rPr lang="ru-RU" sz="2200" b="1" i="1" u="none" strike="noStrike" baseline="0" dirty="0" err="1">
                <a:latin typeface="TimesNewRomanPS-BoldItalicMT"/>
              </a:rPr>
              <a:t>testing</a:t>
            </a:r>
            <a:r>
              <a:rPr lang="ru-RU" sz="2200" b="1" i="1" u="none" strike="noStrike" baseline="0" dirty="0">
                <a:latin typeface="TimesNewRomanPS-BoldItalicMT"/>
              </a:rPr>
              <a:t>) - </a:t>
            </a:r>
            <a:r>
              <a:rPr lang="ru-RU" sz="2200" b="0" i="0" u="none" strike="noStrike" baseline="0" dirty="0">
                <a:latin typeface="TimesNewRomanPSMT"/>
              </a:rPr>
              <a:t>исследование, выполняемое с целью определения, удобен ли некоторый искусственный объект (такой как веб-страница, пользовательский интерфейс или устройство) для его предполагаемого применения.</a:t>
            </a:r>
          </a:p>
          <a:p>
            <a:pPr algn="l">
              <a:lnSpc>
                <a:spcPct val="150000"/>
              </a:lnSpc>
            </a:pPr>
            <a:r>
              <a:rPr lang="ru-RU" sz="2200" b="0" i="0" u="none" strike="noStrike" baseline="0" dirty="0">
                <a:latin typeface="TimesNewRomanPSMT"/>
              </a:rPr>
              <a:t>Таким образом, проверка эргономичности измеряет эргономичность объекта или системы.</a:t>
            </a:r>
          </a:p>
          <a:p>
            <a:pPr algn="l">
              <a:lnSpc>
                <a:spcPct val="150000"/>
              </a:lnSpc>
            </a:pPr>
            <a:r>
              <a:rPr lang="ru-RU" sz="2200" b="0" i="0" u="none" strike="noStrike" baseline="0" dirty="0">
                <a:latin typeface="TimesNewRomanPSMT"/>
              </a:rPr>
              <a:t>Проверка эргономичности сосредоточена на определённом объекте или небольшом наборе объектов, в то время как исследования взаимодействие человек-компьютер в целом —формулируют универсальные принципы .</a:t>
            </a:r>
          </a:p>
          <a:p>
            <a:pPr algn="l">
              <a:lnSpc>
                <a:spcPct val="150000"/>
              </a:lnSpc>
            </a:pPr>
            <a:r>
              <a:rPr lang="ru-RU" sz="2200" b="0" i="0" u="none" strike="noStrike" baseline="0" dirty="0">
                <a:latin typeface="TimesNewRomanPSMT"/>
              </a:rPr>
              <a:t>Это метод оценки удобства продукта в использовании, основанный на привлечении</a:t>
            </a:r>
          </a:p>
          <a:p>
            <a:pPr algn="l">
              <a:lnSpc>
                <a:spcPct val="150000"/>
              </a:lnSpc>
            </a:pPr>
            <a:r>
              <a:rPr lang="ru-RU" sz="2200" b="0" i="0" u="none" strike="noStrike" baseline="0" dirty="0">
                <a:latin typeface="TimesNewRomanPSMT"/>
              </a:rPr>
              <a:t>пользователей в качестве тестировщиков, испытателей и суммировании полученных от них выводов.</a:t>
            </a:r>
            <a:endParaRPr lang="en-US" sz="2200" dirty="0"/>
          </a:p>
        </p:txBody>
      </p:sp>
    </p:spTree>
    <p:extLst>
      <p:ext uri="{BB962C8B-B14F-4D97-AF65-F5344CB8AC3E}">
        <p14:creationId xmlns:p14="http://schemas.microsoft.com/office/powerpoint/2010/main" val="334968572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417250" y="355107"/>
            <a:ext cx="11620870" cy="4918229"/>
          </a:xfrm>
        </p:spPr>
        <p:txBody>
          <a:bodyPr>
            <a:noAutofit/>
          </a:bodyPr>
          <a:lstStyle/>
          <a:p>
            <a:pPr algn="l">
              <a:lnSpc>
                <a:spcPct val="120000"/>
              </a:lnSpc>
            </a:pPr>
            <a:r>
              <a:rPr lang="ru-RU" sz="2200" b="0" i="0" u="none" strike="noStrike" baseline="0" dirty="0">
                <a:latin typeface="TimesNewRomanPSMT"/>
              </a:rPr>
              <a:t>При испытании многих продуктов пользователю предлагают в «лабораторных» условиях решить основные задачи, для выполнения которых этот продукт разрабатывался, и просят высказывать во время выполнения этих тестов свои замечания.</a:t>
            </a:r>
          </a:p>
          <a:p>
            <a:pPr algn="l">
              <a:lnSpc>
                <a:spcPct val="120000"/>
              </a:lnSpc>
            </a:pPr>
            <a:r>
              <a:rPr lang="ru-RU" sz="2200" b="0" i="0" u="none" strike="noStrike" baseline="0" dirty="0">
                <a:latin typeface="TimesNewRomanPSMT"/>
              </a:rPr>
              <a:t>Процесс тестирования фиксируется в протоколе (логе) и/или на аудио- и видеоустройства — с целью последующего более детального анализа.</a:t>
            </a:r>
          </a:p>
          <a:p>
            <a:pPr algn="l">
              <a:lnSpc>
                <a:spcPct val="120000"/>
              </a:lnSpc>
            </a:pPr>
            <a:r>
              <a:rPr lang="ru-RU" sz="2200" b="0" i="0" u="none" strike="noStrike" baseline="0" dirty="0">
                <a:latin typeface="TimesNewRomanPSMT"/>
              </a:rPr>
              <a:t>Если юзабилити-тестирование выявляет какие-либо трудности (например сложности в понимании инструкций, выполнении действий или интерпретации ответов системы), то разработчики должны доработать продукт и повторить тестирование.</a:t>
            </a:r>
          </a:p>
          <a:p>
            <a:pPr algn="l">
              <a:lnSpc>
                <a:spcPct val="120000"/>
              </a:lnSpc>
            </a:pPr>
            <a:r>
              <a:rPr lang="ru-RU" sz="2200" b="0" i="0" u="none" strike="noStrike" baseline="0" dirty="0">
                <a:latin typeface="TimesNewRomanPSMT"/>
              </a:rPr>
              <a:t>Наблюдение за тем, как люди взаимодействуют с продуктом, нередко позволяет найти для него более оптимальные решения. Если при тестировании используется модератор, то его задача — держать респондента сфокусированным на задачах (но при этом не "помогать" ему решать эти задачи).</a:t>
            </a:r>
            <a:endParaRPr lang="en-US" sz="2200" dirty="0"/>
          </a:p>
        </p:txBody>
      </p:sp>
    </p:spTree>
    <p:extLst>
      <p:ext uri="{BB962C8B-B14F-4D97-AF65-F5344CB8AC3E}">
        <p14:creationId xmlns:p14="http://schemas.microsoft.com/office/powerpoint/2010/main" val="10838248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660647" y="511730"/>
            <a:ext cx="10515600" cy="4351338"/>
          </a:xfrm>
        </p:spPr>
        <p:txBody>
          <a:bodyPr>
            <a:normAutofit lnSpcReduction="10000"/>
          </a:bodyPr>
          <a:lstStyle/>
          <a:p>
            <a:pPr marL="0" indent="0" algn="l">
              <a:buNone/>
            </a:pPr>
            <a:r>
              <a:rPr lang="ru-RU" sz="1800" b="1" i="1" u="none" strike="noStrike" baseline="0" dirty="0">
                <a:latin typeface="TimesNewRomanPSMT"/>
              </a:rPr>
              <a:t>Основную трудность после проведения процедуры юзабилити-тестирования нередко</a:t>
            </a:r>
          </a:p>
          <a:p>
            <a:pPr algn="l"/>
            <a:r>
              <a:rPr lang="ru-RU" sz="1800" b="1" i="1" u="none" strike="noStrike" baseline="0" dirty="0">
                <a:latin typeface="TimesNewRomanPSMT"/>
              </a:rPr>
              <a:t>представляют большие объёмы и беспорядочность полученных данных</a:t>
            </a:r>
            <a:r>
              <a:rPr lang="ru-RU" sz="1800" b="0" i="0" u="none" strike="noStrike" baseline="0" dirty="0">
                <a:latin typeface="TimesNewRomanPSMT"/>
              </a:rPr>
              <a:t>. </a:t>
            </a:r>
          </a:p>
          <a:p>
            <a:pPr algn="l"/>
            <a:r>
              <a:rPr lang="ru-RU" sz="1800" b="0" i="0" u="none" strike="noStrike" baseline="0" dirty="0">
                <a:latin typeface="TimesNewRomanPSMT"/>
              </a:rPr>
              <a:t>Поэтому для последующего анализа важно зафиксировать:</a:t>
            </a:r>
          </a:p>
          <a:p>
            <a:pPr algn="l"/>
            <a:r>
              <a:rPr lang="ru-RU" sz="1800" b="0" i="0" u="none" strike="noStrike" baseline="0" dirty="0">
                <a:latin typeface="TimesNewRomanPSMT"/>
              </a:rPr>
              <a:t>1) речь модератора и респондента;</a:t>
            </a:r>
          </a:p>
          <a:p>
            <a:pPr algn="l"/>
            <a:r>
              <a:rPr lang="ru-RU" sz="1800" b="0" i="0" u="none" strike="noStrike" baseline="0" dirty="0">
                <a:latin typeface="TimesNewRomanPSMT"/>
              </a:rPr>
              <a:t>2) выражение лица респондента (снимается на видеокамеру);</a:t>
            </a:r>
          </a:p>
          <a:p>
            <a:pPr algn="l"/>
            <a:r>
              <a:rPr lang="ru-RU" sz="1800" b="0" i="0" u="none" strike="noStrike" baseline="0" dirty="0">
                <a:latin typeface="TimesNewRomanPSMT"/>
              </a:rPr>
              <a:t>3) изображение экрана компьютера, с которым работает респондент;</a:t>
            </a:r>
          </a:p>
          <a:p>
            <a:pPr algn="l"/>
            <a:r>
              <a:rPr lang="ru-RU" sz="1800" b="0" i="0" u="none" strike="noStrike" baseline="0" dirty="0">
                <a:latin typeface="TimesNewRomanPSMT"/>
              </a:rPr>
              <a:t>4) различные события, происходящие на компьютере, связанные с действиями</a:t>
            </a:r>
          </a:p>
          <a:p>
            <a:pPr algn="l"/>
            <a:r>
              <a:rPr lang="ru-RU" sz="1800" b="0" i="0" u="none" strike="noStrike" baseline="0" dirty="0">
                <a:latin typeface="TimesNewRomanPSMT"/>
              </a:rPr>
              <a:t>пользователя:</a:t>
            </a:r>
          </a:p>
          <a:p>
            <a:pPr algn="l"/>
            <a:endParaRPr lang="en-US" sz="1800" b="0" i="0" u="none" strike="noStrike" baseline="0" dirty="0">
              <a:latin typeface="TimesNewRomanPSMT"/>
            </a:endParaRPr>
          </a:p>
          <a:p>
            <a:pPr algn="l"/>
            <a:r>
              <a:rPr lang="ru-RU" sz="1800" b="0" i="0" u="none" strike="noStrike" baseline="0" dirty="0">
                <a:latin typeface="SymbolMT"/>
              </a:rPr>
              <a:t> </a:t>
            </a:r>
            <a:r>
              <a:rPr lang="ru-RU" sz="1800" b="0" i="0" u="none" strike="noStrike" baseline="0" dirty="0">
                <a:latin typeface="TimesNewRomanPSMT"/>
              </a:rPr>
              <a:t>перемещение курсора и нажатия на клавиши мыши;</a:t>
            </a:r>
          </a:p>
          <a:p>
            <a:pPr algn="l"/>
            <a:r>
              <a:rPr lang="ru-RU" sz="1800" b="0" i="0" u="none" strike="noStrike" baseline="0" dirty="0">
                <a:latin typeface="SymbolMT"/>
              </a:rPr>
              <a:t> </a:t>
            </a:r>
            <a:r>
              <a:rPr lang="ru-RU" sz="1800" b="0" i="0" u="none" strike="noStrike" baseline="0" dirty="0">
                <a:latin typeface="TimesNewRomanPSMT"/>
              </a:rPr>
              <a:t>использование клавиатуры;</a:t>
            </a:r>
          </a:p>
          <a:p>
            <a:pPr algn="l"/>
            <a:r>
              <a:rPr lang="ru-RU" sz="1800" b="0" i="0" u="none" strike="noStrike" baseline="0" dirty="0">
                <a:latin typeface="SymbolMT"/>
              </a:rPr>
              <a:t> </a:t>
            </a:r>
            <a:r>
              <a:rPr lang="ru-RU" sz="1800" b="0" i="0" u="none" strike="noStrike" baseline="0" dirty="0">
                <a:latin typeface="TimesNewRomanPSMT"/>
              </a:rPr>
              <a:t>переходы между экранами (браузера или другой программы)</a:t>
            </a:r>
            <a:endParaRPr lang="en-US" dirty="0"/>
          </a:p>
        </p:txBody>
      </p:sp>
    </p:spTree>
    <p:extLst>
      <p:ext uri="{BB962C8B-B14F-4D97-AF65-F5344CB8AC3E}">
        <p14:creationId xmlns:p14="http://schemas.microsoft.com/office/powerpoint/2010/main" val="171089019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660647" y="1079900"/>
            <a:ext cx="11466250" cy="4903649"/>
          </a:xfrm>
        </p:spPr>
        <p:txBody>
          <a:bodyPr>
            <a:noAutofit/>
          </a:bodyPr>
          <a:lstStyle/>
          <a:p>
            <a:pPr algn="l">
              <a:lnSpc>
                <a:spcPct val="150000"/>
              </a:lnSpc>
            </a:pPr>
            <a:r>
              <a:rPr lang="ru-RU" sz="2200" b="0" i="0" u="none" strike="noStrike" baseline="0" dirty="0">
                <a:latin typeface="TimesNewRomanPSMT"/>
              </a:rPr>
              <a:t>Все эти потоки данных должны быть синхронизированы по тайм-кодам, чтобы при анализе</a:t>
            </a:r>
          </a:p>
          <a:p>
            <a:pPr algn="l">
              <a:lnSpc>
                <a:spcPct val="150000"/>
              </a:lnSpc>
            </a:pPr>
            <a:r>
              <a:rPr lang="ru-RU" sz="2200" b="0" i="0" u="none" strike="noStrike" baseline="0" dirty="0">
                <a:latin typeface="TimesNewRomanPSMT"/>
              </a:rPr>
              <a:t>их можно было бы соотносить между собой.</a:t>
            </a:r>
          </a:p>
          <a:p>
            <a:pPr algn="l">
              <a:lnSpc>
                <a:spcPct val="150000"/>
              </a:lnSpc>
            </a:pPr>
            <a:r>
              <a:rPr lang="ru-RU" sz="2200" b="0" i="0" u="none" strike="noStrike" baseline="0" dirty="0">
                <a:latin typeface="TimesNewRomanPSMT"/>
              </a:rPr>
              <a:t>Наряду с модератором в тестировании нередко участвуют наблюдатели. По мере</a:t>
            </a:r>
          </a:p>
          <a:p>
            <a:pPr algn="l">
              <a:lnSpc>
                <a:spcPct val="150000"/>
              </a:lnSpc>
            </a:pPr>
            <a:r>
              <a:rPr lang="ru-RU" sz="2200" b="0" i="0" u="none" strike="noStrike" baseline="0" dirty="0">
                <a:latin typeface="TimesNewRomanPSMT"/>
              </a:rPr>
              <a:t>обнаружения проблем они делают свои заметки о ходе тестирования так, чтобы после можно было</a:t>
            </a:r>
          </a:p>
          <a:p>
            <a:pPr algn="l">
              <a:lnSpc>
                <a:spcPct val="150000"/>
              </a:lnSpc>
            </a:pPr>
            <a:r>
              <a:rPr lang="ru-RU" sz="2200" b="0" i="0" u="none" strike="noStrike" baseline="0" dirty="0">
                <a:latin typeface="TimesNewRomanPSMT"/>
              </a:rPr>
              <a:t>синхронизировать их с основной записью. В итоге каждый значимый фрагмент записи теста</a:t>
            </a:r>
          </a:p>
          <a:p>
            <a:pPr algn="l">
              <a:lnSpc>
                <a:spcPct val="150000"/>
              </a:lnSpc>
            </a:pPr>
            <a:r>
              <a:rPr lang="ru-RU" sz="2200" b="0" i="0" u="none" strike="noStrike" baseline="0" dirty="0">
                <a:latin typeface="TimesNewRomanPSMT"/>
              </a:rPr>
              <a:t>оказывается прокомментирован в заметках наблюдателя. В идеале ведущий (т.е. модератор)</a:t>
            </a:r>
          </a:p>
          <a:p>
            <a:pPr algn="l">
              <a:lnSpc>
                <a:spcPct val="150000"/>
              </a:lnSpc>
            </a:pPr>
            <a:r>
              <a:rPr lang="ru-RU" sz="2200" b="0" i="0" u="none" strike="noStrike" baseline="0" dirty="0">
                <a:latin typeface="TimesNewRomanPSMT"/>
              </a:rPr>
              <a:t>представляет разработчика, наблюдатели — заказчика (например издателя), а испытатели —</a:t>
            </a:r>
          </a:p>
          <a:p>
            <a:pPr algn="l">
              <a:lnSpc>
                <a:spcPct val="150000"/>
              </a:lnSpc>
            </a:pPr>
            <a:r>
              <a:rPr lang="ru-RU" sz="2200" b="0" i="0" u="none" strike="noStrike" baseline="0" dirty="0">
                <a:latin typeface="TimesNewRomanPSMT"/>
              </a:rPr>
              <a:t>конечного пользователя (например покупателя).</a:t>
            </a:r>
            <a:endParaRPr lang="en-US" sz="2200" dirty="0"/>
          </a:p>
        </p:txBody>
      </p:sp>
    </p:spTree>
    <p:extLst>
      <p:ext uri="{BB962C8B-B14F-4D97-AF65-F5344CB8AC3E}">
        <p14:creationId xmlns:p14="http://schemas.microsoft.com/office/powerpoint/2010/main" val="162466769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634013" y="804693"/>
            <a:ext cx="10515600" cy="4351338"/>
          </a:xfrm>
        </p:spPr>
        <p:txBody>
          <a:bodyPr>
            <a:normAutofit/>
          </a:bodyPr>
          <a:lstStyle/>
          <a:p>
            <a:pPr algn="l">
              <a:lnSpc>
                <a:spcPct val="150000"/>
              </a:lnSpc>
            </a:pPr>
            <a:r>
              <a:rPr lang="ru-RU" sz="2200" b="0" i="0" u="none" strike="noStrike" baseline="0" dirty="0">
                <a:latin typeface="TimesNewRomanPSMT"/>
              </a:rPr>
              <a:t>Существует еще один подход к </a:t>
            </a:r>
            <a:r>
              <a:rPr lang="ru-RU" sz="2200" b="0" i="0" u="none" strike="noStrike" baseline="0" dirty="0" err="1">
                <a:latin typeface="TimesNewRomanPSMT"/>
              </a:rPr>
              <a:t>usability</a:t>
            </a:r>
            <a:r>
              <a:rPr lang="ru-RU" sz="2200" b="0" i="0" u="none" strike="noStrike" baseline="0" dirty="0">
                <a:latin typeface="TimesNewRomanPSMT"/>
              </a:rPr>
              <a:t>-тестированию: для решения задачи предложенной пользователю разрабатывается "идеальный" сценарий решения этой задачи. Как правило, это сценарий, на который ориентировался разработчик. При выполнении задачи пользователями регистрируются их отклонения от задуманного сценария для последующего анализа. </a:t>
            </a:r>
          </a:p>
          <a:p>
            <a:pPr algn="l">
              <a:lnSpc>
                <a:spcPct val="150000"/>
              </a:lnSpc>
            </a:pPr>
            <a:r>
              <a:rPr lang="ru-RU" sz="2200" b="0" i="0" u="none" strike="noStrike" baseline="0" dirty="0">
                <a:latin typeface="TimesNewRomanPSMT"/>
              </a:rPr>
              <a:t>После нескольких итераций доработки программы и последующего тестирования можно получить удовлетворительный интерфейс с точки зрения пользователя</a:t>
            </a:r>
            <a:endParaRPr lang="en-US" sz="2200" dirty="0"/>
          </a:p>
        </p:txBody>
      </p:sp>
    </p:spTree>
    <p:extLst>
      <p:ext uri="{BB962C8B-B14F-4D97-AF65-F5344CB8AC3E}">
        <p14:creationId xmlns:p14="http://schemas.microsoft.com/office/powerpoint/2010/main" val="85759980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651769" y="813571"/>
            <a:ext cx="10515600" cy="4351338"/>
          </a:xfrm>
        </p:spPr>
        <p:txBody>
          <a:bodyPr>
            <a:normAutofit/>
          </a:bodyPr>
          <a:lstStyle/>
          <a:p>
            <a:pPr algn="l"/>
            <a:r>
              <a:rPr lang="ru-RU" sz="2200" b="1" i="1" u="none" strike="noStrike" baseline="0" dirty="0">
                <a:latin typeface="TimesNewRomanPS-BoldItalicMT"/>
              </a:rPr>
              <a:t>Тестирование интерфейса пользователя </a:t>
            </a:r>
            <a:r>
              <a:rPr lang="ru-RU" sz="2200" b="0" i="0" u="none" strike="noStrike" baseline="0" dirty="0">
                <a:latin typeface="TimesNewRomanPSMT"/>
              </a:rPr>
              <a:t>(UI </a:t>
            </a:r>
            <a:r>
              <a:rPr lang="ru-RU" sz="2200" b="0" i="0" u="none" strike="noStrike" baseline="0" dirty="0" err="1">
                <a:latin typeface="TimesNewRomanPSMT"/>
              </a:rPr>
              <a:t>testing</a:t>
            </a:r>
            <a:r>
              <a:rPr lang="ru-RU" sz="2200" b="0" i="0" u="none" strike="noStrike" baseline="0" dirty="0">
                <a:latin typeface="TimesNewRomanPSMT"/>
              </a:rPr>
              <a:t>) - тестирование графического</a:t>
            </a:r>
          </a:p>
          <a:p>
            <a:pPr algn="l"/>
            <a:r>
              <a:rPr lang="ru-RU" sz="2200" b="0" i="0" u="none" strike="noStrike" baseline="0" dirty="0">
                <a:latin typeface="TimesNewRomanPSMT"/>
              </a:rPr>
              <a:t>интерфейса пользователя для того, чтобы убедиться, что он соответствует принятым стандартам и их требованиям. </a:t>
            </a:r>
          </a:p>
          <a:p>
            <a:pPr algn="l"/>
            <a:r>
              <a:rPr lang="ru-RU" sz="2200" b="0" i="0" u="none" strike="noStrike" baseline="0" dirty="0">
                <a:latin typeface="TimesNewRomanPSMT"/>
              </a:rPr>
              <a:t>Проверяется, как приложение обрабатывает ввод с клавиатуры и «мышки» и как</a:t>
            </a:r>
          </a:p>
          <a:p>
            <a:pPr algn="l"/>
            <a:r>
              <a:rPr lang="ru-RU" sz="2200" b="0" i="0" u="none" strike="noStrike" baseline="0" dirty="0">
                <a:latin typeface="TimesNewRomanPSMT"/>
              </a:rPr>
              <a:t>отображаются элементы графического интерфейса (текст, кнопки, меню, списки и прочие элементы).</a:t>
            </a:r>
            <a:endParaRPr lang="en-US" sz="2200" dirty="0"/>
          </a:p>
        </p:txBody>
      </p:sp>
    </p:spTree>
    <p:extLst>
      <p:ext uri="{BB962C8B-B14F-4D97-AF65-F5344CB8AC3E}">
        <p14:creationId xmlns:p14="http://schemas.microsoft.com/office/powerpoint/2010/main" val="44332263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425018" y="245399"/>
            <a:ext cx="11341963" cy="4353233"/>
          </a:xfrm>
        </p:spPr>
        <p:txBody>
          <a:bodyPr>
            <a:noAutofit/>
          </a:bodyPr>
          <a:lstStyle/>
          <a:p>
            <a:pPr algn="l"/>
            <a:r>
              <a:rPr lang="ru-RU" sz="1900" b="1" i="1" u="none" strike="noStrike" baseline="0" dirty="0">
                <a:solidFill>
                  <a:srgbClr val="FF0000"/>
                </a:solidFill>
                <a:latin typeface="TimesNewRomanPS-BoldItalicMT"/>
              </a:rPr>
              <a:t>Тестирование безопасности </a:t>
            </a:r>
            <a:r>
              <a:rPr lang="ru-RU" sz="1900" b="0" i="0" u="none" strike="noStrike" baseline="0" dirty="0">
                <a:solidFill>
                  <a:srgbClr val="FF0000"/>
                </a:solidFill>
                <a:latin typeface="TimesNewRomanPSMT"/>
              </a:rPr>
              <a:t>(</a:t>
            </a:r>
            <a:r>
              <a:rPr lang="ru-RU" sz="1900" b="0" i="0" u="none" strike="noStrike" baseline="0" dirty="0" err="1">
                <a:solidFill>
                  <a:srgbClr val="FF0000"/>
                </a:solidFill>
                <a:latin typeface="TimesNewRomanPSMT"/>
              </a:rPr>
              <a:t>security</a:t>
            </a:r>
            <a:r>
              <a:rPr lang="ru-RU" sz="1900" b="0" i="0" u="none" strike="noStrike" baseline="0" dirty="0">
                <a:solidFill>
                  <a:srgbClr val="FF0000"/>
                </a:solidFill>
                <a:latin typeface="TimesNewRomanPSMT"/>
              </a:rPr>
              <a:t> </a:t>
            </a:r>
            <a:r>
              <a:rPr lang="ru-RU" sz="1900" b="0" i="0" u="none" strike="noStrike" baseline="0" dirty="0" err="1">
                <a:solidFill>
                  <a:srgbClr val="FF0000"/>
                </a:solidFill>
                <a:latin typeface="TimesNewRomanPSMT"/>
              </a:rPr>
              <a:t>testing</a:t>
            </a:r>
            <a:r>
              <a:rPr lang="ru-RU" sz="1900" b="0" i="0" u="none" strike="noStrike" baseline="0" dirty="0">
                <a:solidFill>
                  <a:srgbClr val="FF0000"/>
                </a:solidFill>
                <a:latin typeface="TimesNewRomanPSMT"/>
              </a:rPr>
              <a:t>) - оценка уязвимости программного</a:t>
            </a:r>
          </a:p>
          <a:p>
            <a:pPr marL="0" indent="0" algn="l">
              <a:buNone/>
            </a:pPr>
            <a:r>
              <a:rPr lang="ru-RU" sz="1900" b="0" i="0" u="none" strike="noStrike" baseline="0" dirty="0">
                <a:solidFill>
                  <a:srgbClr val="FF0000"/>
                </a:solidFill>
                <a:latin typeface="TimesNewRomanPSMT"/>
              </a:rPr>
              <a:t>обеспечения к различным атакам</a:t>
            </a:r>
            <a:r>
              <a:rPr lang="ru-RU" sz="1900" b="0" i="0" u="none" strike="noStrike" baseline="0" dirty="0">
                <a:latin typeface="TimesNewRomanPSMT"/>
              </a:rPr>
              <a:t>. </a:t>
            </a:r>
          </a:p>
          <a:p>
            <a:pPr algn="l"/>
            <a:r>
              <a:rPr lang="ru-RU" sz="1900" b="0" i="0" u="none" strike="noStrike" baseline="0" dirty="0">
                <a:latin typeface="TimesNewRomanPSMT"/>
              </a:rPr>
              <a:t>Компьютерные системы очень часто являются мишенью незаконного проникновения. </a:t>
            </a:r>
          </a:p>
          <a:p>
            <a:pPr marL="0" indent="0" algn="l">
              <a:buNone/>
            </a:pPr>
            <a:r>
              <a:rPr lang="ru-RU" sz="1900" b="1" i="0" u="none" strike="noStrike" baseline="0" dirty="0">
                <a:latin typeface="TimesNewRomanPSMT"/>
              </a:rPr>
              <a:t>Под проникновением понимается широкий диапазон действий</a:t>
            </a:r>
            <a:r>
              <a:rPr lang="ru-RU" sz="1900" b="0" i="0" u="none" strike="noStrike" baseline="0" dirty="0">
                <a:latin typeface="TimesNewRomanPSMT"/>
              </a:rPr>
              <a:t>:</a:t>
            </a:r>
          </a:p>
          <a:p>
            <a:pPr algn="l"/>
            <a:r>
              <a:rPr lang="ru-RU" sz="1900" b="0" i="0" u="none" strike="noStrike" baseline="0" dirty="0">
                <a:latin typeface="TimesNewRomanPSMT"/>
              </a:rPr>
              <a:t>попытки хакеров проникнуть в систему из спортивного интереса, </a:t>
            </a:r>
          </a:p>
          <a:p>
            <a:pPr algn="l"/>
            <a:r>
              <a:rPr lang="ru-RU" sz="1900" b="0" i="0" u="none" strike="noStrike" baseline="0" dirty="0">
                <a:latin typeface="TimesNewRomanPSMT"/>
              </a:rPr>
              <a:t>месть рассерженных служащих,</a:t>
            </a:r>
          </a:p>
          <a:p>
            <a:pPr algn="l"/>
            <a:r>
              <a:rPr lang="ru-RU" sz="1900" b="0" i="0" u="none" strike="noStrike" baseline="0" dirty="0">
                <a:latin typeface="TimesNewRomanPSMT"/>
              </a:rPr>
              <a:t>взлом мошенниками для незаконной наживы. и т.д.</a:t>
            </a:r>
          </a:p>
          <a:p>
            <a:pPr algn="l"/>
            <a:r>
              <a:rPr lang="ru-RU" sz="1900" b="0" i="0" u="none" strike="noStrike" baseline="0" dirty="0">
                <a:latin typeface="TimesNewRomanPSMT"/>
              </a:rPr>
              <a:t>Тестирование безопасности проверяет фактическую реакцию защитных механизмов, встроенных в систему, на проникновение. </a:t>
            </a:r>
          </a:p>
          <a:p>
            <a:pPr algn="l"/>
            <a:r>
              <a:rPr lang="ru-RU" sz="1900" b="0" i="0" u="none" strike="noStrike" baseline="0" dirty="0">
                <a:latin typeface="TimesNewRomanPSMT"/>
              </a:rPr>
              <a:t>В ходе тестирования безопасности испытатель играет роль взломщика. Ему разрешено все:</a:t>
            </a:r>
          </a:p>
          <a:p>
            <a:pPr algn="l"/>
            <a:r>
              <a:rPr lang="ru-RU" sz="1900" b="0" i="0" u="none" strike="noStrike" baseline="0" dirty="0">
                <a:latin typeface="SymbolMT"/>
              </a:rPr>
              <a:t> </a:t>
            </a:r>
            <a:r>
              <a:rPr lang="ru-RU" sz="1900" b="0" i="0" u="none" strike="noStrike" baseline="0" dirty="0">
                <a:latin typeface="TimesNewRomanPSMT"/>
              </a:rPr>
              <a:t>попытки узнать пароль с помощью внешних средств;</a:t>
            </a:r>
          </a:p>
          <a:p>
            <a:pPr algn="l"/>
            <a:r>
              <a:rPr lang="ru-RU" sz="1900" b="0" i="0" u="none" strike="noStrike" baseline="0" dirty="0">
                <a:latin typeface="SymbolMT"/>
              </a:rPr>
              <a:t> </a:t>
            </a:r>
            <a:r>
              <a:rPr lang="ru-RU" sz="1900" b="0" i="0" u="none" strike="noStrike" baseline="0" dirty="0">
                <a:latin typeface="TimesNewRomanPSMT"/>
              </a:rPr>
              <a:t>атака системы с помощью специальных утилит, анализирующих защиты;</a:t>
            </a:r>
          </a:p>
          <a:p>
            <a:pPr algn="l"/>
            <a:r>
              <a:rPr lang="ru-RU" sz="1900" b="0" i="0" u="none" strike="noStrike" baseline="0" dirty="0">
                <a:latin typeface="SymbolMT"/>
              </a:rPr>
              <a:t> </a:t>
            </a:r>
            <a:r>
              <a:rPr lang="ru-RU" sz="1900" b="0" i="0" u="none" strike="noStrike" baseline="0" dirty="0">
                <a:latin typeface="TimesNewRomanPSMT"/>
              </a:rPr>
              <a:t>подавление, ошеломление системы (в надежде, что она откажется обслуживать других</a:t>
            </a:r>
          </a:p>
          <a:p>
            <a:pPr algn="l"/>
            <a:r>
              <a:rPr lang="ru-RU" sz="1900" b="0" i="0" u="none" strike="noStrike" baseline="0" dirty="0">
                <a:latin typeface="TimesNewRomanPSMT"/>
              </a:rPr>
              <a:t>клиентов);</a:t>
            </a:r>
          </a:p>
          <a:p>
            <a:pPr algn="l"/>
            <a:r>
              <a:rPr lang="ru-RU" sz="1900" b="0" i="0" u="none" strike="noStrike" baseline="0" dirty="0">
                <a:latin typeface="SymbolMT"/>
              </a:rPr>
              <a:t> </a:t>
            </a:r>
            <a:r>
              <a:rPr lang="ru-RU" sz="1900" b="0" i="0" u="none" strike="noStrike" baseline="0" dirty="0">
                <a:latin typeface="TimesNewRomanPSMT"/>
              </a:rPr>
              <a:t>целенаправленное введение ошибок в надежде проникнуть в систему в ходе</a:t>
            </a:r>
          </a:p>
          <a:p>
            <a:pPr algn="l"/>
            <a:r>
              <a:rPr lang="ru-RU" sz="1900" b="0" i="0" u="none" strike="noStrike" baseline="0" dirty="0">
                <a:latin typeface="TimesNewRomanPSMT"/>
              </a:rPr>
              <a:t>восстановления;</a:t>
            </a:r>
          </a:p>
          <a:p>
            <a:pPr algn="l"/>
            <a:r>
              <a:rPr lang="ru-RU" sz="1900" b="0" i="0" u="none" strike="noStrike" baseline="0" dirty="0">
                <a:latin typeface="SymbolMT"/>
              </a:rPr>
              <a:t> </a:t>
            </a:r>
            <a:r>
              <a:rPr lang="ru-RU" sz="1900" b="0" i="0" u="none" strike="noStrike" baseline="0" dirty="0">
                <a:latin typeface="TimesNewRomanPSMT"/>
              </a:rPr>
              <a:t>просмотр несекретных данных в надежде найти ключ для входа в систему.</a:t>
            </a:r>
            <a:endParaRPr lang="en-US" sz="1900" dirty="0"/>
          </a:p>
        </p:txBody>
      </p:sp>
    </p:spTree>
    <p:extLst>
      <p:ext uri="{BB962C8B-B14F-4D97-AF65-F5344CB8AC3E}">
        <p14:creationId xmlns:p14="http://schemas.microsoft.com/office/powerpoint/2010/main" val="3029507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642891" y="893470"/>
            <a:ext cx="10515600" cy="4351338"/>
          </a:xfrm>
        </p:spPr>
        <p:txBody>
          <a:bodyPr>
            <a:normAutofit/>
          </a:bodyPr>
          <a:lstStyle/>
          <a:p>
            <a:pPr algn="l">
              <a:lnSpc>
                <a:spcPct val="150000"/>
              </a:lnSpc>
            </a:pPr>
            <a:r>
              <a:rPr lang="ru-RU" sz="2200" b="1" i="1" u="none" strike="noStrike" baseline="0" dirty="0">
                <a:latin typeface="TimesNewRomanPS-BoldItalicMT"/>
              </a:rPr>
              <a:t>Тестирование локализации </a:t>
            </a:r>
            <a:r>
              <a:rPr lang="ru-RU" sz="2200" b="0" i="0" u="none" strike="noStrike" baseline="0" dirty="0">
                <a:latin typeface="TimesNewRomanPSMT"/>
              </a:rPr>
              <a:t>(</a:t>
            </a:r>
            <a:r>
              <a:rPr lang="ru-RU" sz="2200" b="0" i="0" u="none" strike="noStrike" baseline="0" dirty="0" err="1">
                <a:latin typeface="TimesNewRomanPSMT"/>
              </a:rPr>
              <a:t>Localization</a:t>
            </a:r>
            <a:r>
              <a:rPr lang="ru-RU" sz="2200" b="0" i="0" u="none" strike="noStrike" baseline="0" dirty="0">
                <a:latin typeface="TimesNewRomanPSMT"/>
              </a:rPr>
              <a:t> </a:t>
            </a:r>
            <a:r>
              <a:rPr lang="ru-RU" sz="2200" b="0" i="0" u="none" strike="noStrike" baseline="0" dirty="0" err="1">
                <a:latin typeface="TimesNewRomanPSMT"/>
              </a:rPr>
              <a:t>testing</a:t>
            </a:r>
            <a:r>
              <a:rPr lang="ru-RU" sz="2200" b="0" i="0" u="none" strike="noStrike" baseline="0" dirty="0">
                <a:latin typeface="TimesNewRomanPSMT"/>
              </a:rPr>
              <a:t>) - многогранная вещь, подразумевающая проверку множества аспектов, связанных с адаптацией продукта для пользователей из других стран. </a:t>
            </a:r>
          </a:p>
          <a:p>
            <a:pPr algn="l">
              <a:lnSpc>
                <a:spcPct val="150000"/>
              </a:lnSpc>
            </a:pPr>
            <a:r>
              <a:rPr lang="ru-RU" sz="2200" b="0" i="0" u="none" strike="noStrike" baseline="0" dirty="0">
                <a:latin typeface="TimesNewRomanPSMT"/>
              </a:rPr>
              <a:t>Например, тестирование локализации для пользователей из Японии может заключаться в проверке того, не выдаст ли система ошибку, если этот пользователь на сайте знакомств введет рассказ о себе символами </a:t>
            </a:r>
            <a:r>
              <a:rPr lang="ru-RU" sz="2200" b="0" i="1" u="none" strike="noStrike" baseline="0" dirty="0" err="1">
                <a:latin typeface="TimesNewRomanPS-ItalicMT"/>
              </a:rPr>
              <a:t>Kanji</a:t>
            </a:r>
            <a:r>
              <a:rPr lang="ru-RU" sz="2200" b="0" i="1" u="none" strike="noStrike" baseline="0" dirty="0">
                <a:latin typeface="TimesNewRomanPS-ItalicMT"/>
              </a:rPr>
              <a:t>, </a:t>
            </a:r>
            <a:r>
              <a:rPr lang="ru-RU" sz="2200" b="0" i="0" u="none" strike="noStrike" baseline="0" dirty="0">
                <a:latin typeface="TimesNewRomanPSMT"/>
              </a:rPr>
              <a:t>а не английским шрифтом.</a:t>
            </a:r>
            <a:endParaRPr lang="en-US" sz="2200" dirty="0"/>
          </a:p>
        </p:txBody>
      </p:sp>
    </p:spTree>
    <p:extLst>
      <p:ext uri="{BB962C8B-B14F-4D97-AF65-F5344CB8AC3E}">
        <p14:creationId xmlns:p14="http://schemas.microsoft.com/office/powerpoint/2010/main" val="81076324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648070" y="257452"/>
            <a:ext cx="11807300" cy="4900474"/>
          </a:xfrm>
        </p:spPr>
        <p:txBody>
          <a:bodyPr>
            <a:noAutofit/>
          </a:bodyPr>
          <a:lstStyle/>
          <a:p>
            <a:pPr algn="l">
              <a:lnSpc>
                <a:spcPct val="150000"/>
              </a:lnSpc>
            </a:pPr>
            <a:r>
              <a:rPr lang="ru-RU" sz="2200" b="1" i="1" u="none" strike="noStrike" baseline="0" dirty="0">
                <a:latin typeface="TimesNewRomanPS-BoldItalicMT"/>
              </a:rPr>
              <a:t>Тестирование совместимости </a:t>
            </a:r>
            <a:r>
              <a:rPr lang="ru-RU" sz="2200" b="0" i="0" u="none" strike="noStrike" baseline="0" dirty="0">
                <a:latin typeface="TimesNewRomanPSMT"/>
              </a:rPr>
              <a:t>(</a:t>
            </a:r>
            <a:r>
              <a:rPr lang="ru-RU" sz="2200" b="0" i="0" u="none" strike="noStrike" baseline="0" dirty="0" err="1">
                <a:latin typeface="TimesNewRomanPSMT"/>
              </a:rPr>
              <a:t>Compatibility</a:t>
            </a:r>
            <a:r>
              <a:rPr lang="ru-RU" sz="2200" b="0" i="0" u="none" strike="noStrike" baseline="0" dirty="0">
                <a:latin typeface="TimesNewRomanPSMT"/>
              </a:rPr>
              <a:t> </a:t>
            </a:r>
            <a:r>
              <a:rPr lang="ru-RU" sz="2200" b="0" i="0" u="none" strike="noStrike" baseline="0" dirty="0" err="1">
                <a:latin typeface="TimesNewRomanPSMT"/>
              </a:rPr>
              <a:t>testing</a:t>
            </a:r>
            <a:r>
              <a:rPr lang="ru-RU" sz="2200" b="0" i="0" u="none" strike="noStrike" baseline="0" dirty="0">
                <a:latin typeface="TimesNewRomanPSMT"/>
              </a:rPr>
              <a:t>) — вид нефункционального</a:t>
            </a:r>
          </a:p>
          <a:p>
            <a:pPr algn="l">
              <a:lnSpc>
                <a:spcPct val="150000"/>
              </a:lnSpc>
            </a:pPr>
            <a:r>
              <a:rPr lang="ru-RU" sz="2200" b="0" i="0" u="none" strike="noStrike" baseline="0" dirty="0">
                <a:latin typeface="TimesNewRomanPSMT"/>
              </a:rPr>
              <a:t>тестирования, основной целью которого является проверка корректной работы продукта в</a:t>
            </a:r>
          </a:p>
          <a:p>
            <a:pPr algn="l">
              <a:lnSpc>
                <a:spcPct val="150000"/>
              </a:lnSpc>
            </a:pPr>
            <a:r>
              <a:rPr lang="ru-RU" sz="2200" b="0" i="0" u="none" strike="noStrike" baseline="0" dirty="0">
                <a:latin typeface="TimesNewRomanPSMT"/>
              </a:rPr>
              <a:t>определенном окружении. Окружение может включать в себя следующие элементы:</a:t>
            </a:r>
          </a:p>
          <a:p>
            <a:pPr algn="l">
              <a:lnSpc>
                <a:spcPct val="150000"/>
              </a:lnSpc>
            </a:pPr>
            <a:r>
              <a:rPr lang="ru-RU" sz="2200" b="0" i="0" u="none" strike="noStrike" baseline="0" dirty="0">
                <a:latin typeface="SymbolMT"/>
              </a:rPr>
              <a:t> </a:t>
            </a:r>
            <a:r>
              <a:rPr lang="ru-RU" sz="2200" b="0" i="0" u="none" strike="noStrike" baseline="0" dirty="0">
                <a:latin typeface="TimesNewRomanPSMT"/>
              </a:rPr>
              <a:t>аппаратная платформа;</a:t>
            </a:r>
          </a:p>
          <a:p>
            <a:pPr algn="l">
              <a:lnSpc>
                <a:spcPct val="150000"/>
              </a:lnSpc>
            </a:pPr>
            <a:r>
              <a:rPr lang="ru-RU" sz="2200" b="0" i="0" u="none" strike="noStrike" baseline="0" dirty="0">
                <a:latin typeface="SymbolMT"/>
              </a:rPr>
              <a:t> </a:t>
            </a:r>
            <a:r>
              <a:rPr lang="ru-RU" sz="2200" b="0" i="0" u="none" strike="noStrike" baseline="0" dirty="0">
                <a:latin typeface="TimesNewRomanPSMT"/>
              </a:rPr>
              <a:t>сетевые устройства;</a:t>
            </a:r>
          </a:p>
          <a:p>
            <a:pPr algn="l">
              <a:lnSpc>
                <a:spcPct val="150000"/>
              </a:lnSpc>
            </a:pPr>
            <a:r>
              <a:rPr lang="ru-RU" sz="2200" b="0" i="0" u="none" strike="noStrike" baseline="0" dirty="0">
                <a:latin typeface="SymbolMT"/>
              </a:rPr>
              <a:t> </a:t>
            </a:r>
            <a:r>
              <a:rPr lang="ru-RU" sz="2200" b="0" i="0" u="none" strike="noStrike" baseline="0" dirty="0">
                <a:latin typeface="TimesNewRomanPSMT"/>
              </a:rPr>
              <a:t>периферия (принтеры, CD/DVD-приводы, веб-камеры и пр.);</a:t>
            </a:r>
          </a:p>
          <a:p>
            <a:pPr algn="l">
              <a:lnSpc>
                <a:spcPct val="150000"/>
              </a:lnSpc>
            </a:pPr>
            <a:r>
              <a:rPr lang="ru-RU" sz="2200" b="0" i="0" u="none" strike="noStrike" baseline="0" dirty="0">
                <a:latin typeface="SymbolMT"/>
              </a:rPr>
              <a:t> </a:t>
            </a:r>
            <a:r>
              <a:rPr lang="ru-RU" sz="2200" b="0" i="0" u="none" strike="noStrike" baseline="0" dirty="0">
                <a:latin typeface="TimesNewRomanPSMT"/>
              </a:rPr>
              <a:t>операционная система (</a:t>
            </a:r>
            <a:r>
              <a:rPr lang="ru-RU" sz="2200" b="0" i="0" u="none" strike="noStrike" baseline="0" dirty="0" err="1">
                <a:latin typeface="TimesNewRomanPSMT"/>
              </a:rPr>
              <a:t>Unix</a:t>
            </a:r>
            <a:r>
              <a:rPr lang="ru-RU" sz="2200" b="0" i="0" u="none" strike="noStrike" baseline="0" dirty="0">
                <a:latin typeface="TimesNewRomanPSMT"/>
              </a:rPr>
              <a:t>, </a:t>
            </a:r>
            <a:r>
              <a:rPr lang="ru-RU" sz="2200" b="0" i="0" u="none" strike="noStrike" baseline="0" dirty="0" err="1">
                <a:latin typeface="TimesNewRomanPSMT"/>
              </a:rPr>
              <a:t>Windows</a:t>
            </a:r>
            <a:r>
              <a:rPr lang="ru-RU" sz="2200" b="0" i="0" u="none" strike="noStrike" baseline="0" dirty="0">
                <a:latin typeface="TimesNewRomanPSMT"/>
              </a:rPr>
              <a:t>, </a:t>
            </a:r>
            <a:r>
              <a:rPr lang="ru-RU" sz="2200" b="0" i="0" u="none" strike="noStrike" baseline="0" dirty="0" err="1">
                <a:latin typeface="TimesNewRomanPSMT"/>
              </a:rPr>
              <a:t>MacOS</a:t>
            </a:r>
            <a:r>
              <a:rPr lang="ru-RU" sz="2200" b="0" i="0" u="none" strike="noStrike" baseline="0" dirty="0">
                <a:latin typeface="TimesNewRomanPSMT"/>
              </a:rPr>
              <a:t>, ...);</a:t>
            </a:r>
          </a:p>
          <a:p>
            <a:pPr algn="l">
              <a:lnSpc>
                <a:spcPct val="150000"/>
              </a:lnSpc>
            </a:pPr>
            <a:r>
              <a:rPr lang="ru-RU" sz="2200" b="0" i="0" u="none" strike="noStrike" baseline="0" dirty="0">
                <a:latin typeface="SymbolMT"/>
              </a:rPr>
              <a:t> </a:t>
            </a:r>
            <a:r>
              <a:rPr lang="ru-RU" sz="2200" b="0" i="0" u="none" strike="noStrike" baseline="0" dirty="0">
                <a:latin typeface="TimesNewRomanPSMT"/>
              </a:rPr>
              <a:t>базы данных (</a:t>
            </a:r>
            <a:r>
              <a:rPr lang="en-US" sz="2200" b="0" i="0" u="none" strike="noStrike" baseline="0" dirty="0">
                <a:latin typeface="TimesNewRomanPSMT"/>
              </a:rPr>
              <a:t>Oracle, MS SQL, MySQL, ...);</a:t>
            </a:r>
          </a:p>
          <a:p>
            <a:pPr algn="l">
              <a:lnSpc>
                <a:spcPct val="150000"/>
              </a:lnSpc>
            </a:pPr>
            <a:r>
              <a:rPr lang="ru-RU" sz="2200" b="0" i="0" u="none" strike="noStrike" baseline="0" dirty="0">
                <a:latin typeface="SymbolMT"/>
              </a:rPr>
              <a:t> </a:t>
            </a:r>
            <a:r>
              <a:rPr lang="ru-RU" sz="2200" b="0" i="0" u="none" strike="noStrike" baseline="0" dirty="0">
                <a:latin typeface="TimesNewRomanPSMT"/>
              </a:rPr>
              <a:t>системное программное обеспечение (веб-сервер, </a:t>
            </a:r>
            <a:r>
              <a:rPr lang="ru-RU" sz="2200" b="0" i="0" u="none" strike="noStrike" baseline="0" dirty="0" err="1">
                <a:latin typeface="TimesNewRomanPSMT"/>
              </a:rPr>
              <a:t>файрвол</a:t>
            </a:r>
            <a:r>
              <a:rPr lang="ru-RU" sz="2200" b="0" i="0" u="none" strike="noStrike" baseline="0" dirty="0">
                <a:latin typeface="TimesNewRomanPSMT"/>
              </a:rPr>
              <a:t>, антивирус, ...);</a:t>
            </a:r>
          </a:p>
          <a:p>
            <a:pPr algn="l">
              <a:lnSpc>
                <a:spcPct val="150000"/>
              </a:lnSpc>
            </a:pPr>
            <a:r>
              <a:rPr lang="ru-RU" sz="2200" b="0" i="0" u="none" strike="noStrike" baseline="0" dirty="0">
                <a:latin typeface="SymbolMT"/>
              </a:rPr>
              <a:t> </a:t>
            </a:r>
            <a:r>
              <a:rPr lang="ru-RU" sz="2200" b="0" i="0" u="none" strike="noStrike" baseline="0" dirty="0">
                <a:latin typeface="TimesNewRomanPSMT"/>
              </a:rPr>
              <a:t>браузеры (</a:t>
            </a:r>
            <a:r>
              <a:rPr lang="en-US" sz="2200" b="0" i="0" u="none" strike="noStrike" baseline="0" dirty="0">
                <a:latin typeface="TimesNewRomanPSMT"/>
              </a:rPr>
              <a:t>Internet Explorer, Firefox, Opera, Chrome, Safari).</a:t>
            </a:r>
            <a:endParaRPr lang="en-US" sz="2200" dirty="0"/>
          </a:p>
        </p:txBody>
      </p:sp>
    </p:spTree>
    <p:extLst>
      <p:ext uri="{BB962C8B-B14F-4D97-AF65-F5344CB8AC3E}">
        <p14:creationId xmlns:p14="http://schemas.microsoft.com/office/powerpoint/2010/main" val="115094644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651769" y="529486"/>
            <a:ext cx="10995734" cy="5702638"/>
          </a:xfrm>
        </p:spPr>
        <p:txBody>
          <a:bodyPr>
            <a:normAutofit/>
          </a:bodyPr>
          <a:lstStyle/>
          <a:p>
            <a:r>
              <a:rPr lang="ru-RU" sz="1800" b="1" i="0" u="none" strike="noStrike" baseline="0" dirty="0">
                <a:latin typeface="TimesNewRomanPS-BoldMT"/>
              </a:rPr>
              <a:t>ПРОЦЕСС ТЕСТИРОВАНИЯ</a:t>
            </a:r>
          </a:p>
          <a:p>
            <a:pPr algn="l"/>
            <a:r>
              <a:rPr lang="ru-RU" sz="1800" b="1" i="1" u="none" strike="noStrike" baseline="0" dirty="0">
                <a:latin typeface="TimesNewRomanPS-BoldItalicMT"/>
              </a:rPr>
              <a:t>Этапы и задачи</a:t>
            </a:r>
          </a:p>
          <a:p>
            <a:pPr marL="0" indent="0" algn="l">
              <a:buNone/>
            </a:pPr>
            <a:r>
              <a:rPr lang="ru-RU" sz="1800" b="0" i="0" u="none" strike="noStrike" baseline="0" dirty="0">
                <a:latin typeface="TimesNewRomanPSMT"/>
              </a:rPr>
              <a:t>Тестирование — это проверка соответствия программного обеспечения требованиям,</a:t>
            </a:r>
          </a:p>
          <a:p>
            <a:pPr marL="0" indent="0" algn="l">
              <a:buNone/>
            </a:pPr>
            <a:r>
              <a:rPr lang="ru-RU" sz="1800" b="0" i="0" u="none" strike="noStrike" baseline="0" dirty="0">
                <a:latin typeface="TimesNewRomanPSMT"/>
              </a:rPr>
              <a:t>осуществляемая с помощью наблюдения за его работой в специальных, искусственно построенных</a:t>
            </a:r>
          </a:p>
          <a:p>
            <a:pPr marL="0" indent="0" algn="l">
              <a:buNone/>
            </a:pPr>
            <a:r>
              <a:rPr lang="ru-RU" sz="1800" b="0" i="0" u="none" strike="noStrike" baseline="0" dirty="0">
                <a:latin typeface="TimesNewRomanPSMT"/>
              </a:rPr>
              <a:t>ситуациях. Такого рода ситуации называют тестовыми или просто тестами .</a:t>
            </a:r>
          </a:p>
          <a:p>
            <a:pPr marL="0" indent="0" algn="l">
              <a:buNone/>
            </a:pPr>
            <a:endParaRPr lang="ru-RU" sz="1800" b="0" i="0" u="none" strike="noStrike" baseline="0" dirty="0">
              <a:latin typeface="TimesNewRomanPSMT"/>
            </a:endParaRPr>
          </a:p>
          <a:p>
            <a:pPr marL="0" indent="0" algn="l">
              <a:buNone/>
            </a:pPr>
            <a:r>
              <a:rPr lang="ru-RU" sz="1800" b="0" i="0" u="none" strike="noStrike" baseline="0" dirty="0">
                <a:latin typeface="TimesNewRomanPSMT"/>
              </a:rPr>
              <a:t>Тестирование — конечная процедура. Набор ситуаций, в которых будет проверяться</a:t>
            </a:r>
          </a:p>
          <a:p>
            <a:pPr marL="0" indent="0" algn="l">
              <a:buNone/>
            </a:pPr>
            <a:r>
              <a:rPr lang="ru-RU" sz="1800" b="0" i="0" u="none" strike="noStrike" baseline="0" dirty="0">
                <a:latin typeface="TimesNewRomanPSMT"/>
              </a:rPr>
              <a:t>тестируемое программное обеспечение, всегда конечен. Более того, он должен быть настолько мал,</a:t>
            </a:r>
          </a:p>
          <a:p>
            <a:pPr marL="0" indent="0" algn="l">
              <a:buNone/>
            </a:pPr>
            <a:r>
              <a:rPr lang="ru-RU" sz="1800" b="0" i="0" u="none" strike="noStrike" baseline="0" dirty="0">
                <a:latin typeface="TimesNewRomanPSMT"/>
              </a:rPr>
              <a:t>чтобы тестирование можно было провести в рамках проекта разработки программного</a:t>
            </a:r>
          </a:p>
          <a:p>
            <a:pPr marL="0" indent="0" algn="l">
              <a:buNone/>
            </a:pPr>
            <a:r>
              <a:rPr lang="ru-RU" sz="1800" b="0" i="0" u="none" strike="noStrike" baseline="0" dirty="0">
                <a:latin typeface="TimesNewRomanPSMT"/>
              </a:rPr>
              <a:t>обеспечения, не слишком увеличивая его бюджет и сроки. </a:t>
            </a:r>
          </a:p>
          <a:p>
            <a:pPr marL="0" indent="0" algn="l">
              <a:buNone/>
            </a:pPr>
            <a:r>
              <a:rPr lang="ru-RU" sz="1800" b="0" i="0" u="none" strike="noStrike" baseline="0" dirty="0">
                <a:latin typeface="TimesNewRomanPSMT"/>
              </a:rPr>
              <a:t>Это означает, что при тестировании</a:t>
            </a:r>
          </a:p>
          <a:p>
            <a:pPr marL="0" indent="0" algn="l">
              <a:buNone/>
            </a:pPr>
            <a:r>
              <a:rPr lang="ru-RU" sz="1800" b="0" i="0" u="none" strike="noStrike" baseline="0" dirty="0">
                <a:latin typeface="TimesNewRomanPSMT"/>
              </a:rPr>
              <a:t>всегда проверяется очень небольшая доля всех возможных ситуаций.</a:t>
            </a:r>
            <a:endParaRPr lang="en-US" dirty="0"/>
          </a:p>
        </p:txBody>
      </p:sp>
    </p:spTree>
    <p:extLst>
      <p:ext uri="{BB962C8B-B14F-4D97-AF65-F5344CB8AC3E}">
        <p14:creationId xmlns:p14="http://schemas.microsoft.com/office/powerpoint/2010/main" val="233297849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541539" y="301841"/>
            <a:ext cx="11532092" cy="6445188"/>
          </a:xfrm>
        </p:spPr>
        <p:txBody>
          <a:bodyPr>
            <a:normAutofit/>
          </a:bodyPr>
          <a:lstStyle/>
          <a:p>
            <a:pPr marL="0" indent="0" algn="l">
              <a:lnSpc>
                <a:spcPct val="125000"/>
              </a:lnSpc>
              <a:buNone/>
            </a:pPr>
            <a:r>
              <a:rPr lang="ru-RU" sz="1800" b="0" i="0" u="none" strike="noStrike" baseline="0" dirty="0">
                <a:latin typeface="TimesNewRomanPSMT"/>
              </a:rPr>
              <a:t>Тестирование может использоваться для достаточно уверенного вынесения оценок о качестве</a:t>
            </a:r>
          </a:p>
          <a:p>
            <a:pPr marL="0" indent="0" algn="l">
              <a:lnSpc>
                <a:spcPct val="125000"/>
              </a:lnSpc>
              <a:buNone/>
            </a:pPr>
            <a:r>
              <a:rPr lang="ru-RU" sz="1800" b="0" i="0" u="none" strike="noStrike" baseline="0" dirty="0">
                <a:latin typeface="TimesNewRomanPSMT"/>
              </a:rPr>
              <a:t>программного обеспечения. </a:t>
            </a:r>
          </a:p>
          <a:p>
            <a:pPr marL="0" indent="0" algn="l">
              <a:lnSpc>
                <a:spcPct val="125000"/>
              </a:lnSpc>
              <a:buNone/>
            </a:pPr>
            <a:r>
              <a:rPr lang="ru-RU" sz="1800" b="0" i="0" u="none" strike="noStrike" baseline="0" dirty="0">
                <a:latin typeface="TimesNewRomanPSMT"/>
              </a:rPr>
              <a:t>Для этого необходимо иметь </a:t>
            </a:r>
            <a:r>
              <a:rPr lang="ru-RU" sz="1800" b="1" i="0" u="none" strike="noStrike" baseline="0" dirty="0">
                <a:latin typeface="TimesNewRomanPS-BoldMT"/>
              </a:rPr>
              <a:t>критерии полноты </a:t>
            </a:r>
            <a:r>
              <a:rPr lang="ru-RU" sz="1800" b="0" i="0" u="none" strike="noStrike" baseline="0" dirty="0">
                <a:latin typeface="TimesNewRomanPSMT"/>
              </a:rPr>
              <a:t>тестирования, описывающие важность различных ситуаций для оценки качества, а также эквивалентности и зависимости между ними. Этот критерий может утверждать, что все равно в какой из ситуаций, A или B, проверять правильность работы программного обеспечения, или, если программа правильно работает в ситуации A, то, скорее всего, в ситуации B все тоже будет правильно. </a:t>
            </a:r>
          </a:p>
          <a:p>
            <a:pPr marL="0" indent="0" algn="l">
              <a:lnSpc>
                <a:spcPct val="125000"/>
              </a:lnSpc>
              <a:buNone/>
            </a:pPr>
            <a:r>
              <a:rPr lang="ru-RU" sz="1800" b="0" i="0" u="none" strike="noStrike" baseline="0" dirty="0">
                <a:latin typeface="TimesNewRomanPSMT"/>
              </a:rPr>
              <a:t>Часто критерий полноты тестирования задается при помощи определения эквивалентности ситуаций, дающей</a:t>
            </a:r>
          </a:p>
          <a:p>
            <a:pPr marL="0" indent="0" algn="l">
              <a:lnSpc>
                <a:spcPct val="125000"/>
              </a:lnSpc>
              <a:buNone/>
            </a:pPr>
            <a:r>
              <a:rPr lang="ru-RU" sz="1800" b="0" i="0" u="none" strike="noStrike" baseline="0" dirty="0">
                <a:latin typeface="TimesNewRomanPSMT"/>
              </a:rPr>
              <a:t>конечный набор классов ситуаций. В этом случае считают, что все равно, какую из ситуаций одного класса использовать в качестве теста. Такой критерий называют </a:t>
            </a:r>
            <a:r>
              <a:rPr lang="ru-RU" sz="1800" b="1" i="0" u="none" strike="noStrike" baseline="0" dirty="0">
                <a:latin typeface="TimesNewRomanPS-BoldMT"/>
              </a:rPr>
              <a:t>критерием тестового покрытия</a:t>
            </a:r>
            <a:r>
              <a:rPr lang="ru-RU" sz="1800" b="0" i="0" u="none" strike="noStrike" baseline="0" dirty="0">
                <a:latin typeface="TimesNewRomanPSMT"/>
              </a:rPr>
              <a:t>, а процент классов эквивалентности ситуаций, случившихся вовремя тестирования, —достигнутым </a:t>
            </a:r>
            <a:r>
              <a:rPr lang="ru-RU" sz="1800" b="1" i="0" u="none" strike="noStrike" baseline="0" dirty="0">
                <a:latin typeface="TimesNewRomanPS-BoldMT"/>
              </a:rPr>
              <a:t>тестовым покрытием</a:t>
            </a:r>
            <a:r>
              <a:rPr lang="ru-RU" sz="1800" b="0" i="0" u="none" strike="noStrike" baseline="0" dirty="0">
                <a:latin typeface="TimesNewRomanPSMT"/>
              </a:rPr>
              <a:t>.</a:t>
            </a:r>
          </a:p>
          <a:p>
            <a:pPr marL="0" indent="0" algn="l">
              <a:lnSpc>
                <a:spcPct val="125000"/>
              </a:lnSpc>
              <a:buNone/>
            </a:pPr>
            <a:endParaRPr lang="ru-RU" sz="1800" b="0" i="0" u="none" strike="noStrike" baseline="0" dirty="0">
              <a:latin typeface="TimesNewRomanPSMT"/>
            </a:endParaRPr>
          </a:p>
          <a:p>
            <a:pPr marL="0" indent="0" algn="l">
              <a:lnSpc>
                <a:spcPct val="125000"/>
              </a:lnSpc>
              <a:buNone/>
            </a:pPr>
            <a:r>
              <a:rPr lang="ru-RU" sz="1800" b="0" i="0" u="none" strike="noStrike" baseline="0" dirty="0">
                <a:latin typeface="TimesNewRomanPSMT"/>
              </a:rPr>
              <a:t>Таким образом, основные задачи тестирования: построить такой набор ситуаций, который</a:t>
            </a:r>
          </a:p>
          <a:p>
            <a:pPr marL="0" indent="0" algn="l">
              <a:lnSpc>
                <a:spcPct val="125000"/>
              </a:lnSpc>
              <a:buNone/>
            </a:pPr>
            <a:r>
              <a:rPr lang="ru-RU" sz="1800" b="0" i="0" u="none" strike="noStrike" baseline="0" dirty="0">
                <a:latin typeface="TimesNewRomanPSMT"/>
              </a:rPr>
              <a:t>был бы достаточно представителен и позволял бы завершить тестирование с достаточной степенью</a:t>
            </a:r>
          </a:p>
          <a:p>
            <a:pPr marL="0" indent="0" algn="l">
              <a:lnSpc>
                <a:spcPct val="125000"/>
              </a:lnSpc>
              <a:buNone/>
            </a:pPr>
            <a:r>
              <a:rPr lang="ru-RU" sz="1800" b="0" i="0" u="none" strike="noStrike" baseline="0" dirty="0">
                <a:latin typeface="TimesNewRomanPSMT"/>
              </a:rPr>
              <a:t>уверенности в правильности программного обеспечения вообще, и убедиться, что в конкретной</a:t>
            </a:r>
          </a:p>
          <a:p>
            <a:pPr marL="0" indent="0" algn="l">
              <a:lnSpc>
                <a:spcPct val="125000"/>
              </a:lnSpc>
              <a:buNone/>
            </a:pPr>
            <a:r>
              <a:rPr lang="ru-RU" sz="1800" b="0" i="0" u="none" strike="noStrike" baseline="0" dirty="0">
                <a:latin typeface="TimesNewRomanPSMT"/>
              </a:rPr>
              <a:t>ситуации программное обеспечение работает правильно, в соответствии с требованиями.</a:t>
            </a:r>
            <a:endParaRPr lang="en-US" dirty="0"/>
          </a:p>
        </p:txBody>
      </p:sp>
    </p:spTree>
    <p:extLst>
      <p:ext uri="{BB962C8B-B14F-4D97-AF65-F5344CB8AC3E}">
        <p14:creationId xmlns:p14="http://schemas.microsoft.com/office/powerpoint/2010/main" val="358208063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Объект 2">
            <a:extLst>
              <a:ext uri="{FF2B5EF4-FFF2-40B4-BE49-F238E27FC236}">
                <a16:creationId xmlns:a16="http://schemas.microsoft.com/office/drawing/2014/main" id="{F60182DB-B102-4917-97B4-03C56BE069C9}"/>
              </a:ext>
            </a:extLst>
          </p:cNvPr>
          <p:cNvPicPr>
            <a:picLocks noGrp="1" noChangeAspect="1"/>
          </p:cNvPicPr>
          <p:nvPr>
            <p:ph idx="1"/>
          </p:nvPr>
        </p:nvPicPr>
        <p:blipFill>
          <a:blip r:embed="rId2"/>
          <a:stretch>
            <a:fillRect/>
          </a:stretch>
        </p:blipFill>
        <p:spPr>
          <a:xfrm>
            <a:off x="2065166" y="1776197"/>
            <a:ext cx="8575829" cy="3997441"/>
          </a:xfrm>
        </p:spPr>
      </p:pic>
      <p:sp>
        <p:nvSpPr>
          <p:cNvPr id="6" name="TextBox 5">
            <a:extLst>
              <a:ext uri="{FF2B5EF4-FFF2-40B4-BE49-F238E27FC236}">
                <a16:creationId xmlns:a16="http://schemas.microsoft.com/office/drawing/2014/main" id="{BE69436B-1910-46FF-BC19-7C8274DFFDE7}"/>
              </a:ext>
            </a:extLst>
          </p:cNvPr>
          <p:cNvSpPr txBox="1"/>
          <p:nvPr/>
        </p:nvSpPr>
        <p:spPr>
          <a:xfrm>
            <a:off x="410591" y="298869"/>
            <a:ext cx="11884981" cy="1200329"/>
          </a:xfrm>
          <a:prstGeom prst="rect">
            <a:avLst/>
          </a:prstGeom>
          <a:noFill/>
        </p:spPr>
        <p:txBody>
          <a:bodyPr wrap="square">
            <a:spAutoFit/>
          </a:bodyPr>
          <a:lstStyle/>
          <a:p>
            <a:pPr algn="l"/>
            <a:r>
              <a:rPr lang="ru-RU" sz="1800" b="0" i="0" u="none" strike="noStrike" baseline="0" dirty="0">
                <a:latin typeface="TimesNewRomanPSMT"/>
              </a:rPr>
              <a:t>  </a:t>
            </a:r>
            <a:r>
              <a:rPr lang="ru-RU" sz="1800" b="1" i="1" u="none" strike="noStrike" baseline="0" dirty="0">
                <a:latin typeface="TimesNewRomanPSMT"/>
              </a:rPr>
              <a:t>Схема процесса тестирования.</a:t>
            </a:r>
            <a:r>
              <a:rPr lang="ru-RU" sz="1800" b="0" i="0" u="none" strike="noStrike" baseline="0" dirty="0">
                <a:latin typeface="TimesNewRomanPSMT"/>
              </a:rPr>
              <a:t> </a:t>
            </a:r>
          </a:p>
          <a:p>
            <a:pPr algn="l"/>
            <a:r>
              <a:rPr lang="ru-RU" sz="1800" b="0" i="0" u="none" strike="noStrike" baseline="0" dirty="0">
                <a:latin typeface="TimesNewRomanPSMT"/>
              </a:rPr>
              <a:t>Разработка тестов происходит на основе проверяемых требований и критерия полноты тестирования. Разработанный тесты формируются в </a:t>
            </a:r>
            <a:r>
              <a:rPr lang="ru-RU" sz="1800" b="0" i="0" u="none" strike="noStrike" baseline="0" dirty="0" err="1">
                <a:latin typeface="TimesNewRomanPSMT"/>
              </a:rPr>
              <a:t>тейс</a:t>
            </a:r>
            <a:r>
              <a:rPr lang="ru-RU" sz="1800" b="0" i="0" u="none" strike="noStrike" baseline="0" dirty="0">
                <a:latin typeface="TimesNewRomanPSMT"/>
              </a:rPr>
              <a:t>-кейс (набор тестов) и выполняем на ПО, которое нужно протестировать.</a:t>
            </a:r>
          </a:p>
          <a:p>
            <a:pPr algn="l"/>
            <a:r>
              <a:rPr lang="ru-RU" sz="1800" b="0" i="0" u="none" strike="noStrike" baseline="0" dirty="0">
                <a:latin typeface="TimesNewRomanPSMT"/>
              </a:rPr>
              <a:t>После прогона всех тестов анализируется результат, в результате чего можно выявить ошибки в программе.</a:t>
            </a:r>
            <a:endParaRPr lang="en-US" dirty="0"/>
          </a:p>
        </p:txBody>
      </p:sp>
    </p:spTree>
    <p:extLst>
      <p:ext uri="{BB962C8B-B14F-4D97-AF65-F5344CB8AC3E}">
        <p14:creationId xmlns:p14="http://schemas.microsoft.com/office/powerpoint/2010/main" val="290829254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Объект 3">
            <a:extLst>
              <a:ext uri="{FF2B5EF4-FFF2-40B4-BE49-F238E27FC236}">
                <a16:creationId xmlns:a16="http://schemas.microsoft.com/office/drawing/2014/main" id="{8531BE10-AFE7-4F2E-83F8-A80FC123B7EB}"/>
              </a:ext>
            </a:extLst>
          </p:cNvPr>
          <p:cNvSpPr>
            <a:spLocks noGrp="1"/>
          </p:cNvSpPr>
          <p:nvPr>
            <p:ph idx="1"/>
          </p:nvPr>
        </p:nvSpPr>
        <p:spPr>
          <a:xfrm>
            <a:off x="491970" y="547240"/>
            <a:ext cx="11395229" cy="6022236"/>
          </a:xfrm>
        </p:spPr>
        <p:txBody>
          <a:bodyPr>
            <a:normAutofit lnSpcReduction="10000"/>
          </a:bodyPr>
          <a:lstStyle/>
          <a:p>
            <a:pPr marL="0" indent="0" algn="l">
              <a:lnSpc>
                <a:spcPct val="150000"/>
              </a:lnSpc>
              <a:buNone/>
            </a:pPr>
            <a:r>
              <a:rPr lang="ru-RU" sz="2000" b="0" i="0" u="none" strike="noStrike" baseline="0" dirty="0">
                <a:latin typeface="TimesNewRomanPSMT"/>
              </a:rPr>
              <a:t>Тестировать можно соблюдение любых требований, соответствие которым выявляется во</a:t>
            </a:r>
          </a:p>
          <a:p>
            <a:pPr marL="0" indent="0" algn="l">
              <a:lnSpc>
                <a:spcPct val="150000"/>
              </a:lnSpc>
              <a:buNone/>
            </a:pPr>
            <a:r>
              <a:rPr lang="ru-RU" sz="2000" b="0" i="0" u="none" strike="noStrike" baseline="0" dirty="0">
                <a:latin typeface="TimesNewRomanPSMT"/>
              </a:rPr>
              <a:t>время работы программного обеспечения. </a:t>
            </a:r>
          </a:p>
          <a:p>
            <a:pPr marL="0" indent="0" algn="l">
              <a:lnSpc>
                <a:spcPct val="150000"/>
              </a:lnSpc>
              <a:buNone/>
            </a:pPr>
            <a:r>
              <a:rPr lang="ru-RU" sz="2000" b="0" i="0" u="none" strike="noStrike" baseline="0" dirty="0">
                <a:latin typeface="TimesNewRomanPSMT"/>
              </a:rPr>
              <a:t>Из характеристик качества по ISO 9126 этим свойством не обладают только атрибуты удобства сопровождения. </a:t>
            </a:r>
          </a:p>
          <a:p>
            <a:pPr marL="0" indent="0" algn="l">
              <a:lnSpc>
                <a:spcPct val="150000"/>
              </a:lnSpc>
              <a:buNone/>
            </a:pPr>
            <a:r>
              <a:rPr lang="ru-RU" sz="2000" b="0" i="0" u="none" strike="noStrike" baseline="0" dirty="0">
                <a:latin typeface="TimesNewRomanPSMT"/>
              </a:rPr>
              <a:t>Поэтому выделяют виды тестирования, связанные с проверкой определенных характеристик и атрибутов качества — тестирование функциональности, надежности, удобства использования, переносимости и производительности, а также тестирование защищенности, функциональной пригодности и пр. </a:t>
            </a:r>
          </a:p>
          <a:p>
            <a:pPr marL="0" indent="0" algn="l">
              <a:lnSpc>
                <a:spcPct val="150000"/>
              </a:lnSpc>
              <a:buNone/>
            </a:pPr>
            <a:r>
              <a:rPr lang="ru-RU" sz="2000" b="0" i="0" u="none" strike="noStrike" baseline="0" dirty="0">
                <a:latin typeface="TimesNewRomanPSMT"/>
              </a:rPr>
              <a:t>Кроме того, особо выделяют нагрузочное или стрессовое тестирование, проверяющее работоспособность программного обеспечения и показатели его производительности в условиях повышенных нагрузок — при большом количестве пользователей, интенсивном обмене данными с другими системами, большом объеме передаваемых или используемых данных и </a:t>
            </a:r>
            <a:r>
              <a:rPr lang="ru-RU" sz="2000" b="0" i="0" u="none" strike="noStrike" baseline="0" dirty="0" err="1">
                <a:latin typeface="TimesNewRomanPSMT"/>
              </a:rPr>
              <a:t>пр</a:t>
            </a:r>
            <a:endParaRPr lang="en-US" sz="2000" dirty="0"/>
          </a:p>
        </p:txBody>
      </p:sp>
    </p:spTree>
    <p:extLst>
      <p:ext uri="{BB962C8B-B14F-4D97-AF65-F5344CB8AC3E}">
        <p14:creationId xmlns:p14="http://schemas.microsoft.com/office/powerpoint/2010/main" val="426537668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509726" y="600506"/>
            <a:ext cx="11217676" cy="6013357"/>
          </a:xfrm>
        </p:spPr>
        <p:txBody>
          <a:bodyPr>
            <a:normAutofit/>
          </a:bodyPr>
          <a:lstStyle/>
          <a:p>
            <a:r>
              <a:rPr lang="ru-RU" sz="1800" b="1" i="1" u="none" strike="noStrike" baseline="0" dirty="0">
                <a:latin typeface="TimesNewRomanPS-BoldItalicMT"/>
              </a:rPr>
              <a:t>Планирование тестирования</a:t>
            </a:r>
          </a:p>
          <a:p>
            <a:pPr marL="0" indent="0" algn="l">
              <a:buNone/>
            </a:pPr>
            <a:r>
              <a:rPr lang="ru-RU" sz="1800" b="1" i="1" u="none" strike="noStrike" baseline="0" dirty="0">
                <a:latin typeface="TimesNewRomanPS-BoldItalicMT"/>
              </a:rPr>
              <a:t>Вопросы, определяющие процесс планирования</a:t>
            </a:r>
          </a:p>
          <a:p>
            <a:pPr marL="0" indent="0" algn="l">
              <a:buNone/>
            </a:pPr>
            <a:r>
              <a:rPr lang="ru-RU" sz="1800" b="0" i="0" u="none" strike="noStrike" baseline="0" dirty="0">
                <a:latin typeface="TimesNewRomanPSMT"/>
              </a:rPr>
              <a:t>Процесс тестирования находится в прямой зависимости от процесса разработки программного обеспечения, но при этом сильно отличается от него, поскольку преследует другие цели. </a:t>
            </a:r>
          </a:p>
          <a:p>
            <a:pPr marL="0" indent="0" algn="l">
              <a:buNone/>
            </a:pPr>
            <a:r>
              <a:rPr lang="ru-RU" sz="1800" b="0" i="0" u="none" strike="noStrike" baseline="0" dirty="0">
                <a:latin typeface="TimesNewRomanPSMT"/>
              </a:rPr>
              <a:t>Разработка ориентирована на построение программного продукта, тогда как тестирование отвечает на вопрос, соответствует ли разрабатываемый программный продукт требованиям, в которых зафиксирован первоначальный замысел изделия (т.е. то, что заказал заказчик).</a:t>
            </a:r>
          </a:p>
          <a:p>
            <a:pPr marL="0" indent="0" algn="l">
              <a:buNone/>
            </a:pPr>
            <a:r>
              <a:rPr lang="ru-RU" sz="1800" b="0" i="0" u="none" strike="noStrike" baseline="0" dirty="0">
                <a:latin typeface="TimesNewRomanPSMT"/>
              </a:rPr>
              <a:t>Вместе оба процесса охватывают виды деятельности, необходимые для получения качественного продукта. Ошибки могут быть привнесены на каждой стадии разработки. </a:t>
            </a:r>
          </a:p>
          <a:p>
            <a:pPr marL="0" indent="0" algn="l">
              <a:buNone/>
            </a:pPr>
            <a:r>
              <a:rPr lang="ru-RU" sz="1800" b="0" i="0" u="none" strike="noStrike" baseline="0" dirty="0">
                <a:latin typeface="TimesNewRomanPSMT"/>
              </a:rPr>
              <a:t>Следовательно, каждому этапу разработки должен соответствовать этап тестирования. </a:t>
            </a:r>
          </a:p>
          <a:p>
            <a:pPr marL="0" indent="0" algn="l">
              <a:buNone/>
            </a:pPr>
            <a:r>
              <a:rPr lang="ru-RU" sz="1800" b="0" i="0" u="none" strike="noStrike" baseline="0" dirty="0">
                <a:latin typeface="TimesNewRomanPSMT"/>
              </a:rPr>
              <a:t>Отношения между этими процессами таковы, что если что-то разрабатывается, то оно подвергается тестированию, а результаты тестирования используются для определения, соответствует ли это "что-то" набору предъявляемых требований. </a:t>
            </a:r>
          </a:p>
          <a:p>
            <a:pPr marL="0" indent="0" algn="l">
              <a:buNone/>
            </a:pPr>
            <a:r>
              <a:rPr lang="ru-RU" sz="1800" b="0" i="0" u="none" strike="noStrike" baseline="0" dirty="0">
                <a:latin typeface="TimesNewRomanPSMT"/>
              </a:rPr>
              <a:t>Процесс тестирования возвращает выявленные им ошибки в процесс разработки. </a:t>
            </a:r>
          </a:p>
          <a:p>
            <a:pPr marL="0" indent="0" algn="l">
              <a:buNone/>
            </a:pPr>
            <a:r>
              <a:rPr lang="ru-RU" sz="1800" b="0" i="0" u="none" strike="noStrike" baseline="0" dirty="0">
                <a:latin typeface="TimesNewRomanPSMT"/>
              </a:rPr>
              <a:t>Процесс разработки передает процессу тестирования новые и исправленные проектные версии.</a:t>
            </a:r>
            <a:endParaRPr lang="en-US" dirty="0"/>
          </a:p>
        </p:txBody>
      </p:sp>
    </p:spTree>
    <p:extLst>
      <p:ext uri="{BB962C8B-B14F-4D97-AF65-F5344CB8AC3E}">
        <p14:creationId xmlns:p14="http://schemas.microsoft.com/office/powerpoint/2010/main" val="27912852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687280" y="431829"/>
            <a:ext cx="11306452" cy="6315199"/>
          </a:xfrm>
        </p:spPr>
        <p:txBody>
          <a:bodyPr>
            <a:normAutofit/>
          </a:bodyPr>
          <a:lstStyle/>
          <a:p>
            <a:pPr marL="0" indent="0" algn="l">
              <a:buNone/>
            </a:pPr>
            <a:r>
              <a:rPr lang="ru-RU" sz="1800" b="1" i="1" u="none" strike="noStrike" baseline="0" dirty="0">
                <a:solidFill>
                  <a:srgbClr val="FF0000"/>
                </a:solidFill>
                <a:latin typeface="TimesNewRomanPSMT"/>
              </a:rPr>
              <a:t>Соответственно планирование тестирования тоже зависит от выбранной модели разработки.</a:t>
            </a:r>
          </a:p>
          <a:p>
            <a:pPr marL="0" indent="0" algn="l">
              <a:buNone/>
            </a:pPr>
            <a:r>
              <a:rPr lang="ru-RU" sz="1800" b="0" i="0" u="none" strike="noStrike" baseline="0" dirty="0">
                <a:latin typeface="TimesNewRomanPSMT"/>
              </a:rPr>
              <a:t>Однако вне зависимости от модели разработки при планировании тестирования необходимо</a:t>
            </a:r>
          </a:p>
          <a:p>
            <a:pPr marL="0" indent="0" algn="l">
              <a:buNone/>
            </a:pPr>
            <a:r>
              <a:rPr lang="ru-RU" sz="1800" b="0" i="0" u="none" strike="noStrike" baseline="0" dirty="0">
                <a:latin typeface="TimesNewRomanPSMT"/>
              </a:rPr>
              <a:t>ответить на пять вопросов, определяющих этот процесс:</a:t>
            </a:r>
          </a:p>
          <a:p>
            <a:pPr algn="l"/>
            <a:r>
              <a:rPr lang="ru-RU" sz="1800" b="0" i="0" u="none" strike="noStrike" baseline="0" dirty="0">
                <a:latin typeface="SymbolMT"/>
              </a:rPr>
              <a:t> </a:t>
            </a:r>
            <a:r>
              <a:rPr lang="ru-RU" sz="1800" b="1" i="0" u="none" strike="noStrike" baseline="0" dirty="0">
                <a:latin typeface="TimesNewRomanPS-BoldMT"/>
              </a:rPr>
              <a:t>кто будет тестировать и на каких этапах? </a:t>
            </a:r>
          </a:p>
          <a:p>
            <a:pPr marL="0" indent="0" algn="l">
              <a:buNone/>
            </a:pPr>
            <a:r>
              <a:rPr lang="ru-RU" sz="1800" b="0" i="0" u="none" strike="noStrike" baseline="0" dirty="0">
                <a:latin typeface="TimesNewRomanPSMT"/>
              </a:rPr>
              <a:t>Разработчики продукта, независимая группа тестировщиков или совместно;</a:t>
            </a:r>
          </a:p>
          <a:p>
            <a:pPr algn="l"/>
            <a:r>
              <a:rPr lang="ru-RU" sz="1800" b="0" i="0" u="none" strike="noStrike" baseline="0" dirty="0">
                <a:latin typeface="SymbolMT"/>
              </a:rPr>
              <a:t> </a:t>
            </a:r>
            <a:r>
              <a:rPr lang="ru-RU" sz="1800" b="1" i="0" u="none" strike="noStrike" baseline="0" dirty="0">
                <a:latin typeface="TimesNewRomanPS-BoldMT"/>
              </a:rPr>
              <a:t>какие компоненты надо тестировать? </a:t>
            </a:r>
            <a:r>
              <a:rPr lang="ru-RU" sz="1800" b="0" i="0" u="none" strike="noStrike" baseline="0" dirty="0">
                <a:latin typeface="TimesNewRomanPSMT"/>
              </a:rPr>
              <a:t>Будут ли подвергнуты тестированию все</a:t>
            </a:r>
          </a:p>
          <a:p>
            <a:pPr marL="0" indent="0" algn="l">
              <a:buNone/>
            </a:pPr>
            <a:r>
              <a:rPr lang="ru-RU" sz="1800" b="0" i="0" u="none" strike="noStrike" baseline="0" dirty="0">
                <a:latin typeface="TimesNewRomanPSMT"/>
              </a:rPr>
              <a:t>компоненты программного продукта или только компоненты, которые угрожают</a:t>
            </a:r>
          </a:p>
          <a:p>
            <a:pPr marL="0" indent="0" algn="l">
              <a:buNone/>
            </a:pPr>
            <a:r>
              <a:rPr lang="ru-RU" sz="1800" b="0" i="0" u="none" strike="noStrike" baseline="0" dirty="0">
                <a:latin typeface="TimesNewRomanPSMT"/>
              </a:rPr>
              <a:t>наибольшими потерями для всего проекта;</a:t>
            </a:r>
          </a:p>
          <a:p>
            <a:pPr algn="l"/>
            <a:r>
              <a:rPr lang="ru-RU" sz="1800" b="0" i="0" u="none" strike="noStrike" baseline="0" dirty="0">
                <a:latin typeface="SymbolMT"/>
              </a:rPr>
              <a:t> </a:t>
            </a:r>
            <a:r>
              <a:rPr lang="ru-RU" sz="1800" b="1" i="0" u="none" strike="noStrike" baseline="0" dirty="0">
                <a:latin typeface="TimesNewRomanPS-BoldMT"/>
              </a:rPr>
              <a:t>когда надо тестировать? </a:t>
            </a:r>
            <a:r>
              <a:rPr lang="ru-RU" sz="1800" b="0" i="0" u="none" strike="noStrike" baseline="0" dirty="0">
                <a:latin typeface="TimesNewRomanPSMT"/>
              </a:rPr>
              <a:t>Будет ли это непрерывный процесс, вид деятельности,</a:t>
            </a:r>
          </a:p>
          <a:p>
            <a:pPr marL="0" indent="0" algn="l">
              <a:buNone/>
            </a:pPr>
            <a:r>
              <a:rPr lang="ru-RU" sz="1800" b="0" i="0" u="none" strike="noStrike" baseline="0" dirty="0">
                <a:latin typeface="TimesNewRomanPSMT"/>
              </a:rPr>
              <a:t>выполняемый в специальных контрольных точках, или вид деятельности,</a:t>
            </a:r>
          </a:p>
          <a:p>
            <a:pPr marL="0" indent="0" algn="l">
              <a:buNone/>
            </a:pPr>
            <a:r>
              <a:rPr lang="ru-RU" sz="1800" b="0" i="0" u="none" strike="noStrike" baseline="0" dirty="0">
                <a:latin typeface="TimesNewRomanPSMT"/>
              </a:rPr>
              <a:t>выполняемый на завершающей стадии разработки;</a:t>
            </a:r>
          </a:p>
          <a:p>
            <a:pPr algn="l"/>
            <a:r>
              <a:rPr lang="ru-RU" sz="1800" b="0" i="0" u="none" strike="noStrike" baseline="0" dirty="0">
                <a:latin typeface="SymbolMT"/>
              </a:rPr>
              <a:t> </a:t>
            </a:r>
            <a:r>
              <a:rPr lang="ru-RU" sz="1800" b="1" i="0" u="none" strike="noStrike" baseline="0" dirty="0">
                <a:latin typeface="TimesNewRomanPS-BoldMT"/>
              </a:rPr>
              <a:t>как надо тестировать? </a:t>
            </a:r>
            <a:r>
              <a:rPr lang="ru-RU" sz="1800" b="0" i="0" u="none" strike="noStrike" baseline="0" dirty="0">
                <a:latin typeface="TimesNewRomanPSMT"/>
              </a:rPr>
              <a:t>Будет ли тестирование сосредоточено только на проверке</a:t>
            </a:r>
          </a:p>
          <a:p>
            <a:pPr marL="0" indent="0" algn="l">
              <a:buNone/>
            </a:pPr>
            <a:r>
              <a:rPr lang="ru-RU" sz="1800" b="0" i="0" u="none" strike="noStrike" baseline="0" dirty="0">
                <a:latin typeface="TimesNewRomanPSMT"/>
              </a:rPr>
              <a:t>того, что данный продукт должен выполнять, или также на том, как это реализовано;</a:t>
            </a:r>
          </a:p>
          <a:p>
            <a:pPr algn="l"/>
            <a:r>
              <a:rPr lang="ru-RU" sz="1800" b="0" i="0" u="none" strike="noStrike" baseline="0" dirty="0">
                <a:latin typeface="SymbolMT"/>
              </a:rPr>
              <a:t> </a:t>
            </a:r>
            <a:r>
              <a:rPr lang="ru-RU" sz="1800" b="1" i="0" u="none" strike="noStrike" baseline="0" dirty="0">
                <a:latin typeface="TimesNewRomanPS-BoldMT"/>
              </a:rPr>
              <a:t>в каком объеме тестировать? </a:t>
            </a:r>
            <a:r>
              <a:rPr lang="ru-RU" sz="1800" b="0" i="0" u="none" strike="noStrike" baseline="0" dirty="0">
                <a:latin typeface="TimesNewRomanPSMT"/>
              </a:rPr>
              <a:t>Как определить, в достаточном ли объеме выполнено</a:t>
            </a:r>
          </a:p>
          <a:p>
            <a:pPr marL="0" indent="0" algn="l">
              <a:buNone/>
            </a:pPr>
            <a:r>
              <a:rPr lang="ru-RU" sz="1800" b="0" i="0" u="none" strike="noStrike" baseline="0" dirty="0">
                <a:latin typeface="TimesNewRomanPSMT"/>
              </a:rPr>
              <a:t>тестирование, или как распределить ограниченные ресурсы, выделенные под тестирование.</a:t>
            </a:r>
          </a:p>
          <a:p>
            <a:pPr marL="0" indent="0" algn="l">
              <a:buNone/>
            </a:pPr>
            <a:r>
              <a:rPr lang="ru-RU" sz="1800" b="0" i="0" u="none" strike="noStrike" baseline="0" dirty="0">
                <a:latin typeface="TimesNewRomanPSMT"/>
              </a:rPr>
              <a:t>Все ответы на поставленные вопросы и многое другое фиксируется в документе – </a:t>
            </a:r>
            <a:r>
              <a:rPr lang="ru-RU" sz="1800" b="1" i="0" u="none" strike="noStrike" baseline="0" dirty="0">
                <a:latin typeface="TimesNewRomanPS-BoldMT"/>
              </a:rPr>
              <a:t>Тест план.</a:t>
            </a:r>
            <a:endParaRPr lang="en-US" dirty="0"/>
          </a:p>
        </p:txBody>
      </p:sp>
    </p:spTree>
    <p:extLst>
      <p:ext uri="{BB962C8B-B14F-4D97-AF65-F5344CB8AC3E}">
        <p14:creationId xmlns:p14="http://schemas.microsoft.com/office/powerpoint/2010/main" val="67089420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527482" y="644895"/>
            <a:ext cx="10515600" cy="4351338"/>
          </a:xfrm>
        </p:spPr>
        <p:txBody>
          <a:bodyPr>
            <a:normAutofit/>
          </a:bodyPr>
          <a:lstStyle/>
          <a:p>
            <a:pPr marL="0" indent="0" algn="l">
              <a:buNone/>
            </a:pPr>
            <a:r>
              <a:rPr lang="ru-RU" sz="2200" b="1" i="0" u="none" strike="noStrike" baseline="0" dirty="0">
                <a:latin typeface="TimesNewRomanPS-BoldMT"/>
              </a:rPr>
              <a:t>Тест план </a:t>
            </a:r>
            <a:r>
              <a:rPr lang="ru-RU" sz="2200" b="0" i="0" u="none" strike="noStrike" baseline="0" dirty="0">
                <a:latin typeface="TimesNewRomanPSMT"/>
              </a:rPr>
              <a:t>(</a:t>
            </a:r>
            <a:r>
              <a:rPr lang="ru-RU" sz="2200" b="1" i="0" u="none" strike="noStrike" baseline="0" dirty="0" err="1">
                <a:latin typeface="TimesNewRomanPS-BoldMT"/>
              </a:rPr>
              <a:t>Test</a:t>
            </a:r>
            <a:r>
              <a:rPr lang="ru-RU" sz="2200" b="1" i="0" u="none" strike="noStrike" baseline="0" dirty="0">
                <a:latin typeface="TimesNewRomanPS-BoldMT"/>
              </a:rPr>
              <a:t> </a:t>
            </a:r>
            <a:r>
              <a:rPr lang="ru-RU" sz="2200" b="1" i="0" u="none" strike="noStrike" baseline="0" dirty="0" err="1">
                <a:latin typeface="TimesNewRomanPS-BoldMT"/>
              </a:rPr>
              <a:t>Plan</a:t>
            </a:r>
            <a:r>
              <a:rPr lang="ru-RU" sz="2200" b="0" i="0" u="none" strike="noStrike" baseline="0" dirty="0">
                <a:latin typeface="TimesNewRomanPSMT"/>
              </a:rPr>
              <a:t>) - это документ, описывающий весь объем работ по тестированию,</a:t>
            </a:r>
          </a:p>
          <a:p>
            <a:pPr marL="0" indent="0" algn="l">
              <a:buNone/>
            </a:pPr>
            <a:r>
              <a:rPr lang="ru-RU" sz="2200" b="0" i="0" u="none" strike="noStrike" baseline="0" dirty="0">
                <a:latin typeface="TimesNewRomanPSMT"/>
              </a:rPr>
              <a:t>начиная с описания объекта, стратегии, расписания, критериев начала и окончания тестирования,</a:t>
            </a:r>
          </a:p>
          <a:p>
            <a:pPr marL="0" indent="0" algn="l">
              <a:buNone/>
            </a:pPr>
            <a:r>
              <a:rPr lang="ru-RU" sz="2200" b="0" i="0" u="none" strike="noStrike" baseline="0" dirty="0">
                <a:latin typeface="TimesNewRomanPSMT"/>
              </a:rPr>
              <a:t>до необходимого в процессе работы оборудования, специальных знаний, а также оценки рисков с вариантами их разрешения.</a:t>
            </a:r>
          </a:p>
          <a:p>
            <a:pPr algn="l"/>
            <a:r>
              <a:rPr lang="ru-RU" sz="2200" b="1" i="1" u="none" strike="noStrike" baseline="0" dirty="0">
                <a:latin typeface="TimesNewRomanPS-BoldItalicMT"/>
              </a:rPr>
              <a:t>Тест план содержит:</a:t>
            </a:r>
          </a:p>
          <a:p>
            <a:pPr marL="0" indent="0" algn="l">
              <a:buNone/>
            </a:pPr>
            <a:r>
              <a:rPr lang="ru-RU" sz="2200" b="0" i="0" u="none" strike="noStrike" baseline="0" dirty="0">
                <a:latin typeface="TimesNewRomanPSMT"/>
              </a:rPr>
              <a:t>1) перечень тестовых ресурсов;</a:t>
            </a:r>
          </a:p>
          <a:p>
            <a:pPr marL="0" indent="0" algn="l">
              <a:buNone/>
            </a:pPr>
            <a:r>
              <a:rPr lang="ru-RU" sz="2200" b="0" i="0" u="none" strike="noStrike" baseline="0" dirty="0">
                <a:latin typeface="TimesNewRomanPSMT"/>
              </a:rPr>
              <a:t>2) перечень функций и подсистем, подлежащих тестированию;</a:t>
            </a:r>
            <a:endParaRPr lang="en-US" sz="2200" dirty="0"/>
          </a:p>
        </p:txBody>
      </p:sp>
    </p:spTree>
    <p:extLst>
      <p:ext uri="{BB962C8B-B14F-4D97-AF65-F5344CB8AC3E}">
        <p14:creationId xmlns:p14="http://schemas.microsoft.com/office/powerpoint/2010/main" val="391625966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545237" y="485096"/>
            <a:ext cx="11306452" cy="6013357"/>
          </a:xfrm>
        </p:spPr>
        <p:txBody>
          <a:bodyPr>
            <a:normAutofit/>
          </a:bodyPr>
          <a:lstStyle/>
          <a:p>
            <a:pPr marL="0" indent="0" algn="l">
              <a:buNone/>
            </a:pPr>
            <a:r>
              <a:rPr lang="ru-RU" sz="2200" b="0" i="0" u="none" strike="noStrike" baseline="0" dirty="0">
                <a:latin typeface="TimesNewRomanPSMT"/>
              </a:rPr>
              <a:t>3) тестовую стратегию:</a:t>
            </a:r>
          </a:p>
          <a:p>
            <a:pPr algn="l">
              <a:buFontTx/>
              <a:buChar char="-"/>
            </a:pPr>
            <a:r>
              <a:rPr lang="ru-RU" sz="2200" b="0" i="0" u="none" strike="noStrike" baseline="0" dirty="0">
                <a:latin typeface="TimesNewRomanPSMT"/>
              </a:rPr>
              <a:t>анализ функций и подсистем с целью определения слабых мест, требующих исчерпывающего тестирования, то есть участков функциональности, где появление дефектов наиболее вероятно;</a:t>
            </a:r>
          </a:p>
          <a:p>
            <a:pPr marL="0" indent="0" algn="l">
              <a:buNone/>
            </a:pPr>
            <a:endParaRPr lang="ru-RU" sz="2200" b="0" i="0" u="none" strike="noStrike" baseline="0" dirty="0">
              <a:latin typeface="TimesNewRomanPSMT"/>
            </a:endParaRPr>
          </a:p>
          <a:p>
            <a:pPr algn="l">
              <a:buFontTx/>
              <a:buChar char="-"/>
            </a:pPr>
            <a:r>
              <a:rPr lang="ru-RU" sz="2200" b="0" i="0" u="none" strike="noStrike" baseline="0" dirty="0">
                <a:latin typeface="TimesNewRomanPSMT"/>
              </a:rPr>
              <a:t>определение стратегии выбора входных данных для тестирования. Поскольку в реальных применениях множество входных данных программного продукта практически бесконечно, выбор конечного подмножества для проведения тестирования является сложной задачей. Для ее решения могут быть применены методы покрытия классов входных и выходных данных, анализ крайних значений, покрытие случаев использования и т.п. Выбранная стратегия должна быть обоснована и задокументирована;</a:t>
            </a:r>
          </a:p>
          <a:p>
            <a:pPr marL="0" indent="0" algn="l">
              <a:buNone/>
            </a:pPr>
            <a:endParaRPr lang="ru-RU" sz="2200" b="0" i="0" u="none" strike="noStrike" baseline="0" dirty="0">
              <a:latin typeface="TimesNewRomanPSMT"/>
            </a:endParaRPr>
          </a:p>
          <a:p>
            <a:pPr marL="0" indent="0" algn="l">
              <a:buNone/>
            </a:pPr>
            <a:r>
              <a:rPr lang="ru-RU" sz="2200" dirty="0">
                <a:latin typeface="SymbolMT"/>
              </a:rPr>
              <a:t>- </a:t>
            </a:r>
            <a:r>
              <a:rPr lang="ru-RU" sz="2200" b="0" i="0" u="none" strike="noStrike" baseline="0" dirty="0">
                <a:latin typeface="SymbolMT"/>
              </a:rPr>
              <a:t> </a:t>
            </a:r>
            <a:r>
              <a:rPr lang="ru-RU" sz="2200" b="0" i="0" u="none" strike="noStrike" baseline="0" dirty="0">
                <a:latin typeface="TimesNewRomanPSMT"/>
              </a:rPr>
              <a:t>определение потребности автоматизации процесса тестирования. При этом решение об использовании существующей, либо о создании новой автоматизированной системы тестирования должно быть обосновано, а также продемонстрирована оценка затрат на создание новой системы или на внедрение уже существующей.</a:t>
            </a:r>
            <a:endParaRPr lang="en-US" sz="2200" dirty="0"/>
          </a:p>
        </p:txBody>
      </p:sp>
    </p:spTree>
    <p:extLst>
      <p:ext uri="{BB962C8B-B14F-4D97-AF65-F5344CB8AC3E}">
        <p14:creationId xmlns:p14="http://schemas.microsoft.com/office/powerpoint/2010/main" val="98356008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651769" y="893470"/>
            <a:ext cx="10515600" cy="4351338"/>
          </a:xfrm>
        </p:spPr>
        <p:txBody>
          <a:bodyPr>
            <a:normAutofit/>
          </a:bodyPr>
          <a:lstStyle/>
          <a:p>
            <a:pPr marL="0" indent="0" algn="l">
              <a:buNone/>
            </a:pPr>
            <a:r>
              <a:rPr lang="ru-RU" sz="2400" b="0" i="0" u="none" strike="noStrike" baseline="0" dirty="0">
                <a:latin typeface="TimesNewRomanPSMT"/>
              </a:rPr>
              <a:t>4) график (расписание) тестовых циклов;</a:t>
            </a:r>
          </a:p>
          <a:p>
            <a:pPr marL="0" indent="0" algn="l">
              <a:buNone/>
            </a:pPr>
            <a:r>
              <a:rPr lang="ru-RU" sz="2400" b="0" i="0" u="none" strike="noStrike" baseline="0" dirty="0">
                <a:latin typeface="TimesNewRomanPSMT"/>
              </a:rPr>
              <a:t>5) указание конкретных параметров аппаратуры и программного окружения;</a:t>
            </a:r>
          </a:p>
          <a:p>
            <a:pPr marL="0" indent="0" algn="l">
              <a:buNone/>
            </a:pPr>
            <a:r>
              <a:rPr lang="ru-RU" sz="2400" b="0" i="0" u="none" strike="noStrike" baseline="0" dirty="0">
                <a:latin typeface="TimesNewRomanPSMT"/>
              </a:rPr>
              <a:t>6) определение тестовых метрик, которые необходимо собирать и анализировать, таких</a:t>
            </a:r>
          </a:p>
          <a:p>
            <a:pPr marL="0" indent="0" algn="l">
              <a:buNone/>
            </a:pPr>
            <a:r>
              <a:rPr lang="ru-RU" sz="2400" b="0" i="0" u="none" strike="noStrike" baseline="0" dirty="0">
                <a:latin typeface="TimesNewRomanPSMT"/>
              </a:rPr>
              <a:t>как покрытие набора требований, покрытие кода, количество и уровень серьезности дефектов, объем тестового кода и т.п.</a:t>
            </a:r>
            <a:endParaRPr lang="en-US" sz="2400" dirty="0"/>
          </a:p>
        </p:txBody>
      </p:sp>
    </p:spTree>
    <p:extLst>
      <p:ext uri="{BB962C8B-B14F-4D97-AF65-F5344CB8AC3E}">
        <p14:creationId xmlns:p14="http://schemas.microsoft.com/office/powerpoint/2010/main" val="270875671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607379" y="343053"/>
            <a:ext cx="11315331" cy="6395097"/>
          </a:xfrm>
        </p:spPr>
        <p:txBody>
          <a:bodyPr>
            <a:normAutofit/>
          </a:bodyPr>
          <a:lstStyle/>
          <a:p>
            <a:pPr marL="0" indent="0" algn="l">
              <a:buNone/>
            </a:pPr>
            <a:r>
              <a:rPr lang="ru-RU" sz="1800" b="1" i="1" u="none" strike="noStrike" baseline="0" dirty="0">
                <a:latin typeface="TimesNewRomanPS-BoldItalicMT"/>
              </a:rPr>
              <a:t>Тест план должен как минимум отвечать на следующие вопросы:</a:t>
            </a:r>
          </a:p>
          <a:p>
            <a:pPr marL="342900" indent="-342900" algn="l">
              <a:buAutoNum type="arabicParenR"/>
            </a:pPr>
            <a:r>
              <a:rPr lang="ru-RU" sz="1800" b="1" i="0" u="none" strike="noStrike" baseline="0" dirty="0">
                <a:latin typeface="TimesNewRomanPS-BoldMT"/>
              </a:rPr>
              <a:t>что надо тестировать? </a:t>
            </a:r>
          </a:p>
          <a:p>
            <a:pPr marL="342900" indent="-342900" algn="l">
              <a:buAutoNum type="arabicParenR"/>
            </a:pPr>
            <a:r>
              <a:rPr lang="ru-RU" sz="1800" b="0" i="0" u="none" strike="noStrike" baseline="0" dirty="0">
                <a:latin typeface="TimesNewRomanPSMT"/>
              </a:rPr>
              <a:t>Описание объекта тестирования: системы, приложения, оборудование;</a:t>
            </a:r>
          </a:p>
          <a:p>
            <a:pPr marL="0" indent="0" algn="l">
              <a:buNone/>
            </a:pPr>
            <a:r>
              <a:rPr lang="ru-RU" sz="1800" b="0" i="0" u="none" strike="noStrike" baseline="0" dirty="0">
                <a:latin typeface="TimesNewRomanPSMT"/>
              </a:rPr>
              <a:t>2) </a:t>
            </a:r>
            <a:r>
              <a:rPr lang="ru-RU" sz="1800" b="1" i="0" u="none" strike="noStrike" baseline="0" dirty="0">
                <a:latin typeface="TimesNewRomanPS-BoldMT"/>
              </a:rPr>
              <a:t>что будете тестировать? </a:t>
            </a:r>
          </a:p>
          <a:p>
            <a:pPr marL="0" indent="0" algn="l">
              <a:buNone/>
            </a:pPr>
            <a:r>
              <a:rPr lang="ru-RU" sz="1800" b="0" i="0" u="none" strike="noStrike" baseline="0" dirty="0">
                <a:latin typeface="TimesNewRomanPSMT"/>
              </a:rPr>
              <a:t>Список функций и описание тестируемой системы и её компонент в отдельности;</a:t>
            </a:r>
          </a:p>
          <a:p>
            <a:pPr marL="0" indent="0" algn="l">
              <a:buNone/>
            </a:pPr>
            <a:r>
              <a:rPr lang="ru-RU" sz="1800" b="0" i="0" u="none" strike="noStrike" baseline="0" dirty="0">
                <a:latin typeface="TimesNewRomanPSMT"/>
              </a:rPr>
              <a:t>3) </a:t>
            </a:r>
            <a:r>
              <a:rPr lang="ru-RU" sz="1800" b="1" i="0" u="none" strike="noStrike" baseline="0" dirty="0">
                <a:latin typeface="TimesNewRomanPS-BoldMT"/>
              </a:rPr>
              <a:t>как будете тестировать? </a:t>
            </a:r>
          </a:p>
          <a:p>
            <a:pPr marL="0" indent="0" algn="l">
              <a:buNone/>
            </a:pPr>
            <a:r>
              <a:rPr lang="ru-RU" sz="1800" b="0" i="0" u="none" strike="noStrike" baseline="0" dirty="0">
                <a:latin typeface="TimesNewRomanPSMT"/>
              </a:rPr>
              <a:t>стратегия тестирования, а именно: методологии, виды тестирования и их применение по отношению к тестируемому объекту, приоритеты, автоматизация и пр.;</a:t>
            </a:r>
          </a:p>
          <a:p>
            <a:pPr marL="0" indent="0" algn="l">
              <a:buNone/>
            </a:pPr>
            <a:r>
              <a:rPr lang="ru-RU" sz="1800" b="0" i="0" u="none" strike="noStrike" baseline="0" dirty="0">
                <a:latin typeface="TimesNewRomanPSMT"/>
              </a:rPr>
              <a:t>4) </a:t>
            </a:r>
            <a:r>
              <a:rPr lang="ru-RU" sz="1800" b="1" i="0" u="none" strike="noStrike" baseline="0" dirty="0">
                <a:latin typeface="TimesNewRomanPS-BoldMT"/>
              </a:rPr>
              <a:t>когда будете тестировать? </a:t>
            </a:r>
          </a:p>
          <a:p>
            <a:pPr marL="0" indent="0" algn="l">
              <a:buNone/>
            </a:pPr>
            <a:r>
              <a:rPr lang="ru-RU" sz="1800" b="0" i="0" u="none" strike="noStrike" baseline="0" dirty="0">
                <a:latin typeface="TimesNewRomanPSMT"/>
              </a:rPr>
              <a:t>Последовательность проведения работ: фазы, циклы тестирования, процедура тестирования - подготовка (</a:t>
            </a:r>
            <a:r>
              <a:rPr lang="ru-RU" sz="1800" b="0" i="0" u="none" strike="noStrike" baseline="0" dirty="0" err="1">
                <a:latin typeface="TimesNewRomanPSMT"/>
              </a:rPr>
              <a:t>Test</a:t>
            </a:r>
            <a:r>
              <a:rPr lang="ru-RU" sz="1800" b="0" i="0" u="none" strike="noStrike" baseline="0" dirty="0">
                <a:latin typeface="TimesNewRomanPSMT"/>
              </a:rPr>
              <a:t> </a:t>
            </a:r>
            <a:r>
              <a:rPr lang="ru-RU" sz="1800" b="0" i="0" u="none" strike="noStrike" baseline="0" dirty="0" err="1">
                <a:latin typeface="TimesNewRomanPSMT"/>
              </a:rPr>
              <a:t>Preparation</a:t>
            </a:r>
            <a:r>
              <a:rPr lang="ru-RU" sz="1800" b="0" i="0" u="none" strike="noStrike" baseline="0" dirty="0">
                <a:latin typeface="TimesNewRomanPSMT"/>
              </a:rPr>
              <a:t>), тестирование (</a:t>
            </a:r>
            <a:r>
              <a:rPr lang="ru-RU" sz="1800" b="0" i="0" u="none" strike="noStrike" baseline="0" dirty="0" err="1">
                <a:latin typeface="TimesNewRomanPSMT"/>
              </a:rPr>
              <a:t>Testing</a:t>
            </a:r>
            <a:r>
              <a:rPr lang="ru-RU" sz="1800" b="0" i="0" u="none" strike="noStrike" baseline="0" dirty="0">
                <a:latin typeface="TimesNewRomanPSMT"/>
              </a:rPr>
              <a:t>), анализ результатов (</a:t>
            </a:r>
            <a:r>
              <a:rPr lang="ru-RU" sz="1800" b="0" i="0" u="none" strike="noStrike" baseline="0" dirty="0" err="1">
                <a:latin typeface="TimesNewRomanPSMT"/>
              </a:rPr>
              <a:t>Test</a:t>
            </a:r>
            <a:r>
              <a:rPr lang="ru-RU" sz="1800" b="0" i="0" u="none" strike="noStrike" baseline="0" dirty="0">
                <a:latin typeface="TimesNewRomanPSMT"/>
              </a:rPr>
              <a:t> </a:t>
            </a:r>
            <a:r>
              <a:rPr lang="ru-RU" sz="1800" b="0" i="0" u="none" strike="noStrike" baseline="0" dirty="0" err="1">
                <a:latin typeface="TimesNewRomanPSMT"/>
              </a:rPr>
              <a:t>Result</a:t>
            </a:r>
            <a:r>
              <a:rPr lang="ru-RU" sz="1800" b="0" i="0" u="none" strike="noStrike" baseline="0" dirty="0">
                <a:latin typeface="TimesNewRomanPSMT"/>
              </a:rPr>
              <a:t> </a:t>
            </a:r>
            <a:r>
              <a:rPr lang="ru-RU" sz="1800" b="0" i="0" u="none" strike="noStrike" baseline="0" dirty="0" err="1">
                <a:latin typeface="TimesNewRomanPSMT"/>
              </a:rPr>
              <a:t>Analisys</a:t>
            </a:r>
            <a:r>
              <a:rPr lang="ru-RU" sz="1800" b="0" i="0" u="none" strike="noStrike" baseline="0" dirty="0">
                <a:latin typeface="TimesNewRomanPSMT"/>
              </a:rPr>
              <a:t>) в разрезе запланированных фаз разработки;</a:t>
            </a:r>
          </a:p>
          <a:p>
            <a:pPr marL="0" indent="0" algn="l">
              <a:buNone/>
            </a:pPr>
            <a:r>
              <a:rPr lang="ru-RU" sz="1800" b="0" i="0" u="none" strike="noStrike" baseline="0" dirty="0">
                <a:latin typeface="TimesNewRomanPSMT"/>
              </a:rPr>
              <a:t>5) </a:t>
            </a:r>
            <a:r>
              <a:rPr lang="ru-RU" sz="1800" b="1" i="0" u="none" strike="noStrike" baseline="0" dirty="0">
                <a:latin typeface="TimesNewRomanPS-BoldMT"/>
              </a:rPr>
              <a:t>где будете тестировать?</a:t>
            </a:r>
          </a:p>
          <a:p>
            <a:pPr marL="0" indent="0" algn="l">
              <a:buNone/>
            </a:pPr>
            <a:r>
              <a:rPr lang="ru-RU" sz="1800" b="0" i="0" u="none" strike="noStrike" baseline="0" dirty="0">
                <a:latin typeface="SymbolMT"/>
              </a:rPr>
              <a:t> </a:t>
            </a:r>
            <a:r>
              <a:rPr lang="ru-RU" sz="1800" b="0" i="0" u="none" strike="noStrike" baseline="0" dirty="0">
                <a:latin typeface="TimesNewRomanPSMT"/>
              </a:rPr>
              <a:t>окружение тестируемой системы – описание;</a:t>
            </a:r>
          </a:p>
          <a:p>
            <a:pPr marL="0" indent="0" algn="l">
              <a:buNone/>
            </a:pPr>
            <a:r>
              <a:rPr lang="ru-RU" sz="1800" b="0" i="0" u="none" strike="noStrike" baseline="0" dirty="0">
                <a:latin typeface="SymbolMT"/>
              </a:rPr>
              <a:t> </a:t>
            </a:r>
            <a:r>
              <a:rPr lang="ru-RU" sz="1800" b="0" i="0" u="none" strike="noStrike" baseline="0" dirty="0">
                <a:latin typeface="TimesNewRomanPSMT"/>
              </a:rPr>
              <a:t>необходимое для тестирования оборудование и программные средства.</a:t>
            </a:r>
          </a:p>
          <a:p>
            <a:pPr marL="0" indent="0" algn="l">
              <a:buNone/>
            </a:pPr>
            <a:r>
              <a:rPr lang="ru-RU" sz="1800" b="0" i="0" u="none" strike="noStrike" baseline="0" dirty="0">
                <a:latin typeface="TimesNewRomanPSMT"/>
              </a:rPr>
              <a:t>6) </a:t>
            </a:r>
            <a:r>
              <a:rPr lang="ru-RU" sz="1800" b="1" i="0" u="none" strike="noStrike" baseline="0" dirty="0">
                <a:latin typeface="TimesNewRomanPS-BoldMT"/>
              </a:rPr>
              <a:t>кто будет тестировать?</a:t>
            </a:r>
          </a:p>
          <a:p>
            <a:pPr marL="0" indent="0" algn="l">
              <a:buNone/>
            </a:pPr>
            <a:r>
              <a:rPr lang="ru-RU" sz="1800" b="0" i="0" u="none" strike="noStrike" baseline="0" dirty="0">
                <a:latin typeface="SymbolMT"/>
              </a:rPr>
              <a:t> </a:t>
            </a:r>
            <a:r>
              <a:rPr lang="ru-RU" sz="1800" b="0" i="0" u="none" strike="noStrike" baseline="0" dirty="0">
                <a:latin typeface="TimesNewRomanPSMT"/>
              </a:rPr>
              <a:t>роли и обязанности;</a:t>
            </a:r>
          </a:p>
          <a:p>
            <a:pPr marL="0" indent="0" algn="l">
              <a:buNone/>
            </a:pPr>
            <a:r>
              <a:rPr lang="ru-RU" sz="1800" b="0" i="0" u="none" strike="noStrike" baseline="0" dirty="0">
                <a:latin typeface="SymbolMT"/>
              </a:rPr>
              <a:t> </a:t>
            </a:r>
            <a:r>
              <a:rPr lang="ru-RU" sz="1800" b="0" i="0" u="none" strike="noStrike" baseline="0" dirty="0">
                <a:latin typeface="TimesNewRomanPSMT"/>
              </a:rPr>
              <a:t>имена и фамилии.</a:t>
            </a:r>
            <a:endParaRPr lang="en-US" dirty="0"/>
          </a:p>
        </p:txBody>
      </p:sp>
    </p:spTree>
    <p:extLst>
      <p:ext uri="{BB962C8B-B14F-4D97-AF65-F5344CB8AC3E}">
        <p14:creationId xmlns:p14="http://schemas.microsoft.com/office/powerpoint/2010/main" val="103629429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483093" y="369686"/>
            <a:ext cx="11528393" cy="6359587"/>
          </a:xfrm>
        </p:spPr>
        <p:txBody>
          <a:bodyPr>
            <a:normAutofit/>
          </a:bodyPr>
          <a:lstStyle/>
          <a:p>
            <a:pPr marL="0" indent="0" algn="l">
              <a:buNone/>
            </a:pPr>
            <a:r>
              <a:rPr lang="ru-RU" sz="1800" b="0" i="0" u="none" strike="noStrike" baseline="0" dirty="0">
                <a:latin typeface="TimesNewRomanPSMT"/>
              </a:rPr>
              <a:t>7) </a:t>
            </a:r>
            <a:r>
              <a:rPr lang="ru-RU" sz="1800" b="1" i="0" u="none" strike="noStrike" baseline="0" dirty="0">
                <a:latin typeface="TimesNewRomanPS-BoldMT"/>
              </a:rPr>
              <a:t>критерии начала тестирования</a:t>
            </a:r>
            <a:r>
              <a:rPr lang="ru-RU" sz="1800" b="0" i="0" u="none" strike="noStrike" baseline="0" dirty="0">
                <a:latin typeface="TimesNewRomanPSMT"/>
              </a:rPr>
              <a:t>:</a:t>
            </a:r>
          </a:p>
          <a:p>
            <a:pPr algn="l"/>
            <a:r>
              <a:rPr lang="ru-RU" sz="1800" b="0" i="0" u="none" strike="noStrike" baseline="0" dirty="0">
                <a:latin typeface="SymbolMT"/>
              </a:rPr>
              <a:t> </a:t>
            </a:r>
            <a:r>
              <a:rPr lang="ru-RU" sz="1800" b="0" i="0" u="none" strike="noStrike" baseline="0" dirty="0">
                <a:latin typeface="TimesNewRomanPSMT"/>
              </a:rPr>
              <a:t>готовность окружения;</a:t>
            </a:r>
          </a:p>
          <a:p>
            <a:pPr algn="l"/>
            <a:r>
              <a:rPr lang="ru-RU" sz="1800" b="0" i="0" u="none" strike="noStrike" baseline="0" dirty="0">
                <a:latin typeface="SymbolMT"/>
              </a:rPr>
              <a:t> </a:t>
            </a:r>
            <a:r>
              <a:rPr lang="ru-RU" sz="1800" b="0" i="0" u="none" strike="noStrike" baseline="0" dirty="0">
                <a:latin typeface="TimesNewRomanPSMT"/>
              </a:rPr>
              <a:t>готовность тест кейсов;</a:t>
            </a:r>
          </a:p>
          <a:p>
            <a:pPr algn="l"/>
            <a:r>
              <a:rPr lang="ru-RU" sz="1800" b="0" i="0" u="none" strike="noStrike" baseline="0" dirty="0">
                <a:latin typeface="SymbolMT"/>
              </a:rPr>
              <a:t> </a:t>
            </a:r>
            <a:r>
              <a:rPr lang="ru-RU" sz="1800" b="0" i="0" u="none" strike="noStrike" baseline="0" dirty="0">
                <a:latin typeface="TimesNewRomanPSMT"/>
              </a:rPr>
              <a:t>законченность разработки требуемого функционала;</a:t>
            </a:r>
          </a:p>
          <a:p>
            <a:pPr algn="l"/>
            <a:r>
              <a:rPr lang="ru-RU" sz="1800" b="0" i="0" u="none" strike="noStrike" baseline="0" dirty="0">
                <a:latin typeface="SymbolMT"/>
              </a:rPr>
              <a:t> </a:t>
            </a:r>
            <a:r>
              <a:rPr lang="ru-RU" sz="1800" b="0" i="0" u="none" strike="noStrike" baseline="0" dirty="0">
                <a:latin typeface="TimesNewRomanPSMT"/>
              </a:rPr>
              <a:t>выполнение юнит-тестов;</a:t>
            </a:r>
          </a:p>
          <a:p>
            <a:pPr marL="0" indent="0" algn="l">
              <a:buNone/>
            </a:pPr>
            <a:r>
              <a:rPr lang="ru-RU" sz="1800" b="0" i="0" u="none" strike="noStrike" baseline="0" dirty="0">
                <a:latin typeface="SymbolMT"/>
              </a:rPr>
              <a:t>      </a:t>
            </a:r>
            <a:r>
              <a:rPr lang="ru-RU" sz="1800" b="0" i="0" u="none" strike="noStrike" baseline="0" dirty="0" err="1">
                <a:latin typeface="TimesNewRomanPSMT"/>
              </a:rPr>
              <a:t>билд</a:t>
            </a:r>
            <a:r>
              <a:rPr lang="ru-RU" sz="1800" b="0" i="0" u="none" strike="noStrike" baseline="0" dirty="0">
                <a:latin typeface="TimesNewRomanPSMT"/>
              </a:rPr>
              <a:t> построен и удовлетворяет определенным критериям.</a:t>
            </a:r>
          </a:p>
          <a:p>
            <a:pPr marL="0" indent="0" algn="l">
              <a:buNone/>
            </a:pPr>
            <a:r>
              <a:rPr lang="ru-RU" sz="1800" b="0" i="0" u="none" strike="noStrike" baseline="0" dirty="0">
                <a:latin typeface="TimesNewRomanPSMT"/>
              </a:rPr>
              <a:t>8) </a:t>
            </a:r>
            <a:r>
              <a:rPr lang="ru-RU" sz="1800" b="1" i="0" u="none" strike="noStrike" baseline="0" dirty="0">
                <a:latin typeface="TimesNewRomanPS-BoldMT"/>
              </a:rPr>
              <a:t>критерии окончания тестирования</a:t>
            </a:r>
            <a:r>
              <a:rPr lang="ru-RU" sz="1800" b="0" i="0" u="none" strike="noStrike" baseline="0" dirty="0">
                <a:latin typeface="TimesNewRomanPSMT"/>
              </a:rPr>
              <a:t>:</a:t>
            </a:r>
          </a:p>
          <a:p>
            <a:pPr algn="l"/>
            <a:r>
              <a:rPr lang="ru-RU" sz="1800" b="0" i="0" u="none" strike="noStrike" baseline="0" dirty="0">
                <a:latin typeface="SymbolMT"/>
              </a:rPr>
              <a:t> </a:t>
            </a:r>
            <a:r>
              <a:rPr lang="ru-RU" sz="1800" b="0" i="0" u="none" strike="noStrike" baseline="0" dirty="0">
                <a:latin typeface="TimesNewRomanPSMT"/>
              </a:rPr>
              <a:t>результаты тестирования удовлетворяют определенным критериям;</a:t>
            </a:r>
          </a:p>
          <a:p>
            <a:pPr algn="l"/>
            <a:r>
              <a:rPr lang="ru-RU" sz="1800" b="0" i="0" u="none" strike="noStrike" baseline="0" dirty="0">
                <a:latin typeface="SymbolMT"/>
              </a:rPr>
              <a:t> </a:t>
            </a:r>
            <a:r>
              <a:rPr lang="ru-RU" sz="1800" b="0" i="0" u="none" strike="noStrike" baseline="0" dirty="0">
                <a:latin typeface="TimesNewRomanPSMT"/>
              </a:rPr>
              <a:t>требования к количеству открытых багов выполнены (определяются заранее).</a:t>
            </a:r>
          </a:p>
          <a:p>
            <a:pPr marL="0" indent="0" algn="l">
              <a:buNone/>
            </a:pPr>
            <a:r>
              <a:rPr lang="ru-RU" sz="1800" b="0" i="0" u="none" strike="noStrike" baseline="0" dirty="0">
                <a:latin typeface="TimesNewRomanPSMT"/>
              </a:rPr>
              <a:t>9) </a:t>
            </a:r>
            <a:r>
              <a:rPr lang="ru-RU" sz="1800" b="1" i="0" u="none" strike="noStrike" baseline="0" dirty="0">
                <a:latin typeface="TimesNewRomanPS-BoldMT"/>
              </a:rPr>
              <a:t>критерии передачи системы для приемочного тестирования</a:t>
            </a:r>
            <a:r>
              <a:rPr lang="ru-RU" sz="1800" b="0" i="0" u="none" strike="noStrike" baseline="0" dirty="0">
                <a:latin typeface="TimesNewRomanPSMT"/>
              </a:rPr>
              <a:t>:</a:t>
            </a:r>
          </a:p>
          <a:p>
            <a:pPr algn="l"/>
            <a:r>
              <a:rPr lang="ru-RU" sz="1800" b="0" i="0" u="none" strike="noStrike" baseline="0" dirty="0">
                <a:latin typeface="SymbolMT"/>
              </a:rPr>
              <a:t> </a:t>
            </a:r>
            <a:r>
              <a:rPr lang="ru-RU" sz="1800" b="0" i="0" u="none" strike="noStrike" baseline="0" dirty="0">
                <a:latin typeface="TimesNewRomanPSMT"/>
              </a:rPr>
              <a:t>приемочные тесты – где хранятся и когда выполняются;</a:t>
            </a:r>
          </a:p>
          <a:p>
            <a:pPr algn="l"/>
            <a:r>
              <a:rPr lang="ru-RU" sz="1800" b="0" i="0" u="none" strike="noStrike" baseline="0" dirty="0">
                <a:latin typeface="SymbolMT"/>
              </a:rPr>
              <a:t> </a:t>
            </a:r>
            <a:r>
              <a:rPr lang="ru-RU" sz="1800" b="0" i="0" u="none" strike="noStrike" baseline="0" dirty="0">
                <a:latin typeface="TimesNewRomanPSMT"/>
              </a:rPr>
              <a:t>процедура приемки.</a:t>
            </a:r>
          </a:p>
          <a:p>
            <a:pPr marL="0" indent="0" algn="l">
              <a:buNone/>
            </a:pPr>
            <a:r>
              <a:rPr lang="ru-RU" sz="1800" b="0" i="0" u="none" strike="noStrike" baseline="0" dirty="0">
                <a:latin typeface="TimesNewRomanPSMT"/>
              </a:rPr>
              <a:t>10) </a:t>
            </a:r>
            <a:r>
              <a:rPr lang="ru-RU" sz="1800" b="1" i="0" u="none" strike="noStrike" baseline="0" dirty="0">
                <a:latin typeface="TimesNewRomanPS-BoldMT"/>
              </a:rPr>
              <a:t>какие риски существую и как мы ими будет управлять? </a:t>
            </a:r>
            <a:r>
              <a:rPr lang="ru-RU" sz="1800" b="0" i="0" u="none" strike="noStrike" baseline="0" dirty="0">
                <a:latin typeface="TimesNewRomanPSMT"/>
              </a:rPr>
              <a:t>Риски и их разрешение</a:t>
            </a:r>
          </a:p>
          <a:p>
            <a:pPr marL="0" indent="0" algn="l">
              <a:buNone/>
            </a:pPr>
            <a:r>
              <a:rPr lang="ru-RU" sz="1800" b="0" i="0" u="none" strike="noStrike" baseline="0" dirty="0">
                <a:latin typeface="TimesNewRomanPSMT"/>
              </a:rPr>
              <a:t>11) </a:t>
            </a:r>
            <a:r>
              <a:rPr lang="ru-RU" sz="1800" b="1" i="0" u="none" strike="noStrike" baseline="0" dirty="0">
                <a:latin typeface="TimesNewRomanPS-BoldMT"/>
              </a:rPr>
              <a:t>метрики и отчеты</a:t>
            </a:r>
            <a:r>
              <a:rPr lang="ru-RU" sz="1800" b="0" i="0" u="none" strike="noStrike" baseline="0" dirty="0">
                <a:latin typeface="TimesNewRomanPSMT"/>
              </a:rPr>
              <a:t>:</a:t>
            </a:r>
          </a:p>
          <a:p>
            <a:pPr algn="l"/>
            <a:r>
              <a:rPr lang="ru-RU" sz="1800" b="0" i="0" u="none" strike="noStrike" baseline="0" dirty="0">
                <a:latin typeface="SymbolMT"/>
              </a:rPr>
              <a:t> </a:t>
            </a:r>
            <a:r>
              <a:rPr lang="ru-RU" sz="1800" b="0" i="0" u="none" strike="noStrike" baseline="0" dirty="0">
                <a:latin typeface="TimesNewRomanPSMT"/>
              </a:rPr>
              <a:t>продуктовые метрики – кто собирает, с какой периодичностью;</a:t>
            </a:r>
          </a:p>
          <a:p>
            <a:pPr algn="l"/>
            <a:r>
              <a:rPr lang="ru-RU" sz="1800" b="0" i="0" u="none" strike="noStrike" baseline="0" dirty="0">
                <a:latin typeface="SymbolMT"/>
              </a:rPr>
              <a:t> </a:t>
            </a:r>
            <a:r>
              <a:rPr lang="ru-RU" sz="1800" b="0" i="0" u="none" strike="noStrike" baseline="0" dirty="0">
                <a:latin typeface="TimesNewRomanPSMT"/>
              </a:rPr>
              <a:t>отчеты - кто создает, кому отправляет, и т.п.</a:t>
            </a:r>
          </a:p>
          <a:p>
            <a:pPr marL="0" indent="0" algn="l">
              <a:buNone/>
            </a:pPr>
            <a:r>
              <a:rPr lang="ru-RU" sz="1800" b="0" i="0" u="none" strike="noStrike" baseline="0" dirty="0">
                <a:latin typeface="TimesNewRomanPSMT"/>
              </a:rPr>
              <a:t>12) </a:t>
            </a:r>
            <a:r>
              <a:rPr lang="ru-RU" sz="1800" b="1" i="0" u="none" strike="noStrike" baseline="0" dirty="0">
                <a:latin typeface="TimesNewRomanPS-BoldMT"/>
              </a:rPr>
              <a:t>расписание </a:t>
            </a:r>
            <a:r>
              <a:rPr lang="ru-RU" sz="1800" b="1" i="0" u="none" strike="noStrike" baseline="0" dirty="0" err="1">
                <a:latin typeface="TimesNewRomanPS-BoldMT"/>
              </a:rPr>
              <a:t>билдов</a:t>
            </a:r>
            <a:r>
              <a:rPr lang="ru-RU" sz="1800" b="1" i="0" u="none" strike="noStrike" baseline="0" dirty="0">
                <a:latin typeface="TimesNewRomanPS-BoldMT"/>
              </a:rPr>
              <a:t>.</a:t>
            </a:r>
          </a:p>
          <a:p>
            <a:pPr marL="0" indent="0" algn="l">
              <a:buNone/>
            </a:pPr>
            <a:endParaRPr lang="ru-RU" sz="1800" b="0" i="0" u="none" strike="noStrike" baseline="0" dirty="0">
              <a:latin typeface="TimesNewRomanPSMT"/>
            </a:endParaRPr>
          </a:p>
        </p:txBody>
      </p:sp>
    </p:spTree>
    <p:extLst>
      <p:ext uri="{BB962C8B-B14F-4D97-AF65-F5344CB8AC3E}">
        <p14:creationId xmlns:p14="http://schemas.microsoft.com/office/powerpoint/2010/main" val="130691439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616257" y="618262"/>
            <a:ext cx="10871447" cy="5525086"/>
          </a:xfrm>
        </p:spPr>
        <p:txBody>
          <a:bodyPr>
            <a:normAutofit/>
          </a:bodyPr>
          <a:lstStyle/>
          <a:p>
            <a:pPr marL="0" indent="0" algn="l">
              <a:buNone/>
            </a:pPr>
            <a:r>
              <a:rPr lang="ru-RU" sz="2600" b="0" i="0" u="none" strike="noStrike" baseline="0" dirty="0">
                <a:latin typeface="TimesNewRomanPSMT"/>
              </a:rPr>
              <a:t>Ответив в тест плане на вышеперечисленные вопросы, можно считать, что у на руках есть хороший черновик документа по планированию тестирования. </a:t>
            </a:r>
          </a:p>
          <a:p>
            <a:pPr marL="0" indent="0" algn="l">
              <a:buNone/>
            </a:pPr>
            <a:r>
              <a:rPr lang="ru-RU" sz="2600" b="1" i="1" u="none" strike="noStrike" baseline="0" dirty="0">
                <a:latin typeface="TimesNewRomanPSMT"/>
              </a:rPr>
              <a:t>Далее, чтобы документ приобрел более менее серьезный вид, предлагается дополнить его следующими пунктами:</a:t>
            </a:r>
          </a:p>
          <a:p>
            <a:pPr algn="l"/>
            <a:r>
              <a:rPr lang="ru-RU" sz="2600" b="0" i="0" u="none" strike="noStrike" baseline="0" dirty="0">
                <a:latin typeface="SymbolMT"/>
              </a:rPr>
              <a:t> </a:t>
            </a:r>
            <a:r>
              <a:rPr lang="ru-RU" sz="2600" b="0" i="0" u="none" strike="noStrike" baseline="0" dirty="0">
                <a:latin typeface="TimesNewRomanPSMT"/>
              </a:rPr>
              <a:t>окружение тестируемой системы (описание программно-аппаратных средств);</a:t>
            </a:r>
          </a:p>
          <a:p>
            <a:pPr algn="l"/>
            <a:r>
              <a:rPr lang="ru-RU" sz="2600" b="0" i="0" u="none" strike="noStrike" baseline="0" dirty="0">
                <a:latin typeface="SymbolMT"/>
              </a:rPr>
              <a:t> </a:t>
            </a:r>
            <a:r>
              <a:rPr lang="ru-RU" sz="2600" b="0" i="0" u="none" strike="noStrike" baseline="0" dirty="0">
                <a:latin typeface="TimesNewRomanPSMT"/>
              </a:rPr>
              <a:t>необходимое для тестирования оборудование и программные средства (тестовый стенд и его конфигурация, программы для автоматизированного тестирования и т.д.);</a:t>
            </a:r>
          </a:p>
          <a:p>
            <a:pPr algn="l"/>
            <a:r>
              <a:rPr lang="ru-RU" sz="2600" b="0" i="0" u="none" strike="noStrike" baseline="0" dirty="0">
                <a:latin typeface="SymbolMT"/>
              </a:rPr>
              <a:t> </a:t>
            </a:r>
            <a:r>
              <a:rPr lang="ru-RU" sz="2600" b="0" i="0" u="none" strike="noStrike" baseline="0" dirty="0">
                <a:latin typeface="TimesNewRomanPSMT"/>
              </a:rPr>
              <a:t>риски и пути их разрешения.</a:t>
            </a:r>
            <a:endParaRPr lang="en-US" sz="2600" dirty="0"/>
          </a:p>
          <a:p>
            <a:endParaRPr lang="en-US" dirty="0"/>
          </a:p>
        </p:txBody>
      </p:sp>
    </p:spTree>
    <p:extLst>
      <p:ext uri="{BB962C8B-B14F-4D97-AF65-F5344CB8AC3E}">
        <p14:creationId xmlns:p14="http://schemas.microsoft.com/office/powerpoint/2010/main" val="62117856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705035" y="520606"/>
            <a:ext cx="10986856" cy="5826927"/>
          </a:xfrm>
        </p:spPr>
        <p:txBody>
          <a:bodyPr>
            <a:normAutofit/>
          </a:bodyPr>
          <a:lstStyle/>
          <a:p>
            <a:pPr marL="0" indent="0" algn="l">
              <a:buNone/>
            </a:pPr>
            <a:r>
              <a:rPr lang="ru-RU" sz="2400" b="1" i="1" u="none" strike="noStrike" baseline="0" dirty="0">
                <a:latin typeface="TimesNewRomanPS-BoldItalicMT"/>
              </a:rPr>
              <a:t>Виды тест планов</a:t>
            </a:r>
          </a:p>
          <a:p>
            <a:pPr marL="0" indent="0" algn="l">
              <a:buNone/>
            </a:pPr>
            <a:r>
              <a:rPr lang="ru-RU" sz="2400" b="0" i="0" u="none" strike="noStrike" baseline="0" dirty="0">
                <a:latin typeface="TimesNewRomanPSMT"/>
              </a:rPr>
              <a:t>Чаще всего на практике приходится сталкиваться со следующими видами тест планов:</a:t>
            </a:r>
          </a:p>
          <a:p>
            <a:pPr marL="0" indent="0" algn="l">
              <a:buNone/>
            </a:pPr>
            <a:r>
              <a:rPr lang="en-US" sz="2400" b="0" i="0" u="none" strike="noStrike" baseline="0" dirty="0">
                <a:latin typeface="TimesNewRomanPSMT"/>
              </a:rPr>
              <a:t>1) </a:t>
            </a:r>
            <a:r>
              <a:rPr lang="en-US" sz="2400" b="1" i="0" u="none" strike="noStrike" baseline="0" dirty="0" err="1">
                <a:latin typeface="TimesNewRomanPS-BoldMT"/>
              </a:rPr>
              <a:t>мастер</a:t>
            </a:r>
            <a:r>
              <a:rPr lang="en-US" sz="2400" b="1" i="0" u="none" strike="noStrike" baseline="0" dirty="0">
                <a:latin typeface="TimesNewRomanPS-BoldMT"/>
              </a:rPr>
              <a:t> </a:t>
            </a:r>
            <a:r>
              <a:rPr lang="en-US" sz="2400" b="1" i="0" u="none" strike="noStrike" baseline="0" dirty="0" err="1">
                <a:latin typeface="TimesNewRomanPS-BoldMT"/>
              </a:rPr>
              <a:t>тест</a:t>
            </a:r>
            <a:r>
              <a:rPr lang="en-US" sz="2400" b="1" i="0" u="none" strike="noStrike" baseline="0" dirty="0">
                <a:latin typeface="TimesNewRomanPS-BoldMT"/>
              </a:rPr>
              <a:t> </a:t>
            </a:r>
            <a:r>
              <a:rPr lang="en-US" sz="2400" b="1" i="0" u="none" strike="noStrike" baseline="0" dirty="0" err="1">
                <a:latin typeface="TimesNewRomanPS-BoldMT"/>
              </a:rPr>
              <a:t>план</a:t>
            </a:r>
            <a:r>
              <a:rPr lang="en-US" sz="2400" b="1" i="0" u="none" strike="noStrike" baseline="0" dirty="0">
                <a:latin typeface="TimesNewRomanPS-BoldMT"/>
              </a:rPr>
              <a:t> (Master Plan or Master Test Plan);</a:t>
            </a:r>
          </a:p>
          <a:p>
            <a:pPr marL="0" indent="0" algn="l">
              <a:buNone/>
            </a:pPr>
            <a:r>
              <a:rPr lang="en-US" sz="2400" b="0" i="0" u="none" strike="noStrike" baseline="0" dirty="0">
                <a:latin typeface="TimesNewRomanPSMT"/>
              </a:rPr>
              <a:t>2) </a:t>
            </a:r>
            <a:r>
              <a:rPr lang="en-US" sz="2400" b="1" i="0" u="none" strike="noStrike" baseline="0" dirty="0" err="1">
                <a:latin typeface="TimesNewRomanPS-BoldMT"/>
              </a:rPr>
              <a:t>тест</a:t>
            </a:r>
            <a:r>
              <a:rPr lang="en-US" sz="2400" b="1" i="0" u="none" strike="noStrike" baseline="0" dirty="0">
                <a:latin typeface="TimesNewRomanPS-BoldMT"/>
              </a:rPr>
              <a:t> </a:t>
            </a:r>
            <a:r>
              <a:rPr lang="en-US" sz="2400" b="1" i="0" u="none" strike="noStrike" baseline="0" dirty="0" err="1">
                <a:latin typeface="TimesNewRomanPS-BoldMT"/>
              </a:rPr>
              <a:t>план</a:t>
            </a:r>
            <a:r>
              <a:rPr lang="en-US" sz="2400" b="1" i="0" u="none" strike="noStrike" baseline="0" dirty="0">
                <a:latin typeface="TimesNewRomanPS-BoldMT"/>
              </a:rPr>
              <a:t> (Test Plan);</a:t>
            </a:r>
          </a:p>
          <a:p>
            <a:pPr marL="0" indent="0" algn="l">
              <a:buNone/>
            </a:pPr>
            <a:r>
              <a:rPr lang="ru-RU" sz="2400" b="0" i="0" u="none" strike="noStrike" baseline="0" dirty="0">
                <a:latin typeface="TimesNewRomanPSMT"/>
              </a:rPr>
              <a:t>3) </a:t>
            </a:r>
            <a:r>
              <a:rPr lang="ru-RU" sz="2400" b="1" i="0" u="none" strike="noStrike" baseline="0" dirty="0">
                <a:latin typeface="TimesNewRomanPS-BoldMT"/>
              </a:rPr>
              <a:t>план приемочных испытаний (</a:t>
            </a:r>
            <a:r>
              <a:rPr lang="ru-RU" sz="2400" b="1" i="0" u="none" strike="noStrike" baseline="0" dirty="0" err="1">
                <a:latin typeface="TimesNewRomanPS-BoldMT"/>
              </a:rPr>
              <a:t>Product</a:t>
            </a:r>
            <a:r>
              <a:rPr lang="ru-RU" sz="2400" b="1" i="0" u="none" strike="noStrike" baseline="0" dirty="0">
                <a:latin typeface="TimesNewRomanPS-BoldMT"/>
              </a:rPr>
              <a:t> </a:t>
            </a:r>
            <a:r>
              <a:rPr lang="ru-RU" sz="2400" b="1" i="0" u="none" strike="noStrike" baseline="0" dirty="0" err="1">
                <a:latin typeface="TimesNewRomanPS-BoldMT"/>
              </a:rPr>
              <a:t>Acceptance</a:t>
            </a:r>
            <a:r>
              <a:rPr lang="ru-RU" sz="2400" b="1" i="0" u="none" strike="noStrike" baseline="0" dirty="0">
                <a:latin typeface="TimesNewRomanPS-BoldMT"/>
              </a:rPr>
              <a:t> </a:t>
            </a:r>
            <a:r>
              <a:rPr lang="ru-RU" sz="2400" b="1" i="0" u="none" strike="noStrike" baseline="0" dirty="0" err="1">
                <a:latin typeface="TimesNewRomanPS-BoldMT"/>
              </a:rPr>
              <a:t>Plan</a:t>
            </a:r>
            <a:r>
              <a:rPr lang="ru-RU" sz="2400" b="1" i="0" u="none" strike="noStrike" baseline="0" dirty="0">
                <a:latin typeface="TimesNewRomanPS-BoldMT"/>
              </a:rPr>
              <a:t>) </a:t>
            </a:r>
            <a:r>
              <a:rPr lang="ru-RU" sz="2400" b="0" i="0" u="none" strike="noStrike" baseline="0" dirty="0">
                <a:latin typeface="TimesNewRomanPSMT"/>
              </a:rPr>
              <a:t>- документ, описывающий</a:t>
            </a:r>
          </a:p>
          <a:p>
            <a:pPr marL="0" indent="0" algn="l">
              <a:buNone/>
            </a:pPr>
            <a:r>
              <a:rPr lang="ru-RU" sz="2400" b="0" i="0" u="none" strike="noStrike" baseline="0" dirty="0">
                <a:latin typeface="TimesNewRomanPSMT"/>
              </a:rPr>
              <a:t>набор действий, связанных с приемочным тестированием: стратегия, дата проведения,</a:t>
            </a:r>
          </a:p>
          <a:p>
            <a:pPr marL="0" indent="0" algn="l">
              <a:buNone/>
            </a:pPr>
            <a:r>
              <a:rPr lang="ru-RU" sz="2400" b="0" i="0" u="none" strike="noStrike" baseline="0" dirty="0">
                <a:latin typeface="TimesNewRomanPSMT"/>
              </a:rPr>
              <a:t>ответственные и т.д.;</a:t>
            </a:r>
          </a:p>
          <a:p>
            <a:pPr marL="0" indent="0" algn="l">
              <a:buNone/>
            </a:pPr>
            <a:r>
              <a:rPr lang="ru-RU" sz="2400" b="0" i="0" u="none" strike="noStrike" baseline="0" dirty="0">
                <a:latin typeface="TimesNewRomanPSMT"/>
              </a:rPr>
              <a:t>4) </a:t>
            </a:r>
            <a:r>
              <a:rPr lang="ru-RU" sz="2400" b="1" i="0" u="none" strike="noStrike" baseline="0" dirty="0">
                <a:latin typeface="TimesNewRomanPS-BoldMT"/>
              </a:rPr>
              <a:t>план автоматизации (</a:t>
            </a:r>
            <a:r>
              <a:rPr lang="ru-RU" sz="2400" b="1" i="0" u="none" strike="noStrike" baseline="0" dirty="0" err="1">
                <a:latin typeface="TimesNewRomanPS-BoldMT"/>
              </a:rPr>
              <a:t>Test</a:t>
            </a:r>
            <a:r>
              <a:rPr lang="ru-RU" sz="2400" b="1" i="0" u="none" strike="noStrike" baseline="0" dirty="0">
                <a:latin typeface="TimesNewRomanPS-BoldMT"/>
              </a:rPr>
              <a:t> </a:t>
            </a:r>
            <a:r>
              <a:rPr lang="ru-RU" sz="2400" b="1" i="0" u="none" strike="noStrike" baseline="0" dirty="0" err="1">
                <a:latin typeface="TimesNewRomanPS-BoldMT"/>
              </a:rPr>
              <a:t>Automation</a:t>
            </a:r>
            <a:r>
              <a:rPr lang="ru-RU" sz="2400" b="1" i="0" u="none" strike="noStrike" baseline="0" dirty="0">
                <a:latin typeface="TimesNewRomanPS-BoldMT"/>
              </a:rPr>
              <a:t> </a:t>
            </a:r>
            <a:r>
              <a:rPr lang="ru-RU" sz="2400" b="1" i="0" u="none" strike="noStrike" baseline="0" dirty="0" err="1">
                <a:latin typeface="TimesNewRomanPS-BoldMT"/>
              </a:rPr>
              <a:t>Plan</a:t>
            </a:r>
            <a:r>
              <a:rPr lang="ru-RU" sz="2400" b="1" i="0" u="none" strike="noStrike" baseline="0" dirty="0">
                <a:latin typeface="TimesNewRomanPS-BoldMT"/>
              </a:rPr>
              <a:t>) </a:t>
            </a:r>
            <a:r>
              <a:rPr lang="ru-RU" sz="2400" b="0" i="0" u="none" strike="noStrike" baseline="0" dirty="0">
                <a:latin typeface="TimesNewRomanPSMT"/>
              </a:rPr>
              <a:t>- документ, описывающий набор</a:t>
            </a:r>
          </a:p>
          <a:p>
            <a:pPr marL="0" indent="0" algn="l">
              <a:buNone/>
            </a:pPr>
            <a:r>
              <a:rPr lang="ru-RU" sz="2400" b="0" i="0" u="none" strike="noStrike" baseline="0" dirty="0">
                <a:latin typeface="TimesNewRomanPSMT"/>
              </a:rPr>
              <a:t>действий, связанных с автоматизацией тестированием: стратегия, правила,</a:t>
            </a:r>
          </a:p>
          <a:p>
            <a:pPr marL="0" indent="0" algn="l">
              <a:buNone/>
            </a:pPr>
            <a:r>
              <a:rPr lang="ru-RU" sz="2400" b="0" i="0" u="none" strike="noStrike" baseline="0" dirty="0">
                <a:latin typeface="TimesNewRomanPSMT"/>
              </a:rPr>
              <a:t>ответственные и т.д.</a:t>
            </a:r>
            <a:endParaRPr lang="en-US" sz="2400" dirty="0"/>
          </a:p>
        </p:txBody>
      </p:sp>
    </p:spTree>
    <p:extLst>
      <p:ext uri="{BB962C8B-B14F-4D97-AF65-F5344CB8AC3E}">
        <p14:creationId xmlns:p14="http://schemas.microsoft.com/office/powerpoint/2010/main" val="94433464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722790" y="396319"/>
            <a:ext cx="10942468" cy="6190911"/>
          </a:xfrm>
        </p:spPr>
        <p:txBody>
          <a:bodyPr>
            <a:noAutofit/>
          </a:bodyPr>
          <a:lstStyle/>
          <a:p>
            <a:pPr marL="0" indent="0" algn="l">
              <a:buNone/>
            </a:pPr>
            <a:r>
              <a:rPr lang="ru-RU" sz="2200" b="0" i="0" u="none" strike="noStrike" baseline="0" dirty="0">
                <a:latin typeface="TimesNewRomanPSMT"/>
              </a:rPr>
              <a:t>Явное отличие </a:t>
            </a:r>
            <a:r>
              <a:rPr lang="ru-RU" sz="2200" b="0" i="0" u="none" strike="noStrike" baseline="0" dirty="0" err="1">
                <a:latin typeface="TimesNewRomanPSMT"/>
              </a:rPr>
              <a:t>Master</a:t>
            </a:r>
            <a:r>
              <a:rPr lang="ru-RU" sz="2200" b="0" i="0" u="none" strike="noStrike" baseline="0" dirty="0">
                <a:latin typeface="TimesNewRomanPSMT"/>
              </a:rPr>
              <a:t> </a:t>
            </a:r>
            <a:r>
              <a:rPr lang="ru-RU" sz="2200" b="0" i="0" u="none" strike="noStrike" baseline="0" dirty="0" err="1">
                <a:latin typeface="TimesNewRomanPSMT"/>
              </a:rPr>
              <a:t>Test</a:t>
            </a:r>
            <a:r>
              <a:rPr lang="ru-RU" sz="2200" b="0" i="0" u="none" strike="noStrike" baseline="0" dirty="0">
                <a:latin typeface="TimesNewRomanPSMT"/>
              </a:rPr>
              <a:t> </a:t>
            </a:r>
            <a:r>
              <a:rPr lang="ru-RU" sz="2200" b="0" i="0" u="none" strike="noStrike" baseline="0" dirty="0" err="1">
                <a:latin typeface="TimesNewRomanPSMT"/>
              </a:rPr>
              <a:t>Plan</a:t>
            </a:r>
            <a:r>
              <a:rPr lang="ru-RU" sz="2200" b="0" i="0" u="none" strike="noStrike" baseline="0" dirty="0">
                <a:latin typeface="TimesNewRomanPSMT"/>
              </a:rPr>
              <a:t> от просто </a:t>
            </a:r>
            <a:r>
              <a:rPr lang="ru-RU" sz="2200" b="0" i="0" u="none" strike="noStrike" baseline="0" dirty="0" err="1">
                <a:latin typeface="TimesNewRomanPSMT"/>
              </a:rPr>
              <a:t>Test</a:t>
            </a:r>
            <a:r>
              <a:rPr lang="ru-RU" sz="2200" b="0" i="0" u="none" strike="noStrike" baseline="0" dirty="0">
                <a:latin typeface="TimesNewRomanPSMT"/>
              </a:rPr>
              <a:t> </a:t>
            </a:r>
            <a:r>
              <a:rPr lang="ru-RU" sz="2200" b="0" i="0" u="none" strike="noStrike" baseline="0" dirty="0" err="1">
                <a:latin typeface="TimesNewRomanPSMT"/>
              </a:rPr>
              <a:t>Plan</a:t>
            </a:r>
            <a:r>
              <a:rPr lang="ru-RU" sz="2200" b="0" i="0" u="none" strike="noStrike" baseline="0" dirty="0">
                <a:latin typeface="TimesNewRomanPSMT"/>
              </a:rPr>
              <a:t> в том, что </a:t>
            </a:r>
            <a:r>
              <a:rPr lang="ru-RU" sz="2200" b="1" i="0" u="none" strike="noStrike" baseline="0" dirty="0">
                <a:latin typeface="TimesNewRomanPS-BoldMT"/>
              </a:rPr>
              <a:t>мастер тест план является</a:t>
            </a:r>
          </a:p>
          <a:p>
            <a:pPr marL="0" indent="0" algn="l">
              <a:buNone/>
            </a:pPr>
            <a:r>
              <a:rPr lang="ru-RU" sz="2200" b="1" i="0" u="none" strike="noStrike" baseline="0" dirty="0">
                <a:latin typeface="TimesNewRomanPS-BoldMT"/>
              </a:rPr>
              <a:t>более статичным </a:t>
            </a:r>
            <a:r>
              <a:rPr lang="ru-RU" sz="2200" b="0" i="0" u="none" strike="noStrike" baseline="0" dirty="0">
                <a:latin typeface="TimesNewRomanPSMT"/>
              </a:rPr>
              <a:t>в силу того, что содержит в себе высокоуровневую информацию, которая не подвержена частому изменению в процессе тестирования и пересмотра требований. Сам же </a:t>
            </a:r>
            <a:r>
              <a:rPr lang="ru-RU" sz="2200" b="1" i="0" u="none" strike="noStrike" baseline="0" dirty="0">
                <a:latin typeface="TimesNewRomanPS-BoldMT"/>
              </a:rPr>
              <a:t>детальный тест план</a:t>
            </a:r>
            <a:r>
              <a:rPr lang="ru-RU" sz="2200" b="0" i="0" u="none" strike="noStrike" baseline="0" dirty="0">
                <a:latin typeface="TimesNewRomanPSMT"/>
              </a:rPr>
              <a:t>, который содержит более конкретную информацию по стратегии, видам</a:t>
            </a:r>
          </a:p>
          <a:p>
            <a:pPr marL="0" indent="0" algn="l">
              <a:buNone/>
            </a:pPr>
            <a:endParaRPr lang="en-US" sz="2200" b="0" i="0" u="none" strike="noStrike" baseline="0" dirty="0">
              <a:latin typeface="TimesNewRomanPSMT"/>
            </a:endParaRPr>
          </a:p>
          <a:p>
            <a:pPr marL="0" indent="0" algn="l">
              <a:buNone/>
            </a:pPr>
            <a:r>
              <a:rPr lang="ru-RU" sz="2200" b="0" i="0" u="none" strike="noStrike" baseline="0" dirty="0">
                <a:latin typeface="TimesNewRomanPSMT"/>
              </a:rPr>
              <a:t>тестировании, расписанию выполнения работ, является "живым" документом, который постоянно</a:t>
            </a:r>
          </a:p>
          <a:p>
            <a:pPr marL="0" indent="0" algn="l">
              <a:buNone/>
            </a:pPr>
            <a:r>
              <a:rPr lang="ru-RU" sz="2200" b="0" i="0" u="none" strike="noStrike" baseline="0" dirty="0">
                <a:latin typeface="TimesNewRomanPSMT"/>
              </a:rPr>
              <a:t>претерпевает изменения, отражающие реальное положение вещей на проекте.</a:t>
            </a:r>
          </a:p>
          <a:p>
            <a:pPr marL="0" indent="0" algn="l">
              <a:buNone/>
            </a:pPr>
            <a:endParaRPr lang="ru-RU" sz="2200" b="0" i="0" u="none" strike="noStrike" baseline="0" dirty="0">
              <a:latin typeface="TimesNewRomanPSMT"/>
            </a:endParaRPr>
          </a:p>
          <a:p>
            <a:pPr marL="0" indent="0" algn="l">
              <a:buNone/>
            </a:pPr>
            <a:r>
              <a:rPr lang="ru-RU" sz="2200" b="0" i="0" u="none" strike="noStrike" baseline="0" dirty="0">
                <a:latin typeface="TimesNewRomanPSMT"/>
              </a:rPr>
              <a:t>В повседневной жизни на проекте может быть один Мастер Тест План и несколько детальных</a:t>
            </a:r>
          </a:p>
          <a:p>
            <a:pPr marL="0" indent="0" algn="l">
              <a:buNone/>
            </a:pPr>
            <a:r>
              <a:rPr lang="ru-RU" sz="2200" b="0" i="0" u="none" strike="noStrike" baseline="0" dirty="0">
                <a:latin typeface="TimesNewRomanPSMT"/>
              </a:rPr>
              <a:t>тест планов, описывающих отдельные модули одного приложения</a:t>
            </a:r>
            <a:endParaRPr lang="en-US" sz="2200" dirty="0"/>
          </a:p>
        </p:txBody>
      </p:sp>
    </p:spTree>
    <p:extLst>
      <p:ext uri="{BB962C8B-B14F-4D97-AF65-F5344CB8AC3E}">
        <p14:creationId xmlns:p14="http://schemas.microsoft.com/office/powerpoint/2010/main" val="174684830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500847" y="644895"/>
            <a:ext cx="10605117" cy="4965792"/>
          </a:xfrm>
        </p:spPr>
        <p:txBody>
          <a:bodyPr/>
          <a:lstStyle/>
          <a:p>
            <a:pPr marL="0" indent="0" algn="l">
              <a:buNone/>
            </a:pPr>
            <a:r>
              <a:rPr lang="ru-RU" sz="1800" b="1" i="1" u="none" strike="noStrike" baseline="0" dirty="0">
                <a:latin typeface="TimesNewRomanPS-BoldItalicMT"/>
              </a:rPr>
              <a:t>Тестовый случай (</a:t>
            </a:r>
            <a:r>
              <a:rPr lang="ru-RU" sz="1800" b="1" i="1" u="none" strike="noStrike" baseline="0" dirty="0" err="1">
                <a:latin typeface="TimesNewRomanPS-BoldItalicMT"/>
              </a:rPr>
              <a:t>Test</a:t>
            </a:r>
            <a:r>
              <a:rPr lang="ru-RU" sz="1800" b="1" i="1" u="none" strike="noStrike" baseline="0" dirty="0">
                <a:latin typeface="TimesNewRomanPS-BoldItalicMT"/>
              </a:rPr>
              <a:t> </a:t>
            </a:r>
            <a:r>
              <a:rPr lang="ru-RU" sz="1800" b="1" i="1" u="none" strike="noStrike" baseline="0" dirty="0" err="1">
                <a:latin typeface="TimesNewRomanPS-BoldItalicMT"/>
              </a:rPr>
              <a:t>case</a:t>
            </a:r>
            <a:r>
              <a:rPr lang="ru-RU" sz="1800" b="1" i="1" u="none" strike="noStrike" baseline="0" dirty="0">
                <a:latin typeface="TimesNewRomanPS-BoldItalicMT"/>
              </a:rPr>
              <a:t>). Виды. Структура.</a:t>
            </a:r>
          </a:p>
          <a:p>
            <a:pPr marL="0" indent="0" algn="l">
              <a:buNone/>
            </a:pPr>
            <a:r>
              <a:rPr lang="ru-RU" sz="1800" b="1" i="0" u="none" strike="noStrike" baseline="0" dirty="0">
                <a:latin typeface="TimesNewRomanPS-BoldMT"/>
              </a:rPr>
              <a:t>Тестовый случай (</a:t>
            </a:r>
            <a:r>
              <a:rPr lang="ru-RU" sz="1800" b="1" i="0" u="none" strike="noStrike" baseline="0" dirty="0" err="1">
                <a:latin typeface="TimesNewRomanPS-BoldMT"/>
              </a:rPr>
              <a:t>Test</a:t>
            </a:r>
            <a:r>
              <a:rPr lang="ru-RU" sz="1800" b="1" i="0" u="none" strike="noStrike" baseline="0" dirty="0">
                <a:latin typeface="TimesNewRomanPS-BoldMT"/>
              </a:rPr>
              <a:t> </a:t>
            </a:r>
            <a:r>
              <a:rPr lang="ru-RU" sz="1800" b="1" i="0" u="none" strike="noStrike" baseline="0" dirty="0" err="1">
                <a:latin typeface="TimesNewRomanPS-BoldMT"/>
              </a:rPr>
              <a:t>Case</a:t>
            </a:r>
            <a:r>
              <a:rPr lang="ru-RU" sz="1800" b="1" i="0" u="none" strike="noStrike" baseline="0" dirty="0">
                <a:latin typeface="TimesNewRomanPS-BoldMT"/>
              </a:rPr>
              <a:t>) </a:t>
            </a:r>
            <a:r>
              <a:rPr lang="ru-RU" sz="1800" b="0" i="0" u="none" strike="noStrike" baseline="0" dirty="0">
                <a:latin typeface="TimesNewRomanPSMT"/>
              </a:rPr>
              <a:t>– это </a:t>
            </a:r>
          </a:p>
          <a:p>
            <a:pPr marL="0" indent="0" algn="l">
              <a:buNone/>
            </a:pPr>
            <a:r>
              <a:rPr lang="ru-RU" sz="1800" dirty="0">
                <a:latin typeface="TimesNewRomanPSMT"/>
              </a:rPr>
              <a:t>- </a:t>
            </a:r>
            <a:r>
              <a:rPr lang="ru-RU" sz="1800" b="0" i="0" u="none" strike="noStrike" baseline="0" dirty="0">
                <a:latin typeface="TimesNewRomanPSMT"/>
              </a:rPr>
              <a:t>минимальный элемент тестирования (всего одна верификация\проверка);</a:t>
            </a:r>
          </a:p>
          <a:p>
            <a:pPr marL="0" indent="0" algn="l">
              <a:buNone/>
            </a:pPr>
            <a:r>
              <a:rPr lang="ru-RU" sz="1800" b="0" i="0" u="none" strike="noStrike" baseline="0" dirty="0">
                <a:latin typeface="TimesNewRomanPSMT"/>
              </a:rPr>
              <a:t>– совокупность шагов, конкретных условий и параметров, необходимых для проверки</a:t>
            </a:r>
          </a:p>
          <a:p>
            <a:pPr marL="0" indent="0" algn="l">
              <a:buNone/>
            </a:pPr>
            <a:r>
              <a:rPr lang="ru-RU" sz="1800" b="0" i="0" u="none" strike="noStrike" baseline="0" dirty="0">
                <a:latin typeface="TimesNewRomanPSMT"/>
              </a:rPr>
              <a:t>реализации тестируемой функции или её части;</a:t>
            </a:r>
          </a:p>
          <a:p>
            <a:pPr marL="0" indent="0" algn="l">
              <a:buNone/>
            </a:pPr>
            <a:r>
              <a:rPr lang="ru-RU" sz="1800" b="0" i="0" u="none" strike="noStrike" baseline="0" dirty="0">
                <a:latin typeface="TimesNewRomanPSMT"/>
              </a:rPr>
              <a:t>– описание определенных действий и условий, которые необходимы для того, чтобы</a:t>
            </a:r>
          </a:p>
          <a:p>
            <a:pPr marL="0" indent="0" algn="l">
              <a:buNone/>
            </a:pPr>
            <a:r>
              <a:rPr lang="ru-RU" sz="1800" b="0" i="0" u="none" strike="noStrike" baseline="0" dirty="0">
                <a:latin typeface="TimesNewRomanPSMT"/>
              </a:rPr>
              <a:t>выявить тот или иной баг.</a:t>
            </a:r>
          </a:p>
          <a:p>
            <a:pPr algn="l"/>
            <a:endParaRPr lang="ru-RU" sz="1800" b="0" i="0" u="none" strike="noStrike" baseline="0" dirty="0">
              <a:latin typeface="TimesNewRomanPSMT"/>
            </a:endParaRPr>
          </a:p>
          <a:p>
            <a:pPr marL="0" indent="0" algn="l">
              <a:buNone/>
            </a:pPr>
            <a:r>
              <a:rPr lang="ru-RU" sz="1800" b="0" i="0" u="none" strike="noStrike" baseline="0" dirty="0">
                <a:latin typeface="TimesNewRomanPSMT"/>
              </a:rPr>
              <a:t>Под тест кейсом понимается структура вида: </a:t>
            </a:r>
            <a:r>
              <a:rPr lang="ru-RU" sz="1800" b="1" i="0" u="none" strike="noStrike" baseline="0" dirty="0" err="1">
                <a:latin typeface="TimesNewRomanPS-BoldMT"/>
              </a:rPr>
              <a:t>Action</a:t>
            </a:r>
            <a:r>
              <a:rPr lang="ru-RU" sz="1800" b="1" i="0" u="none" strike="noStrike" baseline="0" dirty="0">
                <a:latin typeface="TimesNewRomanPS-BoldMT"/>
              </a:rPr>
              <a:t> </a:t>
            </a:r>
            <a:r>
              <a:rPr lang="ru-RU" sz="1800" b="0" i="0" u="none" strike="noStrike" baseline="0" dirty="0">
                <a:latin typeface="TimesNewRomanPSMT"/>
              </a:rPr>
              <a:t>&gt; </a:t>
            </a:r>
            <a:r>
              <a:rPr lang="ru-RU" sz="1800" b="1" i="0" u="none" strike="noStrike" baseline="0" dirty="0" err="1">
                <a:latin typeface="TimesNewRomanPS-BoldMT"/>
              </a:rPr>
              <a:t>Expected</a:t>
            </a:r>
            <a:r>
              <a:rPr lang="ru-RU" sz="1800" b="1" i="0" u="none" strike="noStrike" baseline="0" dirty="0">
                <a:latin typeface="TimesNewRomanPS-BoldMT"/>
              </a:rPr>
              <a:t> </a:t>
            </a:r>
            <a:r>
              <a:rPr lang="ru-RU" sz="1800" b="1" i="0" u="none" strike="noStrike" baseline="0" dirty="0" err="1">
                <a:latin typeface="TimesNewRomanPS-BoldMT"/>
              </a:rPr>
              <a:t>Result</a:t>
            </a:r>
            <a:r>
              <a:rPr lang="ru-RU" sz="1800" b="1" i="0" u="none" strike="noStrike" baseline="0" dirty="0">
                <a:latin typeface="TimesNewRomanPS-BoldMT"/>
              </a:rPr>
              <a:t> </a:t>
            </a:r>
            <a:r>
              <a:rPr lang="ru-RU" sz="1800" b="0" i="0" u="none" strike="noStrike" baseline="0" dirty="0">
                <a:latin typeface="TimesNewRomanPSMT"/>
              </a:rPr>
              <a:t>&gt; </a:t>
            </a:r>
            <a:r>
              <a:rPr lang="ru-RU" sz="1800" b="1" i="0" u="none" strike="noStrike" baseline="0" dirty="0" err="1">
                <a:latin typeface="TimesNewRomanPS-BoldMT"/>
              </a:rPr>
              <a:t>Test</a:t>
            </a:r>
            <a:r>
              <a:rPr lang="ru-RU" sz="1800" b="1" i="0" u="none" strike="noStrike" baseline="0" dirty="0">
                <a:latin typeface="TimesNewRomanPS-BoldMT"/>
              </a:rPr>
              <a:t> </a:t>
            </a:r>
            <a:r>
              <a:rPr lang="ru-RU" sz="1800" b="1" i="0" u="none" strike="noStrike" baseline="0" dirty="0" err="1">
                <a:latin typeface="TimesNewRomanPS-BoldMT"/>
              </a:rPr>
              <a:t>Result</a:t>
            </a:r>
            <a:r>
              <a:rPr lang="ru-RU" sz="1800" b="1" i="0" u="none" strike="noStrike" baseline="0" dirty="0">
                <a:latin typeface="TimesNewRomanPS-BoldMT"/>
              </a:rPr>
              <a:t>. </a:t>
            </a:r>
            <a:endParaRPr lang="ru-RU" sz="1800" b="0" i="0" u="none" strike="noStrike" baseline="0" dirty="0">
              <a:latin typeface="TimesNewRomanPSMT"/>
            </a:endParaRPr>
          </a:p>
        </p:txBody>
      </p:sp>
    </p:spTree>
    <p:extLst>
      <p:ext uri="{BB962C8B-B14F-4D97-AF65-F5344CB8AC3E}">
        <p14:creationId xmlns:p14="http://schemas.microsoft.com/office/powerpoint/2010/main" val="122148083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429827" y="884592"/>
            <a:ext cx="10515600" cy="4351338"/>
          </a:xfrm>
        </p:spPr>
        <p:txBody>
          <a:bodyPr/>
          <a:lstStyle/>
          <a:p>
            <a:r>
              <a:rPr lang="ru-RU" sz="2800" b="0" i="0" u="none" strike="noStrike" baseline="0" dirty="0">
                <a:latin typeface="TimesNewRomanPSMT"/>
              </a:rPr>
              <a:t>пример </a:t>
            </a:r>
            <a:r>
              <a:rPr lang="ru-RU" sz="2800" b="0" i="0" u="none" strike="noStrike" baseline="0" dirty="0" err="1">
                <a:latin typeface="TimesNewRomanPSMT"/>
              </a:rPr>
              <a:t>test</a:t>
            </a:r>
            <a:r>
              <a:rPr lang="ru-RU" sz="2800" b="0" i="0" u="none" strike="noStrike" baseline="0" dirty="0">
                <a:latin typeface="TimesNewRomanPSMT"/>
              </a:rPr>
              <a:t> </a:t>
            </a:r>
            <a:r>
              <a:rPr lang="ru-RU" sz="2800" b="0" i="0" u="none" strike="noStrike" baseline="0" dirty="0" err="1">
                <a:latin typeface="TimesNewRomanPSMT"/>
              </a:rPr>
              <a:t>case</a:t>
            </a:r>
            <a:endParaRPr lang="en-US" dirty="0"/>
          </a:p>
        </p:txBody>
      </p:sp>
      <p:pic>
        <p:nvPicPr>
          <p:cNvPr id="4" name="Рисунок 3">
            <a:extLst>
              <a:ext uri="{FF2B5EF4-FFF2-40B4-BE49-F238E27FC236}">
                <a16:creationId xmlns:a16="http://schemas.microsoft.com/office/drawing/2014/main" id="{9C4A6A49-F29D-4D31-9812-5B485740D2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827" y="2074748"/>
            <a:ext cx="10614660" cy="1501140"/>
          </a:xfrm>
          <a:prstGeom prst="rect">
            <a:avLst/>
          </a:prstGeom>
        </p:spPr>
      </p:pic>
    </p:spTree>
    <p:extLst>
      <p:ext uri="{BB962C8B-B14F-4D97-AF65-F5344CB8AC3E}">
        <p14:creationId xmlns:p14="http://schemas.microsoft.com/office/powerpoint/2010/main" val="16300973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651768" y="698161"/>
            <a:ext cx="10818182" cy="5622740"/>
          </a:xfrm>
        </p:spPr>
        <p:txBody>
          <a:bodyPr>
            <a:normAutofit/>
          </a:bodyPr>
          <a:lstStyle/>
          <a:p>
            <a:pPr marL="0" indent="0" algn="l">
              <a:buNone/>
            </a:pPr>
            <a:r>
              <a:rPr lang="ru-RU" sz="2400" b="1" i="1" u="none" strike="noStrike" baseline="0" dirty="0">
                <a:solidFill>
                  <a:srgbClr val="FF0000"/>
                </a:solidFill>
                <a:latin typeface="TimesNewRomanPS-BoldItalicMT"/>
              </a:rPr>
              <a:t>Виды Тестовых Случаев</a:t>
            </a:r>
          </a:p>
          <a:p>
            <a:pPr marL="0" indent="0" algn="l">
              <a:buNone/>
            </a:pPr>
            <a:r>
              <a:rPr lang="ru-RU" sz="2400" b="0" i="0" u="none" strike="noStrike" baseline="0" dirty="0">
                <a:latin typeface="TimesNewRomanPSMT"/>
              </a:rPr>
              <a:t>Тест кейсы разделяются по ожидаемому результату на позитивные и негативные:</a:t>
            </a:r>
          </a:p>
          <a:p>
            <a:pPr algn="l"/>
            <a:r>
              <a:rPr lang="ru-RU" sz="2400" b="1" i="0" u="none" strike="noStrike" baseline="0" dirty="0">
                <a:latin typeface="TimesNewRomanPS-BoldMT"/>
              </a:rPr>
              <a:t>позитивный тест кейс </a:t>
            </a:r>
            <a:r>
              <a:rPr lang="ru-RU" sz="2400" b="0" i="0" u="none" strike="noStrike" baseline="0" dirty="0">
                <a:latin typeface="TimesNewRomanPSMT"/>
              </a:rPr>
              <a:t>использует только корректные данные и проверяет, что приложение правильно выполнило вызываемую функцию;</a:t>
            </a:r>
          </a:p>
          <a:p>
            <a:pPr algn="l"/>
            <a:r>
              <a:rPr lang="ru-RU" sz="2400" b="0" i="0" u="none" strike="noStrike" baseline="0" dirty="0">
                <a:latin typeface="SymbolMT"/>
              </a:rPr>
              <a:t> </a:t>
            </a:r>
            <a:r>
              <a:rPr lang="ru-RU" sz="2400" b="1" i="0" u="none" strike="noStrike" baseline="0" dirty="0">
                <a:latin typeface="TimesNewRomanPS-BoldMT"/>
              </a:rPr>
              <a:t>негативный тест кейс </a:t>
            </a:r>
            <a:r>
              <a:rPr lang="ru-RU" sz="2400" b="0" i="0" u="none" strike="noStrike" baseline="0" dirty="0">
                <a:latin typeface="TimesNewRomanPSMT"/>
              </a:rPr>
              <a:t>оперирует как корректными так и некорректными данными (минимум 1 некорректный параметр) и ставит целью проверку исключительных ситуаций (срабатывание валидаторов), а также проверяет, что вызываемая приложением функция не выполняется при срабатывании валидатора.</a:t>
            </a:r>
            <a:endParaRPr lang="en-US" sz="2400" dirty="0"/>
          </a:p>
        </p:txBody>
      </p:sp>
    </p:spTree>
    <p:extLst>
      <p:ext uri="{BB962C8B-B14F-4D97-AF65-F5344CB8AC3E}">
        <p14:creationId xmlns:p14="http://schemas.microsoft.com/office/powerpoint/2010/main" val="373022607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598503" y="804693"/>
            <a:ext cx="10515600" cy="4351338"/>
          </a:xfrm>
        </p:spPr>
        <p:txBody>
          <a:bodyPr/>
          <a:lstStyle/>
          <a:p>
            <a:pPr marL="0" indent="0" algn="l">
              <a:buNone/>
            </a:pPr>
            <a:r>
              <a:rPr lang="ru-RU" sz="1800" b="1" i="1" u="none" strike="noStrike" baseline="0" dirty="0">
                <a:latin typeface="TimesNewRomanPS-BoldItalicMT"/>
              </a:rPr>
              <a:t>Структура Тестовых Случаев (</a:t>
            </a:r>
            <a:r>
              <a:rPr lang="ru-RU" sz="1800" b="1" i="1" u="none" strike="noStrike" baseline="0" dirty="0" err="1">
                <a:latin typeface="TimesNewRomanPS-BoldItalicMT"/>
              </a:rPr>
              <a:t>Test</a:t>
            </a:r>
            <a:r>
              <a:rPr lang="ru-RU" sz="1800" b="1" i="1" u="none" strike="noStrike" baseline="0" dirty="0">
                <a:latin typeface="TimesNewRomanPS-BoldItalicMT"/>
              </a:rPr>
              <a:t> </a:t>
            </a:r>
            <a:r>
              <a:rPr lang="ru-RU" sz="1800" b="1" i="1" u="none" strike="noStrike" baseline="0" dirty="0" err="1">
                <a:latin typeface="TimesNewRomanPS-BoldItalicMT"/>
              </a:rPr>
              <a:t>Case</a:t>
            </a:r>
            <a:r>
              <a:rPr lang="ru-RU" sz="1800" b="1" i="1" u="none" strike="noStrike" baseline="0" dirty="0">
                <a:latin typeface="TimesNewRomanPS-BoldItalicMT"/>
              </a:rPr>
              <a:t> </a:t>
            </a:r>
            <a:r>
              <a:rPr lang="ru-RU" sz="1800" b="1" i="1" u="none" strike="noStrike" baseline="0" dirty="0" err="1">
                <a:latin typeface="TimesNewRomanPS-BoldItalicMT"/>
              </a:rPr>
              <a:t>Structure</a:t>
            </a:r>
            <a:r>
              <a:rPr lang="ru-RU" sz="1800" b="1" i="1" u="none" strike="noStrike" baseline="0" dirty="0">
                <a:latin typeface="TimesNewRomanPS-BoldItalicMT"/>
              </a:rPr>
              <a:t>)</a:t>
            </a:r>
          </a:p>
          <a:p>
            <a:pPr marL="0" indent="0" algn="l">
              <a:buNone/>
            </a:pPr>
            <a:r>
              <a:rPr lang="ru-RU" sz="1800" b="0" i="0" u="none" strike="noStrike" baseline="0" dirty="0">
                <a:latin typeface="TimesNewRomanPSMT"/>
              </a:rPr>
              <a:t>Каждый тест кейс должен состоять из трех частей</a:t>
            </a:r>
            <a:endParaRPr lang="en-US" dirty="0"/>
          </a:p>
        </p:txBody>
      </p:sp>
      <p:pic>
        <p:nvPicPr>
          <p:cNvPr id="4" name="Рисунок 3">
            <a:extLst>
              <a:ext uri="{FF2B5EF4-FFF2-40B4-BE49-F238E27FC236}">
                <a16:creationId xmlns:a16="http://schemas.microsoft.com/office/drawing/2014/main" id="{1C3B93AC-10F7-469B-AAC5-5EEF412174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210" y="1619250"/>
            <a:ext cx="8933263" cy="2908362"/>
          </a:xfrm>
          <a:prstGeom prst="rect">
            <a:avLst/>
          </a:prstGeom>
        </p:spPr>
      </p:pic>
      <p:sp>
        <p:nvSpPr>
          <p:cNvPr id="6" name="TextBox 5">
            <a:extLst>
              <a:ext uri="{FF2B5EF4-FFF2-40B4-BE49-F238E27FC236}">
                <a16:creationId xmlns:a16="http://schemas.microsoft.com/office/drawing/2014/main" id="{B38E42C1-0EDC-4894-9FCA-0E1437FE518A}"/>
              </a:ext>
            </a:extLst>
          </p:cNvPr>
          <p:cNvSpPr txBox="1"/>
          <p:nvPr/>
        </p:nvSpPr>
        <p:spPr>
          <a:xfrm>
            <a:off x="845597" y="4272781"/>
            <a:ext cx="10002915" cy="923330"/>
          </a:xfrm>
          <a:prstGeom prst="rect">
            <a:avLst/>
          </a:prstGeom>
          <a:noFill/>
        </p:spPr>
        <p:txBody>
          <a:bodyPr wrap="square">
            <a:spAutoFit/>
          </a:bodyPr>
          <a:lstStyle/>
          <a:p>
            <a:pPr algn="l"/>
            <a:r>
              <a:rPr lang="ru-RU" sz="1800" b="1" i="0" u="none" strike="noStrike" baseline="0" dirty="0">
                <a:latin typeface="TimesNewRomanPS-BoldMT"/>
              </a:rPr>
              <a:t>Примечание</a:t>
            </a:r>
            <a:r>
              <a:rPr lang="ru-RU" sz="1800" b="0" i="0" u="none" strike="noStrike" baseline="0" dirty="0">
                <a:latin typeface="TimesNewRomanPSMT"/>
              </a:rPr>
              <a:t>: </a:t>
            </a:r>
            <a:r>
              <a:rPr lang="ru-RU" sz="1800" b="1" i="0" u="none" strike="noStrike" baseline="0" dirty="0" err="1">
                <a:latin typeface="TimesNewRomanPS-BoldMT"/>
              </a:rPr>
              <a:t>Post</a:t>
            </a:r>
            <a:r>
              <a:rPr lang="ru-RU" sz="1800" b="1" i="0" u="none" strike="noStrike" baseline="0" dirty="0">
                <a:latin typeface="TimesNewRomanPS-BoldMT"/>
              </a:rPr>
              <a:t> </a:t>
            </a:r>
            <a:r>
              <a:rPr lang="ru-RU" sz="1800" b="1" i="0" u="none" strike="noStrike" baseline="0" dirty="0" err="1">
                <a:latin typeface="TimesNewRomanPS-BoldMT"/>
              </a:rPr>
              <a:t>Conditions</a:t>
            </a:r>
            <a:r>
              <a:rPr lang="ru-RU" sz="1800" b="1" i="0" u="none" strike="noStrike" baseline="0" dirty="0">
                <a:latin typeface="TimesNewRomanPS-BoldMT"/>
              </a:rPr>
              <a:t> </a:t>
            </a:r>
            <a:r>
              <a:rPr lang="ru-RU" sz="1800" b="0" i="0" u="none" strike="noStrike" baseline="0" dirty="0">
                <a:latin typeface="TimesNewRomanPSMT"/>
              </a:rPr>
              <a:t>не является обязательной частью. Эта часть актуальна при</a:t>
            </a:r>
          </a:p>
          <a:p>
            <a:pPr algn="l"/>
            <a:r>
              <a:rPr lang="ru-RU" sz="1800" b="0" i="0" u="none" strike="noStrike" baseline="0" dirty="0">
                <a:latin typeface="TimesNewRomanPSMT"/>
              </a:rPr>
              <a:t>автоматизированном тестировании, когда за один прогон можно наполнить базу данных сотней</a:t>
            </a:r>
          </a:p>
          <a:p>
            <a:pPr algn="l"/>
            <a:r>
              <a:rPr lang="ru-RU" sz="1800" b="0" i="0" u="none" strike="noStrike" baseline="0" dirty="0">
                <a:latin typeface="TimesNewRomanPSMT"/>
              </a:rPr>
              <a:t>или даже тысячей некорректных документов.</a:t>
            </a:r>
            <a:endParaRPr lang="en-US" dirty="0"/>
          </a:p>
        </p:txBody>
      </p:sp>
    </p:spTree>
    <p:extLst>
      <p:ext uri="{BB962C8B-B14F-4D97-AF65-F5344CB8AC3E}">
        <p14:creationId xmlns:p14="http://schemas.microsoft.com/office/powerpoint/2010/main" val="94283431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500849" y="405197"/>
            <a:ext cx="10515600" cy="4351338"/>
          </a:xfrm>
        </p:spPr>
        <p:txBody>
          <a:bodyPr/>
          <a:lstStyle/>
          <a:p>
            <a:pPr algn="l"/>
            <a:r>
              <a:rPr lang="ru-RU" sz="1800" b="1" i="0" u="none" strike="noStrike" baseline="0" dirty="0">
                <a:latin typeface="TimesNewRomanPS-BoldMT"/>
              </a:rPr>
              <a:t>Пример тест кейса</a:t>
            </a:r>
          </a:p>
          <a:p>
            <a:pPr algn="l"/>
            <a:r>
              <a:rPr lang="en-US" sz="1800" b="0" i="0" u="none" strike="noStrike" baseline="0" dirty="0">
                <a:latin typeface="TimesNewRomanPSMT"/>
              </a:rPr>
              <a:t>do A1, verify B1</a:t>
            </a:r>
          </a:p>
          <a:p>
            <a:pPr algn="l"/>
            <a:r>
              <a:rPr lang="en-US" sz="1800" b="0" i="0" u="none" strike="noStrike" baseline="0" dirty="0">
                <a:latin typeface="TimesNewRomanPSMT"/>
              </a:rPr>
              <a:t>do A2, verify B2</a:t>
            </a:r>
          </a:p>
          <a:p>
            <a:pPr algn="l"/>
            <a:r>
              <a:rPr lang="en-US" sz="1800" b="0" i="0" u="none" strike="noStrike" baseline="0" dirty="0">
                <a:latin typeface="TimesNewRomanPSMT"/>
              </a:rPr>
              <a:t>do A3, verify B3</a:t>
            </a:r>
          </a:p>
          <a:p>
            <a:pPr algn="l"/>
            <a:r>
              <a:rPr lang="ru-RU" sz="1800" b="0" i="0" u="none" strike="noStrike" baseline="0" dirty="0">
                <a:latin typeface="TimesNewRomanPSMT"/>
              </a:rPr>
              <a:t>В приведенном примере конечная проверка - В3. Это значит, что именно она является</a:t>
            </a:r>
          </a:p>
          <a:p>
            <a:pPr algn="l"/>
            <a:r>
              <a:rPr lang="ru-RU" sz="1800" b="0" i="0" u="none" strike="noStrike" baseline="0" dirty="0">
                <a:latin typeface="TimesNewRomanPSMT"/>
              </a:rPr>
              <a:t>ключевой. Значит, A1 и А2 - это действия приводящие систему в </a:t>
            </a:r>
            <a:r>
              <a:rPr lang="ru-RU" sz="1800" b="0" i="0" u="none" strike="noStrike" baseline="0" dirty="0" err="1">
                <a:latin typeface="TimesNewRomanPSMT"/>
              </a:rPr>
              <a:t>тестопригодное</a:t>
            </a:r>
            <a:r>
              <a:rPr lang="ru-RU" sz="1800" b="0" i="0" u="none" strike="noStrike" baseline="0" dirty="0">
                <a:latin typeface="TimesNewRomanPSMT"/>
              </a:rPr>
              <a:t> состояние. А В1</a:t>
            </a:r>
          </a:p>
          <a:p>
            <a:pPr algn="l"/>
            <a:r>
              <a:rPr lang="ru-RU" sz="1800" b="0" i="0" u="none" strike="noStrike" baseline="0" dirty="0">
                <a:latin typeface="TimesNewRomanPSMT"/>
              </a:rPr>
              <a:t>и В2 - условия того, что система находится в состоянии пригодном для тестирования</a:t>
            </a:r>
            <a:endParaRPr lang="en-US" dirty="0"/>
          </a:p>
        </p:txBody>
      </p:sp>
      <p:pic>
        <p:nvPicPr>
          <p:cNvPr id="4" name="Рисунок 3">
            <a:extLst>
              <a:ext uri="{FF2B5EF4-FFF2-40B4-BE49-F238E27FC236}">
                <a16:creationId xmlns:a16="http://schemas.microsoft.com/office/drawing/2014/main" id="{366E5E47-96AA-4C33-9FBB-C646F138D3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359" y="2932997"/>
            <a:ext cx="7984921" cy="3068308"/>
          </a:xfrm>
          <a:prstGeom prst="rect">
            <a:avLst/>
          </a:prstGeom>
        </p:spPr>
      </p:pic>
    </p:spTree>
    <p:extLst>
      <p:ext uri="{BB962C8B-B14F-4D97-AF65-F5344CB8AC3E}">
        <p14:creationId xmlns:p14="http://schemas.microsoft.com/office/powerpoint/2010/main" val="174793637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1E079E08-0F5D-4F04-BB96-457A31B9EB16}"/>
              </a:ext>
            </a:extLst>
          </p:cNvPr>
          <p:cNvSpPr>
            <a:spLocks noGrp="1"/>
          </p:cNvSpPr>
          <p:nvPr>
            <p:ph idx="1"/>
          </p:nvPr>
        </p:nvSpPr>
        <p:spPr>
          <a:xfrm>
            <a:off x="438704" y="218767"/>
            <a:ext cx="10515600" cy="4351338"/>
          </a:xfrm>
        </p:spPr>
        <p:txBody>
          <a:bodyPr/>
          <a:lstStyle/>
          <a:p>
            <a:pPr algn="l"/>
            <a:r>
              <a:rPr lang="ru-RU" sz="1800" b="0" i="0" u="none" strike="noStrike" baseline="0" dirty="0">
                <a:latin typeface="TimesNewRomanPSMT"/>
              </a:rPr>
              <a:t>конечная проверка одна, т.е. в случае если тест провален (</a:t>
            </a:r>
            <a:r>
              <a:rPr lang="ru-RU" sz="1800" b="1" i="0" u="none" strike="noStrike" baseline="0" dirty="0" err="1">
                <a:latin typeface="TimesNewRomanPS-BoldMT"/>
              </a:rPr>
              <a:t>test</a:t>
            </a:r>
            <a:r>
              <a:rPr lang="ru-RU" sz="1800" b="1" i="0" u="none" strike="noStrike" baseline="0" dirty="0">
                <a:latin typeface="TimesNewRomanPS-BoldMT"/>
              </a:rPr>
              <a:t> </a:t>
            </a:r>
            <a:r>
              <a:rPr lang="ru-RU" sz="1800" b="1" i="0" u="none" strike="noStrike" baseline="0" dirty="0" err="1">
                <a:latin typeface="TimesNewRomanPS-BoldMT"/>
              </a:rPr>
              <a:t>failed</a:t>
            </a:r>
            <a:r>
              <a:rPr lang="ru-RU" sz="1800" b="0" i="0" u="none" strike="noStrike" baseline="0" dirty="0">
                <a:latin typeface="TimesNewRomanPSMT"/>
              </a:rPr>
              <a:t>)</a:t>
            </a:r>
            <a:r>
              <a:rPr lang="en-US" sz="1800" b="0" i="0" u="none" strike="noStrike" baseline="0" dirty="0">
                <a:latin typeface="TimesNewRomanPSMT"/>
              </a:rPr>
              <a:t> </a:t>
            </a:r>
            <a:r>
              <a:rPr lang="ru-RU" sz="1800" b="0" i="0" u="none" strike="noStrike" baseline="0" dirty="0">
                <a:latin typeface="TimesNewRomanPSMT"/>
              </a:rPr>
              <a:t>будет сразу ясно из-за чего. Т.к. если провальными окажутся проверки В1 и/или В2, то тест кейс</a:t>
            </a:r>
            <a:r>
              <a:rPr lang="en-US" sz="1800" b="0" i="0" u="none" strike="noStrike" baseline="0" dirty="0">
                <a:latin typeface="TimesNewRomanPSMT"/>
              </a:rPr>
              <a:t> </a:t>
            </a:r>
            <a:r>
              <a:rPr lang="ru-RU" sz="1800" b="0" i="0" u="none" strike="noStrike" baseline="0" dirty="0">
                <a:latin typeface="TimesNewRomanPSMT"/>
              </a:rPr>
              <a:t>будет заблокирован (</a:t>
            </a:r>
            <a:r>
              <a:rPr lang="ru-RU" sz="1800" b="1" i="0" u="none" strike="noStrike" baseline="0" dirty="0" err="1">
                <a:latin typeface="TimesNewRomanPS-BoldMT"/>
              </a:rPr>
              <a:t>test</a:t>
            </a:r>
            <a:r>
              <a:rPr lang="ru-RU" sz="1800" b="1" i="0" u="none" strike="noStrike" baseline="0" dirty="0">
                <a:latin typeface="TimesNewRomanPS-BoldMT"/>
              </a:rPr>
              <a:t> </a:t>
            </a:r>
            <a:r>
              <a:rPr lang="ru-RU" sz="1800" b="1" i="0" u="none" strike="noStrike" baseline="0" dirty="0" err="1">
                <a:latin typeface="TimesNewRomanPS-BoldMT"/>
              </a:rPr>
              <a:t>blocked</a:t>
            </a:r>
            <a:r>
              <a:rPr lang="ru-RU" sz="1800" b="0" i="0" u="none" strike="noStrike" baseline="0" dirty="0">
                <a:latin typeface="TimesNewRomanPSMT"/>
              </a:rPr>
              <a:t>), из-за того, что функцию не возможно привести в</a:t>
            </a:r>
            <a:r>
              <a:rPr lang="en-US" sz="1800" b="0" i="0" u="none" strike="noStrike" baseline="0" dirty="0">
                <a:latin typeface="TimesNewRomanPSMT"/>
              </a:rPr>
              <a:t> </a:t>
            </a:r>
            <a:r>
              <a:rPr lang="ru-RU" sz="1800" b="0" i="0" u="none" strike="noStrike" baseline="0" dirty="0" err="1">
                <a:latin typeface="TimesNewRomanPSMT"/>
              </a:rPr>
              <a:t>тестопригодное</a:t>
            </a:r>
            <a:r>
              <a:rPr lang="ru-RU" sz="1800" b="0" i="0" u="none" strike="noStrike" baseline="0" dirty="0">
                <a:latin typeface="TimesNewRomanPSMT"/>
              </a:rPr>
              <a:t> состояние (состояние пригодное для проведения тестирования), но это не значит,</a:t>
            </a:r>
            <a:r>
              <a:rPr lang="en-US" sz="1800" b="0" i="0" u="none" strike="noStrike" baseline="0" dirty="0">
                <a:latin typeface="TimesNewRomanPSMT"/>
              </a:rPr>
              <a:t> </a:t>
            </a:r>
            <a:r>
              <a:rPr lang="ru-RU" sz="1800" b="0" i="0" u="none" strike="noStrike" baseline="0" dirty="0">
                <a:latin typeface="TimesNewRomanPSMT"/>
              </a:rPr>
              <a:t>что тестируемая функция не работает.</a:t>
            </a:r>
            <a:endParaRPr lang="en-US" dirty="0"/>
          </a:p>
        </p:txBody>
      </p:sp>
      <p:pic>
        <p:nvPicPr>
          <p:cNvPr id="4" name="Рисунок 3">
            <a:extLst>
              <a:ext uri="{FF2B5EF4-FFF2-40B4-BE49-F238E27FC236}">
                <a16:creationId xmlns:a16="http://schemas.microsoft.com/office/drawing/2014/main" id="{F7E309B4-3EB9-4491-A490-17FF4DE858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864" y="1508760"/>
            <a:ext cx="10241280" cy="3840480"/>
          </a:xfrm>
          <a:prstGeom prst="rect">
            <a:avLst/>
          </a:prstGeom>
        </p:spPr>
      </p:pic>
    </p:spTree>
    <p:extLst>
      <p:ext uri="{BB962C8B-B14F-4D97-AF65-F5344CB8AC3E}">
        <p14:creationId xmlns:p14="http://schemas.microsoft.com/office/powerpoint/2010/main" val="77559393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456460" y="236522"/>
            <a:ext cx="10515600" cy="4351338"/>
          </a:xfrm>
        </p:spPr>
        <p:txBody>
          <a:bodyPr/>
          <a:lstStyle/>
          <a:p>
            <a:pPr algn="l"/>
            <a:r>
              <a:rPr lang="ru-RU" sz="1800" b="1" i="1" u="none" strike="noStrike" baseline="0" dirty="0">
                <a:latin typeface="TimesNewRomanPS-BoldItalicMT"/>
              </a:rPr>
              <a:t>Детализация описания тест кейсов</a:t>
            </a:r>
          </a:p>
          <a:p>
            <a:pPr algn="l"/>
            <a:r>
              <a:rPr lang="ru-RU" sz="1800" b="0" i="0" u="none" strike="noStrike" baseline="0" dirty="0">
                <a:latin typeface="TimesNewRomanPSMT"/>
              </a:rPr>
              <a:t>Уровень детализации тест кейсов должен быть таков, чтобы обеспечивать разумное</a:t>
            </a:r>
          </a:p>
          <a:p>
            <a:pPr algn="l"/>
            <a:r>
              <a:rPr lang="ru-RU" sz="1800" b="0" i="0" u="none" strike="noStrike" baseline="0" dirty="0">
                <a:latin typeface="TimesNewRomanPSMT"/>
              </a:rPr>
              <a:t>соотношение времени прохождения к тестовому покрытию. Т.е. до тех пор пока покрытие тестами</a:t>
            </a:r>
          </a:p>
          <a:p>
            <a:pPr algn="l"/>
            <a:r>
              <a:rPr lang="ru-RU" sz="1800" b="0" i="0" u="none" strike="noStrike" baseline="0" dirty="0">
                <a:latin typeface="TimesNewRomanPSMT"/>
              </a:rPr>
              <a:t>определенного функционала не меняется, можно уменьшать детализацию тест кейсов</a:t>
            </a:r>
            <a:endParaRPr lang="en-US" dirty="0"/>
          </a:p>
        </p:txBody>
      </p:sp>
      <p:pic>
        <p:nvPicPr>
          <p:cNvPr id="7" name="Рисунок 6">
            <a:extLst>
              <a:ext uri="{FF2B5EF4-FFF2-40B4-BE49-F238E27FC236}">
                <a16:creationId xmlns:a16="http://schemas.microsoft.com/office/drawing/2014/main" id="{1A3A3C6A-DF07-454F-8466-631ED1E67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810" y="1836308"/>
            <a:ext cx="7701580" cy="2513750"/>
          </a:xfrm>
          <a:prstGeom prst="rect">
            <a:avLst/>
          </a:prstGeom>
        </p:spPr>
      </p:pic>
      <p:sp>
        <p:nvSpPr>
          <p:cNvPr id="9" name="TextBox 8">
            <a:extLst>
              <a:ext uri="{FF2B5EF4-FFF2-40B4-BE49-F238E27FC236}">
                <a16:creationId xmlns:a16="http://schemas.microsoft.com/office/drawing/2014/main" id="{82EC248F-8032-42ED-BE97-7A97F18527C3}"/>
              </a:ext>
            </a:extLst>
          </p:cNvPr>
          <p:cNvSpPr txBox="1"/>
          <p:nvPr/>
        </p:nvSpPr>
        <p:spPr>
          <a:xfrm>
            <a:off x="856139" y="4383596"/>
            <a:ext cx="10356357" cy="646331"/>
          </a:xfrm>
          <a:prstGeom prst="rect">
            <a:avLst/>
          </a:prstGeom>
          <a:noFill/>
        </p:spPr>
        <p:txBody>
          <a:bodyPr wrap="square">
            <a:spAutoFit/>
          </a:bodyPr>
          <a:lstStyle/>
          <a:p>
            <a:pPr algn="l"/>
            <a:r>
              <a:rPr lang="ru-RU" sz="1800" b="1" i="0" u="none" strike="noStrike" baseline="0" dirty="0">
                <a:latin typeface="TimesNewRomanPS-BoldMT"/>
              </a:rPr>
              <a:t>Проверка</a:t>
            </a:r>
            <a:r>
              <a:rPr lang="ru-RU" sz="1800" b="0" i="0" u="none" strike="noStrike" baseline="0" dirty="0">
                <a:latin typeface="TimesNewRomanPSMT"/>
              </a:rPr>
              <a:t>: Проверьте, что отображаемая страница соответствует странице на картинке 1 (и</a:t>
            </a:r>
          </a:p>
          <a:p>
            <a:pPr algn="l"/>
            <a:r>
              <a:rPr lang="ru-RU" sz="1800" b="0" i="0" u="none" strike="noStrike" baseline="0" dirty="0">
                <a:latin typeface="TimesNewRomanPSMT"/>
              </a:rPr>
              <a:t>прилагаем изображение страницы "Вход в систему")</a:t>
            </a:r>
            <a:endParaRPr lang="en-US" dirty="0"/>
          </a:p>
        </p:txBody>
      </p:sp>
    </p:spTree>
    <p:extLst>
      <p:ext uri="{BB962C8B-B14F-4D97-AF65-F5344CB8AC3E}">
        <p14:creationId xmlns:p14="http://schemas.microsoft.com/office/powerpoint/2010/main" val="85831335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Объект 2">
            <a:extLst>
              <a:ext uri="{FF2B5EF4-FFF2-40B4-BE49-F238E27FC236}">
                <a16:creationId xmlns:a16="http://schemas.microsoft.com/office/drawing/2014/main" id="{A4B99EA6-8B85-4171-8360-B40AA23ABA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2813" y="458464"/>
            <a:ext cx="6082892" cy="4603106"/>
          </a:xfrm>
        </p:spPr>
      </p:pic>
    </p:spTree>
    <p:extLst>
      <p:ext uri="{BB962C8B-B14F-4D97-AF65-F5344CB8AC3E}">
        <p14:creationId xmlns:p14="http://schemas.microsoft.com/office/powerpoint/2010/main" val="311633982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E894B3B-EF1E-421F-8AEA-308B4F203FA1}"/>
              </a:ext>
            </a:extLst>
          </p:cNvPr>
          <p:cNvSpPr txBox="1"/>
          <p:nvPr/>
        </p:nvSpPr>
        <p:spPr>
          <a:xfrm>
            <a:off x="594803" y="754602"/>
            <a:ext cx="10777491" cy="5655076"/>
          </a:xfrm>
          <a:prstGeom prst="rect">
            <a:avLst/>
          </a:prstGeom>
          <a:noFill/>
        </p:spPr>
        <p:txBody>
          <a:bodyPr wrap="square">
            <a:spAutoFit/>
          </a:bodyPr>
          <a:lstStyle/>
          <a:p>
            <a:pPr algn="l"/>
            <a:r>
              <a:rPr lang="ru-RU" sz="1800" b="1" i="0" u="none" strike="noStrike" baseline="0" dirty="0">
                <a:latin typeface="TimesNewRomanPS-BoldMT"/>
              </a:rPr>
              <a:t>Пример тест кейса</a:t>
            </a:r>
            <a:r>
              <a:rPr lang="ru-RU" sz="1800" b="0" i="0" u="none" strike="noStrike" baseline="0" dirty="0">
                <a:latin typeface="TimesNewRomanPSMT"/>
              </a:rPr>
              <a:t>: пусть для тестирования возможности оплаты услуги на сайте</a:t>
            </a:r>
          </a:p>
          <a:p>
            <a:pPr algn="l"/>
            <a:r>
              <a:rPr lang="ru-RU" sz="1800" b="0" i="0" u="none" strike="noStrike" baseline="0" dirty="0">
                <a:latin typeface="TimesNewRomanPSMT"/>
              </a:rPr>
              <a:t>необходимо выполнить следующий алгоритм:</a:t>
            </a:r>
          </a:p>
          <a:p>
            <a:pPr algn="l"/>
            <a:r>
              <a:rPr lang="ru-RU" sz="1800" b="0" i="0" u="none" strike="noStrike" baseline="0" dirty="0">
                <a:latin typeface="TimesNewRomanPSMT"/>
              </a:rPr>
              <a:t>1) открыть </a:t>
            </a:r>
            <a:r>
              <a:rPr lang="en-US" sz="1800" b="0" i="0" u="none" strike="noStrike" baseline="0" dirty="0">
                <a:latin typeface="TimesNewRomanPSMT"/>
              </a:rPr>
              <a:t>bsuir.by;</a:t>
            </a:r>
          </a:p>
          <a:p>
            <a:pPr algn="l"/>
            <a:r>
              <a:rPr lang="ru-RU" sz="1800" b="0" i="0" u="none" strike="noStrike" baseline="0" dirty="0">
                <a:latin typeface="TimesNewRomanPSMT"/>
              </a:rPr>
              <a:t>2) ввести в поле “Имя пользователя” значение “</a:t>
            </a:r>
            <a:r>
              <a:rPr lang="ru-RU" sz="1800" b="0" i="0" u="none" strike="noStrike" baseline="0" dirty="0" err="1">
                <a:latin typeface="TimesNewRomanPSMT"/>
              </a:rPr>
              <a:t>user</a:t>
            </a:r>
            <a:r>
              <a:rPr lang="ru-RU" sz="1800" b="0" i="0" u="none" strike="noStrike" baseline="0" dirty="0">
                <a:latin typeface="TimesNewRomanPSMT"/>
              </a:rPr>
              <a:t>”;</a:t>
            </a:r>
          </a:p>
          <a:p>
            <a:pPr algn="l"/>
            <a:r>
              <a:rPr lang="ru-RU" sz="1800" b="0" i="0" u="none" strike="noStrike" baseline="0" dirty="0">
                <a:latin typeface="TimesNewRomanPSMT"/>
              </a:rPr>
              <a:t>3) ввести в поле “Пароль” значение “</a:t>
            </a:r>
            <a:r>
              <a:rPr lang="ru-RU" sz="1800" b="0" i="0" u="none" strike="noStrike" baseline="0" dirty="0" err="1">
                <a:latin typeface="TimesNewRomanPSMT"/>
              </a:rPr>
              <a:t>password</a:t>
            </a:r>
            <a:r>
              <a:rPr lang="ru-RU" sz="1800" b="0" i="0" u="none" strike="noStrike" baseline="0" dirty="0">
                <a:latin typeface="TimesNewRomanPSMT"/>
              </a:rPr>
              <a:t>”;</a:t>
            </a:r>
          </a:p>
          <a:p>
            <a:pPr algn="l"/>
            <a:r>
              <a:rPr lang="ru-RU" sz="1800" b="0" i="0" u="none" strike="noStrike" baseline="0" dirty="0">
                <a:latin typeface="TimesNewRomanPSMT"/>
              </a:rPr>
              <a:t>4) нажать кнопку “Войти”;</a:t>
            </a:r>
          </a:p>
          <a:p>
            <a:pPr algn="l"/>
            <a:r>
              <a:rPr lang="ru-RU" sz="1800" b="0" i="0" u="none" strike="noStrike" baseline="0" dirty="0">
                <a:latin typeface="TimesNewRomanPSMT"/>
              </a:rPr>
              <a:t>5) ввести в поле “Искать людей” значение “Петр Петров”;</a:t>
            </a:r>
          </a:p>
          <a:p>
            <a:pPr algn="l"/>
            <a:r>
              <a:rPr lang="ru-RU" sz="1800" b="0" i="0" u="none" strike="noStrike" baseline="0" dirty="0">
                <a:latin typeface="TimesNewRomanPSMT"/>
              </a:rPr>
              <a:t>6) нажать кнопку “Поиск”;</a:t>
            </a:r>
            <a:endParaRPr lang="en-US" sz="1800" b="0" i="0" u="none" strike="noStrike" baseline="0" dirty="0">
              <a:latin typeface="TimesNewRomanPSMT"/>
            </a:endParaRPr>
          </a:p>
          <a:p>
            <a:pPr algn="l"/>
            <a:r>
              <a:rPr lang="ru-RU" sz="1800" b="0" i="0" u="none" strike="noStrike" baseline="0" dirty="0">
                <a:latin typeface="TimesNewRomanPSMT"/>
              </a:rPr>
              <a:t>7) нажать на страницу с Петр Петров;</a:t>
            </a:r>
          </a:p>
          <a:p>
            <a:pPr algn="l"/>
            <a:r>
              <a:rPr lang="ru-RU" sz="1800" b="0" i="0" u="none" strike="noStrike" baseline="0" dirty="0">
                <a:latin typeface="TimesNewRomanPSMT"/>
              </a:rPr>
              <a:t>8) в открывшейся странице нажать на ссылку “Отправить ”;</a:t>
            </a:r>
          </a:p>
          <a:p>
            <a:pPr algn="l"/>
            <a:r>
              <a:rPr lang="ru-RU" sz="1800" b="0" i="0" u="none" strike="noStrike" baseline="0" dirty="0">
                <a:latin typeface="TimesNewRomanPSMT"/>
              </a:rPr>
              <a:t>9) в открывшейся странице нажать на любую ссылку с подарком;</a:t>
            </a:r>
          </a:p>
          <a:p>
            <a:pPr algn="l"/>
            <a:r>
              <a:rPr lang="ru-RU" sz="1800" b="0" i="0" u="none" strike="noStrike" baseline="0" dirty="0">
                <a:latin typeface="TimesNewRomanPSMT"/>
              </a:rPr>
              <a:t>10) в открывшейся странице нажать на кнопку “Подарить”;</a:t>
            </a:r>
          </a:p>
          <a:p>
            <a:pPr algn="l"/>
            <a:r>
              <a:rPr lang="ru-RU" sz="1800" b="0" i="0" u="none" strike="noStrike" baseline="0" dirty="0">
                <a:latin typeface="TimesNewRomanPSMT"/>
              </a:rPr>
              <a:t>11) в открывшейся странице нажать на ссылку “Банковские карты”;</a:t>
            </a:r>
          </a:p>
          <a:p>
            <a:pPr algn="l"/>
            <a:r>
              <a:rPr lang="ru-RU" sz="1800" b="0" i="0" u="none" strike="noStrike" baseline="0" dirty="0">
                <a:latin typeface="TimesNewRomanPSMT"/>
              </a:rPr>
              <a:t>12) ввести в поле “Номер карты” значение карты VISA “1111-1111-1111-1111”;</a:t>
            </a:r>
          </a:p>
          <a:p>
            <a:pPr algn="l"/>
            <a:r>
              <a:rPr lang="ru-RU" sz="1800" b="0" i="0" u="none" strike="noStrike" baseline="0" dirty="0">
                <a:latin typeface="TimesNewRomanPSMT"/>
              </a:rPr>
              <a:t>13) ввести в поле “Действительно до” значение “07/15”;</a:t>
            </a:r>
          </a:p>
          <a:p>
            <a:pPr algn="l"/>
            <a:r>
              <a:rPr lang="ru-RU" sz="1800" b="0" i="0" u="none" strike="noStrike" baseline="0" dirty="0">
                <a:latin typeface="TimesNewRomanPSMT"/>
              </a:rPr>
              <a:t>14) ввести в поле “CVC” значение “111”;</a:t>
            </a:r>
          </a:p>
          <a:p>
            <a:pPr algn="l"/>
            <a:r>
              <a:rPr lang="ru-RU" sz="1800" b="0" i="0" u="none" strike="noStrike" baseline="0" dirty="0">
                <a:latin typeface="TimesNewRomanPSMT"/>
              </a:rPr>
              <a:t>15) нажать кнопку “Оплатить”;</a:t>
            </a:r>
          </a:p>
          <a:p>
            <a:pPr algn="l"/>
            <a:r>
              <a:rPr lang="ru-RU" sz="1800" b="0" i="0" u="none" strike="noStrike" baseline="0" dirty="0">
                <a:latin typeface="TimesNewRomanPSMT"/>
              </a:rPr>
              <a:t>16) записать номер заказа;</a:t>
            </a:r>
          </a:p>
          <a:p>
            <a:pPr algn="l"/>
            <a:r>
              <a:rPr lang="ru-RU" sz="1800" b="0" i="0" u="none" strike="noStrike" baseline="0" dirty="0">
                <a:latin typeface="TimesNewRomanPSMT"/>
              </a:rPr>
              <a:t>17) запросить базу данных “</a:t>
            </a:r>
            <a:r>
              <a:rPr lang="en-US" sz="1800" b="0" i="0" u="none" strike="noStrike" baseline="0" dirty="0">
                <a:latin typeface="TimesNewRomanPSMT"/>
              </a:rPr>
              <a:t>select res from payment where id = &lt;</a:t>
            </a:r>
            <a:r>
              <a:rPr lang="ru-RU" sz="1800" b="0" i="0" u="none" strike="noStrike" baseline="0" dirty="0">
                <a:latin typeface="TimesNewRomanPSMT"/>
              </a:rPr>
              <a:t>номер заказа&gt;”.</a:t>
            </a:r>
          </a:p>
          <a:p>
            <a:pPr algn="l"/>
            <a:r>
              <a:rPr lang="ru-RU" sz="1800" b="1" i="0" u="none" strike="noStrike" baseline="0" dirty="0">
                <a:latin typeface="TimesNewRomanPS-BoldMT"/>
              </a:rPr>
              <a:t>Ожидаемый результат: “10”</a:t>
            </a:r>
            <a:endParaRPr lang="en-US" dirty="0"/>
          </a:p>
        </p:txBody>
      </p:sp>
    </p:spTree>
    <p:extLst>
      <p:ext uri="{BB962C8B-B14F-4D97-AF65-F5344CB8AC3E}">
        <p14:creationId xmlns:p14="http://schemas.microsoft.com/office/powerpoint/2010/main" val="86408714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252273" y="209888"/>
            <a:ext cx="11812480" cy="6253055"/>
          </a:xfrm>
        </p:spPr>
        <p:txBody>
          <a:bodyPr>
            <a:normAutofit lnSpcReduction="10000"/>
          </a:bodyPr>
          <a:lstStyle/>
          <a:p>
            <a:pPr algn="l"/>
            <a:r>
              <a:rPr lang="ru-RU" sz="1800" b="0" i="0" u="none" strike="noStrike" baseline="0" dirty="0">
                <a:latin typeface="TimesNewRomanPSMT"/>
              </a:rPr>
              <a:t>Преимущество такой структуры тест кейса в отличии от первоначального списка заключается в</a:t>
            </a:r>
          </a:p>
          <a:p>
            <a:pPr algn="l"/>
            <a:r>
              <a:rPr lang="ru-RU" sz="1800" b="0" i="0" u="none" strike="noStrike" baseline="0" dirty="0">
                <a:latin typeface="TimesNewRomanPSMT"/>
              </a:rPr>
              <a:t>том, что есть возможность протестировать по тому же сценарию другие данные (например: user2,</a:t>
            </a:r>
          </a:p>
          <a:p>
            <a:pPr algn="l"/>
            <a:r>
              <a:rPr lang="en-US" sz="1800" b="0" i="0" u="none" strike="noStrike" baseline="0" dirty="0">
                <a:latin typeface="TimesNewRomanPSMT"/>
              </a:rPr>
              <a:t>password2, </a:t>
            </a:r>
            <a:r>
              <a:rPr lang="ru-RU" sz="1800" b="0" i="0" u="none" strike="noStrike" baseline="0" dirty="0">
                <a:latin typeface="TimesNewRomanPSMT"/>
              </a:rPr>
              <a:t>Джулия Робертс, 2222-2222-2222-2222).</a:t>
            </a:r>
          </a:p>
          <a:p>
            <a:pPr algn="l"/>
            <a:r>
              <a:rPr lang="ru-RU" sz="1800" b="1" i="1" u="none" strike="noStrike" baseline="0" dirty="0">
                <a:latin typeface="TimesNewRomanPS-BoldItalicMT"/>
              </a:rPr>
              <a:t>Для выполнения одного и того же сценария на N наборах тестовых данных создается N</a:t>
            </a:r>
          </a:p>
          <a:p>
            <a:pPr algn="l"/>
            <a:r>
              <a:rPr lang="ru-RU" sz="1800" b="1" i="1" u="none" strike="noStrike" baseline="0" dirty="0">
                <a:latin typeface="TimesNewRomanPS-BoldItalicMT"/>
              </a:rPr>
              <a:t>тестов.</a:t>
            </a:r>
          </a:p>
          <a:p>
            <a:pPr algn="l"/>
            <a:r>
              <a:rPr lang="ru-RU" sz="1800" b="0" i="0" u="none" strike="noStrike" baseline="0" dirty="0">
                <a:latin typeface="TimesNewRomanPSMT"/>
              </a:rPr>
              <a:t>Этому правилу необходимо следовать. Таким образом, чтобы сделать подарок Ивану Иванову,</a:t>
            </a:r>
          </a:p>
          <a:p>
            <a:pPr algn="l"/>
            <a:r>
              <a:rPr lang="ru-RU" sz="1800" b="0" i="0" u="none" strike="noStrike" baseline="0" dirty="0">
                <a:latin typeface="TimesNewRomanPSMT"/>
              </a:rPr>
              <a:t>нужно скопировать содержимое тест кейса VV12345, например, в тест кейс VV12346 и переписать</a:t>
            </a:r>
          </a:p>
          <a:p>
            <a:pPr algn="l"/>
            <a:r>
              <a:rPr lang="ru-RU" sz="1800" b="0" i="0" u="none" strike="noStrike" baseline="0" dirty="0">
                <a:latin typeface="TimesNewRomanPSMT"/>
              </a:rPr>
              <a:t>только входные параметры.</a:t>
            </a:r>
          </a:p>
          <a:p>
            <a:pPr algn="l"/>
            <a:r>
              <a:rPr lang="ru-RU" sz="1800" b="0" i="0" u="none" strike="noStrike" baseline="0" dirty="0">
                <a:latin typeface="TimesNewRomanPSMT"/>
              </a:rPr>
              <a:t>Такой вид тест кейса называется управляемый данными (</a:t>
            </a:r>
            <a:r>
              <a:rPr lang="ru-RU" sz="1800" b="0" i="0" u="none" strike="noStrike" baseline="0" dirty="0" err="1">
                <a:latin typeface="TimesNewRomanPSMT"/>
              </a:rPr>
              <a:t>data-driven</a:t>
            </a:r>
            <a:r>
              <a:rPr lang="ru-RU" sz="1800" b="0" i="0" u="none" strike="noStrike" baseline="0" dirty="0">
                <a:latin typeface="TimesNewRomanPSMT"/>
              </a:rPr>
              <a:t>).</a:t>
            </a:r>
          </a:p>
          <a:p>
            <a:pPr algn="l"/>
            <a:r>
              <a:rPr lang="ru-RU" sz="1800" b="0" i="0" u="none" strike="noStrike" baseline="0" dirty="0">
                <a:latin typeface="TimesNewRomanPSMT"/>
              </a:rPr>
              <a:t>Проблемы сценария в примере:</a:t>
            </a:r>
          </a:p>
          <a:p>
            <a:pPr algn="l"/>
            <a:r>
              <a:rPr lang="ru-RU" sz="1800" b="0" i="0" u="none" strike="noStrike" baseline="0" dirty="0">
                <a:latin typeface="SymbolMT"/>
              </a:rPr>
              <a:t> </a:t>
            </a:r>
            <a:r>
              <a:rPr lang="ru-RU" sz="1800" b="0" i="0" u="none" strike="noStrike" baseline="0" dirty="0">
                <a:latin typeface="TimesNewRomanPSMT"/>
              </a:rPr>
              <a:t>пункты 1-4 могут меняться в связи с миграцией сайта на новый домен, изменением</a:t>
            </a:r>
          </a:p>
          <a:p>
            <a:pPr algn="l"/>
            <a:r>
              <a:rPr lang="ru-RU" sz="1800" b="0" i="0" u="none" strike="noStrike" baseline="0" dirty="0">
                <a:latin typeface="TimesNewRomanPSMT"/>
              </a:rPr>
              <a:t>интерфейса и т.д.;</a:t>
            </a:r>
          </a:p>
          <a:p>
            <a:pPr algn="l"/>
            <a:r>
              <a:rPr lang="ru-RU" sz="1800" b="0" i="0" u="none" strike="noStrike" baseline="0" dirty="0">
                <a:latin typeface="SymbolMT"/>
              </a:rPr>
              <a:t> </a:t>
            </a:r>
            <a:r>
              <a:rPr lang="ru-RU" sz="1800" b="0" i="0" u="none" strike="noStrike" baseline="0" dirty="0">
                <a:latin typeface="TimesNewRomanPSMT"/>
              </a:rPr>
              <a:t>поиск друга в пунктах 5-7 “Петр Петров” может привести в никуда при удалении</a:t>
            </a:r>
          </a:p>
          <a:p>
            <a:pPr algn="l"/>
            <a:r>
              <a:rPr lang="ru-RU" sz="1800" b="0" i="0" u="none" strike="noStrike" baseline="0" dirty="0">
                <a:latin typeface="TimesNewRomanPSMT"/>
              </a:rPr>
              <a:t>страницы;</a:t>
            </a:r>
          </a:p>
          <a:p>
            <a:pPr algn="l"/>
            <a:r>
              <a:rPr lang="ru-RU" sz="1800" b="0" i="0" u="none" strike="noStrike" baseline="0" dirty="0">
                <a:latin typeface="SymbolMT"/>
              </a:rPr>
              <a:t> </a:t>
            </a:r>
            <a:r>
              <a:rPr lang="ru-RU" sz="1800" b="0" i="0" u="none" strike="noStrike" baseline="0" dirty="0">
                <a:latin typeface="TimesNewRomanPSMT"/>
              </a:rPr>
              <a:t>пункты 8-15 могут быть легко изменены за счет нового дизайна сайта.</a:t>
            </a:r>
          </a:p>
          <a:p>
            <a:pPr algn="l"/>
            <a:r>
              <a:rPr lang="ru-RU" sz="1800" b="0" i="0" u="none" strike="noStrike" baseline="0" dirty="0">
                <a:latin typeface="TimesNewRomanPSMT"/>
              </a:rPr>
              <a:t>Следовательно, при любом таком изменении придется переписывать весь тест кейс, чтобы</a:t>
            </a:r>
          </a:p>
          <a:p>
            <a:pPr algn="l"/>
            <a:r>
              <a:rPr lang="ru-RU" sz="1800" b="0" i="0" u="none" strike="noStrike" baseline="0" dirty="0">
                <a:latin typeface="TimesNewRomanPSMT"/>
              </a:rPr>
              <a:t>заново протестировать первоначальную задачу.</a:t>
            </a:r>
            <a:endParaRPr lang="en-US" dirty="0"/>
          </a:p>
        </p:txBody>
      </p:sp>
    </p:spTree>
    <p:extLst>
      <p:ext uri="{BB962C8B-B14F-4D97-AF65-F5344CB8AC3E}">
        <p14:creationId xmlns:p14="http://schemas.microsoft.com/office/powerpoint/2010/main" val="21329882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Объект 2">
            <a:extLst>
              <a:ext uri="{FF2B5EF4-FFF2-40B4-BE49-F238E27FC236}">
                <a16:creationId xmlns:a16="http://schemas.microsoft.com/office/drawing/2014/main" id="{18E94F5C-70F4-4AD8-BA5E-FC92770D48F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1231" y="280910"/>
            <a:ext cx="5589051" cy="6305406"/>
          </a:xfrm>
        </p:spPr>
      </p:pic>
      <p:sp>
        <p:nvSpPr>
          <p:cNvPr id="6" name="TextBox 5">
            <a:extLst>
              <a:ext uri="{FF2B5EF4-FFF2-40B4-BE49-F238E27FC236}">
                <a16:creationId xmlns:a16="http://schemas.microsoft.com/office/drawing/2014/main" id="{1F37C807-4413-44E1-AB6D-9310E0FEA3EC}"/>
              </a:ext>
            </a:extLst>
          </p:cNvPr>
          <p:cNvSpPr txBox="1"/>
          <p:nvPr/>
        </p:nvSpPr>
        <p:spPr>
          <a:xfrm>
            <a:off x="5930282" y="876176"/>
            <a:ext cx="5589051" cy="1754326"/>
          </a:xfrm>
          <a:prstGeom prst="rect">
            <a:avLst/>
          </a:prstGeom>
          <a:noFill/>
        </p:spPr>
        <p:txBody>
          <a:bodyPr wrap="square">
            <a:spAutoFit/>
          </a:bodyPr>
          <a:lstStyle/>
          <a:p>
            <a:pPr algn="l"/>
            <a:r>
              <a:rPr lang="ru-RU" sz="1800" b="0" i="0" u="none" strike="noStrike" baseline="0" dirty="0">
                <a:latin typeface="TimesNewRomanPSMT"/>
              </a:rPr>
              <a:t>Если же разбить задачу на несколько тест кейсов, например, за пункты 1-4 будет отвечать</a:t>
            </a:r>
          </a:p>
          <a:p>
            <a:pPr algn="l"/>
            <a:r>
              <a:rPr lang="ru-RU" sz="1800" b="0" i="0" u="none" strike="noStrike" baseline="0" dirty="0">
                <a:latin typeface="TimesNewRomanPSMT"/>
              </a:rPr>
              <a:t>тест кейс “Вход в систему”, за пункты 5-7 “Поиск друга”, 8-15 – “Оплата подарка” (на внутреннем</a:t>
            </a:r>
          </a:p>
          <a:p>
            <a:pPr algn="l"/>
            <a:r>
              <a:rPr lang="ru-RU" sz="1800" b="0" i="0" u="none" strike="noStrike" baseline="0" dirty="0">
                <a:latin typeface="TimesNewRomanPSMT"/>
              </a:rPr>
              <a:t>уровне каждого из них возможно еще более детальное разделение</a:t>
            </a:r>
            <a:endParaRPr lang="en-US" dirty="0"/>
          </a:p>
        </p:txBody>
      </p:sp>
      <p:sp>
        <p:nvSpPr>
          <p:cNvPr id="8" name="TextBox 7">
            <a:extLst>
              <a:ext uri="{FF2B5EF4-FFF2-40B4-BE49-F238E27FC236}">
                <a16:creationId xmlns:a16="http://schemas.microsoft.com/office/drawing/2014/main" id="{649E96FC-430D-460A-8285-150BE598D3D3}"/>
              </a:ext>
            </a:extLst>
          </p:cNvPr>
          <p:cNvSpPr txBox="1"/>
          <p:nvPr/>
        </p:nvSpPr>
        <p:spPr>
          <a:xfrm>
            <a:off x="6096000" y="3225768"/>
            <a:ext cx="6094520" cy="923330"/>
          </a:xfrm>
          <a:prstGeom prst="rect">
            <a:avLst/>
          </a:prstGeom>
          <a:noFill/>
        </p:spPr>
        <p:txBody>
          <a:bodyPr wrap="square">
            <a:spAutoFit/>
          </a:bodyPr>
          <a:lstStyle/>
          <a:p>
            <a:pPr algn="l"/>
            <a:r>
              <a:rPr lang="ru-RU" sz="1800" b="0" i="0" u="none" strike="noStrike" baseline="0" dirty="0">
                <a:latin typeface="TimesNewRomanPSMT"/>
              </a:rPr>
              <a:t>Возможен вариант, когда все, что нужно – это выполнение команды номер 5, при условии что</a:t>
            </a:r>
          </a:p>
          <a:p>
            <a:pPr algn="l"/>
            <a:r>
              <a:rPr lang="ru-RU" sz="1800" b="0" i="0" u="none" strike="noStrike" baseline="0" dirty="0">
                <a:latin typeface="TimesNewRomanPSMT"/>
              </a:rPr>
              <a:t>другие команды выполнены заранее</a:t>
            </a:r>
            <a:endParaRPr lang="en-US" dirty="0"/>
          </a:p>
        </p:txBody>
      </p:sp>
    </p:spTree>
    <p:extLst>
      <p:ext uri="{BB962C8B-B14F-4D97-AF65-F5344CB8AC3E}">
        <p14:creationId xmlns:p14="http://schemas.microsoft.com/office/powerpoint/2010/main" val="331553841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Объект 2">
            <a:extLst>
              <a:ext uri="{FF2B5EF4-FFF2-40B4-BE49-F238E27FC236}">
                <a16:creationId xmlns:a16="http://schemas.microsoft.com/office/drawing/2014/main" id="{FE36EFAA-4910-4430-AFC7-170D2F8578D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2810" y="359489"/>
            <a:ext cx="6471267" cy="3097858"/>
          </a:xfrm>
        </p:spPr>
      </p:pic>
      <p:pic>
        <p:nvPicPr>
          <p:cNvPr id="6" name="Рисунок 5">
            <a:extLst>
              <a:ext uri="{FF2B5EF4-FFF2-40B4-BE49-F238E27FC236}">
                <a16:creationId xmlns:a16="http://schemas.microsoft.com/office/drawing/2014/main" id="{F7729A92-25F3-41C8-88C8-3922DD4CA3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7949" y="3457347"/>
            <a:ext cx="6376127" cy="2902750"/>
          </a:xfrm>
          <a:prstGeom prst="rect">
            <a:avLst/>
          </a:prstGeom>
        </p:spPr>
      </p:pic>
    </p:spTree>
    <p:extLst>
      <p:ext uri="{BB962C8B-B14F-4D97-AF65-F5344CB8AC3E}">
        <p14:creationId xmlns:p14="http://schemas.microsoft.com/office/powerpoint/2010/main" val="367189626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213065" y="213065"/>
            <a:ext cx="13094562" cy="6338656"/>
          </a:xfrm>
        </p:spPr>
        <p:txBody>
          <a:bodyPr>
            <a:normAutofit fontScale="92500" lnSpcReduction="20000"/>
          </a:bodyPr>
          <a:lstStyle/>
          <a:p>
            <a:r>
              <a:rPr lang="ru-RU" sz="1800" b="1" i="0" u="none" strike="noStrike" baseline="0" dirty="0">
                <a:solidFill>
                  <a:srgbClr val="FF0000"/>
                </a:solidFill>
                <a:latin typeface="TimesNewRomanPS-BoldMT"/>
              </a:rPr>
              <a:t>ДЕФЕКТЫ. ПРИЧИНЫ, ОПИСАНИЕ, ОТСЛЕЖИВАНИЕ</a:t>
            </a:r>
          </a:p>
          <a:p>
            <a:pPr algn="l"/>
            <a:r>
              <a:rPr lang="ru-RU" sz="1800" b="0" i="0" u="none" strike="noStrike" baseline="0" dirty="0">
                <a:latin typeface="SymbolMT"/>
              </a:rPr>
              <a:t> </a:t>
            </a:r>
            <a:r>
              <a:rPr lang="ru-RU" sz="1800" b="1" i="0" u="none" strike="noStrike" baseline="0" dirty="0" err="1">
                <a:latin typeface="TimesNewRomanPS-BoldMT"/>
              </a:rPr>
              <a:t>defect</a:t>
            </a:r>
            <a:r>
              <a:rPr lang="ru-RU" sz="1800" b="1" i="0" u="none" strike="noStrike" baseline="0" dirty="0">
                <a:latin typeface="TimesNewRomanPS-BoldMT"/>
              </a:rPr>
              <a:t> </a:t>
            </a:r>
            <a:r>
              <a:rPr lang="ru-RU" sz="1800" b="0" i="0" u="none" strike="noStrike" baseline="0" dirty="0">
                <a:latin typeface="TimesNewRomanPSMT"/>
              </a:rPr>
              <a:t>— самое общее нарушение каких-либо требований или ожиданий, не</a:t>
            </a:r>
          </a:p>
          <a:p>
            <a:pPr marL="0" indent="0" algn="l">
              <a:buNone/>
            </a:pPr>
            <a:r>
              <a:rPr lang="ru-RU" sz="1800" b="0" i="0" u="none" strike="noStrike" baseline="0" dirty="0">
                <a:latin typeface="TimesNewRomanPSMT"/>
              </a:rPr>
              <a:t>обязательно проявляющееся вовсе (к дефектам относятся нарушения стандартов</a:t>
            </a:r>
          </a:p>
          <a:p>
            <a:pPr marL="0" indent="0" algn="l">
              <a:buNone/>
            </a:pPr>
            <a:r>
              <a:rPr lang="ru-RU" sz="1800" b="0" i="0" u="none" strike="noStrike" baseline="0" dirty="0">
                <a:latin typeface="TimesNewRomanPSMT"/>
              </a:rPr>
              <a:t>кодирования, недостаточная гибкость системы и пр.);</a:t>
            </a:r>
          </a:p>
          <a:p>
            <a:pPr algn="l"/>
            <a:r>
              <a:rPr lang="ru-RU" sz="1800" b="0" i="0" u="none" strike="noStrike" baseline="0" dirty="0">
                <a:latin typeface="SymbolMT"/>
              </a:rPr>
              <a:t> </a:t>
            </a:r>
            <a:r>
              <a:rPr lang="ru-RU" sz="1800" b="1" i="0" u="none" strike="noStrike" baseline="0" dirty="0" err="1">
                <a:latin typeface="TimesNewRomanPS-BoldMT"/>
              </a:rPr>
              <a:t>failure</a:t>
            </a:r>
            <a:r>
              <a:rPr lang="ru-RU" sz="1800" b="1" i="0" u="none" strike="noStrike" baseline="0" dirty="0">
                <a:latin typeface="TimesNewRomanPS-BoldMT"/>
              </a:rPr>
              <a:t> </a:t>
            </a:r>
            <a:r>
              <a:rPr lang="ru-RU" sz="1800" b="0" i="0" u="none" strike="noStrike" baseline="0" dirty="0">
                <a:latin typeface="TimesNewRomanPSMT"/>
              </a:rPr>
              <a:t>— наблюдаемое нарушение требований, проявляющееся при каком-то</a:t>
            </a:r>
          </a:p>
          <a:p>
            <a:pPr marL="0" indent="0" algn="l">
              <a:buNone/>
            </a:pPr>
            <a:r>
              <a:rPr lang="ru-RU" sz="1800" b="0" i="0" u="none" strike="noStrike" baseline="0" dirty="0">
                <a:latin typeface="TimesNewRomanPSMT"/>
              </a:rPr>
              <a:t>реальном сценарии работы ПО. Это можно назвать проявлением ошибки;</a:t>
            </a:r>
          </a:p>
          <a:p>
            <a:pPr algn="l"/>
            <a:r>
              <a:rPr lang="ru-RU" sz="1800" b="0" i="0" u="none" strike="noStrike" baseline="0" dirty="0">
                <a:latin typeface="SymbolMT"/>
              </a:rPr>
              <a:t> </a:t>
            </a:r>
            <a:r>
              <a:rPr lang="ru-RU" sz="1800" b="1" i="0" u="none" strike="noStrike" baseline="0" dirty="0" err="1">
                <a:latin typeface="TimesNewRomanPS-BoldMT"/>
              </a:rPr>
              <a:t>fault</a:t>
            </a:r>
            <a:r>
              <a:rPr lang="ru-RU" sz="1800" b="1" i="0" u="none" strike="noStrike" baseline="0" dirty="0">
                <a:latin typeface="TimesNewRomanPS-BoldMT"/>
              </a:rPr>
              <a:t> </a:t>
            </a:r>
            <a:r>
              <a:rPr lang="ru-RU" sz="1800" b="0" i="0" u="none" strike="noStrike" baseline="0" dirty="0">
                <a:latin typeface="TimesNewRomanPSMT"/>
              </a:rPr>
              <a:t>— ошибка в коде программы, вызывающая нарушения требований при работе</a:t>
            </a:r>
          </a:p>
          <a:p>
            <a:pPr marL="0" indent="0" algn="l">
              <a:buNone/>
            </a:pPr>
            <a:r>
              <a:rPr lang="ru-RU" sz="1800" b="0" i="0" u="none" strike="noStrike" baseline="0" dirty="0">
                <a:latin typeface="TimesNewRomanPSMT"/>
              </a:rPr>
              <a:t>(</a:t>
            </a:r>
            <a:r>
              <a:rPr lang="ru-RU" sz="1800" b="0" i="0" u="none" strike="noStrike" baseline="0" dirty="0" err="1">
                <a:latin typeface="TimesNewRomanPSMT"/>
              </a:rPr>
              <a:t>failures</a:t>
            </a:r>
            <a:r>
              <a:rPr lang="ru-RU" sz="1800" b="0" i="0" u="none" strike="noStrike" baseline="0" dirty="0">
                <a:latin typeface="TimesNewRomanPSMT"/>
              </a:rPr>
              <a:t>), то место, которое надо исправить. Хотя это понятие используется довольно</a:t>
            </a:r>
          </a:p>
          <a:p>
            <a:pPr marL="0" indent="0" algn="l">
              <a:buNone/>
            </a:pPr>
            <a:r>
              <a:rPr lang="ru-RU" sz="1800" b="0" i="0" u="none" strike="noStrike" baseline="0" dirty="0">
                <a:latin typeface="TimesNewRomanPSMT"/>
              </a:rPr>
              <a:t>часто, оно, вообще говоря, не вполне четкое, поскольку для устранения нарушения</a:t>
            </a:r>
          </a:p>
          <a:p>
            <a:pPr marL="0" indent="0" algn="l">
              <a:buNone/>
            </a:pPr>
            <a:r>
              <a:rPr lang="ru-RU" sz="1800" b="0" i="0" u="none" strike="noStrike" baseline="0" dirty="0">
                <a:latin typeface="TimesNewRomanPSMT"/>
              </a:rPr>
              <a:t>можно исправить программу в нескольких местах. Что именно надо исправлять,</a:t>
            </a:r>
          </a:p>
          <a:p>
            <a:pPr marL="0" indent="0" algn="l">
              <a:buNone/>
            </a:pPr>
            <a:r>
              <a:rPr lang="ru-RU" sz="1800" b="0" i="0" u="none" strike="noStrike" baseline="0" dirty="0">
                <a:latin typeface="TimesNewRomanPSMT"/>
              </a:rPr>
              <a:t>зависит от дополнительных условий, выполнение которых хотим при этом обеспечить,</a:t>
            </a:r>
          </a:p>
          <a:p>
            <a:pPr marL="0" indent="0" algn="l">
              <a:buNone/>
            </a:pPr>
            <a:r>
              <a:rPr lang="ru-RU" sz="1800" b="0" i="0" u="none" strike="noStrike" baseline="0" dirty="0">
                <a:latin typeface="TimesNewRomanPSMT"/>
              </a:rPr>
              <a:t>хотя в некоторых ситуациях наложение дополнительных ограничений не устраняет</a:t>
            </a:r>
          </a:p>
          <a:p>
            <a:pPr marL="0" indent="0" algn="l">
              <a:buNone/>
            </a:pPr>
            <a:r>
              <a:rPr lang="ru-RU" sz="1800" b="0" i="0" u="none" strike="noStrike" baseline="0" dirty="0">
                <a:latin typeface="TimesNewRomanPSMT"/>
              </a:rPr>
              <a:t>неоднозначность;</a:t>
            </a:r>
          </a:p>
          <a:p>
            <a:pPr algn="l"/>
            <a:r>
              <a:rPr lang="ru-RU" sz="1800" b="0" i="0" u="none" strike="noStrike" baseline="0" dirty="0">
                <a:latin typeface="SymbolMT"/>
              </a:rPr>
              <a:t> </a:t>
            </a:r>
            <a:r>
              <a:rPr lang="ru-RU" sz="1800" b="1" i="0" u="none" strike="noStrike" baseline="0" dirty="0" err="1">
                <a:latin typeface="TimesNewRomanPS-BoldMT"/>
              </a:rPr>
              <a:t>error</a:t>
            </a:r>
            <a:r>
              <a:rPr lang="ru-RU" sz="1800" b="1" i="0" u="none" strike="noStrike" baseline="0" dirty="0">
                <a:latin typeface="TimesNewRomanPS-BoldMT"/>
              </a:rPr>
              <a:t> </a:t>
            </a:r>
            <a:r>
              <a:rPr lang="ru-RU" sz="1800" b="0" i="0" u="none" strike="noStrike" baseline="0" dirty="0">
                <a:latin typeface="TimesNewRomanPSMT"/>
              </a:rPr>
              <a:t>— используется в двух смыслах. </a:t>
            </a:r>
            <a:r>
              <a:rPr lang="ru-RU" sz="1800" b="0" i="1" u="none" strike="noStrike" baseline="0" dirty="0">
                <a:latin typeface="TimesNewRomanPS-ItalicMT"/>
              </a:rPr>
              <a:t>Первый смысл </a:t>
            </a:r>
            <a:r>
              <a:rPr lang="ru-RU" sz="1800" b="0" i="0" u="none" strike="noStrike" baseline="0" dirty="0">
                <a:latin typeface="TimesNewRomanPSMT"/>
              </a:rPr>
              <a:t>— это ошибка в ментальной</a:t>
            </a:r>
          </a:p>
          <a:p>
            <a:pPr marL="0" indent="0" algn="l">
              <a:buNone/>
            </a:pPr>
            <a:r>
              <a:rPr lang="ru-RU" sz="1800" b="0" i="0" u="none" strike="noStrike" baseline="0" dirty="0">
                <a:latin typeface="TimesNewRomanPSMT"/>
              </a:rPr>
              <a:t>модели программиста, ошибка в его рассуждениях о программе, которая заставляет его</a:t>
            </a:r>
          </a:p>
          <a:p>
            <a:pPr marL="0" indent="0" algn="l">
              <a:buNone/>
            </a:pPr>
            <a:r>
              <a:rPr lang="ru-RU" sz="1800" b="0" i="0" u="none" strike="noStrike" baseline="0" dirty="0">
                <a:latin typeface="TimesNewRomanPSMT"/>
              </a:rPr>
              <a:t>делать ошибки в коде (</a:t>
            </a:r>
            <a:r>
              <a:rPr lang="ru-RU" sz="1800" b="0" i="0" u="none" strike="noStrike" baseline="0" dirty="0" err="1">
                <a:latin typeface="TimesNewRomanPSMT"/>
              </a:rPr>
              <a:t>faults</a:t>
            </a:r>
            <a:r>
              <a:rPr lang="ru-RU" sz="1800" b="0" i="0" u="none" strike="noStrike" baseline="0" dirty="0">
                <a:latin typeface="TimesNewRomanPSMT"/>
              </a:rPr>
              <a:t>). Это, собственно, ошибка, которую сделал человек в</a:t>
            </a:r>
          </a:p>
          <a:p>
            <a:pPr marL="0" indent="0" algn="l">
              <a:buNone/>
            </a:pPr>
            <a:r>
              <a:rPr lang="ru-RU" sz="1800" b="0" i="0" u="none" strike="noStrike" baseline="0" dirty="0">
                <a:latin typeface="TimesNewRomanPSMT"/>
              </a:rPr>
              <a:t>своем понимании свойств программы. </a:t>
            </a:r>
          </a:p>
          <a:p>
            <a:pPr marL="0" indent="0" algn="l">
              <a:buNone/>
            </a:pPr>
            <a:r>
              <a:rPr lang="ru-RU" sz="1800" b="0" i="0" u="none" strike="noStrike" baseline="0" dirty="0">
                <a:latin typeface="TimesNewRomanPSMT"/>
              </a:rPr>
              <a:t>Второй смысл — это некорректные значения</a:t>
            </a:r>
          </a:p>
          <a:p>
            <a:pPr algn="l"/>
            <a:r>
              <a:rPr lang="ru-RU" sz="1800" b="0" i="0" u="none" strike="noStrike" baseline="0" dirty="0">
                <a:latin typeface="TimesNewRomanPSMT"/>
              </a:rPr>
              <a:t>данных (выходных или внутренних), которые возникают при ошибках в работе</a:t>
            </a:r>
          </a:p>
          <a:p>
            <a:pPr algn="l"/>
            <a:r>
              <a:rPr lang="ru-RU" sz="1800" b="0" i="0" u="none" strike="noStrike" baseline="0" dirty="0">
                <a:latin typeface="TimesNewRomanPSMT"/>
              </a:rPr>
              <a:t>программы.</a:t>
            </a:r>
            <a:endParaRPr lang="en-US" dirty="0"/>
          </a:p>
        </p:txBody>
      </p:sp>
    </p:spTree>
    <p:extLst>
      <p:ext uri="{BB962C8B-B14F-4D97-AF65-F5344CB8AC3E}">
        <p14:creationId xmlns:p14="http://schemas.microsoft.com/office/powerpoint/2010/main" val="182042646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F6C05B8-B6B0-491E-8C58-179B1D5114CC}"/>
              </a:ext>
            </a:extLst>
          </p:cNvPr>
          <p:cNvSpPr>
            <a:spLocks noGrp="1"/>
          </p:cNvSpPr>
          <p:nvPr>
            <p:ph idx="1"/>
          </p:nvPr>
        </p:nvSpPr>
        <p:spPr>
          <a:xfrm>
            <a:off x="287783" y="280910"/>
            <a:ext cx="11670437" cy="6439485"/>
          </a:xfrm>
        </p:spPr>
        <p:txBody>
          <a:bodyPr>
            <a:normAutofit/>
          </a:bodyPr>
          <a:lstStyle/>
          <a:p>
            <a:pPr marL="0" indent="0" algn="l">
              <a:buNone/>
            </a:pPr>
            <a:r>
              <a:rPr lang="ru-RU" sz="1800" u="none" strike="noStrike" baseline="0" dirty="0">
                <a:latin typeface="TimesNewRomanPSMT"/>
              </a:rPr>
              <a:t>Эти понятия некоторым образом связаны с основными источниками ошибок. Поскольку при разработке программ необходимо сначала понять задачу, затем придумать ее решение и закодировать его в виде программы, то, соответственно, основных источников ошибок три:</a:t>
            </a:r>
          </a:p>
          <a:p>
            <a:pPr algn="l"/>
            <a:r>
              <a:rPr lang="ru-RU" sz="1800" b="1" i="0" u="none" strike="noStrike" baseline="0" dirty="0">
                <a:latin typeface="TimesNewRomanPS-BoldMT"/>
              </a:rPr>
              <a:t>неправильное понимание задач. </a:t>
            </a:r>
            <a:r>
              <a:rPr lang="ru-RU" sz="1800" b="0" i="0" u="none" strike="noStrike" baseline="0" dirty="0">
                <a:latin typeface="TimesNewRomanPSMT"/>
              </a:rPr>
              <a:t>Разработчики ПО не всегда понимают, что именно нужно сделать. Другим источником непонимания служит отсутствие его у самих пользователей и заказчиков — достаточно часто они могут просить сделать несколько не то, что им действительно нужно. Для предотвращения неправильного понимания задач программной системы служит анализ предметной области;</a:t>
            </a:r>
          </a:p>
          <a:p>
            <a:pPr algn="l"/>
            <a:r>
              <a:rPr lang="ru-RU" sz="1800" b="1" i="0" u="none" strike="noStrike" baseline="0" dirty="0">
                <a:latin typeface="TimesNewRomanPS-BoldMT"/>
              </a:rPr>
              <a:t>неправильное решение задач. </a:t>
            </a:r>
            <a:r>
              <a:rPr lang="ru-RU" sz="1800" b="0" i="0" u="none" strike="noStrike" baseline="0" dirty="0">
                <a:latin typeface="TimesNewRomanPSMT"/>
              </a:rPr>
              <a:t>Зачастую, даже правильно поняв, что именно нужно сделать, разработчики выбирают неправильный подход к тому, как это делать. Выбираемые решения могут обеспечивать лишь некоторые из требуемых свойств, они могут хорошо подходить для данной задачи в теории, но плохо работать на практике, в</a:t>
            </a:r>
          </a:p>
          <a:p>
            <a:pPr algn="l"/>
            <a:r>
              <a:rPr lang="ru-RU" sz="1800" b="0" i="0" u="none" strike="noStrike" baseline="0" dirty="0">
                <a:latin typeface="TimesNewRomanPSMT"/>
              </a:rPr>
              <a:t>конкретных обстоятельствах, в которых должно будет работать программное обеспечение. Помочь в выборе правильного решения может сопоставление альтернативных решений и тщательный анализ их на предмет соответствия всем требованиям, поддержание постоянной связи с пользователями и заказчиками, предоставление им необходимой информации о выбранных решениях, демонстрация прототипов, анализ пригодности выбираемых решений для работы в том контексте, в котором они будут использоваться;</a:t>
            </a:r>
          </a:p>
          <a:p>
            <a:pPr algn="l"/>
            <a:r>
              <a:rPr lang="ru-RU" sz="1800" b="0" i="0" u="none" strike="noStrike" baseline="0" dirty="0">
                <a:latin typeface="SymbolMT"/>
              </a:rPr>
              <a:t> </a:t>
            </a:r>
            <a:r>
              <a:rPr lang="ru-RU" sz="1800" b="1" i="0" u="none" strike="noStrike" baseline="0" dirty="0">
                <a:latin typeface="TimesNewRomanPS-BoldMT"/>
              </a:rPr>
              <a:t>неправильный перенос решений в код. </a:t>
            </a:r>
            <a:r>
              <a:rPr lang="ru-RU" sz="1800" b="0" i="0" u="none" strike="noStrike" baseline="0" dirty="0">
                <a:latin typeface="TimesNewRomanPSMT"/>
              </a:rPr>
              <a:t>Имея правильное решение правильно понятой задачи, люди, тем не менее, способны сделать достаточно много ошибок при воплощении этих решений. Корректному представлению решений в коде могут помешать как обычные опечатки, так и забывчивость программиста или его нежелание</a:t>
            </a:r>
          </a:p>
          <a:p>
            <a:pPr algn="l"/>
            <a:r>
              <a:rPr lang="ru-RU" sz="1800" b="0" i="0" u="none" strike="noStrike" baseline="0" dirty="0">
                <a:latin typeface="TimesNewRomanPSMT"/>
              </a:rPr>
              <a:t>отказаться от привычных приемов, которые не дают возможности аккуратно записать принятое решение. С ошибками такого рода можно справиться при помощи инспектирования кода, взаимного контроля, при котором разработчики внимательно читают код друг друга, опережающей разработки модульных тестов и тестирования.</a:t>
            </a:r>
            <a:endParaRPr lang="en-US" dirty="0"/>
          </a:p>
        </p:txBody>
      </p:sp>
    </p:spTree>
    <p:extLst>
      <p:ext uri="{BB962C8B-B14F-4D97-AF65-F5344CB8AC3E}">
        <p14:creationId xmlns:p14="http://schemas.microsoft.com/office/powerpoint/2010/main" val="370377318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562991" y="609385"/>
            <a:ext cx="11084511" cy="6022234"/>
          </a:xfrm>
        </p:spPr>
        <p:txBody>
          <a:bodyPr>
            <a:normAutofit/>
          </a:bodyPr>
          <a:lstStyle/>
          <a:p>
            <a:pPr marL="0" indent="0" algn="l">
              <a:buNone/>
            </a:pPr>
            <a:r>
              <a:rPr lang="ru-RU" sz="1800" b="1" i="1" u="none" strike="noStrike" baseline="0" dirty="0">
                <a:latin typeface="TimesNewRomanPS-BoldItalicMT"/>
              </a:rPr>
              <a:t>Система отслеживания ошибок</a:t>
            </a:r>
          </a:p>
          <a:p>
            <a:pPr marL="0" indent="0" algn="l">
              <a:buNone/>
            </a:pPr>
            <a:endParaRPr lang="ru-RU" sz="1800" b="1" i="1" u="none" strike="noStrike" baseline="0" dirty="0">
              <a:latin typeface="TimesNewRomanPS-BoldItalicMT"/>
            </a:endParaRPr>
          </a:p>
          <a:p>
            <a:pPr algn="l"/>
            <a:r>
              <a:rPr lang="ru-RU" sz="1800" b="1" i="0" u="none" strike="noStrike" baseline="0" dirty="0">
                <a:latin typeface="TimesNewRomanPS-BoldMT"/>
              </a:rPr>
              <a:t>Система отслеживания ошибок </a:t>
            </a:r>
            <a:r>
              <a:rPr lang="ru-RU" sz="1800" b="0" i="0" u="none" strike="noStrike" baseline="0" dirty="0">
                <a:latin typeface="TimesNewRomanPSMT"/>
              </a:rPr>
              <a:t>(</a:t>
            </a:r>
            <a:r>
              <a:rPr lang="ru-RU" sz="1800" b="0" i="1" u="none" strike="noStrike" baseline="0" dirty="0" err="1">
                <a:latin typeface="TimesNewRomanPS-ItalicMT"/>
              </a:rPr>
              <a:t>bug</a:t>
            </a:r>
            <a:r>
              <a:rPr lang="ru-RU" sz="1800" b="0" i="1" u="none" strike="noStrike" baseline="0" dirty="0">
                <a:latin typeface="TimesNewRomanPS-ItalicMT"/>
              </a:rPr>
              <a:t> </a:t>
            </a:r>
            <a:r>
              <a:rPr lang="ru-RU" sz="1800" b="0" i="1" u="none" strike="noStrike" baseline="0" dirty="0" err="1">
                <a:latin typeface="TimesNewRomanPS-ItalicMT"/>
              </a:rPr>
              <a:t>tracking</a:t>
            </a:r>
            <a:r>
              <a:rPr lang="ru-RU" sz="1800" b="0" i="1" u="none" strike="noStrike" baseline="0" dirty="0">
                <a:latin typeface="TimesNewRomanPS-ItalicMT"/>
              </a:rPr>
              <a:t> </a:t>
            </a:r>
            <a:r>
              <a:rPr lang="ru-RU" sz="1800" b="0" i="1" u="none" strike="noStrike" baseline="0" dirty="0" err="1">
                <a:latin typeface="TimesNewRomanPS-ItalicMT"/>
              </a:rPr>
              <a:t>system</a:t>
            </a:r>
            <a:r>
              <a:rPr lang="ru-RU" sz="1800" b="0" i="0" u="none" strike="noStrike" baseline="0" dirty="0">
                <a:latin typeface="TimesNewRomanPSMT"/>
              </a:rPr>
              <a:t>) — прикладная программа,</a:t>
            </a:r>
          </a:p>
          <a:p>
            <a:pPr marL="0" indent="0" algn="l">
              <a:buNone/>
            </a:pPr>
            <a:r>
              <a:rPr lang="ru-RU" sz="1800" b="0" i="0" u="none" strike="noStrike" baseline="0" dirty="0">
                <a:latin typeface="TimesNewRomanPSMT"/>
              </a:rPr>
              <a:t>разработанная с целью помочь разработчикам программного обеспечения (программистам,</a:t>
            </a:r>
          </a:p>
          <a:p>
            <a:pPr marL="0" indent="0" algn="l">
              <a:buNone/>
            </a:pPr>
            <a:r>
              <a:rPr lang="ru-RU" sz="1800" b="0" i="0" u="none" strike="noStrike" baseline="0" dirty="0">
                <a:latin typeface="TimesNewRomanPSMT"/>
              </a:rPr>
              <a:t>тестировщикам и др.) учитывать и контролировать ошибки (баги), найденные в программах,</a:t>
            </a:r>
            <a:endParaRPr lang="en-US" sz="1800" b="0" i="0" u="none" strike="noStrike" baseline="0" dirty="0">
              <a:latin typeface="TimesNewRomanPSMT"/>
            </a:endParaRPr>
          </a:p>
          <a:p>
            <a:pPr marL="0" indent="0" algn="l">
              <a:buNone/>
            </a:pPr>
            <a:r>
              <a:rPr lang="ru-RU" sz="1800" b="0" i="0" u="none" strike="noStrike" baseline="0" dirty="0">
                <a:latin typeface="TimesNewRomanPSMT"/>
              </a:rPr>
              <a:t>пожелания пользователей, а также следить за процессом устранения этих ошибок и выполнения</a:t>
            </a:r>
          </a:p>
          <a:p>
            <a:pPr marL="0" indent="0" algn="l">
              <a:buNone/>
            </a:pPr>
            <a:r>
              <a:rPr lang="ru-RU" sz="1800" b="0" i="0" u="none" strike="noStrike" baseline="0" dirty="0">
                <a:latin typeface="TimesNewRomanPSMT"/>
              </a:rPr>
              <a:t>или невыполнения пожеланий .</a:t>
            </a:r>
          </a:p>
          <a:p>
            <a:pPr marL="0" indent="0" algn="l">
              <a:buNone/>
            </a:pPr>
            <a:r>
              <a:rPr lang="ru-RU" sz="1800" b="0" i="0" u="none" strike="noStrike" baseline="0" dirty="0">
                <a:latin typeface="TimesNewRomanPSMT"/>
              </a:rPr>
              <a:t>Главный компонент такой системы — база данных, содержащая сведения об обнаруженных</a:t>
            </a:r>
          </a:p>
          <a:p>
            <a:pPr marL="0" indent="0" algn="l">
              <a:buNone/>
            </a:pPr>
            <a:r>
              <a:rPr lang="ru-RU" sz="1800" b="0" i="0" u="none" strike="noStrike" baseline="0" dirty="0">
                <a:latin typeface="TimesNewRomanPSMT"/>
              </a:rPr>
              <a:t>дефектах. Эти сведения фиксируются в </a:t>
            </a:r>
            <a:r>
              <a:rPr lang="ru-RU" sz="1800" b="1" i="0" u="none" strike="noStrike" baseline="0" dirty="0">
                <a:latin typeface="TimesNewRomanPS-BoldMT"/>
              </a:rPr>
              <a:t>отчете об ошибке</a:t>
            </a:r>
            <a:r>
              <a:rPr lang="ru-RU" sz="1800" b="0" i="0" u="none" strike="noStrike" baseline="0" dirty="0">
                <a:latin typeface="TimesNewRomanPSMT"/>
              </a:rPr>
              <a:t>.</a:t>
            </a:r>
          </a:p>
          <a:p>
            <a:pPr algn="l"/>
            <a:endParaRPr lang="ru-RU" sz="1800" b="1" i="0" u="none" strike="noStrike" baseline="0" dirty="0">
              <a:latin typeface="TimesNewRomanPS-BoldMT"/>
            </a:endParaRPr>
          </a:p>
          <a:p>
            <a:pPr algn="l"/>
            <a:endParaRPr lang="ru-RU" sz="1800" b="1" i="0" u="none" strike="noStrike" baseline="0" dirty="0">
              <a:latin typeface="TimesNewRomanPS-BoldMT"/>
            </a:endParaRPr>
          </a:p>
          <a:p>
            <a:pPr algn="l"/>
            <a:r>
              <a:rPr lang="ru-RU" sz="1800" b="1" i="0" u="none" strike="noStrike" baseline="0" dirty="0">
                <a:latin typeface="TimesNewRomanPS-BoldMT"/>
              </a:rPr>
              <a:t>Отчет об ошибке (баг репорт) </a:t>
            </a:r>
            <a:r>
              <a:rPr lang="ru-RU" sz="1800" b="0" i="0" u="none" strike="noStrike" baseline="0" dirty="0">
                <a:latin typeface="TimesNewRomanPSMT"/>
              </a:rPr>
              <a:t>- </a:t>
            </a:r>
            <a:r>
              <a:rPr lang="ru-RU" sz="1800" b="0" i="0" u="none" strike="noStrike" baseline="0" dirty="0">
                <a:latin typeface="Georgia" panose="02040502050405020303" pitchFamily="18" charset="0"/>
              </a:rPr>
              <a:t>это документ, описывающий ситуацию или</a:t>
            </a:r>
          </a:p>
          <a:p>
            <a:pPr marL="0" indent="0" algn="l">
              <a:buNone/>
            </a:pPr>
            <a:r>
              <a:rPr lang="ru-RU" sz="1800" b="0" i="0" u="none" strike="noStrike" baseline="0" dirty="0">
                <a:latin typeface="Georgia" panose="02040502050405020303" pitchFamily="18" charset="0"/>
              </a:rPr>
              <a:t>последовательность действий приведшую к некорректной работе объекта тестирования, с</a:t>
            </a:r>
          </a:p>
          <a:p>
            <a:pPr marL="0" indent="0" algn="l">
              <a:buNone/>
            </a:pPr>
            <a:r>
              <a:rPr lang="ru-RU" sz="1800" b="0" i="0" u="none" strike="noStrike" baseline="0" dirty="0">
                <a:latin typeface="Georgia" panose="02040502050405020303" pitchFamily="18" charset="0"/>
              </a:rPr>
              <a:t>указанием причин и ожидаемого результата.</a:t>
            </a:r>
            <a:endParaRPr lang="en-US" dirty="0"/>
          </a:p>
        </p:txBody>
      </p:sp>
    </p:spTree>
    <p:extLst>
      <p:ext uri="{BB962C8B-B14F-4D97-AF65-F5344CB8AC3E}">
        <p14:creationId xmlns:p14="http://schemas.microsoft.com/office/powerpoint/2010/main" val="318278589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465338" y="236522"/>
            <a:ext cx="10515600" cy="4351338"/>
          </a:xfrm>
        </p:spPr>
        <p:txBody>
          <a:bodyPr/>
          <a:lstStyle/>
          <a:p>
            <a:r>
              <a:rPr lang="ru-RU" sz="1800" b="1" i="0" u="none" strike="noStrike" baseline="0" dirty="0">
                <a:latin typeface="TimesNewRomanPS-BoldMT"/>
              </a:rPr>
              <a:t>шаблона баг репорта</a:t>
            </a:r>
          </a:p>
          <a:p>
            <a:endParaRPr lang="en-US" dirty="0"/>
          </a:p>
        </p:txBody>
      </p:sp>
      <p:pic>
        <p:nvPicPr>
          <p:cNvPr id="3" name="Рисунок 2">
            <a:extLst>
              <a:ext uri="{FF2B5EF4-FFF2-40B4-BE49-F238E27FC236}">
                <a16:creationId xmlns:a16="http://schemas.microsoft.com/office/drawing/2014/main" id="{1FA16B45-91C9-4C30-BE82-F5C69E0F81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9848" y="613632"/>
            <a:ext cx="5905500" cy="5311140"/>
          </a:xfrm>
          <a:prstGeom prst="rect">
            <a:avLst/>
          </a:prstGeom>
        </p:spPr>
      </p:pic>
    </p:spTree>
    <p:extLst>
      <p:ext uri="{BB962C8B-B14F-4D97-AF65-F5344CB8AC3E}">
        <p14:creationId xmlns:p14="http://schemas.microsoft.com/office/powerpoint/2010/main" val="286600207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Объект 2">
            <a:extLst>
              <a:ext uri="{FF2B5EF4-FFF2-40B4-BE49-F238E27FC236}">
                <a16:creationId xmlns:a16="http://schemas.microsoft.com/office/drawing/2014/main" id="{41658659-71B6-4839-9BEB-01D2101F65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4888" y="541408"/>
            <a:ext cx="9113687" cy="3169458"/>
          </a:xfrm>
        </p:spPr>
      </p:pic>
    </p:spTree>
    <p:extLst>
      <p:ext uri="{BB962C8B-B14F-4D97-AF65-F5344CB8AC3E}">
        <p14:creationId xmlns:p14="http://schemas.microsoft.com/office/powerpoint/2010/main" val="86128669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349928" y="201011"/>
            <a:ext cx="11688191" cy="6448364"/>
          </a:xfrm>
        </p:spPr>
        <p:txBody>
          <a:bodyPr>
            <a:normAutofit/>
          </a:bodyPr>
          <a:lstStyle/>
          <a:p>
            <a:pPr algn="l"/>
            <a:r>
              <a:rPr lang="ru-RU" sz="1800" b="1" i="1" u="none" strike="noStrike" baseline="0" dirty="0">
                <a:latin typeface="TimesNewRomanPS-BoldItalicMT"/>
              </a:rPr>
              <a:t>Серьезность и приоритет ошибки</a:t>
            </a:r>
          </a:p>
          <a:p>
            <a:pPr algn="l"/>
            <a:r>
              <a:rPr lang="ru-RU" sz="1800" b="0" i="0" u="none" strike="noStrike" baseline="0" dirty="0">
                <a:latin typeface="TimesNewRomanPSMT"/>
              </a:rPr>
              <a:t>Разные системы отслеживания ошибок предлагают разные пути описания серьезности и приоритета баг репорта, неизменным остается лишь смысл, вкладываемый в эти поля.</a:t>
            </a:r>
          </a:p>
          <a:p>
            <a:pPr algn="l"/>
            <a:r>
              <a:rPr lang="ru-RU" sz="1800" b="1" i="0" u="none" strike="noStrike" baseline="0" dirty="0">
                <a:latin typeface="TimesNewRomanPS-BoldMT"/>
              </a:rPr>
              <a:t>серьезность </a:t>
            </a:r>
            <a:r>
              <a:rPr lang="ru-RU" sz="1800" b="0" i="0" u="none" strike="noStrike" baseline="0" dirty="0">
                <a:latin typeface="TimesNewRomanPSMT"/>
              </a:rPr>
              <a:t>(</a:t>
            </a:r>
            <a:r>
              <a:rPr lang="ru-RU" sz="1800" b="1" i="0" u="none" strike="noStrike" baseline="0" dirty="0" err="1">
                <a:latin typeface="TimesNewRomanPS-BoldMT"/>
              </a:rPr>
              <a:t>Severity</a:t>
            </a:r>
            <a:r>
              <a:rPr lang="ru-RU" sz="1800" b="0" i="0" u="none" strike="noStrike" baseline="0" dirty="0">
                <a:latin typeface="TimesNewRomanPSMT"/>
              </a:rPr>
              <a:t>) - это атрибут, характеризующий влияние ошибки на работоспособность приложения;</a:t>
            </a:r>
          </a:p>
          <a:p>
            <a:pPr algn="l"/>
            <a:r>
              <a:rPr lang="ru-RU" sz="1800" b="1" i="0" u="none" strike="noStrike" baseline="0" dirty="0">
                <a:latin typeface="TimesNewRomanPS-BoldMT"/>
              </a:rPr>
              <a:t>приоритет </a:t>
            </a:r>
            <a:r>
              <a:rPr lang="ru-RU" sz="1800" b="0" i="0" u="none" strike="noStrike" baseline="0" dirty="0">
                <a:latin typeface="TimesNewRomanPSMT"/>
              </a:rPr>
              <a:t>(</a:t>
            </a:r>
            <a:r>
              <a:rPr lang="ru-RU" sz="1800" b="1" i="0" u="none" strike="noStrike" baseline="0" dirty="0" err="1">
                <a:latin typeface="TimesNewRomanPS-BoldMT"/>
              </a:rPr>
              <a:t>Priority</a:t>
            </a:r>
            <a:r>
              <a:rPr lang="ru-RU" sz="1800" b="0" i="0" u="none" strike="noStrike" baseline="0" dirty="0">
                <a:latin typeface="TimesNewRomanPSMT"/>
              </a:rPr>
              <a:t>) - это атрибут, указывающий на очередность выполнения задачи или устранения ошибки. Можно сказать, что это инструмент менеджера по планированию работ. Чем выше приоритет, тем быстрее нужно исправить дефект.</a:t>
            </a:r>
          </a:p>
          <a:p>
            <a:pPr algn="l"/>
            <a:endParaRPr lang="ru-RU" sz="1800" b="0" i="0" u="none" strike="noStrike" baseline="0" dirty="0">
              <a:latin typeface="TimesNewRomanPSMT"/>
            </a:endParaRPr>
          </a:p>
          <a:p>
            <a:pPr marL="0" indent="0" algn="l">
              <a:buNone/>
            </a:pPr>
            <a:r>
              <a:rPr lang="ru-RU" sz="1800" b="1" i="1" u="none" strike="noStrike" baseline="0" dirty="0">
                <a:latin typeface="TimesNewRomanPS-BoldItalicMT"/>
              </a:rPr>
              <a:t>Градация серьезности дефекта (</a:t>
            </a:r>
            <a:r>
              <a:rPr lang="en-US" sz="1800" b="1" i="1" u="none" strike="noStrike" baseline="0" dirty="0">
                <a:latin typeface="TimesNewRomanPS-BoldItalicMT"/>
              </a:rPr>
              <a:t>severity):</a:t>
            </a:r>
          </a:p>
          <a:p>
            <a:pPr algn="l"/>
            <a:r>
              <a:rPr lang="ru-RU" sz="1800" b="0" i="0" u="none" strike="noStrike" baseline="0" dirty="0">
                <a:latin typeface="SymbolMT"/>
              </a:rPr>
              <a:t> </a:t>
            </a:r>
            <a:r>
              <a:rPr lang="ru-RU" sz="1800" b="1" i="0" u="none" strike="noStrike" baseline="0" dirty="0">
                <a:latin typeface="TimesNewRomanPS-BoldMT"/>
              </a:rPr>
              <a:t>s1 Блокирующая (</a:t>
            </a:r>
            <a:r>
              <a:rPr lang="ru-RU" sz="1800" b="1" i="0" u="none" strike="noStrike" baseline="0" dirty="0" err="1">
                <a:latin typeface="TimesNewRomanPS-BoldMT"/>
              </a:rPr>
              <a:t>Blocker</a:t>
            </a:r>
            <a:r>
              <a:rPr lang="ru-RU" sz="1800" b="1" i="0" u="none" strike="noStrike" baseline="0" dirty="0">
                <a:latin typeface="TimesNewRomanPS-BoldMT"/>
              </a:rPr>
              <a:t>). </a:t>
            </a:r>
            <a:r>
              <a:rPr lang="ru-RU" sz="1800" b="0" i="0" u="none" strike="noStrike" baseline="0" dirty="0">
                <a:latin typeface="TimesNewRomanPSMT"/>
              </a:rPr>
              <a:t>Блокирующая ошибка, приводящая приложение в нерабочее состояние, в результате которого дальнейшая работа с тестируемой системой или ее ключевыми функциями становится невозможна. Решение проблемы необходимо для дальнейшего функционирования системы;</a:t>
            </a:r>
          </a:p>
          <a:p>
            <a:pPr algn="l"/>
            <a:r>
              <a:rPr lang="ru-RU" sz="1800" b="1" i="0" u="none" strike="noStrike" baseline="0" dirty="0">
                <a:latin typeface="TimesNewRomanPS-BoldMT"/>
              </a:rPr>
              <a:t>s2 Критическая (</a:t>
            </a:r>
            <a:r>
              <a:rPr lang="ru-RU" sz="1800" b="1" i="0" u="none" strike="noStrike" baseline="0" dirty="0" err="1">
                <a:latin typeface="TimesNewRomanPS-BoldMT"/>
              </a:rPr>
              <a:t>Critical</a:t>
            </a:r>
            <a:r>
              <a:rPr lang="ru-RU" sz="1800" b="1" i="0" u="none" strike="noStrike" baseline="0" dirty="0">
                <a:latin typeface="TimesNewRomanPS-BoldMT"/>
              </a:rPr>
              <a:t>). </a:t>
            </a:r>
            <a:r>
              <a:rPr lang="ru-RU" sz="1800" b="0" i="0" u="none" strike="noStrike" baseline="0" dirty="0">
                <a:latin typeface="TimesNewRomanPSMT"/>
              </a:rPr>
              <a:t>Критическая ошибка, неправильно работающая ключевая бизнес логика, дыра в системе безопасности, проблема, приведшая к временному падению сервера или приводящая в нерабочее состояние некоторую часть системы, без возможности решения проблемы, используя другие входные точки. Решение проблемы необходимо для дальнейшей работы с ключевыми функциями тестируемой системой;</a:t>
            </a:r>
          </a:p>
          <a:p>
            <a:pPr algn="l"/>
            <a:r>
              <a:rPr lang="ru-RU" sz="1800" b="1" i="0" u="none" strike="noStrike" baseline="0" dirty="0">
                <a:latin typeface="TimesNewRomanPS-BoldMT"/>
              </a:rPr>
              <a:t>s3 Значительная (</a:t>
            </a:r>
            <a:r>
              <a:rPr lang="ru-RU" sz="1800" b="1" i="0" u="none" strike="noStrike" baseline="0" dirty="0" err="1">
                <a:latin typeface="TimesNewRomanPS-BoldMT"/>
              </a:rPr>
              <a:t>Major</a:t>
            </a:r>
            <a:r>
              <a:rPr lang="ru-RU" sz="1800" b="1" i="0" u="none" strike="noStrike" baseline="0" dirty="0">
                <a:latin typeface="TimesNewRomanPS-BoldMT"/>
              </a:rPr>
              <a:t>). </a:t>
            </a:r>
            <a:r>
              <a:rPr lang="ru-RU" sz="1800" b="0" i="0" u="none" strike="noStrike" baseline="0" dirty="0">
                <a:latin typeface="TimesNewRomanPSMT"/>
              </a:rPr>
              <a:t>Значительная ошибка, часть основной бизнес логики работает некорректно. Ошибка не критична или есть возможность для работы с тестируемой функцией, используя другие входные точки;</a:t>
            </a:r>
            <a:endParaRPr lang="en-US" dirty="0"/>
          </a:p>
        </p:txBody>
      </p:sp>
    </p:spTree>
    <p:extLst>
      <p:ext uri="{BB962C8B-B14F-4D97-AF65-F5344CB8AC3E}">
        <p14:creationId xmlns:p14="http://schemas.microsoft.com/office/powerpoint/2010/main" val="347744441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491970" y="511729"/>
            <a:ext cx="11501762" cy="6226421"/>
          </a:xfrm>
        </p:spPr>
        <p:txBody>
          <a:bodyPr>
            <a:normAutofit/>
          </a:bodyPr>
          <a:lstStyle/>
          <a:p>
            <a:pPr algn="l"/>
            <a:r>
              <a:rPr lang="ru-RU" sz="1800" b="1" i="0" u="none" strike="noStrike" baseline="0" dirty="0">
                <a:latin typeface="TimesNewRomanPS-BoldMT"/>
              </a:rPr>
              <a:t>s4 Незначительная (</a:t>
            </a:r>
            <a:r>
              <a:rPr lang="ru-RU" sz="1800" b="1" i="0" u="none" strike="noStrike" baseline="0" dirty="0" err="1">
                <a:latin typeface="TimesNewRomanPS-BoldMT"/>
              </a:rPr>
              <a:t>Minor</a:t>
            </a:r>
            <a:r>
              <a:rPr lang="ru-RU" sz="1800" b="1" i="0" u="none" strike="noStrike" baseline="0" dirty="0">
                <a:latin typeface="TimesNewRomanPS-BoldMT"/>
              </a:rPr>
              <a:t>). </a:t>
            </a:r>
            <a:r>
              <a:rPr lang="ru-RU" sz="1800" b="0" i="0" u="none" strike="noStrike" baseline="0" dirty="0">
                <a:latin typeface="TimesNewRomanPSMT"/>
              </a:rPr>
              <a:t>Незначительная ошибка, не нарушающая бизнес логику</a:t>
            </a:r>
          </a:p>
          <a:p>
            <a:pPr marL="0" indent="0" algn="l">
              <a:buNone/>
            </a:pPr>
            <a:r>
              <a:rPr lang="ru-RU" sz="1800" b="0" i="0" u="none" strike="noStrike" baseline="0" dirty="0">
                <a:latin typeface="TimesNewRomanPSMT"/>
              </a:rPr>
              <a:t>тестируемой части приложения, очевидная проблема пользовательского интерфейса.</a:t>
            </a:r>
          </a:p>
          <a:p>
            <a:pPr marL="0" indent="0" algn="l">
              <a:buNone/>
            </a:pPr>
            <a:endParaRPr lang="en-US" sz="1800" b="0" i="0" u="none" strike="noStrike" baseline="0" dirty="0">
              <a:latin typeface="TimesNewRomanPSMT"/>
            </a:endParaRPr>
          </a:p>
          <a:p>
            <a:pPr algn="l"/>
            <a:r>
              <a:rPr lang="ru-RU" sz="1800" b="1" i="0" u="none" strike="noStrike" baseline="0" dirty="0">
                <a:latin typeface="TimesNewRomanPS-BoldMT"/>
              </a:rPr>
              <a:t>s5 Тривиальная (</a:t>
            </a:r>
            <a:r>
              <a:rPr lang="ru-RU" sz="1800" b="1" i="0" u="none" strike="noStrike" baseline="0" dirty="0" err="1">
                <a:latin typeface="TimesNewRomanPS-BoldMT"/>
              </a:rPr>
              <a:t>Trivial</a:t>
            </a:r>
            <a:r>
              <a:rPr lang="ru-RU" sz="1800" b="1" i="0" u="none" strike="noStrike" baseline="0" dirty="0">
                <a:latin typeface="TimesNewRomanPS-BoldMT"/>
              </a:rPr>
              <a:t>). </a:t>
            </a:r>
            <a:r>
              <a:rPr lang="ru-RU" sz="1800" b="0" i="0" u="none" strike="noStrike" baseline="0" dirty="0">
                <a:latin typeface="TimesNewRomanPSMT"/>
              </a:rPr>
              <a:t>Тривиальная ошибка, не касающаяся бизнес логики приложения, плохо воспроизводимая проблема, малозаметная посредствам пользовательского интерфейса, проблема сторонних библиотек или сервисов, проблема, не оказывающая никакого влияния на общее качество продукта.</a:t>
            </a:r>
          </a:p>
          <a:p>
            <a:pPr marL="0" indent="0" algn="l">
              <a:buNone/>
            </a:pPr>
            <a:endParaRPr lang="ru-RU" sz="1800" b="1" i="1" u="none" strike="noStrike" baseline="0" dirty="0">
              <a:latin typeface="TimesNewRomanPS-BoldItalicMT"/>
            </a:endParaRPr>
          </a:p>
          <a:p>
            <a:pPr marL="0" indent="0" algn="l">
              <a:buNone/>
            </a:pPr>
            <a:r>
              <a:rPr lang="ru-RU" sz="1800" b="1" i="1" u="none" strike="noStrike" baseline="0" dirty="0">
                <a:latin typeface="TimesNewRomanPS-BoldItalicMT"/>
              </a:rPr>
              <a:t>Градация приоритета ошибки (</a:t>
            </a:r>
            <a:r>
              <a:rPr lang="en-US" sz="1800" b="1" i="1" u="none" strike="noStrike" baseline="0" dirty="0">
                <a:latin typeface="TimesNewRomanPS-BoldItalicMT"/>
              </a:rPr>
              <a:t>Priority):</a:t>
            </a:r>
          </a:p>
          <a:p>
            <a:pPr algn="l"/>
            <a:r>
              <a:rPr lang="ru-RU" sz="1800" b="0" i="0" u="none" strike="noStrike" baseline="0" dirty="0">
                <a:latin typeface="SymbolMT"/>
              </a:rPr>
              <a:t> </a:t>
            </a:r>
            <a:r>
              <a:rPr lang="ru-RU" sz="1800" b="1" i="0" u="none" strike="noStrike" baseline="0" dirty="0">
                <a:latin typeface="TimesNewRomanPS-BoldMT"/>
              </a:rPr>
              <a:t>p1 Высокий (</a:t>
            </a:r>
            <a:r>
              <a:rPr lang="ru-RU" sz="1800" b="1" i="0" u="none" strike="noStrike" baseline="0" dirty="0" err="1">
                <a:latin typeface="TimesNewRomanPS-BoldMT"/>
              </a:rPr>
              <a:t>High</a:t>
            </a:r>
            <a:r>
              <a:rPr lang="ru-RU" sz="1800" b="1" i="0" u="none" strike="noStrike" baseline="0" dirty="0">
                <a:latin typeface="TimesNewRomanPS-BoldMT"/>
              </a:rPr>
              <a:t>). </a:t>
            </a:r>
            <a:r>
              <a:rPr lang="ru-RU" sz="1800" b="0" i="0" u="none" strike="noStrike" baseline="0" dirty="0">
                <a:latin typeface="TimesNewRomanPSMT"/>
              </a:rPr>
              <a:t>Ошибка должна быть исправлена как можно быстрее, т.к. ее наличие является критической для проекта;</a:t>
            </a:r>
          </a:p>
          <a:p>
            <a:pPr algn="l"/>
            <a:r>
              <a:rPr lang="ru-RU" sz="1800" b="0" i="0" u="none" strike="noStrike" baseline="0" dirty="0">
                <a:latin typeface="SymbolMT"/>
              </a:rPr>
              <a:t> </a:t>
            </a:r>
            <a:r>
              <a:rPr lang="ru-RU" sz="1800" b="1" i="0" u="none" strike="noStrike" baseline="0" dirty="0">
                <a:latin typeface="TimesNewRomanPS-BoldMT"/>
              </a:rPr>
              <a:t>p2 Средний (</a:t>
            </a:r>
            <a:r>
              <a:rPr lang="ru-RU" sz="1800" b="1" i="0" u="none" strike="noStrike" baseline="0" dirty="0" err="1">
                <a:latin typeface="TimesNewRomanPS-BoldMT"/>
              </a:rPr>
              <a:t>Medium</a:t>
            </a:r>
            <a:r>
              <a:rPr lang="ru-RU" sz="1800" b="1" i="0" u="none" strike="noStrike" baseline="0" dirty="0">
                <a:latin typeface="TimesNewRomanPS-BoldMT"/>
              </a:rPr>
              <a:t>). </a:t>
            </a:r>
            <a:r>
              <a:rPr lang="ru-RU" sz="1800" b="0" i="0" u="none" strike="noStrike" baseline="0" dirty="0">
                <a:latin typeface="TimesNewRomanPSMT"/>
              </a:rPr>
              <a:t>Ошибка должна быть исправлена, ее наличие не является критичной, но требует обязательного решения;</a:t>
            </a:r>
          </a:p>
          <a:p>
            <a:pPr algn="l"/>
            <a:r>
              <a:rPr lang="ru-RU" sz="1800" b="1" i="0" u="none" strike="noStrike" baseline="0" dirty="0">
                <a:latin typeface="TimesNewRomanPS-BoldMT"/>
              </a:rPr>
              <a:t>p3 Низкий (</a:t>
            </a:r>
            <a:r>
              <a:rPr lang="ru-RU" sz="1800" b="1" i="0" u="none" strike="noStrike" baseline="0" dirty="0" err="1">
                <a:latin typeface="TimesNewRomanPS-BoldMT"/>
              </a:rPr>
              <a:t>Low</a:t>
            </a:r>
            <a:r>
              <a:rPr lang="ru-RU" sz="1800" b="1" i="0" u="none" strike="noStrike" baseline="0" dirty="0">
                <a:latin typeface="TimesNewRomanPS-BoldMT"/>
              </a:rPr>
              <a:t>). </a:t>
            </a:r>
            <a:r>
              <a:rPr lang="ru-RU" sz="1800" b="0" i="0" u="none" strike="noStrike" baseline="0" dirty="0">
                <a:latin typeface="TimesNewRomanPSMT"/>
              </a:rPr>
              <a:t>Ошибка должна быть исправлена, ее наличие не является критичной, и не требует срочного решения.</a:t>
            </a:r>
          </a:p>
          <a:p>
            <a:pPr marL="0" indent="0" algn="l">
              <a:buNone/>
            </a:pPr>
            <a:endParaRPr lang="ru-RU" sz="1800" b="0" i="0" u="none" strike="noStrike" baseline="0" dirty="0">
              <a:latin typeface="TimesNewRomanPSMT"/>
            </a:endParaRPr>
          </a:p>
          <a:p>
            <a:pPr marL="0" indent="0" algn="l">
              <a:buNone/>
            </a:pPr>
            <a:r>
              <a:rPr lang="ru-RU" sz="1800" b="0" i="0" u="none" strike="noStrike" baseline="0" dirty="0">
                <a:latin typeface="TimesNewRomanPSMT"/>
              </a:rPr>
              <a:t>Порядок исправления ошибок по их приоритетам: </a:t>
            </a:r>
            <a:r>
              <a:rPr lang="ru-RU" sz="1800" b="1" i="0" u="none" strike="noStrike" baseline="0" dirty="0" err="1">
                <a:latin typeface="TimesNewRomanPS-BoldMT"/>
              </a:rPr>
              <a:t>High</a:t>
            </a:r>
            <a:r>
              <a:rPr lang="ru-RU" sz="1800" b="1" i="0" u="none" strike="noStrike" baseline="0" dirty="0">
                <a:latin typeface="TimesNewRomanPS-BoldMT"/>
              </a:rPr>
              <a:t> &gt; </a:t>
            </a:r>
            <a:r>
              <a:rPr lang="ru-RU" sz="1800" b="1" i="0" u="none" strike="noStrike" baseline="0" dirty="0" err="1">
                <a:latin typeface="TimesNewRomanPS-BoldMT"/>
              </a:rPr>
              <a:t>Medium</a:t>
            </a:r>
            <a:r>
              <a:rPr lang="ru-RU" sz="1800" b="1" i="0" u="none" strike="noStrike" baseline="0" dirty="0">
                <a:latin typeface="TimesNewRomanPS-BoldMT"/>
              </a:rPr>
              <a:t> &gt; </a:t>
            </a:r>
            <a:r>
              <a:rPr lang="ru-RU" sz="1800" b="1" i="0" u="none" strike="noStrike" baseline="0" dirty="0" err="1">
                <a:latin typeface="TimesNewRomanPS-BoldMT"/>
              </a:rPr>
              <a:t>Low</a:t>
            </a:r>
            <a:r>
              <a:rPr lang="ru-RU" sz="1800" b="1" i="0" u="none" strike="noStrike" baseline="0" dirty="0">
                <a:latin typeface="TimesNewRomanPS-BoldMT"/>
              </a:rPr>
              <a:t>.</a:t>
            </a:r>
            <a:endParaRPr lang="en-US" dirty="0"/>
          </a:p>
        </p:txBody>
      </p:sp>
    </p:spTree>
    <p:extLst>
      <p:ext uri="{BB962C8B-B14F-4D97-AF65-F5344CB8AC3E}">
        <p14:creationId xmlns:p14="http://schemas.microsoft.com/office/powerpoint/2010/main" val="105677052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296661" y="218767"/>
            <a:ext cx="11617171" cy="6483874"/>
          </a:xfrm>
        </p:spPr>
        <p:txBody>
          <a:bodyPr>
            <a:normAutofit/>
          </a:bodyPr>
          <a:lstStyle/>
          <a:p>
            <a:pPr marL="0" indent="0" algn="l">
              <a:buNone/>
            </a:pPr>
            <a:r>
              <a:rPr lang="ru-RU" sz="1800" b="1" i="0" u="none" strike="noStrike" baseline="0" dirty="0">
                <a:latin typeface="TimesNewRomanPS-BoldMT"/>
              </a:rPr>
              <a:t>Баг репорт </a:t>
            </a:r>
            <a:r>
              <a:rPr lang="ru-RU" sz="1800" b="0" i="0" u="none" strike="noStrike" baseline="0" dirty="0">
                <a:latin typeface="TimesNewRomanPSMT"/>
              </a:rPr>
              <a:t>- это технический документ и в связи с этим язык описания проблемы должен быть техническим. </a:t>
            </a:r>
          </a:p>
          <a:p>
            <a:pPr marL="0" indent="0" algn="l">
              <a:buNone/>
            </a:pPr>
            <a:r>
              <a:rPr lang="ru-RU" sz="1800" b="0" i="0" u="none" strike="noStrike" baseline="0" dirty="0">
                <a:latin typeface="TimesNewRomanPSMT"/>
              </a:rPr>
              <a:t>Должна использоваться правильная терминология при использовании названий</a:t>
            </a:r>
          </a:p>
          <a:p>
            <a:pPr marL="0" indent="0" algn="l">
              <a:buNone/>
            </a:pPr>
            <a:r>
              <a:rPr lang="ru-RU" sz="1800" b="0" i="0" u="none" strike="noStrike" baseline="0" dirty="0">
                <a:latin typeface="TimesNewRomanPSMT"/>
              </a:rPr>
              <a:t>элементов пользовательского интерфейса (</a:t>
            </a:r>
            <a:r>
              <a:rPr lang="en-US" sz="1800" b="0" i="0" u="none" strike="noStrike" baseline="0" dirty="0" err="1">
                <a:latin typeface="TimesNewRomanPSMT"/>
              </a:rPr>
              <a:t>editbox</a:t>
            </a:r>
            <a:r>
              <a:rPr lang="en-US" sz="1800" b="0" i="0" u="none" strike="noStrike" baseline="0" dirty="0">
                <a:latin typeface="TimesNewRomanPSMT"/>
              </a:rPr>
              <a:t>, lightbox, </a:t>
            </a:r>
            <a:r>
              <a:rPr lang="en-US" sz="1800" b="0" i="0" u="none" strike="noStrike" baseline="0" dirty="0" err="1">
                <a:latin typeface="TimesNewRomanPSMT"/>
              </a:rPr>
              <a:t>combobox</a:t>
            </a:r>
            <a:r>
              <a:rPr lang="en-US" sz="1800" b="0" i="0" u="none" strike="noStrike" baseline="0" dirty="0">
                <a:latin typeface="TimesNewRomanPSMT"/>
              </a:rPr>
              <a:t>, link, text area, button, menu,</a:t>
            </a:r>
          </a:p>
          <a:p>
            <a:pPr marL="0" indent="0" algn="l">
              <a:buNone/>
            </a:pPr>
            <a:r>
              <a:rPr lang="en-US" sz="1800" b="0" i="0" u="none" strike="noStrike" baseline="0" dirty="0">
                <a:latin typeface="TimesNewRomanPSMT"/>
              </a:rPr>
              <a:t>popup menu, title bar, system tray </a:t>
            </a:r>
            <a:r>
              <a:rPr lang="ru-RU" sz="1800" b="0" i="0" u="none" strike="noStrike" baseline="0" dirty="0">
                <a:latin typeface="TimesNewRomanPSMT"/>
              </a:rPr>
              <a:t>и т.д.), действий пользователя (</a:t>
            </a:r>
            <a:r>
              <a:rPr lang="en-US" sz="1800" b="0" i="0" u="none" strike="noStrike" baseline="0" dirty="0">
                <a:latin typeface="TimesNewRomanPSMT"/>
              </a:rPr>
              <a:t>click link, press the button, select</a:t>
            </a:r>
          </a:p>
          <a:p>
            <a:pPr marL="0" indent="0" algn="l">
              <a:buNone/>
            </a:pPr>
            <a:r>
              <a:rPr lang="en-US" sz="1800" b="0" i="0" u="none" strike="noStrike" baseline="0" dirty="0">
                <a:latin typeface="TimesNewRomanPSMT"/>
              </a:rPr>
              <a:t>menu item и </a:t>
            </a:r>
            <a:r>
              <a:rPr lang="en-US" sz="1800" b="0" i="0" u="none" strike="noStrike" baseline="0" dirty="0" err="1">
                <a:latin typeface="TimesNewRomanPSMT"/>
              </a:rPr>
              <a:t>т.д</a:t>
            </a:r>
            <a:r>
              <a:rPr lang="en-US" sz="1800" b="0" i="0" u="none" strike="noStrike" baseline="0" dirty="0">
                <a:latin typeface="TimesNewRomanPSMT"/>
              </a:rPr>
              <a:t>.) и </a:t>
            </a:r>
            <a:r>
              <a:rPr lang="en-US" sz="1800" b="0" i="0" u="none" strike="noStrike" baseline="0" dirty="0" err="1">
                <a:latin typeface="TimesNewRomanPSMT"/>
              </a:rPr>
              <a:t>полученных</a:t>
            </a:r>
            <a:r>
              <a:rPr lang="en-US" sz="1800" b="0" i="0" u="none" strike="noStrike" baseline="0" dirty="0">
                <a:latin typeface="TimesNewRomanPSMT"/>
              </a:rPr>
              <a:t> </a:t>
            </a:r>
            <a:r>
              <a:rPr lang="en-US" sz="1800" b="0" i="0" u="none" strike="noStrike" baseline="0" dirty="0" err="1">
                <a:latin typeface="TimesNewRomanPSMT"/>
              </a:rPr>
              <a:t>результатах</a:t>
            </a:r>
            <a:r>
              <a:rPr lang="en-US" sz="1800" b="0" i="0" u="none" strike="noStrike" baseline="0" dirty="0">
                <a:latin typeface="TimesNewRomanPSMT"/>
              </a:rPr>
              <a:t> (window is opened, error message is displayed, system</a:t>
            </a:r>
          </a:p>
          <a:p>
            <a:pPr marL="0" indent="0" algn="l">
              <a:buNone/>
            </a:pPr>
            <a:r>
              <a:rPr lang="en-US" sz="1800" b="0" i="0" u="none" strike="noStrike" baseline="0" dirty="0">
                <a:latin typeface="TimesNewRomanPSMT"/>
              </a:rPr>
              <a:t>crashed </a:t>
            </a:r>
            <a:r>
              <a:rPr lang="ru-RU" sz="1800" b="0" i="0" u="none" strike="noStrike" baseline="0" dirty="0">
                <a:latin typeface="TimesNewRomanPSMT"/>
              </a:rPr>
              <a:t>и т.д.).</a:t>
            </a:r>
          </a:p>
          <a:p>
            <a:pPr marL="0" indent="0" algn="l">
              <a:buNone/>
            </a:pPr>
            <a:r>
              <a:rPr lang="ru-RU" sz="1800" b="1" i="1" u="none" strike="noStrike" baseline="0" dirty="0">
                <a:latin typeface="TimesNewRomanPS-BoldItalicMT"/>
              </a:rPr>
              <a:t>Требования к обязательным полям баг репорта</a:t>
            </a:r>
          </a:p>
          <a:p>
            <a:pPr marL="0" indent="0" algn="l">
              <a:buNone/>
            </a:pPr>
            <a:r>
              <a:rPr lang="ru-RU" sz="1800" b="0" i="0" u="none" strike="noStrike" baseline="0" dirty="0">
                <a:latin typeface="TimesNewRomanPSMT"/>
              </a:rPr>
              <a:t>Обязательными полями баг репорта являются: короткое описание (</a:t>
            </a:r>
            <a:r>
              <a:rPr lang="ru-RU" sz="1800" b="0" i="1" u="none" strike="noStrike" baseline="0" dirty="0" err="1">
                <a:latin typeface="TimesNewRomanPS-ItalicMT"/>
              </a:rPr>
              <a:t>Bug</a:t>
            </a:r>
            <a:r>
              <a:rPr lang="ru-RU" sz="1800" b="0" i="1" u="none" strike="noStrike" baseline="0" dirty="0">
                <a:latin typeface="TimesNewRomanPS-ItalicMT"/>
              </a:rPr>
              <a:t> </a:t>
            </a:r>
            <a:r>
              <a:rPr lang="en-US" sz="1800" b="0" i="1" u="none" strike="noStrike" baseline="0" dirty="0">
                <a:latin typeface="TimesNewRomanPS-ItalicMT"/>
              </a:rPr>
              <a:t>Summary</a:t>
            </a:r>
            <a:r>
              <a:rPr lang="en-US" sz="1800" b="0" i="0" u="none" strike="noStrike" baseline="0" dirty="0">
                <a:latin typeface="TimesNewRomanPSMT"/>
              </a:rPr>
              <a:t>), </a:t>
            </a:r>
            <a:r>
              <a:rPr lang="ru-RU" sz="1800" b="0" i="0" u="none" strike="noStrike" baseline="0" dirty="0">
                <a:latin typeface="TimesNewRomanPSMT"/>
              </a:rPr>
              <a:t>серьезность (</a:t>
            </a:r>
            <a:r>
              <a:rPr lang="en-US" sz="1800" b="0" i="1" u="none" strike="noStrike" baseline="0" dirty="0">
                <a:latin typeface="TimesNewRomanPS-ItalicMT"/>
              </a:rPr>
              <a:t>Severity</a:t>
            </a:r>
            <a:r>
              <a:rPr lang="en-US" sz="1800" b="0" i="0" u="none" strike="noStrike" baseline="0" dirty="0">
                <a:latin typeface="TimesNewRomanPSMT"/>
              </a:rPr>
              <a:t>), </a:t>
            </a:r>
            <a:r>
              <a:rPr lang="ru-RU" sz="1800" b="0" i="0" u="none" strike="noStrike" baseline="0" dirty="0">
                <a:latin typeface="TimesNewRomanPSMT"/>
              </a:rPr>
              <a:t>шаги к воспроизведению (</a:t>
            </a:r>
            <a:r>
              <a:rPr lang="en-US" sz="1800" b="0" i="1" u="none" strike="noStrike" baseline="0" dirty="0">
                <a:latin typeface="TimesNewRomanPS-ItalicMT"/>
              </a:rPr>
              <a:t>Steps to reproduce</a:t>
            </a:r>
            <a:r>
              <a:rPr lang="en-US" sz="1800" b="0" i="0" u="none" strike="noStrike" baseline="0" dirty="0">
                <a:latin typeface="TimesNewRomanPSMT"/>
              </a:rPr>
              <a:t>), </a:t>
            </a:r>
            <a:r>
              <a:rPr lang="ru-RU" sz="1800" b="0" i="0" u="none" strike="noStrike" baseline="0" dirty="0">
                <a:latin typeface="TimesNewRomanPSMT"/>
              </a:rPr>
              <a:t>результат (</a:t>
            </a:r>
            <a:r>
              <a:rPr lang="en-US" sz="1800" b="0" i="1" u="none" strike="noStrike" baseline="0" dirty="0">
                <a:latin typeface="TimesNewRomanPS-ItalicMT"/>
              </a:rPr>
              <a:t>Actual</a:t>
            </a:r>
            <a:r>
              <a:rPr lang="ru-RU" sz="1800" b="0" i="1" u="none" strike="noStrike" baseline="0" dirty="0">
                <a:latin typeface="TimesNewRomanPS-ItalicMT"/>
              </a:rPr>
              <a:t> </a:t>
            </a:r>
            <a:r>
              <a:rPr lang="ru-RU" sz="1800" b="0" i="1" u="none" strike="noStrike" baseline="0" dirty="0" err="1">
                <a:latin typeface="TimesNewRomanPS-ItalicMT"/>
              </a:rPr>
              <a:t>Result</a:t>
            </a:r>
            <a:r>
              <a:rPr lang="ru-RU" sz="1800" b="0" i="0" u="none" strike="noStrike" baseline="0" dirty="0">
                <a:latin typeface="TimesNewRomanPSMT"/>
              </a:rPr>
              <a:t>), ожидаемый результат (</a:t>
            </a:r>
            <a:r>
              <a:rPr lang="ru-RU" sz="1800" b="0" i="1" u="none" strike="noStrike" baseline="0" dirty="0" err="1">
                <a:latin typeface="TimesNewRomanPS-ItalicMT"/>
              </a:rPr>
              <a:t>Expected</a:t>
            </a:r>
            <a:r>
              <a:rPr lang="ru-RU" sz="1800" b="0" i="1" u="none" strike="noStrike" baseline="0" dirty="0">
                <a:latin typeface="TimesNewRomanPS-ItalicMT"/>
              </a:rPr>
              <a:t> </a:t>
            </a:r>
            <a:r>
              <a:rPr lang="ru-RU" sz="1800" b="0" i="1" u="none" strike="noStrike" baseline="0" dirty="0" err="1">
                <a:latin typeface="TimesNewRomanPS-ItalicMT"/>
              </a:rPr>
              <a:t>Result</a:t>
            </a:r>
            <a:r>
              <a:rPr lang="ru-RU" sz="1800" b="0" i="0" u="none" strike="noStrike" baseline="0" dirty="0">
                <a:latin typeface="TimesNewRomanPSMT"/>
              </a:rPr>
              <a:t>). Ниже приведены требования и примеры по заполнению этих полей.</a:t>
            </a:r>
          </a:p>
          <a:p>
            <a:pPr marL="0" indent="0" algn="l">
              <a:buNone/>
            </a:pPr>
            <a:r>
              <a:rPr lang="ru-RU" sz="1800" b="1" i="0" u="none" strike="noStrike" baseline="0" dirty="0">
                <a:latin typeface="TimesNewRomanPS-BoldMT"/>
              </a:rPr>
              <a:t>Короткое описание. </a:t>
            </a:r>
            <a:r>
              <a:rPr lang="ru-RU" sz="1800" b="0" i="0" u="none" strike="noStrike" baseline="0" dirty="0">
                <a:latin typeface="TimesNewRomanPSMT"/>
              </a:rPr>
              <a:t>В одном предложение нужно уместить смысл всего баг репорта, а  именно: коротко и ясно, используя правильную терминологию сказать что и где не работает.</a:t>
            </a:r>
          </a:p>
          <a:p>
            <a:pPr marL="0" indent="0" algn="l">
              <a:buNone/>
            </a:pPr>
            <a:endParaRPr lang="ru-RU" sz="1800" b="0" i="0" u="none" strike="noStrike" baseline="0" dirty="0">
              <a:latin typeface="TimesNewRomanPSMT"/>
            </a:endParaRPr>
          </a:p>
          <a:p>
            <a:pPr marL="0" indent="0" algn="l">
              <a:buNone/>
            </a:pPr>
            <a:r>
              <a:rPr lang="ru-RU" sz="1800" b="0" i="0" u="none" strike="noStrike" baseline="0" dirty="0">
                <a:latin typeface="TimesNewRomanPSMT"/>
              </a:rPr>
              <a:t>Например:</a:t>
            </a:r>
          </a:p>
          <a:p>
            <a:pPr marL="0" indent="0" algn="l">
              <a:buNone/>
            </a:pPr>
            <a:r>
              <a:rPr lang="ru-RU" sz="1800" b="0" i="0" u="none" strike="noStrike" baseline="0" dirty="0">
                <a:latin typeface="SymbolMT"/>
              </a:rPr>
              <a:t> </a:t>
            </a:r>
            <a:r>
              <a:rPr lang="ru-RU" sz="1800" b="0" i="0" u="none" strike="noStrike" baseline="0" dirty="0">
                <a:latin typeface="TimesNewRomanPSMT"/>
              </a:rPr>
              <a:t>приложение зависает, при попытке сохранения текстового файла размером больше 50Мб;</a:t>
            </a:r>
          </a:p>
          <a:p>
            <a:pPr marL="0" indent="0" algn="l">
              <a:buNone/>
            </a:pPr>
            <a:r>
              <a:rPr lang="ru-RU" sz="1800" b="0" i="0" u="none" strike="noStrike" baseline="0" dirty="0">
                <a:latin typeface="SymbolMT"/>
              </a:rPr>
              <a:t> </a:t>
            </a:r>
            <a:r>
              <a:rPr lang="ru-RU" sz="1800" b="0" i="0" u="none" strike="noStrike" baseline="0" dirty="0">
                <a:latin typeface="TimesNewRomanPSMT"/>
              </a:rPr>
              <a:t>данные на форме "Профайл" не сохраняются после нажатия кнопки "Сохранить".</a:t>
            </a:r>
            <a:endParaRPr lang="en-US" dirty="0"/>
          </a:p>
        </p:txBody>
      </p:sp>
    </p:spTree>
    <p:extLst>
      <p:ext uri="{BB962C8B-B14F-4D97-AF65-F5344CB8AC3E}">
        <p14:creationId xmlns:p14="http://schemas.microsoft.com/office/powerpoint/2010/main" val="290859795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545237" y="378563"/>
            <a:ext cx="11040122" cy="6208667"/>
          </a:xfrm>
        </p:spPr>
        <p:txBody>
          <a:bodyPr>
            <a:normAutofit/>
          </a:bodyPr>
          <a:lstStyle/>
          <a:p>
            <a:pPr algn="l"/>
            <a:r>
              <a:rPr lang="ru-RU" sz="1800" b="1" i="0" u="none" strike="noStrike" baseline="0" dirty="0">
                <a:latin typeface="TimesNewRomanPS-BoldMT"/>
              </a:rPr>
              <a:t>Шаги к воспроизведению/Результат/Ожидаемый результат. </a:t>
            </a:r>
            <a:r>
              <a:rPr lang="ru-RU" sz="1800" b="0" i="0" u="none" strike="noStrike" baseline="0" dirty="0">
                <a:latin typeface="TimesNewRomanPSMT"/>
              </a:rPr>
              <a:t>Очень важно четко описать</a:t>
            </a:r>
          </a:p>
          <a:p>
            <a:pPr marL="0" indent="0" algn="l">
              <a:buNone/>
            </a:pPr>
            <a:r>
              <a:rPr lang="ru-RU" sz="1800" b="0" i="0" u="none" strike="noStrike" baseline="0" dirty="0">
                <a:latin typeface="TimesNewRomanPSMT"/>
              </a:rPr>
              <a:t>все шаги, с упоминаем всех вводимых данных (имени пользователя, данных для заполнения</a:t>
            </a:r>
          </a:p>
          <a:p>
            <a:pPr marL="0" indent="0" algn="l">
              <a:buNone/>
            </a:pPr>
            <a:r>
              <a:rPr lang="ru-RU" sz="1800" b="0" i="0" u="none" strike="noStrike" baseline="0" dirty="0">
                <a:latin typeface="TimesNewRomanPSMT"/>
              </a:rPr>
              <a:t>формы) и промежуточных результатов.</a:t>
            </a:r>
          </a:p>
          <a:p>
            <a:pPr marL="0" indent="0" algn="l">
              <a:buNone/>
            </a:pPr>
            <a:r>
              <a:rPr lang="ru-RU" sz="1800" b="1" i="0" u="none" strike="noStrike" baseline="0" dirty="0">
                <a:latin typeface="TimesNewRomanPS-BoldMT"/>
              </a:rPr>
              <a:t>Например:</a:t>
            </a:r>
          </a:p>
          <a:p>
            <a:pPr marL="0" indent="0" algn="l">
              <a:buNone/>
            </a:pPr>
            <a:r>
              <a:rPr lang="ru-RU" sz="1800" b="0" i="0" u="none" strike="noStrike" baseline="0" dirty="0">
                <a:latin typeface="TimesNewRomanPSMT"/>
              </a:rPr>
              <a:t>1) войдите в системы: Пользователь Тестер1, пароль </a:t>
            </a:r>
            <a:r>
              <a:rPr lang="ru-RU" sz="1800" b="0" i="0" u="none" strike="noStrike" baseline="0" dirty="0" err="1">
                <a:latin typeface="TimesNewRomanPSMT"/>
              </a:rPr>
              <a:t>xxxXXX</a:t>
            </a:r>
            <a:r>
              <a:rPr lang="ru-RU" sz="1800" b="0" i="0" u="none" strike="noStrike" baseline="0" dirty="0">
                <a:latin typeface="TimesNewRomanPSMT"/>
              </a:rPr>
              <a:t>:</a:t>
            </a:r>
          </a:p>
          <a:p>
            <a:pPr algn="l"/>
            <a:r>
              <a:rPr lang="ru-RU" sz="1800" b="0" i="0" u="none" strike="noStrike" baseline="0" dirty="0">
                <a:latin typeface="SymbolMT"/>
              </a:rPr>
              <a:t> </a:t>
            </a:r>
            <a:r>
              <a:rPr lang="ru-RU" sz="1800" b="0" i="0" u="none" strike="noStrike" baseline="0" dirty="0">
                <a:latin typeface="TimesNewRomanPSMT"/>
              </a:rPr>
              <a:t>вход в систему осуществлен.</a:t>
            </a:r>
          </a:p>
          <a:p>
            <a:pPr marL="0" indent="0" algn="l">
              <a:buNone/>
            </a:pPr>
            <a:r>
              <a:rPr lang="ru-RU" sz="1800" b="0" i="0" u="none" strike="noStrike" baseline="0" dirty="0">
                <a:latin typeface="TimesNewRomanPSMT"/>
              </a:rPr>
              <a:t>2) кликните линк Профайл:</a:t>
            </a:r>
          </a:p>
          <a:p>
            <a:pPr algn="l"/>
            <a:r>
              <a:rPr lang="ru-RU" sz="1800" b="0" i="0" u="none" strike="noStrike" baseline="0" dirty="0">
                <a:latin typeface="SymbolMT"/>
              </a:rPr>
              <a:t> </a:t>
            </a:r>
            <a:r>
              <a:rPr lang="ru-RU" sz="1800" b="0" i="0" u="none" strike="noStrike" baseline="0" dirty="0">
                <a:latin typeface="TimesNewRomanPSMT"/>
              </a:rPr>
              <a:t>страница Профайл открылась.</a:t>
            </a:r>
          </a:p>
          <a:p>
            <a:pPr marL="0" indent="0" algn="l">
              <a:buNone/>
            </a:pPr>
            <a:r>
              <a:rPr lang="ru-RU" sz="1800" b="0" i="0" u="none" strike="noStrike" baseline="0" dirty="0">
                <a:latin typeface="TimesNewRomanPSMT"/>
              </a:rPr>
              <a:t>3) введите Новое имя пользователя: Тестер2;</a:t>
            </a:r>
          </a:p>
          <a:p>
            <a:pPr marL="0" indent="0" algn="l">
              <a:buNone/>
            </a:pPr>
            <a:r>
              <a:rPr lang="ru-RU" sz="1800" b="0" i="0" u="none" strike="noStrike" baseline="0" dirty="0">
                <a:latin typeface="TimesNewRomanPSMT"/>
              </a:rPr>
              <a:t>4) нажмите кнопку Сохранить.</a:t>
            </a:r>
          </a:p>
          <a:p>
            <a:pPr marL="0" indent="0" algn="l">
              <a:buNone/>
            </a:pPr>
            <a:r>
              <a:rPr lang="ru-RU" sz="1800" b="1" i="0" u="none" strike="noStrike" baseline="0" dirty="0">
                <a:latin typeface="TimesNewRomanPS-BoldMT"/>
              </a:rPr>
              <a:t>Результат. </a:t>
            </a:r>
            <a:r>
              <a:rPr lang="ru-RU" sz="1800" b="0" i="0" u="none" strike="noStrike" baseline="0" dirty="0">
                <a:latin typeface="TimesNewRomanPSMT"/>
              </a:rPr>
              <a:t>На экране появилась ошибка. Новое имя пользователя не было сохранено</a:t>
            </a:r>
          </a:p>
          <a:p>
            <a:pPr marL="0" indent="0" algn="l">
              <a:buNone/>
            </a:pPr>
            <a:r>
              <a:rPr lang="ru-RU" sz="1800" b="1" i="0" u="none" strike="noStrike" baseline="0" dirty="0">
                <a:latin typeface="TimesNewRomanPS-BoldMT"/>
              </a:rPr>
              <a:t>Ожидаемый результат. </a:t>
            </a:r>
            <a:r>
              <a:rPr lang="ru-RU" sz="1800" b="0" i="0" u="none" strike="noStrike" baseline="0" dirty="0">
                <a:latin typeface="TimesNewRomanPSMT"/>
              </a:rPr>
              <a:t>Страница профайл перегрузилась. Новое значение имени</a:t>
            </a:r>
          </a:p>
          <a:p>
            <a:pPr marL="0" indent="0" algn="l">
              <a:buNone/>
            </a:pPr>
            <a:r>
              <a:rPr lang="ru-RU" sz="1800" b="0" i="0" u="none" strike="noStrike" baseline="0" dirty="0">
                <a:latin typeface="TimesNewRomanPSMT"/>
              </a:rPr>
              <a:t>пользователя сохранено.</a:t>
            </a:r>
            <a:endParaRPr lang="en-US" dirty="0"/>
          </a:p>
        </p:txBody>
      </p:sp>
    </p:spTree>
    <p:extLst>
      <p:ext uri="{BB962C8B-B14F-4D97-AF65-F5344CB8AC3E}">
        <p14:creationId xmlns:p14="http://schemas.microsoft.com/office/powerpoint/2010/main" val="244369198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CF0D4E-827D-4E5C-94FF-279DCA0FACE8}"/>
              </a:ext>
            </a:extLst>
          </p:cNvPr>
          <p:cNvSpPr txBox="1"/>
          <p:nvPr/>
        </p:nvSpPr>
        <p:spPr>
          <a:xfrm>
            <a:off x="470517" y="61066"/>
            <a:ext cx="10093910" cy="4801314"/>
          </a:xfrm>
          <a:prstGeom prst="rect">
            <a:avLst/>
          </a:prstGeom>
          <a:noFill/>
        </p:spPr>
        <p:txBody>
          <a:bodyPr wrap="square">
            <a:spAutoFit/>
          </a:bodyPr>
          <a:lstStyle/>
          <a:p>
            <a:pPr algn="l"/>
            <a:r>
              <a:rPr lang="ru-RU" sz="1800" b="1" i="1" u="none" strike="noStrike" baseline="0" dirty="0">
                <a:latin typeface="TimesNewRomanPS-BoldItalicMT"/>
              </a:rPr>
              <a:t>Основные ошибки при написании баг репортов</a:t>
            </a:r>
          </a:p>
          <a:p>
            <a:pPr algn="l"/>
            <a:endParaRPr lang="ru-RU" sz="1800" b="1" i="1" u="none" strike="noStrike" baseline="0" dirty="0">
              <a:latin typeface="TimesNewRomanPS-BoldItalicMT"/>
            </a:endParaRPr>
          </a:p>
          <a:p>
            <a:pPr algn="l"/>
            <a:r>
              <a:rPr lang="ru-RU" sz="1800" b="1" i="0" u="none" strike="noStrike" baseline="0" dirty="0">
                <a:latin typeface="TimesNewRomanPS-BoldMT"/>
              </a:rPr>
              <a:t>Недостаточность предоставленных данных. </a:t>
            </a:r>
            <a:r>
              <a:rPr lang="ru-RU" sz="1800" b="0" i="0" u="none" strike="noStrike" baseline="0" dirty="0">
                <a:latin typeface="TimesNewRomanPSMT"/>
              </a:rPr>
              <a:t>Не всегда одна и таже проблема проявляется</a:t>
            </a:r>
          </a:p>
          <a:p>
            <a:pPr algn="l"/>
            <a:r>
              <a:rPr lang="ru-RU" sz="1800" b="0" i="0" u="none" strike="noStrike" baseline="0" dirty="0">
                <a:latin typeface="TimesNewRomanPSMT"/>
              </a:rPr>
              <a:t>при всех вводимых значениях и под любым вошедшим в систему пользователем, поэтому</a:t>
            </a:r>
          </a:p>
          <a:p>
            <a:pPr algn="l"/>
            <a:r>
              <a:rPr lang="ru-RU" sz="1800" b="0" i="0" u="none" strike="noStrike" baseline="0" dirty="0">
                <a:latin typeface="TimesNewRomanPSMT"/>
              </a:rPr>
              <a:t>настоятельно рекомендуется вносить все необходимые данные в баг репорт.</a:t>
            </a:r>
          </a:p>
          <a:p>
            <a:pPr algn="l"/>
            <a:endParaRPr lang="ru-RU" sz="1800" b="0" i="0" u="none" strike="noStrike" baseline="0" dirty="0">
              <a:latin typeface="TimesNewRomanPSMT"/>
            </a:endParaRPr>
          </a:p>
          <a:p>
            <a:pPr algn="l"/>
            <a:r>
              <a:rPr lang="ru-RU" sz="1800" b="1" i="0" u="none" strike="noStrike" baseline="0" dirty="0">
                <a:latin typeface="TimesNewRomanPS-BoldMT"/>
              </a:rPr>
              <a:t>Определение серьезности. </a:t>
            </a:r>
            <a:r>
              <a:rPr lang="ru-RU" sz="1800" b="0" i="0" u="none" strike="noStrike" baseline="0" dirty="0">
                <a:latin typeface="TimesNewRomanPSMT"/>
              </a:rPr>
              <a:t>Очень часто происходит либо завышение, либо занижение</a:t>
            </a:r>
          </a:p>
          <a:p>
            <a:pPr algn="l"/>
            <a:r>
              <a:rPr lang="ru-RU" sz="1800" b="0" i="0" u="none" strike="noStrike" baseline="0" dirty="0">
                <a:latin typeface="TimesNewRomanPSMT"/>
              </a:rPr>
              <a:t>серьезности дефекта, что может привести к неправильной очередности при решении проблемы.</a:t>
            </a:r>
          </a:p>
          <a:p>
            <a:pPr algn="l"/>
            <a:endParaRPr lang="ru-RU" sz="1800" b="0" i="0" u="none" strike="noStrike" baseline="0" dirty="0">
              <a:latin typeface="TimesNewRomanPSMT"/>
            </a:endParaRPr>
          </a:p>
          <a:p>
            <a:pPr algn="l"/>
            <a:r>
              <a:rPr lang="ru-RU" sz="1800" b="1" i="0" u="none" strike="noStrike" baseline="0" dirty="0">
                <a:latin typeface="TimesNewRomanPS-BoldMT"/>
              </a:rPr>
              <a:t>Язык описания. </a:t>
            </a:r>
            <a:r>
              <a:rPr lang="ru-RU" sz="1800" b="0" i="0" u="none" strike="noStrike" baseline="0" dirty="0">
                <a:latin typeface="TimesNewRomanPSMT"/>
              </a:rPr>
              <a:t>Часто при описании проблемы используются неправильная терминология</a:t>
            </a:r>
          </a:p>
          <a:p>
            <a:pPr algn="l"/>
            <a:r>
              <a:rPr lang="ru-RU" sz="1800" b="0" i="0" u="none" strike="noStrike" baseline="0" dirty="0">
                <a:latin typeface="TimesNewRomanPSMT"/>
              </a:rPr>
              <a:t>или сложные речевые обороты, которые могут ввести в заблуждение человека, ответственного за</a:t>
            </a:r>
          </a:p>
          <a:p>
            <a:pPr algn="l"/>
            <a:r>
              <a:rPr lang="ru-RU" sz="1800" b="0" i="0" u="none" strike="noStrike" baseline="0" dirty="0">
                <a:latin typeface="TimesNewRomanPSMT"/>
              </a:rPr>
              <a:t>решение проблемы.</a:t>
            </a:r>
          </a:p>
          <a:p>
            <a:pPr algn="l"/>
            <a:endParaRPr lang="ru-RU" sz="1800" b="0" i="0" u="none" strike="noStrike" baseline="0" dirty="0">
              <a:latin typeface="TimesNewRomanPSMT"/>
            </a:endParaRPr>
          </a:p>
          <a:p>
            <a:pPr algn="l"/>
            <a:r>
              <a:rPr lang="ru-RU" sz="1800" b="1" i="0" u="none" strike="noStrike" baseline="0" dirty="0">
                <a:latin typeface="TimesNewRomanPS-BoldMT"/>
              </a:rPr>
              <a:t>Отсутствие ожидаемого результата. </a:t>
            </a:r>
            <a:r>
              <a:rPr lang="ru-RU" sz="1800" b="0" i="0" u="none" strike="noStrike" baseline="0" dirty="0">
                <a:latin typeface="TimesNewRomanPSMT"/>
              </a:rPr>
              <a:t>В случаях, если вы не указали, что же должно быть</a:t>
            </a:r>
          </a:p>
          <a:p>
            <a:pPr algn="l"/>
            <a:r>
              <a:rPr lang="ru-RU" sz="1800" b="0" i="0" u="none" strike="noStrike" baseline="0" dirty="0">
                <a:latin typeface="TimesNewRomanPSMT"/>
              </a:rPr>
              <a:t>требуемым поведением системы, вы тратите время разработчика, на поиск данной информации,</a:t>
            </a:r>
          </a:p>
          <a:p>
            <a:pPr algn="l"/>
            <a:r>
              <a:rPr lang="ru-RU" sz="1800" b="0" i="0" u="none" strike="noStrike" baseline="0" dirty="0">
                <a:latin typeface="TimesNewRomanPSMT"/>
              </a:rPr>
              <a:t>тем самым замедляете исправления дефекта. Вы должны указать пункт в требованиях, написанный</a:t>
            </a:r>
          </a:p>
          <a:p>
            <a:pPr algn="l"/>
            <a:r>
              <a:rPr lang="ru-RU" sz="1800" b="0" i="0" u="none" strike="noStrike" baseline="0" dirty="0">
                <a:latin typeface="TimesNewRomanPSMT"/>
              </a:rPr>
              <a:t>тест кейс или же ваше личное мнение, если эта ситуация не была документирована.</a:t>
            </a:r>
            <a:endParaRPr lang="en-US" dirty="0"/>
          </a:p>
        </p:txBody>
      </p:sp>
    </p:spTree>
    <p:extLst>
      <p:ext uri="{BB962C8B-B14F-4D97-AF65-F5344CB8AC3E}">
        <p14:creationId xmlns:p14="http://schemas.microsoft.com/office/powerpoint/2010/main" val="59089300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Объект 2">
            <a:extLst>
              <a:ext uri="{FF2B5EF4-FFF2-40B4-BE49-F238E27FC236}">
                <a16:creationId xmlns:a16="http://schemas.microsoft.com/office/drawing/2014/main" id="{431F674C-34C7-4FF4-BDA6-2475F7D8FB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4905" y="-8025"/>
            <a:ext cx="9303798" cy="6683616"/>
          </a:xfrm>
        </p:spPr>
      </p:pic>
    </p:spTree>
    <p:extLst>
      <p:ext uri="{BB962C8B-B14F-4D97-AF65-F5344CB8AC3E}">
        <p14:creationId xmlns:p14="http://schemas.microsoft.com/office/powerpoint/2010/main" val="180152196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323294" y="582751"/>
            <a:ext cx="11262063" cy="6039990"/>
          </a:xfrm>
        </p:spPr>
        <p:txBody>
          <a:bodyPr>
            <a:normAutofit fontScale="92500"/>
          </a:bodyPr>
          <a:lstStyle/>
          <a:p>
            <a:pPr marL="0" indent="0">
              <a:buNone/>
            </a:pPr>
            <a:r>
              <a:rPr lang="ru-RU" sz="1800" b="1" i="1" u="none" strike="noStrike" baseline="0" dirty="0">
                <a:solidFill>
                  <a:srgbClr val="FF0000"/>
                </a:solidFill>
                <a:latin typeface="TimesNewRomanPS-BoldItalicMT"/>
              </a:rPr>
              <a:t>Жизненный цикл бага</a:t>
            </a:r>
          </a:p>
          <a:p>
            <a:pPr marL="0" indent="0" algn="l">
              <a:buNone/>
            </a:pPr>
            <a:r>
              <a:rPr lang="ru-RU" sz="1800" b="1" i="0" u="none" strike="noStrike" baseline="0" dirty="0">
                <a:latin typeface="TimesNewRomanPS-BoldMT"/>
              </a:rPr>
              <a:t>Обнаружен (</a:t>
            </a:r>
            <a:r>
              <a:rPr lang="ru-RU" sz="1800" b="1" i="0" u="none" strike="noStrike" baseline="0" dirty="0" err="1">
                <a:latin typeface="TimesNewRomanPS-BoldMT"/>
              </a:rPr>
              <a:t>submitted</a:t>
            </a:r>
            <a:r>
              <a:rPr lang="ru-RU" sz="1800" b="1" i="0" u="none" strike="noStrike" baseline="0" dirty="0">
                <a:latin typeface="TimesNewRomanPS-BoldMT"/>
              </a:rPr>
              <a:t>)</a:t>
            </a:r>
            <a:r>
              <a:rPr lang="ru-RU" sz="1800" b="0" i="0" u="none" strike="noStrike" baseline="0" dirty="0">
                <a:latin typeface="TimesNewRomanPSMT"/>
              </a:rPr>
              <a:t>. Тестировщик находит баг и представляет его на рассмотрение в систему отслеживания ошибок. С этого момента баг начинает свою официальную жизнь и о его существовании знаю необходимые люди.</a:t>
            </a:r>
          </a:p>
          <a:p>
            <a:pPr marL="0" indent="0" algn="l">
              <a:buNone/>
            </a:pPr>
            <a:r>
              <a:rPr lang="ru-RU" sz="1800" b="1" dirty="0">
                <a:latin typeface="TimesNewRomanPS-BoldMT"/>
              </a:rPr>
              <a:t>На</a:t>
            </a:r>
            <a:r>
              <a:rPr lang="ru-RU" sz="1800" b="1" i="0" u="none" strike="noStrike" baseline="0" dirty="0">
                <a:latin typeface="TimesNewRomanPS-BoldMT"/>
              </a:rPr>
              <a:t>значен (</a:t>
            </a:r>
            <a:r>
              <a:rPr lang="ru-RU" sz="1800" b="1" i="0" u="none" strike="noStrike" baseline="0" dirty="0" err="1">
                <a:latin typeface="TimesNewRomanPS-BoldMT"/>
              </a:rPr>
              <a:t>assigned</a:t>
            </a:r>
            <a:r>
              <a:rPr lang="ru-RU" sz="1800" b="1" i="0" u="none" strike="noStrike" baseline="0" dirty="0">
                <a:latin typeface="TimesNewRomanPS-BoldMT"/>
              </a:rPr>
              <a:t>)</a:t>
            </a:r>
            <a:r>
              <a:rPr lang="ru-RU" sz="1800" b="0" i="0" u="none" strike="noStrike" baseline="0" dirty="0">
                <a:latin typeface="TimesNewRomanPSMT"/>
              </a:rPr>
              <a:t>. Тестировщик или ведущий разработчик рассматривает баг и </a:t>
            </a:r>
            <a:r>
              <a:rPr lang="ru-RU" sz="1800" b="0" i="0" u="none" strike="noStrike" baseline="0" dirty="0" err="1">
                <a:latin typeface="TimesNewRomanPSMT"/>
              </a:rPr>
              <a:t>назначего</a:t>
            </a:r>
            <a:r>
              <a:rPr lang="ru-RU" sz="1800" b="0" i="0" u="none" strike="noStrike" baseline="0" dirty="0">
                <a:latin typeface="TimesNewRomanPSMT"/>
              </a:rPr>
              <a:t> его направление кому-то команды разработчиков.</a:t>
            </a:r>
          </a:p>
          <a:p>
            <a:pPr marL="0" indent="0" algn="l">
              <a:buNone/>
            </a:pPr>
            <a:r>
              <a:rPr lang="ru-RU" sz="1800" b="1" i="0" u="none" strike="noStrike" baseline="0" dirty="0">
                <a:latin typeface="TimesNewRomanPS-BoldMT"/>
              </a:rPr>
              <a:t>Исправлен (</a:t>
            </a:r>
            <a:r>
              <a:rPr lang="ru-RU" sz="1800" b="1" i="0" u="none" strike="noStrike" baseline="0" dirty="0" err="1">
                <a:latin typeface="TimesNewRomanPS-BoldMT"/>
              </a:rPr>
              <a:t>fixed</a:t>
            </a:r>
            <a:r>
              <a:rPr lang="ru-RU" sz="1800" b="1" i="0" u="none" strike="noStrike" baseline="0" dirty="0">
                <a:latin typeface="TimesNewRomanPS-BoldMT"/>
              </a:rPr>
              <a:t>)</a:t>
            </a:r>
            <a:r>
              <a:rPr lang="ru-RU" sz="1800" b="0" i="0" u="none" strike="noStrike" baseline="0" dirty="0">
                <a:latin typeface="TimesNewRomanPSMT"/>
              </a:rPr>
              <a:t>. Разработчик, которому было назначено исправление дефекта, исправляет его и сообщает о том, что задание выполнено</a:t>
            </a:r>
          </a:p>
          <a:p>
            <a:pPr marL="0" indent="0" algn="l">
              <a:buNone/>
            </a:pPr>
            <a:r>
              <a:rPr lang="ru-RU" sz="1800" b="1" i="0" u="none" strike="noStrike" baseline="0" dirty="0">
                <a:latin typeface="TimesNewRomanPS-BoldMT"/>
              </a:rPr>
              <a:t>Проверен (</a:t>
            </a:r>
            <a:r>
              <a:rPr lang="ru-RU" sz="1800" b="1" i="0" u="none" strike="noStrike" baseline="0" dirty="0" err="1">
                <a:latin typeface="TimesNewRomanPS-BoldMT"/>
              </a:rPr>
              <a:t>verified</a:t>
            </a:r>
            <a:r>
              <a:rPr lang="ru-RU" sz="1800" b="1" i="0" u="none" strike="noStrike" baseline="0" dirty="0">
                <a:latin typeface="TimesNewRomanPS-BoldMT"/>
              </a:rPr>
              <a:t>)</a:t>
            </a:r>
            <a:r>
              <a:rPr lang="ru-RU" sz="1800" b="0" i="0" u="none" strike="noStrike" baseline="0" dirty="0">
                <a:latin typeface="TimesNewRomanPSMT"/>
              </a:rPr>
              <a:t>. Тестировщик, который обнаружил ошибку проверяет на новом </a:t>
            </a:r>
            <a:r>
              <a:rPr lang="ru-RU" sz="1800" b="0" i="0" u="none" strike="noStrike" baseline="0" dirty="0" err="1">
                <a:latin typeface="TimesNewRomanPSMT"/>
              </a:rPr>
              <a:t>билде</a:t>
            </a:r>
            <a:r>
              <a:rPr lang="ru-RU" sz="1800" b="0" i="0" u="none" strike="noStrike" baseline="0" dirty="0">
                <a:latin typeface="TimesNewRomanPSMT"/>
              </a:rPr>
              <a:t> (в котором исправление данной ошибки заявлено), исправлен ли баг на самом деле. И только в том случае, если ошибка не проявится на новом </a:t>
            </a:r>
            <a:r>
              <a:rPr lang="ru-RU" sz="1800" b="0" i="0" u="none" strike="noStrike" baseline="0" dirty="0" err="1">
                <a:latin typeface="TimesNewRomanPSMT"/>
              </a:rPr>
              <a:t>билде</a:t>
            </a:r>
            <a:r>
              <a:rPr lang="ru-RU" sz="1800" b="0" i="0" u="none" strike="noStrike" baseline="0" dirty="0">
                <a:latin typeface="TimesNewRomanPSMT"/>
              </a:rPr>
              <a:t>, тестировщик меняет статус бага на </a:t>
            </a:r>
            <a:r>
              <a:rPr lang="ru-RU" sz="1800" b="0" i="1" u="none" strike="noStrike" baseline="0" dirty="0" err="1">
                <a:latin typeface="TimesNewRomanPS-ItalicMT"/>
              </a:rPr>
              <a:t>Verified</a:t>
            </a:r>
            <a:r>
              <a:rPr lang="ru-RU" sz="1800" b="0" i="0" u="none" strike="noStrike" baseline="0" dirty="0">
                <a:latin typeface="TimesNewRomanPSMT"/>
              </a:rPr>
              <a:t>.</a:t>
            </a:r>
          </a:p>
          <a:p>
            <a:pPr marL="0" indent="0" algn="l">
              <a:buNone/>
            </a:pPr>
            <a:r>
              <a:rPr lang="ru-RU" sz="1800" b="1" i="0" u="none" strike="noStrike" baseline="0" dirty="0">
                <a:latin typeface="TimesNewRomanPS-BoldMT"/>
              </a:rPr>
              <a:t>Открыт заново (</a:t>
            </a:r>
            <a:r>
              <a:rPr lang="ru-RU" sz="1800" b="1" i="0" u="none" strike="noStrike" baseline="0" dirty="0" err="1">
                <a:latin typeface="TimesNewRomanPS-BoldMT"/>
              </a:rPr>
              <a:t>reopened</a:t>
            </a:r>
            <a:r>
              <a:rPr lang="ru-RU" sz="1800" b="1" i="0" u="none" strike="noStrike" baseline="0" dirty="0">
                <a:latin typeface="TimesNewRomanPS-BoldMT"/>
              </a:rPr>
              <a:t>)</a:t>
            </a:r>
            <a:r>
              <a:rPr lang="ru-RU" sz="1800" b="0" i="0" u="none" strike="noStrike" baseline="0" dirty="0">
                <a:latin typeface="TimesNewRomanPSMT"/>
              </a:rPr>
              <a:t>. Если баг проявляется на новом </a:t>
            </a:r>
            <a:r>
              <a:rPr lang="ru-RU" sz="1800" b="0" i="0" u="none" strike="noStrike" baseline="0" dirty="0" err="1">
                <a:latin typeface="TimesNewRomanPSMT"/>
              </a:rPr>
              <a:t>билде</a:t>
            </a:r>
            <a:r>
              <a:rPr lang="ru-RU" sz="1800" b="0" i="0" u="none" strike="noStrike" baseline="0" dirty="0">
                <a:latin typeface="TimesNewRomanPSMT"/>
              </a:rPr>
              <a:t>, тестировщик снова открывает этот дефект. Баг приобретает статус </a:t>
            </a:r>
            <a:r>
              <a:rPr lang="ru-RU" sz="1800" b="0" i="1" u="none" strike="noStrike" baseline="0" dirty="0" err="1">
                <a:latin typeface="TimesNewRomanPS-ItalicMT"/>
              </a:rPr>
              <a:t>Reopened</a:t>
            </a:r>
            <a:r>
              <a:rPr lang="ru-RU" sz="1800" b="0" i="0" u="none" strike="noStrike" baseline="0" dirty="0">
                <a:latin typeface="TimesNewRomanPSMT"/>
              </a:rPr>
              <a:t>.</a:t>
            </a:r>
          </a:p>
          <a:p>
            <a:pPr marL="0" indent="0" algn="l">
              <a:buNone/>
            </a:pPr>
            <a:r>
              <a:rPr lang="ru-RU" sz="1800" b="1" i="0" u="none" strike="noStrike" baseline="0" dirty="0">
                <a:latin typeface="TimesNewRomanPS-BoldMT"/>
              </a:rPr>
              <a:t>Отклонен (</a:t>
            </a:r>
            <a:r>
              <a:rPr lang="ru-RU" sz="1800" b="1" i="0" u="none" strike="noStrike" baseline="0" dirty="0" err="1">
                <a:latin typeface="TimesNewRomanPS-BoldMT"/>
              </a:rPr>
              <a:t>declined</a:t>
            </a:r>
            <a:r>
              <a:rPr lang="ru-RU" sz="1800" b="1" i="0" u="none" strike="noStrike" baseline="0" dirty="0">
                <a:latin typeface="TimesNewRomanPS-BoldMT"/>
              </a:rPr>
              <a:t>)</a:t>
            </a:r>
            <a:r>
              <a:rPr lang="ru-RU" sz="1800" b="0" i="0" u="none" strike="noStrike" baseline="0" dirty="0">
                <a:latin typeface="TimesNewRomanPSMT"/>
              </a:rPr>
              <a:t>. Баг может быть отклонено. Во-первых, потому что для заказчика какие-то ошибки перестают быть актуальными. Во-вторых, это может случится по вине тестировщика из-за плохого знания продукта, требований (дефекта на самом деле нет).</a:t>
            </a:r>
          </a:p>
          <a:p>
            <a:pPr marL="0" indent="0" algn="l">
              <a:buNone/>
            </a:pPr>
            <a:r>
              <a:rPr lang="ru-RU" sz="1800" b="1" i="0" u="none" strike="noStrike" baseline="0" dirty="0">
                <a:latin typeface="TimesNewRomanPS-BoldMT"/>
              </a:rPr>
              <a:t>Отложен (</a:t>
            </a:r>
            <a:r>
              <a:rPr lang="ru-RU" sz="1800" b="1" i="0" u="none" strike="noStrike" baseline="0" dirty="0" err="1">
                <a:latin typeface="TimesNewRomanPS-BoldMT"/>
              </a:rPr>
              <a:t>deferred</a:t>
            </a:r>
            <a:r>
              <a:rPr lang="ru-RU" sz="1800" b="1" i="0" u="none" strike="noStrike" baseline="0" dirty="0">
                <a:latin typeface="TimesNewRomanPS-BoldMT"/>
              </a:rPr>
              <a:t>)</a:t>
            </a:r>
            <a:r>
              <a:rPr lang="ru-RU" sz="1800" b="0" i="0" u="none" strike="noStrike" baseline="0" dirty="0">
                <a:latin typeface="TimesNewRomanPSMT"/>
              </a:rPr>
              <a:t>. Если исправление конкретного бага сейчас не очень важно или заказчик пока думает, или мы ждем какую-то информацию, от которой зависит исправление бага, тогда баг приобретает статус </a:t>
            </a:r>
            <a:r>
              <a:rPr lang="en-US" sz="1800" b="0" i="1" u="none" strike="noStrike" baseline="0" dirty="0">
                <a:latin typeface="TimesNewRomanPS-ItalicMT"/>
              </a:rPr>
              <a:t>Deferred</a:t>
            </a:r>
            <a:r>
              <a:rPr lang="en-US" sz="1800" b="0" i="0" u="none" strike="noStrike" baseline="0" dirty="0">
                <a:latin typeface="TimesNewRomanPSMT"/>
              </a:rPr>
              <a:t>.</a:t>
            </a:r>
          </a:p>
          <a:p>
            <a:pPr marL="0" indent="0" algn="l">
              <a:buNone/>
            </a:pPr>
            <a:r>
              <a:rPr lang="ru-RU" sz="1800" b="1" i="0" u="none" strike="noStrike" baseline="0" dirty="0">
                <a:latin typeface="TimesNewRomanPS-BoldMT"/>
              </a:rPr>
              <a:t>Закрытые (</a:t>
            </a:r>
            <a:r>
              <a:rPr lang="ru-RU" sz="1800" b="1" i="0" u="none" strike="noStrike" baseline="0" dirty="0" err="1">
                <a:latin typeface="TimesNewRomanPS-BoldMT"/>
              </a:rPr>
              <a:t>closed</a:t>
            </a:r>
            <a:r>
              <a:rPr lang="ru-RU" sz="1800" b="1" i="0" u="none" strike="noStrike" baseline="0" dirty="0">
                <a:latin typeface="TimesNewRomanPS-BoldMT"/>
              </a:rPr>
              <a:t>) баги</a:t>
            </a:r>
            <a:r>
              <a:rPr lang="ru-RU" sz="1800" b="0" i="0" u="none" strike="noStrike" baseline="0" dirty="0">
                <a:latin typeface="TimesNewRomanPSMT"/>
              </a:rPr>
              <a:t>. Закрытым считается баг в состояниях </a:t>
            </a:r>
            <a:r>
              <a:rPr lang="ru-RU" sz="1800" b="0" i="1" u="none" strike="noStrike" baseline="0" dirty="0">
                <a:latin typeface="TimesNewRomanPS-ItalicMT"/>
              </a:rPr>
              <a:t>Проверен (</a:t>
            </a:r>
            <a:r>
              <a:rPr lang="ru-RU" sz="1800" b="0" i="1" u="none" strike="noStrike" baseline="0" dirty="0" err="1">
                <a:latin typeface="TimesNewRomanPS-ItalicMT"/>
              </a:rPr>
              <a:t>verified</a:t>
            </a:r>
            <a:r>
              <a:rPr lang="ru-RU" sz="1800" b="0" i="1" u="none" strike="noStrike" baseline="0" dirty="0">
                <a:latin typeface="TimesNewRomanPS-ItalicMT"/>
              </a:rPr>
              <a:t>) </a:t>
            </a:r>
            <a:r>
              <a:rPr lang="ru-RU" sz="1800" b="0" i="0" u="none" strike="noStrike" baseline="0" dirty="0">
                <a:latin typeface="TimesNewRomanPSMT"/>
              </a:rPr>
              <a:t>и </a:t>
            </a:r>
            <a:r>
              <a:rPr lang="ru-RU" sz="1800" b="0" i="1" u="none" strike="noStrike" baseline="0" dirty="0">
                <a:latin typeface="TimesNewRomanPS-ItalicMT"/>
              </a:rPr>
              <a:t>Отклонен (</a:t>
            </a:r>
            <a:r>
              <a:rPr lang="en-US" sz="1800" b="0" i="1" u="none" strike="noStrike" baseline="0" dirty="0">
                <a:latin typeface="TimesNewRomanPS-ItalicMT"/>
              </a:rPr>
              <a:t>declined)</a:t>
            </a:r>
            <a:r>
              <a:rPr lang="en-US" sz="1800" b="0" i="0" u="none" strike="noStrike" baseline="0" dirty="0">
                <a:latin typeface="TimesNewRomanPSMT"/>
              </a:rPr>
              <a:t>.</a:t>
            </a:r>
          </a:p>
          <a:p>
            <a:pPr marL="0" indent="0" algn="l">
              <a:buNone/>
            </a:pPr>
            <a:r>
              <a:rPr lang="ru-RU" sz="1800" b="1" i="0" u="none" strike="noStrike" baseline="0" dirty="0">
                <a:latin typeface="TimesNewRomanPS-BoldMT"/>
              </a:rPr>
              <a:t>Открытые (</a:t>
            </a:r>
            <a:r>
              <a:rPr lang="ru-RU" sz="1800" b="1" i="0" u="none" strike="noStrike" baseline="0" dirty="0" err="1">
                <a:latin typeface="TimesNewRomanPS-BoldMT"/>
              </a:rPr>
              <a:t>open</a:t>
            </a:r>
            <a:r>
              <a:rPr lang="ru-RU" sz="1800" b="1" i="0" u="none" strike="noStrike" baseline="0" dirty="0">
                <a:latin typeface="TimesNewRomanPS-BoldMT"/>
              </a:rPr>
              <a:t>) баги</a:t>
            </a:r>
            <a:r>
              <a:rPr lang="ru-RU" sz="1800" b="0" i="0" u="none" strike="noStrike" baseline="0" dirty="0">
                <a:latin typeface="TimesNewRomanPSMT"/>
              </a:rPr>
              <a:t>. Открытыми являются баги в </a:t>
            </a:r>
            <a:r>
              <a:rPr lang="ru-RU" sz="1800" b="0" i="0" u="none" strike="noStrike" baseline="0" dirty="0" err="1">
                <a:latin typeface="TimesNewRomanPSMT"/>
              </a:rPr>
              <a:t>состояних</a:t>
            </a:r>
            <a:r>
              <a:rPr lang="ru-RU" sz="1800" b="0" i="0" u="none" strike="noStrike" baseline="0" dirty="0">
                <a:latin typeface="TimesNewRomanPSMT"/>
              </a:rPr>
              <a:t> </a:t>
            </a:r>
            <a:r>
              <a:rPr lang="ru-RU" sz="1800" b="0" i="1" u="none" strike="noStrike" baseline="0" dirty="0">
                <a:latin typeface="TimesNewRomanPS-ItalicMT"/>
              </a:rPr>
              <a:t>Обнаружен (</a:t>
            </a:r>
            <a:r>
              <a:rPr lang="ru-RU" sz="1800" b="0" i="1" u="none" strike="noStrike" baseline="0" dirty="0" err="1">
                <a:latin typeface="TimesNewRomanPS-ItalicMT"/>
              </a:rPr>
              <a:t>submitted</a:t>
            </a:r>
            <a:r>
              <a:rPr lang="ru-RU" sz="1800" b="0" i="1" u="none" strike="noStrike" baseline="0" dirty="0">
                <a:latin typeface="TimesNewRomanPS-ItalicMT"/>
              </a:rPr>
              <a:t>), Назначен (</a:t>
            </a:r>
            <a:r>
              <a:rPr lang="ru-RU" sz="1800" b="0" i="1" u="none" strike="noStrike" baseline="0" dirty="0" err="1">
                <a:latin typeface="TimesNewRomanPS-ItalicMT"/>
              </a:rPr>
              <a:t>assigned</a:t>
            </a:r>
            <a:r>
              <a:rPr lang="ru-RU" sz="1800" b="0" i="1" u="none" strike="noStrike" baseline="0" dirty="0">
                <a:latin typeface="TimesNewRomanPS-ItalicMT"/>
              </a:rPr>
              <a:t>), Открыт заново (</a:t>
            </a:r>
            <a:r>
              <a:rPr lang="ru-RU" sz="1800" b="0" i="1" u="none" strike="noStrike" baseline="0" dirty="0" err="1">
                <a:latin typeface="TimesNewRomanPS-ItalicMT"/>
              </a:rPr>
              <a:t>reopened</a:t>
            </a:r>
            <a:r>
              <a:rPr lang="ru-RU" sz="1800" b="0" i="1" u="none" strike="noStrike" baseline="0" dirty="0">
                <a:latin typeface="TimesNewRomanPS-ItalicMT"/>
              </a:rPr>
              <a:t>)</a:t>
            </a:r>
            <a:r>
              <a:rPr lang="ru-RU" sz="1800" b="0" i="0" u="none" strike="noStrike" baseline="0" dirty="0">
                <a:latin typeface="TimesNewRomanPSMT"/>
              </a:rPr>
              <a:t>. Иногда к открытым относят и баги в состояниях </a:t>
            </a:r>
            <a:r>
              <a:rPr lang="ru-RU" sz="1800" b="0" i="1" u="none" strike="noStrike" baseline="0" dirty="0">
                <a:latin typeface="TimesNewRomanPS-ItalicMT"/>
              </a:rPr>
              <a:t>Исправлен (</a:t>
            </a:r>
            <a:r>
              <a:rPr lang="ru-RU" sz="1800" b="0" i="1" u="none" strike="noStrike" baseline="0" dirty="0" err="1">
                <a:latin typeface="TimesNewRomanPS-ItalicMT"/>
              </a:rPr>
              <a:t>fixed</a:t>
            </a:r>
            <a:r>
              <a:rPr lang="ru-RU" sz="1800" b="0" i="1" u="none" strike="noStrike" baseline="0" dirty="0">
                <a:latin typeface="TimesNewRomanPS-ItalicMT"/>
              </a:rPr>
              <a:t>) </a:t>
            </a:r>
            <a:r>
              <a:rPr lang="ru-RU" sz="1800" b="0" i="0" u="none" strike="noStrike" baseline="0" dirty="0">
                <a:latin typeface="TimesNewRomanPSMT"/>
              </a:rPr>
              <a:t>и </a:t>
            </a:r>
            <a:r>
              <a:rPr lang="ru-RU" sz="1800" b="0" i="1" u="none" strike="noStrike" baseline="0" dirty="0">
                <a:latin typeface="TimesNewRomanPS-ItalicMT"/>
              </a:rPr>
              <a:t>Отложен (</a:t>
            </a:r>
            <a:r>
              <a:rPr lang="ru-RU" sz="1800" b="0" i="1" u="none" strike="noStrike" baseline="0" dirty="0" err="1">
                <a:latin typeface="TimesNewRomanPS-ItalicMT"/>
              </a:rPr>
              <a:t>deferred</a:t>
            </a:r>
            <a:r>
              <a:rPr lang="ru-RU" sz="1800" b="0" i="1" u="none" strike="noStrike" baseline="0" dirty="0">
                <a:latin typeface="TimesNewRomanPS-ItalicMT"/>
              </a:rPr>
              <a:t>)</a:t>
            </a:r>
            <a:r>
              <a:rPr lang="ru-RU" sz="1800" b="0" i="0" u="none" strike="noStrike" baseline="0" dirty="0">
                <a:latin typeface="TimesNewRomanPSMT"/>
              </a:rPr>
              <a:t>.</a:t>
            </a:r>
            <a:endParaRPr lang="en-US" dirty="0"/>
          </a:p>
        </p:txBody>
      </p:sp>
    </p:spTree>
    <p:extLst>
      <p:ext uri="{BB962C8B-B14F-4D97-AF65-F5344CB8AC3E}">
        <p14:creationId xmlns:p14="http://schemas.microsoft.com/office/powerpoint/2010/main" val="277262530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Объект 2">
            <a:extLst>
              <a:ext uri="{FF2B5EF4-FFF2-40B4-BE49-F238E27FC236}">
                <a16:creationId xmlns:a16="http://schemas.microsoft.com/office/drawing/2014/main" id="{A5E0ABC2-ED88-48B5-851F-5ED93709591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2559" y="1178337"/>
            <a:ext cx="10591060" cy="5452435"/>
          </a:xfrm>
        </p:spPr>
      </p:pic>
    </p:spTree>
    <p:extLst>
      <p:ext uri="{BB962C8B-B14F-4D97-AF65-F5344CB8AC3E}">
        <p14:creationId xmlns:p14="http://schemas.microsoft.com/office/powerpoint/2010/main" val="347134804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474215" y="467341"/>
            <a:ext cx="10515600" cy="4351338"/>
          </a:xfrm>
        </p:spPr>
        <p:txBody>
          <a:bodyPr>
            <a:normAutofit fontScale="92500" lnSpcReduction="10000"/>
          </a:bodyPr>
          <a:lstStyle/>
          <a:p>
            <a:pPr algn="just"/>
            <a:r>
              <a:rPr lang="ru-RU" b="1" i="1" dirty="0">
                <a:solidFill>
                  <a:srgbClr val="800000"/>
                </a:solidFill>
                <a:effectLst/>
                <a:latin typeface="Verdana" panose="020B0604030504040204" pitchFamily="34" charset="0"/>
              </a:rPr>
              <a:t>UML</a:t>
            </a:r>
            <a:r>
              <a:rPr lang="ru-RU" b="0" i="0" dirty="0">
                <a:solidFill>
                  <a:srgbClr val="000000"/>
                </a:solidFill>
                <a:effectLst/>
                <a:latin typeface="Verdana" panose="020B0604030504040204" pitchFamily="34" charset="0"/>
              </a:rPr>
              <a:t> – унифицированный язык моделирования (</a:t>
            </a:r>
            <a:r>
              <a:rPr lang="ru-RU" b="0" i="0" dirty="0" err="1">
                <a:solidFill>
                  <a:srgbClr val="000000"/>
                </a:solidFill>
                <a:effectLst/>
                <a:latin typeface="Verdana" panose="020B0604030504040204" pitchFamily="34" charset="0"/>
              </a:rPr>
              <a:t>Unified</a:t>
            </a:r>
            <a:r>
              <a:rPr lang="ru-RU" b="0" i="0" dirty="0">
                <a:solidFill>
                  <a:srgbClr val="000000"/>
                </a:solidFill>
                <a:effectLst/>
                <a:latin typeface="Verdana" panose="020B0604030504040204" pitchFamily="34" charset="0"/>
              </a:rPr>
              <a:t> </a:t>
            </a:r>
            <a:r>
              <a:rPr lang="ru-RU" b="0" i="0" dirty="0" err="1">
                <a:solidFill>
                  <a:srgbClr val="000000"/>
                </a:solidFill>
                <a:effectLst/>
                <a:latin typeface="Verdana" panose="020B0604030504040204" pitchFamily="34" charset="0"/>
              </a:rPr>
              <a:t>Modeling</a:t>
            </a:r>
            <a:r>
              <a:rPr lang="ru-RU" b="0" i="0" dirty="0">
                <a:solidFill>
                  <a:srgbClr val="000000"/>
                </a:solidFill>
                <a:effectLst/>
                <a:latin typeface="Verdana" panose="020B0604030504040204" pitchFamily="34" charset="0"/>
              </a:rPr>
              <a:t> </a:t>
            </a:r>
            <a:r>
              <a:rPr lang="ru-RU" b="0" i="0" dirty="0" err="1">
                <a:solidFill>
                  <a:srgbClr val="000000"/>
                </a:solidFill>
                <a:effectLst/>
                <a:latin typeface="Verdana" panose="020B0604030504040204" pitchFamily="34" charset="0"/>
              </a:rPr>
              <a:t>Language</a:t>
            </a:r>
            <a:r>
              <a:rPr lang="ru-RU" b="0" i="0" dirty="0">
                <a:solidFill>
                  <a:srgbClr val="000000"/>
                </a:solidFill>
                <a:effectLst/>
                <a:latin typeface="Verdana" panose="020B0604030504040204" pitchFamily="34" charset="0"/>
              </a:rPr>
              <a:t>) – это система обозначений, которую можно применять для объектно-ориентированного анализа и проектирования.</a:t>
            </a:r>
            <a:br>
              <a:rPr lang="ru-RU" b="0" i="0" dirty="0">
                <a:solidFill>
                  <a:srgbClr val="000000"/>
                </a:solidFill>
                <a:effectLst/>
                <a:latin typeface="Verdana" panose="020B0604030504040204" pitchFamily="34" charset="0"/>
              </a:rPr>
            </a:br>
            <a:r>
              <a:rPr lang="ru-RU" b="0" i="0" dirty="0">
                <a:solidFill>
                  <a:srgbClr val="000000"/>
                </a:solidFill>
                <a:effectLst/>
                <a:latin typeface="Verdana" panose="020B0604030504040204" pitchFamily="34" charset="0"/>
              </a:rPr>
              <a:t>Его можно использовать для визуализации, спецификации, конструирования и документирования программных систем.</a:t>
            </a:r>
            <a:br>
              <a:rPr lang="ru-RU" b="0" i="0" dirty="0">
                <a:solidFill>
                  <a:srgbClr val="000000"/>
                </a:solidFill>
                <a:effectLst/>
                <a:latin typeface="Verdana" panose="020B0604030504040204" pitchFamily="34" charset="0"/>
              </a:rPr>
            </a:br>
            <a:r>
              <a:rPr lang="ru-RU" b="0" i="0" dirty="0">
                <a:solidFill>
                  <a:srgbClr val="000000"/>
                </a:solidFill>
                <a:effectLst/>
                <a:latin typeface="Verdana" panose="020B0604030504040204" pitchFamily="34" charset="0"/>
              </a:rPr>
              <a:t>Словарь UML включает три вида строительных блоков:</a:t>
            </a:r>
          </a:p>
          <a:p>
            <a:pPr algn="just">
              <a:buFont typeface="Arial" panose="020B0604020202020204" pitchFamily="34" charset="0"/>
              <a:buChar char="•"/>
            </a:pPr>
            <a:r>
              <a:rPr lang="ru-RU" b="0" i="0" dirty="0">
                <a:solidFill>
                  <a:srgbClr val="000000"/>
                </a:solidFill>
                <a:effectLst/>
                <a:latin typeface="Verdana" panose="020B0604030504040204" pitchFamily="34" charset="0"/>
              </a:rPr>
              <a:t>Диаграммы.</a:t>
            </a:r>
          </a:p>
          <a:p>
            <a:pPr algn="just">
              <a:buFont typeface="Arial" panose="020B0604020202020204" pitchFamily="34" charset="0"/>
              <a:buChar char="•"/>
            </a:pPr>
            <a:r>
              <a:rPr lang="ru-RU" b="0" i="0" dirty="0">
                <a:solidFill>
                  <a:srgbClr val="000000"/>
                </a:solidFill>
                <a:effectLst/>
                <a:latin typeface="Verdana" panose="020B0604030504040204" pitchFamily="34" charset="0"/>
              </a:rPr>
              <a:t>Сущности.</a:t>
            </a:r>
          </a:p>
          <a:p>
            <a:pPr algn="just">
              <a:buFont typeface="Arial" panose="020B0604020202020204" pitchFamily="34" charset="0"/>
              <a:buChar char="•"/>
            </a:pPr>
            <a:r>
              <a:rPr lang="ru-RU" b="0" i="0" dirty="0">
                <a:solidFill>
                  <a:srgbClr val="000000"/>
                </a:solidFill>
                <a:effectLst/>
                <a:latin typeface="Verdana" panose="020B0604030504040204" pitchFamily="34" charset="0"/>
              </a:rPr>
              <a:t>Связи.</a:t>
            </a:r>
          </a:p>
          <a:p>
            <a:pPr marL="0" indent="0">
              <a:buNone/>
            </a:pPr>
            <a:endParaRPr lang="en-US" dirty="0"/>
          </a:p>
        </p:txBody>
      </p:sp>
    </p:spTree>
    <p:extLst>
      <p:ext uri="{BB962C8B-B14F-4D97-AF65-F5344CB8AC3E}">
        <p14:creationId xmlns:p14="http://schemas.microsoft.com/office/powerpoint/2010/main" val="93769222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500848" y="556117"/>
            <a:ext cx="10898079" cy="6084379"/>
          </a:xfrm>
        </p:spPr>
        <p:txBody>
          <a:bodyPr>
            <a:normAutofit fontScale="92500" lnSpcReduction="20000"/>
          </a:bodyPr>
          <a:lstStyle/>
          <a:p>
            <a:r>
              <a:rPr lang="ru-RU" b="1" i="1" dirty="0">
                <a:solidFill>
                  <a:srgbClr val="800000"/>
                </a:solidFill>
                <a:effectLst/>
                <a:latin typeface="Verdana" panose="020B0604030504040204" pitchFamily="34" charset="0"/>
              </a:rPr>
              <a:t>Сущности</a:t>
            </a:r>
            <a:r>
              <a:rPr lang="ru-RU" b="0" i="0" dirty="0">
                <a:solidFill>
                  <a:srgbClr val="000000"/>
                </a:solidFill>
                <a:effectLst/>
                <a:latin typeface="Verdana" panose="020B0604030504040204" pitchFamily="34" charset="0"/>
              </a:rPr>
              <a:t> – это абстракции, которые являются основными элементами модели, </a:t>
            </a:r>
            <a:r>
              <a:rPr lang="ru-RU" b="1" i="1" dirty="0">
                <a:solidFill>
                  <a:srgbClr val="800000"/>
                </a:solidFill>
                <a:effectLst/>
                <a:latin typeface="Verdana" panose="020B0604030504040204" pitchFamily="34" charset="0"/>
              </a:rPr>
              <a:t>связи</a:t>
            </a:r>
            <a:r>
              <a:rPr lang="ru-RU" b="0" i="0" dirty="0">
                <a:solidFill>
                  <a:srgbClr val="000000"/>
                </a:solidFill>
                <a:effectLst/>
                <a:latin typeface="Verdana" panose="020B0604030504040204" pitchFamily="34" charset="0"/>
              </a:rPr>
              <a:t> соединяют их между собой, а </a:t>
            </a:r>
            <a:r>
              <a:rPr lang="ru-RU" b="1" i="1" dirty="0">
                <a:solidFill>
                  <a:srgbClr val="800000"/>
                </a:solidFill>
                <a:effectLst/>
                <a:latin typeface="Verdana" panose="020B0604030504040204" pitchFamily="34" charset="0"/>
              </a:rPr>
              <a:t>диаграммы</a:t>
            </a:r>
            <a:r>
              <a:rPr lang="ru-RU" b="0" i="0" dirty="0">
                <a:solidFill>
                  <a:srgbClr val="000000"/>
                </a:solidFill>
                <a:effectLst/>
                <a:latin typeface="Verdana" panose="020B0604030504040204" pitchFamily="34" charset="0"/>
              </a:rPr>
              <a:t> группируют представляющие интерес наборы сущностей.</a:t>
            </a:r>
            <a:br>
              <a:rPr lang="ru-RU" dirty="0"/>
            </a:br>
            <a:br>
              <a:rPr lang="ru-RU" dirty="0"/>
            </a:br>
            <a:r>
              <a:rPr lang="ru-RU" b="1" i="1" dirty="0">
                <a:solidFill>
                  <a:srgbClr val="800000"/>
                </a:solidFill>
                <a:effectLst/>
                <a:latin typeface="Verdana" panose="020B0604030504040204" pitchFamily="34" charset="0"/>
              </a:rPr>
              <a:t>Диаграмма</a:t>
            </a:r>
            <a:r>
              <a:rPr lang="ru-RU" b="0" i="0" dirty="0">
                <a:solidFill>
                  <a:srgbClr val="000000"/>
                </a:solidFill>
                <a:effectLst/>
                <a:latin typeface="Verdana" panose="020B0604030504040204" pitchFamily="34" charset="0"/>
              </a:rPr>
              <a:t> – это графическое представление набора элементов, чаще всего изображенного в виде связного графа вершин (сущностей) и путей (связей). Язык UML включает </a:t>
            </a:r>
            <a:r>
              <a:rPr lang="ru-RU" b="1" i="0" dirty="0">
                <a:solidFill>
                  <a:srgbClr val="000000"/>
                </a:solidFill>
                <a:effectLst/>
                <a:latin typeface="Verdana" panose="020B0604030504040204" pitchFamily="34" charset="0"/>
              </a:rPr>
              <a:t>13</a:t>
            </a:r>
            <a:r>
              <a:rPr lang="ru-RU" b="0" i="0" dirty="0">
                <a:solidFill>
                  <a:srgbClr val="000000"/>
                </a:solidFill>
                <a:effectLst/>
                <a:latin typeface="Verdana" panose="020B0604030504040204" pitchFamily="34" charset="0"/>
              </a:rPr>
              <a:t> видов диаграмм, среди которых на первом месте в списке — диаграмма классов, о которой и пойдет речь.</a:t>
            </a:r>
            <a:br>
              <a:rPr lang="ru-RU" dirty="0"/>
            </a:br>
            <a:r>
              <a:rPr lang="ru-RU" b="0" i="0" dirty="0">
                <a:solidFill>
                  <a:srgbClr val="000000"/>
                </a:solidFill>
                <a:effectLst/>
                <a:latin typeface="Verdana" panose="020B0604030504040204" pitchFamily="34" charset="0"/>
              </a:rPr>
              <a:t>Диаграммы классов показывают набор классов, интерфейсов, а также их связи. Диаграммы этого вида чаще всего используются для моделирования объектно-ориентированных систем. Они предназначены для статического представления системы.</a:t>
            </a:r>
            <a:br>
              <a:rPr lang="ru-RU" dirty="0"/>
            </a:br>
            <a:r>
              <a:rPr lang="ru-RU" b="0" i="0" dirty="0">
                <a:solidFill>
                  <a:srgbClr val="000000"/>
                </a:solidFill>
                <a:effectLst/>
                <a:latin typeface="Verdana" panose="020B0604030504040204" pitchFamily="34" charset="0"/>
              </a:rPr>
              <a:t>Большинство элементов UML имеют уникальную и прямую графическую нотацию, которая дает визуальное представление наиболее важных аспектов элемента.</a:t>
            </a:r>
            <a:endParaRPr lang="en-US" dirty="0"/>
          </a:p>
        </p:txBody>
      </p:sp>
    </p:spTree>
    <p:extLst>
      <p:ext uri="{BB962C8B-B14F-4D97-AF65-F5344CB8AC3E}">
        <p14:creationId xmlns:p14="http://schemas.microsoft.com/office/powerpoint/2010/main" val="394566008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456459" y="538363"/>
            <a:ext cx="11288697" cy="6253054"/>
          </a:xfrm>
        </p:spPr>
        <p:txBody>
          <a:bodyPr>
            <a:normAutofit fontScale="92500" lnSpcReduction="10000"/>
          </a:bodyPr>
          <a:lstStyle/>
          <a:p>
            <a:pPr algn="just" fontAlgn="ctr"/>
            <a:r>
              <a:rPr lang="ru-RU" sz="2400" b="1" i="0" dirty="0">
                <a:solidFill>
                  <a:srgbClr val="555555"/>
                </a:solidFill>
                <a:effectLst/>
                <a:latin typeface="Verdana" panose="020B0604030504040204" pitchFamily="34" charset="0"/>
              </a:rPr>
              <a:t>Сущности</a:t>
            </a:r>
          </a:p>
          <a:p>
            <a:pPr algn="just"/>
            <a:r>
              <a:rPr lang="ru-RU" sz="2400" b="0" i="0" dirty="0">
                <a:solidFill>
                  <a:srgbClr val="000000"/>
                </a:solidFill>
                <a:effectLst/>
                <a:latin typeface="Verdana" panose="020B0604030504040204" pitchFamily="34" charset="0"/>
              </a:rPr>
              <a:t>Диаграммы классов оперируют тремя видами сущностей UML:</a:t>
            </a:r>
          </a:p>
          <a:p>
            <a:pPr algn="just">
              <a:buFont typeface="Arial" panose="020B0604020202020204" pitchFamily="34" charset="0"/>
              <a:buChar char="•"/>
            </a:pPr>
            <a:r>
              <a:rPr lang="ru-RU" sz="2400" b="0" i="0" dirty="0">
                <a:solidFill>
                  <a:srgbClr val="000000"/>
                </a:solidFill>
                <a:effectLst/>
                <a:latin typeface="Verdana" panose="020B0604030504040204" pitchFamily="34" charset="0"/>
              </a:rPr>
              <a:t>Структурные.</a:t>
            </a:r>
          </a:p>
          <a:p>
            <a:pPr algn="just">
              <a:buFont typeface="Arial" panose="020B0604020202020204" pitchFamily="34" charset="0"/>
              <a:buChar char="•"/>
            </a:pPr>
            <a:r>
              <a:rPr lang="ru-RU" sz="2400" b="0" i="0" dirty="0">
                <a:solidFill>
                  <a:srgbClr val="000000"/>
                </a:solidFill>
                <a:effectLst/>
                <a:latin typeface="Verdana" panose="020B0604030504040204" pitchFamily="34" charset="0"/>
              </a:rPr>
              <a:t>Поведенческие.</a:t>
            </a:r>
          </a:p>
          <a:p>
            <a:pPr algn="just">
              <a:buFont typeface="Arial" panose="020B0604020202020204" pitchFamily="34" charset="0"/>
              <a:buChar char="•"/>
            </a:pPr>
            <a:r>
              <a:rPr lang="ru-RU" sz="2400" b="0" i="0" dirty="0">
                <a:solidFill>
                  <a:srgbClr val="000000"/>
                </a:solidFill>
                <a:effectLst/>
                <a:latin typeface="Verdana" panose="020B0604030504040204" pitchFamily="34" charset="0"/>
              </a:rPr>
              <a:t>Аннотирующие.</a:t>
            </a:r>
          </a:p>
          <a:p>
            <a:pPr algn="just"/>
            <a:r>
              <a:rPr lang="ru-RU" sz="2400" b="1" i="1" dirty="0">
                <a:solidFill>
                  <a:srgbClr val="800000"/>
                </a:solidFill>
                <a:effectLst/>
                <a:latin typeface="Verdana" panose="020B0604030504040204" pitchFamily="34" charset="0"/>
              </a:rPr>
              <a:t>Структурные сущности</a:t>
            </a:r>
            <a:r>
              <a:rPr lang="ru-RU" sz="2400" b="0" i="0" dirty="0">
                <a:solidFill>
                  <a:srgbClr val="000000"/>
                </a:solidFill>
                <a:effectLst/>
                <a:latin typeface="Verdana" panose="020B0604030504040204" pitchFamily="34" charset="0"/>
              </a:rPr>
              <a:t> – это «имена существительные» в модели UML. В основном, статические части модели, представляющие либо концептуальные, либо физические элементы. Основным видом структурной сущности в диаграммах классов является </a:t>
            </a:r>
            <a:r>
              <a:rPr lang="ru-RU" sz="2400" b="1" i="1" dirty="0">
                <a:solidFill>
                  <a:srgbClr val="800000"/>
                </a:solidFill>
                <a:effectLst/>
                <a:latin typeface="Verdana" panose="020B0604030504040204" pitchFamily="34" charset="0"/>
              </a:rPr>
              <a:t>класс</a:t>
            </a:r>
            <a:r>
              <a:rPr lang="ru-RU" sz="2400" b="0" i="0" dirty="0">
                <a:solidFill>
                  <a:srgbClr val="000000"/>
                </a:solidFill>
                <a:effectLst/>
                <a:latin typeface="Verdana" panose="020B0604030504040204" pitchFamily="34" charset="0"/>
              </a:rPr>
              <a:t>.</a:t>
            </a:r>
            <a:br>
              <a:rPr lang="ru-RU" sz="2400" b="0" i="0" dirty="0">
                <a:solidFill>
                  <a:srgbClr val="000000"/>
                </a:solidFill>
                <a:effectLst/>
                <a:latin typeface="Verdana" panose="020B0604030504040204" pitchFamily="34" charset="0"/>
              </a:rPr>
            </a:br>
            <a:r>
              <a:rPr lang="ru-RU" sz="2400" b="0" i="0" dirty="0">
                <a:solidFill>
                  <a:srgbClr val="000000"/>
                </a:solidFill>
                <a:effectLst/>
                <a:latin typeface="Verdana" panose="020B0604030504040204" pitchFamily="34" charset="0"/>
              </a:rPr>
              <a:t> </a:t>
            </a:r>
            <a:br>
              <a:rPr lang="ru-RU" sz="2400" b="0" i="0" dirty="0">
                <a:solidFill>
                  <a:srgbClr val="000000"/>
                </a:solidFill>
                <a:effectLst/>
                <a:latin typeface="Verdana" panose="020B0604030504040204" pitchFamily="34" charset="0"/>
              </a:rPr>
            </a:br>
            <a:r>
              <a:rPr lang="ru-RU" sz="2400" b="1" i="1" dirty="0">
                <a:solidFill>
                  <a:srgbClr val="800000"/>
                </a:solidFill>
                <a:effectLst/>
                <a:latin typeface="Verdana" panose="020B0604030504040204" pitchFamily="34" charset="0"/>
              </a:rPr>
              <a:t>Поведенческие сущности</a:t>
            </a:r>
            <a:r>
              <a:rPr lang="ru-RU" sz="2400" b="0" i="0" dirty="0">
                <a:solidFill>
                  <a:srgbClr val="000000"/>
                </a:solidFill>
                <a:effectLst/>
                <a:latin typeface="Verdana" panose="020B0604030504040204" pitchFamily="34" charset="0"/>
              </a:rPr>
              <a:t> – динамические части моделей UML. Это «глаголы» моделей, представляющие поведение модели во времени и пространстве. </a:t>
            </a:r>
          </a:p>
          <a:p>
            <a:pPr algn="just"/>
            <a:r>
              <a:rPr lang="ru-RU" sz="2400" b="0" i="0" dirty="0">
                <a:solidFill>
                  <a:srgbClr val="000000"/>
                </a:solidFill>
                <a:effectLst/>
                <a:latin typeface="Verdana" panose="020B0604030504040204" pitchFamily="34" charset="0"/>
              </a:rPr>
              <a:t>Основной из них является </a:t>
            </a:r>
            <a:r>
              <a:rPr lang="ru-RU" sz="2400" b="1" i="1" dirty="0">
                <a:solidFill>
                  <a:srgbClr val="800000"/>
                </a:solidFill>
                <a:effectLst/>
                <a:latin typeface="Verdana" panose="020B0604030504040204" pitchFamily="34" charset="0"/>
              </a:rPr>
              <a:t>взаимодействие</a:t>
            </a:r>
            <a:r>
              <a:rPr lang="ru-RU" sz="2400" b="0" i="0" dirty="0">
                <a:solidFill>
                  <a:srgbClr val="000000"/>
                </a:solidFill>
                <a:effectLst/>
                <a:latin typeface="Verdana" panose="020B0604030504040204" pitchFamily="34" charset="0"/>
              </a:rPr>
              <a:t> – поведение, которое заключается в обмене сообщениями между наборами объектов или ролей в определенном контексте для достижения некоторой цели. Сообщение изображается в виде линии со стрелкой, почти всегда сопровождаемой именем операции.</a:t>
            </a:r>
          </a:p>
          <a:p>
            <a:endParaRPr lang="en-US" dirty="0"/>
          </a:p>
        </p:txBody>
      </p:sp>
      <p:sp>
        <p:nvSpPr>
          <p:cNvPr id="2" name="Rectangle 1">
            <a:extLst>
              <a:ext uri="{FF2B5EF4-FFF2-40B4-BE49-F238E27FC236}">
                <a16:creationId xmlns:a16="http://schemas.microsoft.com/office/drawing/2014/main" id="{C231A1E4-77CE-40EA-A1E9-11A6C418F11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Verdana" panose="020B0604030504040204" pitchFamily="34" charset="0"/>
              </a:rPr>
              <a:t>именем операции.</a:t>
            </a:r>
            <a:br>
              <a:rPr kumimoji="0" lang="en-US" altLang="en-US" sz="1800" b="0" i="0" u="none" strike="noStrike" cap="none" normalizeH="0" baseline="0">
                <a:ln>
                  <a:noFill/>
                </a:ln>
                <a:solidFill>
                  <a:schemeClr val="tx1"/>
                </a:solidFill>
                <a:effectLst/>
              </a:rPr>
            </a:br>
            <a:r>
              <a:rPr kumimoji="0" lang="en-US" altLang="en-US" sz="1800" b="0" i="0" u="none" strike="noStrike" cap="none" normalizeH="0" baseline="0">
                <a:ln>
                  <a:noFill/>
                </a:ln>
                <a:solidFill>
                  <a:srgbClr val="000000"/>
                </a:solidFill>
                <a:effectLst/>
                <a:latin typeface="Verdana" panose="020B0604030504040204" pitchFamily="34" charset="0"/>
              </a:rPr>
              <a:t> </a:t>
            </a:r>
            <a:br>
              <a:rPr kumimoji="0" lang="en-US" altLang="en-US" sz="1800" b="0" i="0" u="none" strike="noStrike" cap="none" normalizeH="0" baseline="0">
                <a:ln>
                  <a:noFill/>
                </a:ln>
                <a:solidFill>
                  <a:schemeClr val="tx1"/>
                </a:solidFill>
                <a:effectLst/>
              </a:rPr>
            </a:b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sz="1500" b="0" i="0" u="none" strike="noStrike" cap="none" normalizeH="0" baseline="0">
                <a:ln>
                  <a:noFill/>
                </a:ln>
                <a:solidFill>
                  <a:schemeClr val="tx1"/>
                </a:solidFill>
                <a:effectLst/>
                <a:latin typeface="Arial" panose="020B0604020202020204" pitchFamily="34" charset="0"/>
              </a:rPr>
              <a:t>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6" name="Picture 2" descr="Поведенческие сущности">
            <a:extLst>
              <a:ext uri="{FF2B5EF4-FFF2-40B4-BE49-F238E27FC236}">
                <a16:creationId xmlns:a16="http://schemas.microsoft.com/office/drawing/2014/main" id="{B1B124BA-6777-45E6-B903-EC9EDD7DA6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2718" y="6279688"/>
            <a:ext cx="2812496" cy="507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91187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Объект 4">
            <a:extLst>
              <a:ext uri="{FF2B5EF4-FFF2-40B4-BE49-F238E27FC236}">
                <a16:creationId xmlns:a16="http://schemas.microsoft.com/office/drawing/2014/main" id="{03370C0C-D529-4D4D-869B-381B1C9F2E9B}"/>
              </a:ext>
            </a:extLst>
          </p:cNvPr>
          <p:cNvSpPr>
            <a:spLocks noGrp="1"/>
          </p:cNvSpPr>
          <p:nvPr>
            <p:ph idx="1"/>
          </p:nvPr>
        </p:nvSpPr>
        <p:spPr>
          <a:xfrm>
            <a:off x="420188" y="591629"/>
            <a:ext cx="10729425" cy="3837636"/>
          </a:xfrm>
        </p:spPr>
        <p:txBody>
          <a:bodyPr>
            <a:normAutofit/>
          </a:bodyPr>
          <a:lstStyle/>
          <a:p>
            <a:r>
              <a:rPr lang="ru-RU" sz="2200" b="1" i="1" dirty="0">
                <a:solidFill>
                  <a:srgbClr val="800000"/>
                </a:solidFill>
                <a:effectLst/>
                <a:latin typeface="Verdana" panose="020B0604030504040204" pitchFamily="34" charset="0"/>
              </a:rPr>
              <a:t>Аннотирующие сущности</a:t>
            </a:r>
            <a:r>
              <a:rPr lang="ru-RU" sz="2200" b="0" i="0" dirty="0">
                <a:solidFill>
                  <a:srgbClr val="000000"/>
                </a:solidFill>
                <a:effectLst/>
                <a:latin typeface="Verdana" panose="020B0604030504040204" pitchFamily="34" charset="0"/>
              </a:rPr>
              <a:t> – это поясняющие части UML-моделей, иными словами, комментарии, которые можно применить для описания, выделения и пояснения любого элемента модели. Главная из аннотирующих сущностей – </a:t>
            </a:r>
            <a:r>
              <a:rPr lang="ru-RU" sz="2200" b="1" i="1" dirty="0">
                <a:solidFill>
                  <a:srgbClr val="800000"/>
                </a:solidFill>
                <a:effectLst/>
                <a:latin typeface="Verdana" panose="020B0604030504040204" pitchFamily="34" charset="0"/>
              </a:rPr>
              <a:t>примечание</a:t>
            </a:r>
            <a:r>
              <a:rPr lang="ru-RU" sz="2200" b="0" i="0" dirty="0">
                <a:solidFill>
                  <a:srgbClr val="000000"/>
                </a:solidFill>
                <a:effectLst/>
                <a:latin typeface="Verdana" panose="020B0604030504040204" pitchFamily="34" charset="0"/>
              </a:rPr>
              <a:t>. Это символ, служащий для описания ограничений и комментариев, относящихся к элементу либо набору элементов. Графически представлен прямоугольником с загнутым углом; внутри помещается текстовый или графический комментарий.</a:t>
            </a:r>
            <a:endParaRPr lang="en-US" sz="2200" dirty="0"/>
          </a:p>
        </p:txBody>
      </p:sp>
      <p:pic>
        <p:nvPicPr>
          <p:cNvPr id="2052" name="Picture 4" descr="Аннотирующие сущности">
            <a:extLst>
              <a:ext uri="{FF2B5EF4-FFF2-40B4-BE49-F238E27FC236}">
                <a16:creationId xmlns:a16="http://schemas.microsoft.com/office/drawing/2014/main" id="{CA912293-FE10-4C9D-83D2-8C11E4CE6A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3538" y="3038059"/>
            <a:ext cx="2779543" cy="942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98135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846324E-043F-4AC1-A579-5EC59D1714FF}"/>
              </a:ext>
            </a:extLst>
          </p:cNvPr>
          <p:cNvSpPr txBox="1"/>
          <p:nvPr/>
        </p:nvSpPr>
        <p:spPr>
          <a:xfrm>
            <a:off x="372862" y="665825"/>
            <a:ext cx="8768918" cy="4801314"/>
          </a:xfrm>
          <a:prstGeom prst="rect">
            <a:avLst/>
          </a:prstGeom>
          <a:noFill/>
        </p:spPr>
        <p:txBody>
          <a:bodyPr wrap="square">
            <a:spAutoFit/>
          </a:bodyPr>
          <a:lstStyle/>
          <a:p>
            <a:pPr algn="just" fontAlgn="ctr"/>
            <a:r>
              <a:rPr lang="ru-RU" b="1" i="0" dirty="0">
                <a:solidFill>
                  <a:srgbClr val="555555"/>
                </a:solidFill>
                <a:effectLst/>
                <a:latin typeface="Verdana" panose="020B0604030504040204" pitchFamily="34" charset="0"/>
              </a:rPr>
              <a:t>Структурные сущности — классы</a:t>
            </a:r>
          </a:p>
          <a:p>
            <a:pPr algn="just"/>
            <a:r>
              <a:rPr lang="ru-RU" b="1" i="1" dirty="0">
                <a:solidFill>
                  <a:srgbClr val="800000"/>
                </a:solidFill>
                <a:effectLst/>
                <a:latin typeface="Verdana" panose="020B0604030504040204" pitchFamily="34" charset="0"/>
              </a:rPr>
              <a:t>Класс</a:t>
            </a:r>
            <a:r>
              <a:rPr lang="ru-RU" b="0" i="0" dirty="0">
                <a:solidFill>
                  <a:srgbClr val="000000"/>
                </a:solidFill>
                <a:effectLst/>
                <a:latin typeface="Verdana" panose="020B0604030504040204" pitchFamily="34" charset="0"/>
              </a:rPr>
              <a:t> – это описание набора объектов с одинаковыми атрибутами, операциями, связями и семантикой.</a:t>
            </a:r>
            <a:br>
              <a:rPr lang="ru-RU" b="0" i="0" dirty="0">
                <a:solidFill>
                  <a:srgbClr val="000000"/>
                </a:solidFill>
                <a:effectLst/>
                <a:latin typeface="Verdana" panose="020B0604030504040204" pitchFamily="34" charset="0"/>
              </a:rPr>
            </a:br>
            <a:br>
              <a:rPr lang="ru-RU" b="0" i="0" dirty="0">
                <a:solidFill>
                  <a:srgbClr val="000000"/>
                </a:solidFill>
                <a:effectLst/>
                <a:latin typeface="Verdana" panose="020B0604030504040204" pitchFamily="34" charset="0"/>
              </a:rPr>
            </a:br>
            <a:r>
              <a:rPr lang="ru-RU" b="0" i="0" dirty="0">
                <a:solidFill>
                  <a:srgbClr val="000000"/>
                </a:solidFill>
                <a:effectLst/>
                <a:latin typeface="Verdana" panose="020B0604030504040204" pitchFamily="34" charset="0"/>
              </a:rPr>
              <a:t>Графически класс изображается в виде прямоугольника, разделенного на 3 блока горизонтальными линиями:</a:t>
            </a:r>
          </a:p>
          <a:p>
            <a:pPr algn="just">
              <a:buFont typeface="Arial" panose="020B0604020202020204" pitchFamily="34" charset="0"/>
              <a:buChar char="•"/>
            </a:pPr>
            <a:r>
              <a:rPr lang="ru-RU" b="0" i="0" dirty="0">
                <a:solidFill>
                  <a:srgbClr val="000000"/>
                </a:solidFill>
                <a:effectLst/>
                <a:latin typeface="Verdana" panose="020B0604030504040204" pitchFamily="34" charset="0"/>
              </a:rPr>
              <a:t>имя класса</a:t>
            </a:r>
          </a:p>
          <a:p>
            <a:pPr algn="just">
              <a:buFont typeface="Arial" panose="020B0604020202020204" pitchFamily="34" charset="0"/>
              <a:buChar char="•"/>
            </a:pPr>
            <a:r>
              <a:rPr lang="ru-RU" b="0" i="0" dirty="0">
                <a:solidFill>
                  <a:srgbClr val="000000"/>
                </a:solidFill>
                <a:effectLst/>
                <a:latin typeface="Verdana" panose="020B0604030504040204" pitchFamily="34" charset="0"/>
              </a:rPr>
              <a:t>атрибуты (свойства) класса</a:t>
            </a:r>
          </a:p>
          <a:p>
            <a:pPr algn="just">
              <a:buFont typeface="Arial" panose="020B0604020202020204" pitchFamily="34" charset="0"/>
              <a:buChar char="•"/>
            </a:pPr>
            <a:r>
              <a:rPr lang="ru-RU" b="0" i="0" dirty="0">
                <a:solidFill>
                  <a:srgbClr val="000000"/>
                </a:solidFill>
                <a:effectLst/>
                <a:latin typeface="Verdana" panose="020B0604030504040204" pitchFamily="34" charset="0"/>
              </a:rPr>
              <a:t>операции (методы) класса.</a:t>
            </a:r>
          </a:p>
          <a:p>
            <a:pPr algn="just"/>
            <a:r>
              <a:rPr lang="ru-RU" b="0" i="0" dirty="0">
                <a:solidFill>
                  <a:srgbClr val="000000"/>
                </a:solidFill>
                <a:effectLst/>
                <a:latin typeface="Verdana" panose="020B0604030504040204" pitchFamily="34" charset="0"/>
              </a:rPr>
              <a:t> </a:t>
            </a:r>
            <a:br>
              <a:rPr lang="ru-RU" b="0" i="0" dirty="0">
                <a:solidFill>
                  <a:srgbClr val="000000"/>
                </a:solidFill>
                <a:effectLst/>
                <a:latin typeface="Verdana" panose="020B0604030504040204" pitchFamily="34" charset="0"/>
              </a:rPr>
            </a:br>
            <a:r>
              <a:rPr lang="ru-RU" b="0" i="0" dirty="0">
                <a:solidFill>
                  <a:srgbClr val="000000"/>
                </a:solidFill>
                <a:effectLst/>
                <a:latin typeface="Verdana" panose="020B0604030504040204" pitchFamily="34" charset="0"/>
              </a:rPr>
              <a:t>Для атрибутов и операций может быть указан один из трех типов видимости:</a:t>
            </a:r>
          </a:p>
          <a:p>
            <a:pPr algn="just">
              <a:buFont typeface="Arial" panose="020B0604020202020204" pitchFamily="34" charset="0"/>
              <a:buChar char="•"/>
            </a:pPr>
            <a:r>
              <a:rPr lang="ru-RU" b="1" i="0" dirty="0">
                <a:solidFill>
                  <a:srgbClr val="000000"/>
                </a:solidFill>
                <a:effectLst/>
                <a:latin typeface="Consolas" panose="020B0609020204030204" pitchFamily="49" charset="0"/>
              </a:rPr>
              <a:t>—</a:t>
            </a:r>
            <a:r>
              <a:rPr lang="ru-RU" b="0" i="0" dirty="0">
                <a:solidFill>
                  <a:srgbClr val="000000"/>
                </a:solidFill>
                <a:effectLst/>
                <a:latin typeface="Verdana" panose="020B0604030504040204" pitchFamily="34" charset="0"/>
              </a:rPr>
              <a:t> — </a:t>
            </a:r>
            <a:r>
              <a:rPr lang="ru-RU" b="0" i="0" dirty="0" err="1">
                <a:solidFill>
                  <a:srgbClr val="0000FF"/>
                </a:solidFill>
                <a:effectLst/>
                <a:latin typeface="Consolas" panose="020B0609020204030204" pitchFamily="49" charset="0"/>
              </a:rPr>
              <a:t>private</a:t>
            </a:r>
            <a:r>
              <a:rPr lang="ru-RU" b="0" i="0" dirty="0">
                <a:solidFill>
                  <a:srgbClr val="000000"/>
                </a:solidFill>
                <a:effectLst/>
                <a:latin typeface="Verdana" panose="020B0604030504040204" pitchFamily="34" charset="0"/>
              </a:rPr>
              <a:t> (частный)</a:t>
            </a:r>
          </a:p>
          <a:p>
            <a:pPr algn="just">
              <a:buFont typeface="Arial" panose="020B0604020202020204" pitchFamily="34" charset="0"/>
              <a:buChar char="•"/>
            </a:pPr>
            <a:r>
              <a:rPr lang="ru-RU" b="1" i="0" dirty="0">
                <a:solidFill>
                  <a:srgbClr val="000000"/>
                </a:solidFill>
                <a:effectLst/>
                <a:latin typeface="Consolas" panose="020B0609020204030204" pitchFamily="49" charset="0"/>
              </a:rPr>
              <a:t>#</a:t>
            </a:r>
            <a:r>
              <a:rPr lang="ru-RU" b="0" i="0" dirty="0">
                <a:solidFill>
                  <a:srgbClr val="000000"/>
                </a:solidFill>
                <a:effectLst/>
                <a:latin typeface="Verdana" panose="020B0604030504040204" pitchFamily="34" charset="0"/>
              </a:rPr>
              <a:t> — </a:t>
            </a:r>
            <a:r>
              <a:rPr lang="ru-RU" b="0" i="0" dirty="0" err="1">
                <a:solidFill>
                  <a:srgbClr val="0000FF"/>
                </a:solidFill>
                <a:effectLst/>
                <a:latin typeface="Consolas" panose="020B0609020204030204" pitchFamily="49" charset="0"/>
              </a:rPr>
              <a:t>protected</a:t>
            </a:r>
            <a:r>
              <a:rPr lang="ru-RU" b="0" i="0" dirty="0">
                <a:solidFill>
                  <a:srgbClr val="000000"/>
                </a:solidFill>
                <a:effectLst/>
                <a:latin typeface="Verdana" panose="020B0604030504040204" pitchFamily="34" charset="0"/>
              </a:rPr>
              <a:t> (защищенный)</a:t>
            </a:r>
          </a:p>
          <a:p>
            <a:pPr algn="just">
              <a:buFont typeface="Arial" panose="020B0604020202020204" pitchFamily="34" charset="0"/>
              <a:buChar char="•"/>
            </a:pPr>
            <a:r>
              <a:rPr lang="ru-RU" b="1" i="0" dirty="0">
                <a:solidFill>
                  <a:srgbClr val="000000"/>
                </a:solidFill>
                <a:effectLst/>
                <a:latin typeface="Consolas" panose="020B0609020204030204" pitchFamily="49" charset="0"/>
              </a:rPr>
              <a:t>+</a:t>
            </a:r>
            <a:r>
              <a:rPr lang="ru-RU" b="0" i="0" dirty="0">
                <a:solidFill>
                  <a:srgbClr val="000000"/>
                </a:solidFill>
                <a:effectLst/>
                <a:latin typeface="Verdana" panose="020B0604030504040204" pitchFamily="34" charset="0"/>
              </a:rPr>
              <a:t> — </a:t>
            </a:r>
            <a:r>
              <a:rPr lang="ru-RU" b="0" i="0" dirty="0" err="1">
                <a:solidFill>
                  <a:srgbClr val="0000FF"/>
                </a:solidFill>
                <a:effectLst/>
                <a:latin typeface="Consolas" panose="020B0609020204030204" pitchFamily="49" charset="0"/>
              </a:rPr>
              <a:t>public</a:t>
            </a:r>
            <a:r>
              <a:rPr lang="ru-RU" b="0" i="0" dirty="0">
                <a:solidFill>
                  <a:srgbClr val="000000"/>
                </a:solidFill>
                <a:effectLst/>
                <a:latin typeface="Verdana" panose="020B0604030504040204" pitchFamily="34" charset="0"/>
              </a:rPr>
              <a:t> (общий)</a:t>
            </a:r>
          </a:p>
          <a:p>
            <a:pPr algn="just"/>
            <a:r>
              <a:rPr lang="ru-RU" b="0" i="0" dirty="0">
                <a:solidFill>
                  <a:srgbClr val="000000"/>
                </a:solidFill>
                <a:effectLst/>
                <a:latin typeface="Verdana" panose="020B0604030504040204" pitchFamily="34" charset="0"/>
              </a:rPr>
              <a:t>Видимость для полей и методов указывается в виде левого символа в строке с именем соответствующего элемента.</a:t>
            </a:r>
          </a:p>
        </p:txBody>
      </p:sp>
    </p:spTree>
    <p:extLst>
      <p:ext uri="{BB962C8B-B14F-4D97-AF65-F5344CB8AC3E}">
        <p14:creationId xmlns:p14="http://schemas.microsoft.com/office/powerpoint/2010/main" val="207215344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90D816-46DB-4CEC-9174-2125A345580D}"/>
              </a:ext>
            </a:extLst>
          </p:cNvPr>
          <p:cNvSpPr txBox="1"/>
          <p:nvPr/>
        </p:nvSpPr>
        <p:spPr>
          <a:xfrm>
            <a:off x="577049" y="338065"/>
            <a:ext cx="10839634" cy="5386090"/>
          </a:xfrm>
          <a:prstGeom prst="rect">
            <a:avLst/>
          </a:prstGeom>
          <a:noFill/>
        </p:spPr>
        <p:txBody>
          <a:bodyPr wrap="square">
            <a:spAutoFit/>
          </a:bodyPr>
          <a:lstStyle/>
          <a:p>
            <a:pPr algn="l"/>
            <a:r>
              <a:rPr lang="ru-RU" b="1" dirty="0">
                <a:solidFill>
                  <a:srgbClr val="000000"/>
                </a:solidFill>
                <a:effectLst/>
                <a:latin typeface="Arial" panose="020B0604020202020204" pitchFamily="34" charset="0"/>
              </a:rPr>
              <a:t>Определение понятия архитектуры ПО</a:t>
            </a:r>
          </a:p>
          <a:p>
            <a:pPr algn="l"/>
            <a:endParaRPr lang="ru-RU" b="1" dirty="0">
              <a:solidFill>
                <a:srgbClr val="000000"/>
              </a:solidFill>
              <a:effectLst/>
              <a:latin typeface="Arial" panose="020B0604020202020204" pitchFamily="34" charset="0"/>
            </a:endParaRPr>
          </a:p>
          <a:p>
            <a:pPr algn="l"/>
            <a:r>
              <a:rPr lang="ru-RU" sz="2200" b="0" i="1" dirty="0">
                <a:solidFill>
                  <a:srgbClr val="000000"/>
                </a:solidFill>
                <a:effectLst/>
                <a:latin typeface="Times New Roman" panose="02020603050405020304" pitchFamily="18" charset="0"/>
              </a:rPr>
              <a:t>Архитектура программного обеспечения (</a:t>
            </a:r>
            <a:r>
              <a:rPr lang="ru-RU" sz="2200" b="0" i="1" dirty="0" err="1">
                <a:solidFill>
                  <a:srgbClr val="000000"/>
                </a:solidFill>
                <a:effectLst/>
                <a:latin typeface="Times New Roman" panose="02020603050405020304" pitchFamily="18" charset="0"/>
              </a:rPr>
              <a:t>software</a:t>
            </a:r>
            <a:r>
              <a:rPr lang="ru-RU" sz="2200" b="0" i="1" dirty="0">
                <a:solidFill>
                  <a:srgbClr val="000000"/>
                </a:solidFill>
                <a:effectLst/>
                <a:latin typeface="Times New Roman" panose="02020603050405020304" pitchFamily="18" charset="0"/>
              </a:rPr>
              <a:t> </a:t>
            </a:r>
            <a:r>
              <a:rPr lang="ru-RU" sz="2200" b="0" i="1" dirty="0" err="1">
                <a:solidFill>
                  <a:srgbClr val="000000"/>
                </a:solidFill>
                <a:effectLst/>
                <a:latin typeface="Times New Roman" panose="02020603050405020304" pitchFamily="18" charset="0"/>
              </a:rPr>
              <a:t>architecture</a:t>
            </a:r>
            <a:r>
              <a:rPr lang="ru-RU" sz="2200" b="0" i="1" dirty="0">
                <a:solidFill>
                  <a:srgbClr val="000000"/>
                </a:solidFill>
                <a:effectLst/>
                <a:latin typeface="Times New Roman" panose="02020603050405020304" pitchFamily="18" charset="0"/>
              </a:rPr>
              <a:t>) – это пред-</a:t>
            </a:r>
          </a:p>
          <a:p>
            <a:pPr algn="just"/>
            <a:r>
              <a:rPr lang="ru-RU" sz="2200" b="0" dirty="0" err="1">
                <a:solidFill>
                  <a:srgbClr val="000000"/>
                </a:solidFill>
                <a:effectLst/>
                <a:latin typeface="Times New Roman" panose="02020603050405020304" pitchFamily="18" charset="0"/>
              </a:rPr>
              <a:t>ставление</a:t>
            </a:r>
            <a:r>
              <a:rPr lang="ru-RU" sz="2200" b="0" dirty="0">
                <a:solidFill>
                  <a:srgbClr val="000000"/>
                </a:solidFill>
                <a:effectLst/>
                <a:latin typeface="Times New Roman" panose="02020603050405020304" pitchFamily="18" charset="0"/>
              </a:rPr>
              <a:t>, которое даёт информацию о компонентах ПО, обязанностях отдельных компонентов и правилах организации связей между компонентами. Необходимость архитектуры обоснована сложностью программного обеспечения. Продуманная архитектура облегчает разработку и дальнейшее развитие ПО. Она служит базисом, каркасом создаваемой системы, интегрируя отдельные компоненты и создавая высокоуровневую модель системы.</a:t>
            </a:r>
          </a:p>
          <a:p>
            <a:pPr algn="just"/>
            <a:r>
              <a:rPr lang="ru-RU" sz="2200" b="0" dirty="0">
                <a:solidFill>
                  <a:srgbClr val="000000"/>
                </a:solidFill>
                <a:effectLst/>
                <a:latin typeface="Times New Roman" panose="02020603050405020304" pitchFamily="18" charset="0"/>
              </a:rPr>
              <a:t>Набор принципов, используемых в архитектуре, формирует </a:t>
            </a:r>
            <a:r>
              <a:rPr lang="ru-RU" sz="2200" b="0" i="1" dirty="0">
                <a:solidFill>
                  <a:srgbClr val="000000"/>
                </a:solidFill>
                <a:effectLst/>
                <a:latin typeface="Times New Roman" panose="02020603050405020304" pitchFamily="18" charset="0"/>
              </a:rPr>
              <a:t>архитектурный стиль </a:t>
            </a:r>
            <a:r>
              <a:rPr lang="ru-RU" sz="2200" b="0" dirty="0">
                <a:solidFill>
                  <a:srgbClr val="000000"/>
                </a:solidFill>
                <a:effectLst/>
                <a:latin typeface="Times New Roman" panose="02020603050405020304" pitchFamily="18" charset="0"/>
              </a:rPr>
              <a:t>(</a:t>
            </a:r>
            <a:r>
              <a:rPr lang="ru-RU" sz="2200" b="0" dirty="0" err="1">
                <a:solidFill>
                  <a:srgbClr val="000000"/>
                </a:solidFill>
                <a:effectLst/>
                <a:latin typeface="Times New Roman" panose="02020603050405020304" pitchFamily="18" charset="0"/>
              </a:rPr>
              <a:t>software</a:t>
            </a:r>
            <a:r>
              <a:rPr lang="ru-RU" sz="2200" b="0" dirty="0">
                <a:solidFill>
                  <a:srgbClr val="000000"/>
                </a:solidFill>
                <a:effectLst/>
                <a:latin typeface="Times New Roman" panose="02020603050405020304" pitchFamily="18" charset="0"/>
              </a:rPr>
              <a:t> </a:t>
            </a:r>
            <a:r>
              <a:rPr lang="ru-RU" sz="2200" b="0" dirty="0" err="1">
                <a:solidFill>
                  <a:srgbClr val="000000"/>
                </a:solidFill>
                <a:effectLst/>
                <a:latin typeface="Times New Roman" panose="02020603050405020304" pitchFamily="18" charset="0"/>
              </a:rPr>
              <a:t>architecture</a:t>
            </a:r>
            <a:r>
              <a:rPr lang="ru-RU" sz="2200" b="0" dirty="0">
                <a:solidFill>
                  <a:srgbClr val="000000"/>
                </a:solidFill>
                <a:effectLst/>
                <a:latin typeface="Times New Roman" panose="02020603050405020304" pitchFamily="18" charset="0"/>
              </a:rPr>
              <a:t> </a:t>
            </a:r>
            <a:r>
              <a:rPr lang="ru-RU" sz="2200" b="0" dirty="0" err="1">
                <a:solidFill>
                  <a:srgbClr val="000000"/>
                </a:solidFill>
                <a:effectLst/>
                <a:latin typeface="Times New Roman" panose="02020603050405020304" pitchFamily="18" charset="0"/>
              </a:rPr>
              <a:t>style</a:t>
            </a:r>
            <a:r>
              <a:rPr lang="ru-RU" sz="2200" b="0" dirty="0">
                <a:solidFill>
                  <a:srgbClr val="000000"/>
                </a:solidFill>
                <a:effectLst/>
                <a:latin typeface="Times New Roman" panose="02020603050405020304" pitchFamily="18" charset="0"/>
              </a:rPr>
              <a:t>). Применение архитектурного стиля сродни употреблению шаблона проектирования, но не на уровне компонента (модуля или класса), а на уровне всей создаваемой системы ПО. Как и шаблоны проектирования, архитектурные стили упрощают коммуникацию разработчиков и предлагают готовые решения целого класса абстрактных проблем. В таблице 1 представлено короткое описание основных архитектурных стилей.</a:t>
            </a:r>
          </a:p>
        </p:txBody>
      </p:sp>
    </p:spTree>
    <p:extLst>
      <p:ext uri="{BB962C8B-B14F-4D97-AF65-F5344CB8AC3E}">
        <p14:creationId xmlns:p14="http://schemas.microsoft.com/office/powerpoint/2010/main" val="2963812317"/>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D8D838B3-FCBA-4037-9C95-2430CB4A9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0742" y="133091"/>
            <a:ext cx="7814976" cy="6447116"/>
          </a:xfrm>
          <a:prstGeom prst="rect">
            <a:avLst/>
          </a:prstGeom>
        </p:spPr>
      </p:pic>
    </p:spTree>
    <p:extLst>
      <p:ext uri="{BB962C8B-B14F-4D97-AF65-F5344CB8AC3E}">
        <p14:creationId xmlns:p14="http://schemas.microsoft.com/office/powerpoint/2010/main" val="402922933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1AE1D9-EEE5-408A-B12D-E007C6562DB8}"/>
              </a:ext>
            </a:extLst>
          </p:cNvPr>
          <p:cNvSpPr txBox="1"/>
          <p:nvPr/>
        </p:nvSpPr>
        <p:spPr>
          <a:xfrm>
            <a:off x="372862" y="435006"/>
            <a:ext cx="11248008" cy="4832092"/>
          </a:xfrm>
          <a:prstGeom prst="rect">
            <a:avLst/>
          </a:prstGeom>
          <a:noFill/>
        </p:spPr>
        <p:txBody>
          <a:bodyPr wrap="square">
            <a:spAutoFit/>
          </a:bodyPr>
          <a:lstStyle/>
          <a:p>
            <a:pPr algn="l"/>
            <a:r>
              <a:rPr lang="ru-RU" sz="2200" b="1" dirty="0">
                <a:solidFill>
                  <a:srgbClr val="000000"/>
                </a:solidFill>
                <a:effectLst/>
                <a:latin typeface="Arial" panose="020B0604020202020204" pitchFamily="34" charset="0"/>
              </a:rPr>
              <a:t>Клиент-серверная модель</a:t>
            </a:r>
          </a:p>
          <a:p>
            <a:pPr algn="just"/>
            <a:r>
              <a:rPr lang="ru-RU" sz="2200" b="0" i="1" dirty="0">
                <a:solidFill>
                  <a:srgbClr val="000000"/>
                </a:solidFill>
                <a:effectLst/>
                <a:latin typeface="Times New Roman" panose="02020603050405020304" pitchFamily="18" charset="0"/>
              </a:rPr>
              <a:t>Клиент-серверная модель </a:t>
            </a:r>
            <a:r>
              <a:rPr lang="ru-RU" sz="2200" b="0" dirty="0">
                <a:solidFill>
                  <a:srgbClr val="000000"/>
                </a:solidFill>
                <a:effectLst/>
                <a:latin typeface="Times New Roman" panose="02020603050405020304" pitchFamily="18" charset="0"/>
              </a:rPr>
              <a:t>(</a:t>
            </a:r>
            <a:r>
              <a:rPr lang="ru-RU" sz="2200" b="0" dirty="0" err="1">
                <a:solidFill>
                  <a:srgbClr val="000000"/>
                </a:solidFill>
                <a:effectLst/>
                <a:latin typeface="Times New Roman" panose="02020603050405020304" pitchFamily="18" charset="0"/>
              </a:rPr>
              <a:t>client-server</a:t>
            </a:r>
            <a:r>
              <a:rPr lang="ru-RU" sz="2200" b="0" dirty="0">
                <a:solidFill>
                  <a:srgbClr val="000000"/>
                </a:solidFill>
                <a:effectLst/>
                <a:latin typeface="Times New Roman" panose="02020603050405020304" pitchFamily="18" charset="0"/>
              </a:rPr>
              <a:t> </a:t>
            </a:r>
            <a:r>
              <a:rPr lang="ru-RU" sz="2200" b="0" dirty="0" err="1">
                <a:solidFill>
                  <a:srgbClr val="000000"/>
                </a:solidFill>
                <a:effectLst/>
                <a:latin typeface="Times New Roman" panose="02020603050405020304" pitchFamily="18" charset="0"/>
              </a:rPr>
              <a:t>model</a:t>
            </a:r>
            <a:r>
              <a:rPr lang="ru-RU" sz="2200" b="0" dirty="0">
                <a:solidFill>
                  <a:srgbClr val="000000"/>
                </a:solidFill>
                <a:effectLst/>
                <a:latin typeface="Times New Roman" panose="02020603050405020304" pitchFamily="18" charset="0"/>
              </a:rPr>
              <a:t>) описывает отношение между двумя компьютерными программами, в котором одна программа – </a:t>
            </a:r>
            <a:r>
              <a:rPr lang="ru-RU" sz="2200" b="0" i="1" dirty="0">
                <a:solidFill>
                  <a:srgbClr val="000000"/>
                </a:solidFill>
                <a:effectLst/>
                <a:latin typeface="Times New Roman" panose="02020603050405020304" pitchFamily="18" charset="0"/>
              </a:rPr>
              <a:t>клиент </a:t>
            </a:r>
            <a:r>
              <a:rPr lang="ru-RU" sz="2200" b="0" dirty="0">
                <a:solidFill>
                  <a:srgbClr val="000000"/>
                </a:solidFill>
                <a:effectLst/>
                <a:latin typeface="Times New Roman" panose="02020603050405020304" pitchFamily="18" charset="0"/>
              </a:rPr>
              <a:t>– выполняет запросы к другой программе – </a:t>
            </a:r>
            <a:r>
              <a:rPr lang="ru-RU" sz="2200" b="0" i="1" dirty="0">
                <a:solidFill>
                  <a:srgbClr val="000000"/>
                </a:solidFill>
                <a:effectLst/>
                <a:latin typeface="Times New Roman" panose="02020603050405020304" pitchFamily="18" charset="0"/>
              </a:rPr>
              <a:t>серверу</a:t>
            </a:r>
            <a:r>
              <a:rPr lang="ru-RU" sz="2200" b="0" dirty="0">
                <a:solidFill>
                  <a:srgbClr val="000000"/>
                </a:solidFill>
                <a:effectLst/>
                <a:latin typeface="Times New Roman" panose="02020603050405020304" pitchFamily="18" charset="0"/>
              </a:rPr>
              <a:t>. Эта модель решает, в основном, задачу развёртывания приложения. С использованием клиент-серверной модели созданы многие приложения для работы с базами данных, электронной почтой и для доступа к веб-ресурсам.</a:t>
            </a:r>
          </a:p>
          <a:p>
            <a:pPr algn="l"/>
            <a:r>
              <a:rPr lang="ru-RU" sz="2200" b="0" dirty="0">
                <a:solidFill>
                  <a:srgbClr val="000000"/>
                </a:solidFill>
                <a:effectLst/>
                <a:latin typeface="Times New Roman" panose="02020603050405020304" pitchFamily="18" charset="0"/>
              </a:rPr>
              <a:t>Перечислим основные принципы данного архитектурного стиля:</a:t>
            </a:r>
          </a:p>
          <a:p>
            <a:pPr algn="just"/>
            <a:r>
              <a:rPr lang="ru-RU" sz="2200" b="0" dirty="0">
                <a:solidFill>
                  <a:srgbClr val="000000"/>
                </a:solidFill>
                <a:effectLst/>
                <a:latin typeface="Times New Roman" panose="02020603050405020304" pitchFamily="18" charset="0"/>
              </a:rPr>
              <a:t>1.Клиент инициирует один или несколько запросов, ожидает ответа на них,</a:t>
            </a:r>
          </a:p>
          <a:p>
            <a:pPr algn="just"/>
            <a:r>
              <a:rPr lang="ru-RU" sz="2200" b="0" dirty="0">
                <a:solidFill>
                  <a:srgbClr val="000000"/>
                </a:solidFill>
                <a:effectLst/>
                <a:latin typeface="Times New Roman" panose="02020603050405020304" pitchFamily="18" charset="0"/>
              </a:rPr>
              <a:t>А затем обрабатывает ответы.</a:t>
            </a:r>
          </a:p>
          <a:p>
            <a:pPr algn="just"/>
            <a:r>
              <a:rPr lang="ru-RU" sz="2200" b="0" dirty="0">
                <a:solidFill>
                  <a:srgbClr val="000000"/>
                </a:solidFill>
                <a:effectLst/>
                <a:latin typeface="Times New Roman" panose="02020603050405020304" pitchFamily="18" charset="0"/>
              </a:rPr>
              <a:t>2.В определённый момент времени клиент подключён к одному серверу для обработки запросов (реже – к небольшой группе серверов).</a:t>
            </a:r>
          </a:p>
          <a:p>
            <a:pPr algn="just"/>
            <a:r>
              <a:rPr lang="ru-RU" sz="2200" b="0" dirty="0">
                <a:solidFill>
                  <a:srgbClr val="000000"/>
                </a:solidFill>
                <a:effectLst/>
                <a:latin typeface="Times New Roman" panose="02020603050405020304" pitchFamily="18" charset="0"/>
              </a:rPr>
              <a:t>3.Клиент работает с пользователем напрямую, применяя графический интерфейс.</a:t>
            </a:r>
          </a:p>
          <a:p>
            <a:pPr algn="just"/>
            <a:r>
              <a:rPr lang="ru-RU" sz="2200" b="0" dirty="0">
                <a:solidFill>
                  <a:srgbClr val="000000"/>
                </a:solidFill>
                <a:effectLst/>
                <a:latin typeface="Times New Roman" panose="02020603050405020304" pitchFamily="18" charset="0"/>
              </a:rPr>
              <a:t>4.Сервер не инициирует запросов.</a:t>
            </a:r>
          </a:p>
          <a:p>
            <a:pPr algn="just"/>
            <a:r>
              <a:rPr lang="ru-RU" sz="2200" b="0" dirty="0">
                <a:solidFill>
                  <a:srgbClr val="000000"/>
                </a:solidFill>
                <a:effectLst/>
                <a:latin typeface="Times New Roman" panose="02020603050405020304" pitchFamily="18" charset="0"/>
              </a:rPr>
              <a:t>5.Обычно для выполнения запросов клиенты проходят аутентификацию на сервере.</a:t>
            </a:r>
          </a:p>
        </p:txBody>
      </p:sp>
    </p:spTree>
    <p:extLst>
      <p:ext uri="{BB962C8B-B14F-4D97-AF65-F5344CB8AC3E}">
        <p14:creationId xmlns:p14="http://schemas.microsoft.com/office/powerpoint/2010/main" val="208568978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EE5E4D-212B-4EA0-8F0E-D99E50C136F2}"/>
              </a:ext>
            </a:extLst>
          </p:cNvPr>
          <p:cNvSpPr txBox="1"/>
          <p:nvPr/>
        </p:nvSpPr>
        <p:spPr>
          <a:xfrm>
            <a:off x="914399" y="384204"/>
            <a:ext cx="9836458" cy="5509200"/>
          </a:xfrm>
          <a:prstGeom prst="rect">
            <a:avLst/>
          </a:prstGeom>
          <a:noFill/>
        </p:spPr>
        <p:txBody>
          <a:bodyPr wrap="square">
            <a:spAutoFit/>
          </a:bodyPr>
          <a:lstStyle/>
          <a:p>
            <a:pPr algn="l"/>
            <a:r>
              <a:rPr lang="ru-RU" sz="2200" b="0" dirty="0">
                <a:solidFill>
                  <a:srgbClr val="000000"/>
                </a:solidFill>
                <a:effectLst/>
                <a:latin typeface="Times New Roman" panose="02020603050405020304" pitchFamily="18" charset="0"/>
              </a:rPr>
              <a:t>Главными преимуществами клиент-серверной модели являются:</a:t>
            </a:r>
          </a:p>
          <a:p>
            <a:pPr algn="just"/>
            <a:r>
              <a:rPr lang="ru-RU" sz="2200" b="0" dirty="0">
                <a:solidFill>
                  <a:srgbClr val="000000"/>
                </a:solidFill>
                <a:effectLst/>
                <a:latin typeface="Times New Roman" panose="02020603050405020304" pitchFamily="18" charset="0"/>
              </a:rPr>
              <a:t>–</a:t>
            </a:r>
            <a:r>
              <a:rPr lang="ru-RU" sz="2200" b="1" dirty="0">
                <a:solidFill>
                  <a:srgbClr val="000000"/>
                </a:solidFill>
                <a:effectLst/>
                <a:latin typeface="Times New Roman" panose="02020603050405020304" pitchFamily="18" charset="0"/>
              </a:rPr>
              <a:t>Высокая безопасность</a:t>
            </a:r>
            <a:r>
              <a:rPr lang="ru-RU" sz="2200" b="0" dirty="0">
                <a:solidFill>
                  <a:srgbClr val="000000"/>
                </a:solidFill>
                <a:effectLst/>
                <a:latin typeface="Times New Roman" panose="02020603050405020304" pitchFamily="18" charset="0"/>
              </a:rPr>
              <a:t>. Все данные хранятся на сервере, обеспечивающем больший уровень безопасности, нежели отдельный клиент.</a:t>
            </a:r>
          </a:p>
          <a:p>
            <a:pPr algn="just"/>
            <a:r>
              <a:rPr lang="ru-RU" sz="2200" b="1" dirty="0">
                <a:solidFill>
                  <a:srgbClr val="000000"/>
                </a:solidFill>
                <a:effectLst/>
                <a:latin typeface="Times New Roman" panose="02020603050405020304" pitchFamily="18" charset="0"/>
              </a:rPr>
              <a:t>–Централизованный доступ к данным. Так как данные хранятся только</a:t>
            </a:r>
          </a:p>
          <a:p>
            <a:pPr algn="l"/>
            <a:r>
              <a:rPr lang="ru-RU" sz="2200" b="0" dirty="0">
                <a:solidFill>
                  <a:srgbClr val="000000"/>
                </a:solidFill>
                <a:effectLst/>
                <a:latin typeface="Times New Roman" panose="02020603050405020304" pitchFamily="18" charset="0"/>
              </a:rPr>
              <a:t>на сервере, ими легко управлять (например, обеспечить обновление).</a:t>
            </a:r>
          </a:p>
          <a:p>
            <a:pPr algn="l"/>
            <a:r>
              <a:rPr lang="ru-RU" sz="2200" b="1" dirty="0">
                <a:solidFill>
                  <a:srgbClr val="000000"/>
                </a:solidFill>
                <a:effectLst/>
                <a:latin typeface="Times New Roman" panose="02020603050405020304" pitchFamily="18" charset="0"/>
              </a:rPr>
              <a:t>– Устойчивость и лёгкость сопровождения. </a:t>
            </a:r>
            <a:endParaRPr lang="en-US" sz="2200" b="1" dirty="0">
              <a:solidFill>
                <a:srgbClr val="000000"/>
              </a:solidFill>
              <a:effectLst/>
              <a:latin typeface="Times New Roman" panose="02020603050405020304" pitchFamily="18" charset="0"/>
            </a:endParaRPr>
          </a:p>
          <a:p>
            <a:pPr algn="l"/>
            <a:r>
              <a:rPr lang="ru-RU" sz="2200" dirty="0">
                <a:solidFill>
                  <a:srgbClr val="000000"/>
                </a:solidFill>
                <a:effectLst/>
                <a:latin typeface="Times New Roman" panose="02020603050405020304" pitchFamily="18" charset="0"/>
              </a:rPr>
              <a:t>Роль сервера могут выполнять несколько физических компьютеров, </a:t>
            </a:r>
            <a:r>
              <a:rPr lang="ru-RU" sz="2200" b="0" dirty="0">
                <a:solidFill>
                  <a:srgbClr val="000000"/>
                </a:solidFill>
                <a:effectLst/>
                <a:latin typeface="Times New Roman" panose="02020603050405020304" pitchFamily="18" charset="0"/>
              </a:rPr>
              <a:t>объединённых в сеть. Благодаря этому клиент не замечает сбоев или замены отдельного серверного компьютера.</a:t>
            </a:r>
          </a:p>
          <a:p>
            <a:pPr algn="l"/>
            <a:r>
              <a:rPr lang="ru-RU" sz="2200" b="0" dirty="0">
                <a:solidFill>
                  <a:srgbClr val="000000"/>
                </a:solidFill>
                <a:effectLst/>
                <a:latin typeface="Times New Roman" panose="02020603050405020304" pitchFamily="18" charset="0"/>
              </a:rPr>
              <a:t>Рассмотрим некоторые варианты клиент-серверной модели. В системах</a:t>
            </a:r>
            <a:r>
              <a:rPr lang="en-US" sz="2200" b="0" dirty="0">
                <a:solidFill>
                  <a:srgbClr val="000000"/>
                </a:solidFill>
                <a:effectLst/>
                <a:latin typeface="Times New Roman" panose="02020603050405020304" pitchFamily="18" charset="0"/>
              </a:rPr>
              <a:t> </a:t>
            </a:r>
            <a:r>
              <a:rPr lang="ru-RU" sz="2200" b="0" i="1" dirty="0" err="1">
                <a:solidFill>
                  <a:srgbClr val="000000"/>
                </a:solidFill>
                <a:effectLst/>
                <a:latin typeface="Times New Roman" panose="02020603050405020304" pitchFamily="18" charset="0"/>
              </a:rPr>
              <a:t>кли</a:t>
            </a:r>
            <a:r>
              <a:rPr lang="ru-RU" sz="2200" b="0" i="1" dirty="0">
                <a:solidFill>
                  <a:srgbClr val="000000"/>
                </a:solidFill>
                <a:effectLst/>
                <a:latin typeface="Times New Roman" panose="02020603050405020304" pitchFamily="18" charset="0"/>
              </a:rPr>
              <a:t>-</a:t>
            </a:r>
            <a:endParaRPr lang="ru-RU" sz="2200" b="0" dirty="0">
              <a:solidFill>
                <a:srgbClr val="000000"/>
              </a:solidFill>
              <a:effectLst/>
              <a:latin typeface="Times New Roman" panose="02020603050405020304" pitchFamily="18" charset="0"/>
            </a:endParaRPr>
          </a:p>
          <a:p>
            <a:pPr algn="just"/>
            <a:r>
              <a:rPr lang="ru-RU" sz="2200" b="0" i="1" dirty="0" err="1">
                <a:solidFill>
                  <a:srgbClr val="000000"/>
                </a:solidFill>
                <a:effectLst/>
                <a:latin typeface="Times New Roman" panose="02020603050405020304" pitchFamily="18" charset="0"/>
              </a:rPr>
              <a:t>ент</a:t>
            </a:r>
            <a:r>
              <a:rPr lang="ru-RU" sz="2200" b="0" i="1" dirty="0">
                <a:solidFill>
                  <a:srgbClr val="000000"/>
                </a:solidFill>
                <a:effectLst/>
                <a:latin typeface="Times New Roman" panose="02020603050405020304" pitchFamily="18" charset="0"/>
              </a:rPr>
              <a:t>-очередь-клиент </a:t>
            </a:r>
            <a:r>
              <a:rPr lang="ru-RU" sz="2200" b="0" dirty="0">
                <a:solidFill>
                  <a:srgbClr val="000000"/>
                </a:solidFill>
                <a:effectLst/>
                <a:latin typeface="Times New Roman" panose="02020603050405020304" pitchFamily="18" charset="0"/>
              </a:rPr>
              <a:t>(</a:t>
            </a:r>
            <a:r>
              <a:rPr lang="ru-RU" sz="2200" b="0" dirty="0" err="1">
                <a:solidFill>
                  <a:srgbClr val="000000"/>
                </a:solidFill>
                <a:effectLst/>
                <a:latin typeface="Times New Roman" panose="02020603050405020304" pitchFamily="18" charset="0"/>
              </a:rPr>
              <a:t>client-queue-client</a:t>
            </a:r>
            <a:r>
              <a:rPr lang="ru-RU" sz="2200" b="0" dirty="0">
                <a:solidFill>
                  <a:srgbClr val="000000"/>
                </a:solidFill>
                <a:effectLst/>
                <a:latin typeface="Times New Roman" panose="02020603050405020304" pitchFamily="18" charset="0"/>
              </a:rPr>
              <a:t> или </a:t>
            </a:r>
            <a:r>
              <a:rPr lang="ru-RU" sz="2200" b="0" dirty="0" err="1">
                <a:solidFill>
                  <a:srgbClr val="000000"/>
                </a:solidFill>
                <a:effectLst/>
                <a:latin typeface="Times New Roman" panose="02020603050405020304" pitchFamily="18" charset="0"/>
              </a:rPr>
              <a:t>passive</a:t>
            </a:r>
            <a:r>
              <a:rPr lang="ru-RU" sz="2200" b="0" dirty="0">
                <a:solidFill>
                  <a:srgbClr val="000000"/>
                </a:solidFill>
                <a:effectLst/>
                <a:latin typeface="Times New Roman" panose="02020603050405020304" pitchFamily="18" charset="0"/>
              </a:rPr>
              <a:t> </a:t>
            </a:r>
            <a:r>
              <a:rPr lang="ru-RU" sz="2200" b="0" dirty="0" err="1">
                <a:solidFill>
                  <a:srgbClr val="000000"/>
                </a:solidFill>
                <a:effectLst/>
                <a:latin typeface="Times New Roman" panose="02020603050405020304" pitchFamily="18" charset="0"/>
              </a:rPr>
              <a:t>queue</a:t>
            </a:r>
            <a:r>
              <a:rPr lang="ru-RU" sz="2200" b="0" dirty="0">
                <a:solidFill>
                  <a:srgbClr val="000000"/>
                </a:solidFill>
                <a:effectLst/>
                <a:latin typeface="Times New Roman" panose="02020603050405020304" pitchFamily="18" charset="0"/>
              </a:rPr>
              <a:t>) сервер исполняет роль очереди для данных клиентов. То есть, клиенты использую сервер только для обмена данными между собой. </a:t>
            </a:r>
            <a:r>
              <a:rPr lang="ru-RU" sz="2200" b="0" i="1" dirty="0">
                <a:solidFill>
                  <a:srgbClr val="000000"/>
                </a:solidFill>
                <a:effectLst/>
                <a:latin typeface="Times New Roman" panose="02020603050405020304" pitchFamily="18" charset="0"/>
              </a:rPr>
              <a:t>Пиринговые приложения </a:t>
            </a:r>
            <a:r>
              <a:rPr lang="ru-RU" sz="2200" b="0" dirty="0">
                <a:solidFill>
                  <a:srgbClr val="000000"/>
                </a:solidFill>
                <a:effectLst/>
                <a:latin typeface="Times New Roman" panose="02020603050405020304" pitchFamily="18" charset="0"/>
              </a:rPr>
              <a:t>(</a:t>
            </a:r>
            <a:r>
              <a:rPr lang="ru-RU" sz="2200" b="0" dirty="0" err="1">
                <a:solidFill>
                  <a:srgbClr val="000000"/>
                </a:solidFill>
                <a:effectLst/>
                <a:latin typeface="Times New Roman" panose="02020603050405020304" pitchFamily="18" charset="0"/>
              </a:rPr>
              <a:t>peer-to-peer</a:t>
            </a:r>
            <a:r>
              <a:rPr lang="ru-RU" sz="2200" b="0" dirty="0">
                <a:solidFill>
                  <a:srgbClr val="000000"/>
                </a:solidFill>
                <a:effectLst/>
                <a:latin typeface="Times New Roman" panose="02020603050405020304" pitchFamily="18" charset="0"/>
              </a:rPr>
              <a:t> </a:t>
            </a:r>
            <a:r>
              <a:rPr lang="ru-RU" sz="2200" b="0" dirty="0" err="1">
                <a:solidFill>
                  <a:srgbClr val="000000"/>
                </a:solidFill>
                <a:effectLst/>
                <a:latin typeface="Times New Roman" panose="02020603050405020304" pitchFamily="18" charset="0"/>
              </a:rPr>
              <a:t>application</a:t>
            </a:r>
            <a:r>
              <a:rPr lang="ru-RU" sz="2200" b="0" dirty="0">
                <a:solidFill>
                  <a:srgbClr val="000000"/>
                </a:solidFill>
                <a:effectLst/>
                <a:latin typeface="Times New Roman" panose="02020603050405020304" pitchFamily="18" charset="0"/>
              </a:rPr>
              <a:t>) – это вариация системы клиент-очередь-клиент, в которой любой клиент может играть роль сервера. </a:t>
            </a:r>
            <a:r>
              <a:rPr lang="ru-RU" sz="2200" b="0" i="1" dirty="0">
                <a:solidFill>
                  <a:srgbClr val="000000"/>
                </a:solidFill>
                <a:effectLst/>
                <a:latin typeface="Times New Roman" panose="02020603050405020304" pitchFamily="18" charset="0"/>
              </a:rPr>
              <a:t>Сервера приложений </a:t>
            </a:r>
            <a:r>
              <a:rPr lang="ru-RU" sz="2200" b="0" dirty="0">
                <a:solidFill>
                  <a:srgbClr val="000000"/>
                </a:solidFill>
                <a:effectLst/>
                <a:latin typeface="Times New Roman" panose="02020603050405020304" pitchFamily="18" charset="0"/>
              </a:rPr>
              <a:t>(</a:t>
            </a:r>
            <a:r>
              <a:rPr lang="ru-RU" sz="2200" b="0" dirty="0" err="1">
                <a:solidFill>
                  <a:srgbClr val="000000"/>
                </a:solidFill>
                <a:effectLst/>
                <a:latin typeface="Times New Roman" panose="02020603050405020304" pitchFamily="18" charset="0"/>
              </a:rPr>
              <a:t>application</a:t>
            </a:r>
            <a:r>
              <a:rPr lang="ru-RU" sz="2200" b="0" dirty="0">
                <a:solidFill>
                  <a:srgbClr val="000000"/>
                </a:solidFill>
                <a:effectLst/>
                <a:latin typeface="Times New Roman" panose="02020603050405020304" pitchFamily="18" charset="0"/>
              </a:rPr>
              <a:t> </a:t>
            </a:r>
            <a:r>
              <a:rPr lang="ru-RU" sz="2200" b="0" dirty="0" err="1">
                <a:solidFill>
                  <a:srgbClr val="000000"/>
                </a:solidFill>
                <a:effectLst/>
                <a:latin typeface="Times New Roman" panose="02020603050405020304" pitchFamily="18" charset="0"/>
              </a:rPr>
              <a:t>server</a:t>
            </a:r>
            <a:r>
              <a:rPr lang="ru-RU" sz="2200" b="0" dirty="0">
                <a:solidFill>
                  <a:srgbClr val="000000"/>
                </a:solidFill>
                <a:effectLst/>
                <a:latin typeface="Times New Roman" panose="02020603050405020304" pitchFamily="18" charset="0"/>
              </a:rPr>
              <a:t>) служат для размещения и выполнения программ, которыми управляет клиент.</a:t>
            </a:r>
          </a:p>
        </p:txBody>
      </p:sp>
    </p:spTree>
    <p:extLst>
      <p:ext uri="{BB962C8B-B14F-4D97-AF65-F5344CB8AC3E}">
        <p14:creationId xmlns:p14="http://schemas.microsoft.com/office/powerpoint/2010/main" val="305785396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DCF074-89CA-49D2-B0D8-C6BB886A0240}"/>
              </a:ext>
            </a:extLst>
          </p:cNvPr>
          <p:cNvSpPr txBox="1"/>
          <p:nvPr/>
        </p:nvSpPr>
        <p:spPr>
          <a:xfrm>
            <a:off x="230819" y="192362"/>
            <a:ext cx="11567604" cy="5355312"/>
          </a:xfrm>
          <a:prstGeom prst="rect">
            <a:avLst/>
          </a:prstGeom>
          <a:noFill/>
        </p:spPr>
        <p:txBody>
          <a:bodyPr wrap="square">
            <a:spAutoFit/>
          </a:bodyPr>
          <a:lstStyle/>
          <a:p>
            <a:pPr algn="l"/>
            <a:r>
              <a:rPr lang="ru-RU" b="1" dirty="0">
                <a:solidFill>
                  <a:srgbClr val="000000"/>
                </a:solidFill>
                <a:effectLst/>
                <a:latin typeface="Arial" panose="020B0604020202020204" pitchFamily="34" charset="0"/>
              </a:rPr>
              <a:t>Компонентная архитектура</a:t>
            </a:r>
          </a:p>
          <a:p>
            <a:pPr algn="l"/>
            <a:r>
              <a:rPr lang="ru-RU" b="0" i="1" dirty="0">
                <a:solidFill>
                  <a:srgbClr val="000000"/>
                </a:solidFill>
                <a:effectLst/>
                <a:latin typeface="Times New Roman" panose="02020603050405020304" pitchFamily="18" charset="0"/>
              </a:rPr>
              <a:t>Ключевым понятием компонентной архитектуры является компонент</a:t>
            </a:r>
          </a:p>
          <a:p>
            <a:pPr algn="l"/>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component</a:t>
            </a:r>
            <a:r>
              <a:rPr lang="ru-RU" b="0" dirty="0">
                <a:solidFill>
                  <a:srgbClr val="000000"/>
                </a:solidFill>
                <a:effectLst/>
                <a:latin typeface="Times New Roman" panose="02020603050405020304" pitchFamily="18" charset="0"/>
              </a:rPr>
              <a:t>). Это программный объект, спроектированный так, чтобы удовлетворять следующим требованиям:</a:t>
            </a:r>
          </a:p>
          <a:p>
            <a:pPr algn="just"/>
            <a:r>
              <a:rPr lang="ru-RU" b="0" dirty="0">
                <a:solidFill>
                  <a:srgbClr val="000000"/>
                </a:solidFill>
                <a:effectLst/>
                <a:latin typeface="Times New Roman" panose="02020603050405020304" pitchFamily="18" charset="0"/>
              </a:rPr>
              <a:t>1.Компонент допускает повторное использование в различных системах.</a:t>
            </a:r>
          </a:p>
          <a:p>
            <a:pPr algn="just"/>
            <a:r>
              <a:rPr lang="ru-RU" b="0" dirty="0">
                <a:solidFill>
                  <a:srgbClr val="000000"/>
                </a:solidFill>
                <a:effectLst/>
                <a:latin typeface="Times New Roman" panose="02020603050405020304" pitchFamily="18" charset="0"/>
              </a:rPr>
              <a:t>2.Компонент не хранит информации, специфичной для конкретного ПО, в котором он используется.</a:t>
            </a:r>
          </a:p>
          <a:p>
            <a:pPr algn="just"/>
            <a:r>
              <a:rPr lang="ru-RU" b="0" dirty="0">
                <a:solidFill>
                  <a:srgbClr val="000000"/>
                </a:solidFill>
                <a:effectLst/>
                <a:latin typeface="Times New Roman" panose="02020603050405020304" pitchFamily="18" charset="0"/>
              </a:rPr>
              <a:t>3.Допускается создание новых компонентов на основе существующих.</a:t>
            </a:r>
          </a:p>
          <a:p>
            <a:pPr algn="just"/>
            <a:r>
              <a:rPr lang="ru-RU" b="0" dirty="0">
                <a:solidFill>
                  <a:srgbClr val="000000"/>
                </a:solidFill>
                <a:effectLst/>
                <a:latin typeface="Times New Roman" panose="02020603050405020304" pitchFamily="18" charset="0"/>
              </a:rPr>
              <a:t>4.Компонент имеет известный интерфейс для взаимодействия, но скрывает</a:t>
            </a:r>
          </a:p>
          <a:p>
            <a:pPr algn="l"/>
            <a:r>
              <a:rPr lang="ru-RU" b="0" dirty="0">
                <a:solidFill>
                  <a:srgbClr val="000000"/>
                </a:solidFill>
                <a:effectLst/>
                <a:latin typeface="Times New Roman" panose="02020603050405020304" pitchFamily="18" charset="0"/>
              </a:rPr>
              <a:t>детали своей внутренней реализации.</a:t>
            </a:r>
          </a:p>
          <a:p>
            <a:pPr algn="just"/>
            <a:r>
              <a:rPr lang="ru-RU" b="0" dirty="0">
                <a:solidFill>
                  <a:srgbClr val="000000"/>
                </a:solidFill>
                <a:effectLst/>
                <a:latin typeface="Times New Roman" panose="02020603050405020304" pitchFamily="18" charset="0"/>
              </a:rPr>
              <a:t>5. Компоненты проектируются так, чтобы иметь минимальные зависимости от других компонентов.</a:t>
            </a:r>
          </a:p>
          <a:p>
            <a:pPr algn="l"/>
            <a:r>
              <a:rPr lang="ru-RU" b="0" dirty="0">
                <a:solidFill>
                  <a:srgbClr val="000000"/>
                </a:solidFill>
                <a:effectLst/>
                <a:latin typeface="Times New Roman" panose="02020603050405020304" pitchFamily="18" charset="0"/>
              </a:rPr>
              <a:t>Типичным примером компонентов являются элементы пользовательского интерфейса (элементы управления).</a:t>
            </a:r>
          </a:p>
          <a:p>
            <a:pPr algn="just"/>
            <a:r>
              <a:rPr lang="ru-RU" b="0" dirty="0">
                <a:solidFill>
                  <a:srgbClr val="000000"/>
                </a:solidFill>
                <a:effectLst/>
                <a:latin typeface="Times New Roman" panose="02020603050405020304" pitchFamily="18" charset="0"/>
              </a:rPr>
              <a:t>Компонентная архитектура сосредоточена на выделении отдельных компонентов и организации взаимодействия между ними. Этот стиль решает задачи структурирования приложений и обеспечивает следующие преимущества:</a:t>
            </a:r>
          </a:p>
          <a:p>
            <a:pPr algn="just"/>
            <a:r>
              <a:rPr lang="ru-RU" b="0" dirty="0">
                <a:solidFill>
                  <a:srgbClr val="000000"/>
                </a:solidFill>
                <a:effectLst/>
                <a:latin typeface="Times New Roman" panose="02020603050405020304" pitchFamily="18" charset="0"/>
              </a:rPr>
              <a:t>–</a:t>
            </a:r>
            <a:r>
              <a:rPr lang="ru-RU" b="1" dirty="0">
                <a:solidFill>
                  <a:srgbClr val="000000"/>
                </a:solidFill>
                <a:effectLst/>
                <a:latin typeface="Times New Roman" panose="02020603050405020304" pitchFamily="18" charset="0"/>
              </a:rPr>
              <a:t>Лёгкость развёртывания</a:t>
            </a:r>
            <a:r>
              <a:rPr lang="ru-RU" b="0" dirty="0">
                <a:solidFill>
                  <a:srgbClr val="000000"/>
                </a:solidFill>
                <a:effectLst/>
                <a:latin typeface="Times New Roman" panose="02020603050405020304" pitchFamily="18" charset="0"/>
              </a:rPr>
              <a:t>. Когда для компонента доступна новая версия, старая версия заменяется без влияния на остальные компоненты.</a:t>
            </a:r>
          </a:p>
          <a:p>
            <a:pPr algn="just"/>
            <a:r>
              <a:rPr lang="ru-RU" b="0" dirty="0">
                <a:solidFill>
                  <a:srgbClr val="000000"/>
                </a:solidFill>
                <a:effectLst/>
                <a:latin typeface="Times New Roman" panose="02020603050405020304" pitchFamily="18" charset="0"/>
              </a:rPr>
              <a:t>–</a:t>
            </a:r>
            <a:r>
              <a:rPr lang="ru-RU" b="1" dirty="0">
                <a:solidFill>
                  <a:srgbClr val="000000"/>
                </a:solidFill>
                <a:effectLst/>
                <a:latin typeface="Times New Roman" panose="02020603050405020304" pitchFamily="18" charset="0"/>
              </a:rPr>
              <a:t>Уменьшение стоимости</a:t>
            </a:r>
            <a:r>
              <a:rPr lang="ru-RU" b="0" dirty="0">
                <a:solidFill>
                  <a:srgbClr val="000000"/>
                </a:solidFill>
                <a:effectLst/>
                <a:latin typeface="Times New Roman" panose="02020603050405020304" pitchFamily="18" charset="0"/>
              </a:rPr>
              <a:t>. При разработке можно применять </a:t>
            </a:r>
            <a:r>
              <a:rPr lang="ru-RU" b="0" dirty="0" err="1">
                <a:solidFill>
                  <a:srgbClr val="000000"/>
                </a:solidFill>
                <a:effectLst/>
                <a:latin typeface="Times New Roman" panose="02020603050405020304" pitchFamily="18" charset="0"/>
              </a:rPr>
              <a:t>готовыекомпоненты</a:t>
            </a:r>
            <a:r>
              <a:rPr lang="ru-RU" b="0" dirty="0">
                <a:solidFill>
                  <a:srgbClr val="000000"/>
                </a:solidFill>
                <a:effectLst/>
                <a:latin typeface="Times New Roman" panose="02020603050405020304" pitchFamily="18" charset="0"/>
              </a:rPr>
              <a:t> сторонних производителей.</a:t>
            </a:r>
          </a:p>
          <a:p>
            <a:pPr algn="just"/>
            <a:r>
              <a:rPr lang="ru-RU" b="0" dirty="0">
                <a:solidFill>
                  <a:srgbClr val="000000"/>
                </a:solidFill>
                <a:effectLst/>
                <a:latin typeface="Times New Roman" panose="02020603050405020304" pitchFamily="18" charset="0"/>
              </a:rPr>
              <a:t>–</a:t>
            </a:r>
            <a:r>
              <a:rPr lang="ru-RU" b="1" dirty="0">
                <a:solidFill>
                  <a:srgbClr val="000000"/>
                </a:solidFill>
                <a:effectLst/>
                <a:latin typeface="Times New Roman" panose="02020603050405020304" pitchFamily="18" charset="0"/>
              </a:rPr>
              <a:t>Повторное использование</a:t>
            </a:r>
            <a:r>
              <a:rPr lang="ru-RU" b="0" dirty="0">
                <a:solidFill>
                  <a:srgbClr val="000000"/>
                </a:solidFill>
                <a:effectLst/>
                <a:latin typeface="Times New Roman" panose="02020603050405020304" pitchFamily="18" charset="0"/>
              </a:rPr>
              <a:t>. Одни и те же компоненты могут использоваться в нескольких приложениях.</a:t>
            </a:r>
          </a:p>
          <a:p>
            <a:pPr algn="just"/>
            <a:r>
              <a:rPr lang="ru-RU" b="1" dirty="0">
                <a:solidFill>
                  <a:srgbClr val="000000"/>
                </a:solidFill>
                <a:effectLst/>
                <a:latin typeface="Times New Roman" panose="02020603050405020304" pitchFamily="18" charset="0"/>
              </a:rPr>
              <a:t>–Уменьшение технической сложности. </a:t>
            </a:r>
            <a:r>
              <a:rPr lang="ru-RU" dirty="0">
                <a:solidFill>
                  <a:srgbClr val="000000"/>
                </a:solidFill>
                <a:effectLst/>
                <a:latin typeface="Times New Roman" panose="02020603050405020304" pitchFamily="18" charset="0"/>
              </a:rPr>
              <a:t>Обычно компоненты, составляю</a:t>
            </a:r>
            <a:r>
              <a:rPr lang="ru-RU" b="0" dirty="0">
                <a:solidFill>
                  <a:srgbClr val="000000"/>
                </a:solidFill>
                <a:effectLst/>
                <a:latin typeface="Times New Roman" panose="02020603050405020304" pitchFamily="18" charset="0"/>
              </a:rPr>
              <a:t>щие одно приложение, развёрнуты в рамках одного программного контейнера. Этот контейнер управляет временем жизни компонентов, активацией компонентов, передачей сообщений между компонентами и так далее.</a:t>
            </a:r>
          </a:p>
        </p:txBody>
      </p:sp>
    </p:spTree>
    <p:extLst>
      <p:ext uri="{BB962C8B-B14F-4D97-AF65-F5344CB8AC3E}">
        <p14:creationId xmlns:p14="http://schemas.microsoft.com/office/powerpoint/2010/main" val="385732545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1E8BA3-ADBF-4808-861C-ACF7CFB98D5D}"/>
              </a:ext>
            </a:extLst>
          </p:cNvPr>
          <p:cNvSpPr txBox="1"/>
          <p:nvPr/>
        </p:nvSpPr>
        <p:spPr>
          <a:xfrm>
            <a:off x="461639" y="1307561"/>
            <a:ext cx="10422384" cy="3816429"/>
          </a:xfrm>
          <a:prstGeom prst="rect">
            <a:avLst/>
          </a:prstGeom>
          <a:noFill/>
        </p:spPr>
        <p:txBody>
          <a:bodyPr wrap="square">
            <a:spAutoFit/>
          </a:bodyPr>
          <a:lstStyle/>
          <a:p>
            <a:pPr algn="l"/>
            <a:r>
              <a:rPr lang="ru-RU" sz="2200" b="1" dirty="0">
                <a:solidFill>
                  <a:srgbClr val="000000"/>
                </a:solidFill>
                <a:effectLst/>
                <a:latin typeface="Arial" panose="020B0604020202020204" pitchFamily="34" charset="0"/>
              </a:rPr>
              <a:t>Многоуровневая архитектура</a:t>
            </a:r>
          </a:p>
          <a:p>
            <a:pPr algn="just"/>
            <a:r>
              <a:rPr lang="ru-RU" sz="2200" b="0" i="1" dirty="0">
                <a:solidFill>
                  <a:srgbClr val="000000"/>
                </a:solidFill>
                <a:effectLst/>
                <a:latin typeface="Times New Roman" panose="02020603050405020304" pitchFamily="18" charset="0"/>
              </a:rPr>
              <a:t>Многоуровневая архитектура </a:t>
            </a:r>
            <a:r>
              <a:rPr lang="ru-RU" sz="2200" b="0" dirty="0">
                <a:solidFill>
                  <a:srgbClr val="000000"/>
                </a:solidFill>
                <a:effectLst/>
                <a:latin typeface="Times New Roman" panose="02020603050405020304" pitchFamily="18" charset="0"/>
              </a:rPr>
              <a:t>(</a:t>
            </a:r>
            <a:r>
              <a:rPr lang="ru-RU" sz="2200" b="0" dirty="0" err="1">
                <a:solidFill>
                  <a:srgbClr val="000000"/>
                </a:solidFill>
                <a:effectLst/>
                <a:latin typeface="Times New Roman" panose="02020603050405020304" pitchFamily="18" charset="0"/>
              </a:rPr>
              <a:t>multilayered</a:t>
            </a:r>
            <a:r>
              <a:rPr lang="ru-RU" sz="2200" b="0" dirty="0">
                <a:solidFill>
                  <a:srgbClr val="000000"/>
                </a:solidFill>
                <a:effectLst/>
                <a:latin typeface="Times New Roman" panose="02020603050405020304" pitchFamily="18" charset="0"/>
              </a:rPr>
              <a:t> </a:t>
            </a:r>
            <a:r>
              <a:rPr lang="ru-RU" sz="2200" b="0" dirty="0" err="1">
                <a:solidFill>
                  <a:srgbClr val="000000"/>
                </a:solidFill>
                <a:effectLst/>
                <a:latin typeface="Times New Roman" panose="02020603050405020304" pitchFamily="18" charset="0"/>
              </a:rPr>
              <a:t>architecture</a:t>
            </a:r>
            <a:r>
              <a:rPr lang="ru-RU" sz="2200" b="0" dirty="0">
                <a:solidFill>
                  <a:srgbClr val="000000"/>
                </a:solidFill>
                <a:effectLst/>
                <a:latin typeface="Times New Roman" panose="02020603050405020304" pitchFamily="18" charset="0"/>
              </a:rPr>
              <a:t>) сосредоточена на иерархическом распределении отдельных частей системы при помощи эффективного разделения отношений. Каждая часть соотносится с определённым </a:t>
            </a:r>
            <a:r>
              <a:rPr lang="ru-RU" sz="2200" b="0" i="1" dirty="0">
                <a:solidFill>
                  <a:srgbClr val="000000"/>
                </a:solidFill>
                <a:effectLst/>
                <a:latin typeface="Times New Roman" panose="02020603050405020304" pitchFamily="18" charset="0"/>
              </a:rPr>
              <a:t>уровнем </a:t>
            </a:r>
            <a:r>
              <a:rPr lang="ru-RU" sz="2200" b="0" dirty="0">
                <a:solidFill>
                  <a:srgbClr val="000000"/>
                </a:solidFill>
                <a:effectLst/>
                <a:latin typeface="Times New Roman" panose="02020603050405020304" pitchFamily="18" charset="0"/>
              </a:rPr>
              <a:t>(</a:t>
            </a:r>
            <a:r>
              <a:rPr lang="ru-RU" sz="2200" b="0" dirty="0" err="1">
                <a:solidFill>
                  <a:srgbClr val="000000"/>
                </a:solidFill>
                <a:effectLst/>
                <a:latin typeface="Times New Roman" panose="02020603050405020304" pitchFamily="18" charset="0"/>
              </a:rPr>
              <a:t>layer</a:t>
            </a:r>
            <a:r>
              <a:rPr lang="ru-RU" sz="2200" b="0" dirty="0">
                <a:solidFill>
                  <a:srgbClr val="000000"/>
                </a:solidFill>
                <a:effectLst/>
                <a:latin typeface="Times New Roman" panose="02020603050405020304" pitchFamily="18" charset="0"/>
              </a:rPr>
              <a:t>), для каждого уровня заданы выполняемые им функции, уровни выстроены в стековую структуру (то есть находятся один поверх другого). Например, типичная многоуровневая архитектура веб-приложения включает уровень представления (компоненты пользовательского интерфейса), уровень бизнес-</a:t>
            </a:r>
            <a:r>
              <a:rPr lang="ru-RU" sz="2200" b="0" dirty="0" err="1">
                <a:solidFill>
                  <a:srgbClr val="000000"/>
                </a:solidFill>
                <a:effectLst/>
                <a:latin typeface="Times New Roman" panose="02020603050405020304" pitchFamily="18" charset="0"/>
              </a:rPr>
              <a:t>ло</a:t>
            </a:r>
            <a:r>
              <a:rPr lang="ru-RU" sz="2200" b="0" dirty="0">
                <a:solidFill>
                  <a:srgbClr val="000000"/>
                </a:solidFill>
                <a:effectLst/>
                <a:latin typeface="Times New Roman" panose="02020603050405020304" pitchFamily="18" charset="0"/>
              </a:rPr>
              <a:t>- гики (обработка данных) и уровень доступа к данным. При этом уровень представления считается высшим, за ним идёт уровень бизнес-логики, а за уровнем бизнес-логики – уровень доступа к данным.</a:t>
            </a:r>
          </a:p>
        </p:txBody>
      </p:sp>
    </p:spTree>
    <p:extLst>
      <p:ext uri="{BB962C8B-B14F-4D97-AF65-F5344CB8AC3E}">
        <p14:creationId xmlns:p14="http://schemas.microsoft.com/office/powerpoint/2010/main" val="107459756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3D6C05-25D5-44C1-B341-53419EF81548}"/>
              </a:ext>
            </a:extLst>
          </p:cNvPr>
          <p:cNvSpPr txBox="1"/>
          <p:nvPr/>
        </p:nvSpPr>
        <p:spPr>
          <a:xfrm>
            <a:off x="1003177" y="692458"/>
            <a:ext cx="11008310" cy="5632311"/>
          </a:xfrm>
          <a:prstGeom prst="rect">
            <a:avLst/>
          </a:prstGeom>
          <a:noFill/>
        </p:spPr>
        <p:txBody>
          <a:bodyPr wrap="square">
            <a:spAutoFit/>
          </a:bodyPr>
          <a:lstStyle/>
          <a:p>
            <a:pPr algn="l"/>
            <a:r>
              <a:rPr lang="ru-RU" b="0" dirty="0">
                <a:solidFill>
                  <a:srgbClr val="000000"/>
                </a:solidFill>
                <a:effectLst/>
                <a:latin typeface="Times New Roman" panose="02020603050405020304" pitchFamily="18" charset="0"/>
              </a:rPr>
              <a:t>Сформулируем основные принципы многоуровневой архитектуры:</a:t>
            </a:r>
          </a:p>
          <a:p>
            <a:pPr algn="just"/>
            <a:r>
              <a:rPr lang="ru-RU" b="0" dirty="0">
                <a:solidFill>
                  <a:srgbClr val="000000"/>
                </a:solidFill>
                <a:effectLst/>
                <a:latin typeface="Times New Roman" panose="02020603050405020304" pitchFamily="18" charset="0"/>
              </a:rPr>
              <a:t>1.Проектирование чётко устанавливает разграничение функций между уровнями.</a:t>
            </a:r>
          </a:p>
          <a:p>
            <a:pPr algn="just"/>
            <a:r>
              <a:rPr lang="ru-RU" b="0" dirty="0">
                <a:solidFill>
                  <a:srgbClr val="000000"/>
                </a:solidFill>
                <a:effectLst/>
                <a:latin typeface="Times New Roman" panose="02020603050405020304" pitchFamily="18" charset="0"/>
              </a:rPr>
              <a:t>2.Нижние уровни независимы от верхних уровней.</a:t>
            </a:r>
            <a:endParaRPr lang="en-US" b="0" dirty="0">
              <a:solidFill>
                <a:srgbClr val="000000"/>
              </a:solidFill>
              <a:effectLst/>
              <a:latin typeface="Times New Roman" panose="02020603050405020304" pitchFamily="18" charset="0"/>
            </a:endParaRPr>
          </a:p>
          <a:p>
            <a:pPr algn="l"/>
            <a:r>
              <a:rPr lang="ru-RU" b="0" dirty="0">
                <a:solidFill>
                  <a:srgbClr val="000000"/>
                </a:solidFill>
                <a:effectLst/>
                <a:latin typeface="Times New Roman" panose="02020603050405020304" pitchFamily="18" charset="0"/>
              </a:rPr>
              <a:t>3. Верхние уровни вызывают функции нижних уровней, но при этом взаимодействуют только соседние уровни иерархии.</a:t>
            </a:r>
          </a:p>
          <a:p>
            <a:pPr algn="l"/>
            <a:r>
              <a:rPr lang="ru-RU" b="0" dirty="0">
                <a:solidFill>
                  <a:srgbClr val="000000"/>
                </a:solidFill>
                <a:effectLst/>
                <a:latin typeface="Times New Roman" panose="02020603050405020304" pitchFamily="18" charset="0"/>
              </a:rPr>
              <a:t>Использование многоуровневой архитектуры обеспечивает </a:t>
            </a:r>
            <a:r>
              <a:rPr lang="ru-RU" b="0" dirty="0" err="1">
                <a:solidFill>
                  <a:srgbClr val="000000"/>
                </a:solidFill>
                <a:effectLst/>
                <a:latin typeface="Times New Roman" panose="02020603050405020304" pitchFamily="18" charset="0"/>
              </a:rPr>
              <a:t>следующиепреимущества</a:t>
            </a:r>
            <a:r>
              <a:rPr lang="ru-RU" b="0" dirty="0">
                <a:solidFill>
                  <a:srgbClr val="000000"/>
                </a:solidFill>
                <a:effectLst/>
                <a:latin typeface="Times New Roman" panose="02020603050405020304" pitchFamily="18" charset="0"/>
              </a:rPr>
              <a:t>:</a:t>
            </a:r>
          </a:p>
          <a:p>
            <a:pPr algn="just"/>
            <a:r>
              <a:rPr lang="ru-RU" b="0" dirty="0">
                <a:solidFill>
                  <a:srgbClr val="000000"/>
                </a:solidFill>
                <a:effectLst/>
                <a:latin typeface="Times New Roman" panose="02020603050405020304" pitchFamily="18" charset="0"/>
              </a:rPr>
              <a:t>–</a:t>
            </a:r>
            <a:r>
              <a:rPr lang="ru-RU" b="1" dirty="0">
                <a:solidFill>
                  <a:srgbClr val="000000"/>
                </a:solidFill>
                <a:effectLst/>
                <a:latin typeface="Times New Roman" panose="02020603050405020304" pitchFamily="18" charset="0"/>
              </a:rPr>
              <a:t>Изоляция</a:t>
            </a:r>
            <a:r>
              <a:rPr lang="ru-RU" b="0" dirty="0">
                <a:solidFill>
                  <a:srgbClr val="000000"/>
                </a:solidFill>
                <a:effectLst/>
                <a:latin typeface="Times New Roman" panose="02020603050405020304" pitchFamily="18" charset="0"/>
              </a:rPr>
              <a:t>. Разработка и обновление ПО могут быть изолированы рамками одного уровня.</a:t>
            </a:r>
          </a:p>
          <a:p>
            <a:pPr algn="just"/>
            <a:r>
              <a:rPr lang="ru-RU" b="0" dirty="0">
                <a:solidFill>
                  <a:srgbClr val="000000"/>
                </a:solidFill>
                <a:effectLst/>
                <a:latin typeface="Times New Roman" panose="02020603050405020304" pitchFamily="18" charset="0"/>
              </a:rPr>
              <a:t>–</a:t>
            </a:r>
            <a:r>
              <a:rPr lang="ru-RU" b="1" dirty="0">
                <a:solidFill>
                  <a:srgbClr val="000000"/>
                </a:solidFill>
                <a:effectLst/>
                <a:latin typeface="Times New Roman" panose="02020603050405020304" pitchFamily="18" charset="0"/>
              </a:rPr>
              <a:t>Производительность</a:t>
            </a:r>
            <a:r>
              <a:rPr lang="ru-RU" b="0" dirty="0">
                <a:solidFill>
                  <a:srgbClr val="000000"/>
                </a:solidFill>
                <a:effectLst/>
                <a:latin typeface="Times New Roman" panose="02020603050405020304" pitchFamily="18" charset="0"/>
              </a:rPr>
              <a:t>. Распределение уровней на отдельные физические</a:t>
            </a:r>
          </a:p>
          <a:p>
            <a:pPr algn="l"/>
            <a:r>
              <a:rPr lang="ru-RU" b="0" dirty="0">
                <a:solidFill>
                  <a:srgbClr val="000000"/>
                </a:solidFill>
                <a:effectLst/>
                <a:latin typeface="Times New Roman" panose="02020603050405020304" pitchFamily="18" charset="0"/>
              </a:rPr>
              <a:t>компьютеры повышает производительность и отказоустойчивость.</a:t>
            </a:r>
          </a:p>
          <a:p>
            <a:pPr algn="l"/>
            <a:r>
              <a:rPr lang="ru-RU" b="0" dirty="0">
                <a:solidFill>
                  <a:srgbClr val="000000"/>
                </a:solidFill>
                <a:effectLst/>
                <a:latin typeface="Times New Roman" panose="02020603050405020304" pitchFamily="18" charset="0"/>
              </a:rPr>
              <a:t>– </a:t>
            </a:r>
            <a:r>
              <a:rPr lang="ru-RU" b="1" dirty="0">
                <a:solidFill>
                  <a:srgbClr val="000000"/>
                </a:solidFill>
                <a:effectLst/>
                <a:latin typeface="Times New Roman" panose="02020603050405020304" pitchFamily="18" charset="0"/>
              </a:rPr>
              <a:t>Тестируемость</a:t>
            </a:r>
            <a:r>
              <a:rPr lang="ru-RU" b="0" dirty="0">
                <a:solidFill>
                  <a:srgbClr val="000000"/>
                </a:solidFill>
                <a:effectLst/>
                <a:latin typeface="Times New Roman" panose="02020603050405020304" pitchFamily="18" charset="0"/>
              </a:rPr>
              <a:t>. Уровни допускают независимое тестирование. Многоуровневая архитектура активно применяется при создании бизнес -</a:t>
            </a:r>
          </a:p>
          <a:p>
            <a:pPr algn="l"/>
            <a:r>
              <a:rPr lang="ru-RU" b="0" dirty="0">
                <a:solidFill>
                  <a:srgbClr val="000000"/>
                </a:solidFill>
                <a:effectLst/>
                <a:latin typeface="Times New Roman" panose="02020603050405020304" pitchFamily="18" charset="0"/>
              </a:rPr>
              <a:t>приложений и сайтов, особенно приложений масштаба предприятия. При этом обычно используется следующий набор уровней (рис. 1):</a:t>
            </a:r>
          </a:p>
          <a:p>
            <a:pPr algn="just"/>
            <a:r>
              <a:rPr lang="ru-RU" b="0" i="1" dirty="0">
                <a:solidFill>
                  <a:srgbClr val="000000"/>
                </a:solidFill>
                <a:effectLst/>
                <a:latin typeface="Times New Roman" panose="02020603050405020304" pitchFamily="18" charset="0"/>
              </a:rPr>
              <a:t>Уровень представления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presentation</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layer</a:t>
            </a:r>
            <a:r>
              <a:rPr lang="ru-RU" b="0" dirty="0">
                <a:solidFill>
                  <a:srgbClr val="000000"/>
                </a:solidFill>
                <a:effectLst/>
                <a:latin typeface="Times New Roman" panose="02020603050405020304" pitchFamily="18" charset="0"/>
              </a:rPr>
              <a:t>) ответственен за взаимодействие с пользователем, ввод и вывод информации.</a:t>
            </a:r>
          </a:p>
          <a:p>
            <a:pPr algn="just"/>
            <a:r>
              <a:rPr lang="ru-RU" b="0" i="1" dirty="0">
                <a:solidFill>
                  <a:srgbClr val="000000"/>
                </a:solidFill>
                <a:effectLst/>
                <a:latin typeface="Times New Roman" panose="02020603050405020304" pitchFamily="18" charset="0"/>
              </a:rPr>
              <a:t>Бизнес-уровень или уровень бизнес-логики (</a:t>
            </a:r>
            <a:r>
              <a:rPr lang="ru-RU" b="0" i="1" dirty="0" err="1">
                <a:solidFill>
                  <a:srgbClr val="000000"/>
                </a:solidFill>
                <a:effectLst/>
                <a:latin typeface="Times New Roman" panose="02020603050405020304" pitchFamily="18" charset="0"/>
              </a:rPr>
              <a:t>business</a:t>
            </a:r>
            <a:r>
              <a:rPr lang="ru-RU" b="0" i="1" dirty="0">
                <a:solidFill>
                  <a:srgbClr val="000000"/>
                </a:solidFill>
                <a:effectLst/>
                <a:latin typeface="Times New Roman" panose="02020603050405020304" pitchFamily="18" charset="0"/>
              </a:rPr>
              <a:t> </a:t>
            </a:r>
            <a:r>
              <a:rPr lang="ru-RU" b="0" i="1" dirty="0" err="1">
                <a:solidFill>
                  <a:srgbClr val="000000"/>
                </a:solidFill>
                <a:effectLst/>
                <a:latin typeface="Times New Roman" panose="02020603050405020304" pitchFamily="18" charset="0"/>
              </a:rPr>
              <a:t>logic</a:t>
            </a:r>
            <a:r>
              <a:rPr lang="ru-RU" b="0" i="1" dirty="0">
                <a:solidFill>
                  <a:srgbClr val="000000"/>
                </a:solidFill>
                <a:effectLst/>
                <a:latin typeface="Times New Roman" panose="02020603050405020304" pitchFamily="18" charset="0"/>
              </a:rPr>
              <a:t> </a:t>
            </a:r>
            <a:r>
              <a:rPr lang="ru-RU" b="0" i="1" dirty="0" err="1">
                <a:solidFill>
                  <a:srgbClr val="000000"/>
                </a:solidFill>
                <a:effectLst/>
                <a:latin typeface="Times New Roman" panose="02020603050405020304" pitchFamily="18" charset="0"/>
              </a:rPr>
              <a:t>layer</a:t>
            </a:r>
            <a:r>
              <a:rPr lang="ru-RU" b="0" i="1" dirty="0">
                <a:solidFill>
                  <a:srgbClr val="000000"/>
                </a:solidFill>
                <a:effectLst/>
                <a:latin typeface="Times New Roman" panose="02020603050405020304" pitchFamily="18" charset="0"/>
              </a:rPr>
              <a:t>) обрабатывает информацию, реализуя конкретные бизнес-правила.</a:t>
            </a:r>
          </a:p>
          <a:p>
            <a:pPr algn="just"/>
            <a:r>
              <a:rPr lang="ru-RU" b="0" i="1" dirty="0">
                <a:solidFill>
                  <a:srgbClr val="000000"/>
                </a:solidFill>
                <a:effectLst/>
                <a:latin typeface="Times New Roman" panose="02020603050405020304" pitchFamily="18" charset="0"/>
              </a:rPr>
              <a:t>Уровень доступа к данным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data</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access</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layer</a:t>
            </a:r>
            <a:r>
              <a:rPr lang="ru-RU" b="0" dirty="0">
                <a:solidFill>
                  <a:srgbClr val="000000"/>
                </a:solidFill>
                <a:effectLst/>
                <a:latin typeface="Times New Roman" panose="02020603050405020304" pitchFamily="18" charset="0"/>
              </a:rPr>
              <a:t>) обеспечивает загрузку и сохранение информации, используя источник данных (файл, база данных) или внешний сервис.</a:t>
            </a:r>
          </a:p>
          <a:p>
            <a:pPr algn="just"/>
            <a:endParaRPr lang="ru-RU" b="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11852365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DD61ED8B-C943-498D-8EBF-62B4A801EC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7375" y="664838"/>
            <a:ext cx="6838025" cy="4703452"/>
          </a:xfrm>
          <a:prstGeom prst="rect">
            <a:avLst/>
          </a:prstGeom>
        </p:spPr>
      </p:pic>
      <p:sp>
        <p:nvSpPr>
          <p:cNvPr id="6" name="TextBox 5">
            <a:extLst>
              <a:ext uri="{FF2B5EF4-FFF2-40B4-BE49-F238E27FC236}">
                <a16:creationId xmlns:a16="http://schemas.microsoft.com/office/drawing/2014/main" id="{8272CF83-2C88-4DD1-AEF4-4239D65B4D1A}"/>
              </a:ext>
            </a:extLst>
          </p:cNvPr>
          <p:cNvSpPr txBox="1"/>
          <p:nvPr/>
        </p:nvSpPr>
        <p:spPr>
          <a:xfrm>
            <a:off x="1864310" y="5823830"/>
            <a:ext cx="10147177" cy="369332"/>
          </a:xfrm>
          <a:prstGeom prst="rect">
            <a:avLst/>
          </a:prstGeom>
          <a:noFill/>
        </p:spPr>
        <p:txBody>
          <a:bodyPr wrap="square">
            <a:spAutoFit/>
          </a:bodyPr>
          <a:lstStyle/>
          <a:p>
            <a:r>
              <a:rPr lang="ru-RU" b="0" i="0" dirty="0">
                <a:solidFill>
                  <a:srgbClr val="000000"/>
                </a:solidFill>
                <a:effectLst/>
                <a:latin typeface="Times New Roman" panose="02020603050405020304" pitchFamily="18" charset="0"/>
              </a:rPr>
              <a:t>Для каждого уровня дополнительно можно выделить типичный набор компонентов</a:t>
            </a:r>
            <a:endParaRPr lang="en-US" dirty="0"/>
          </a:p>
        </p:txBody>
      </p:sp>
    </p:spTree>
    <p:extLst>
      <p:ext uri="{BB962C8B-B14F-4D97-AF65-F5344CB8AC3E}">
        <p14:creationId xmlns:p14="http://schemas.microsoft.com/office/powerpoint/2010/main" val="137515896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46DAF661-21FB-4B85-AD56-6487D93171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5118" y="219353"/>
            <a:ext cx="7168349" cy="5650346"/>
          </a:xfrm>
          <a:prstGeom prst="rect">
            <a:avLst/>
          </a:prstGeom>
        </p:spPr>
      </p:pic>
    </p:spTree>
    <p:extLst>
      <p:ext uri="{BB962C8B-B14F-4D97-AF65-F5344CB8AC3E}">
        <p14:creationId xmlns:p14="http://schemas.microsoft.com/office/powerpoint/2010/main" val="121749506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478B86-3273-4F03-8D10-C9A927E37140}"/>
              </a:ext>
            </a:extLst>
          </p:cNvPr>
          <p:cNvSpPr txBox="1"/>
          <p:nvPr/>
        </p:nvSpPr>
        <p:spPr>
          <a:xfrm>
            <a:off x="408373" y="499576"/>
            <a:ext cx="10768614" cy="5078313"/>
          </a:xfrm>
          <a:prstGeom prst="rect">
            <a:avLst/>
          </a:prstGeom>
          <a:noFill/>
        </p:spPr>
        <p:txBody>
          <a:bodyPr wrap="square">
            <a:spAutoFit/>
          </a:bodyPr>
          <a:lstStyle/>
          <a:p>
            <a:pPr algn="l"/>
            <a:r>
              <a:rPr lang="ru-RU" b="0" i="1" dirty="0">
                <a:solidFill>
                  <a:srgbClr val="000000"/>
                </a:solidFill>
                <a:effectLst/>
                <a:latin typeface="Times New Roman" panose="02020603050405020304" pitchFamily="18" charset="0"/>
              </a:rPr>
              <a:t>1. Компоненты пользовательского интерфейса (UI </a:t>
            </a:r>
            <a:r>
              <a:rPr lang="ru-RU" b="0" i="1" dirty="0" err="1">
                <a:solidFill>
                  <a:srgbClr val="000000"/>
                </a:solidFill>
                <a:effectLst/>
                <a:latin typeface="Times New Roman" panose="02020603050405020304" pitchFamily="18" charset="0"/>
              </a:rPr>
              <a:t>Components</a:t>
            </a:r>
            <a:r>
              <a:rPr lang="ru-RU" b="0" i="1" dirty="0">
                <a:solidFill>
                  <a:srgbClr val="000000"/>
                </a:solidFill>
                <a:effectLst/>
                <a:latin typeface="Times New Roman" panose="02020603050405020304" pitchFamily="18" charset="0"/>
              </a:rPr>
              <a:t>). </a:t>
            </a:r>
          </a:p>
          <a:p>
            <a:pPr algn="l"/>
            <a:r>
              <a:rPr lang="ru-RU" b="0" i="1" dirty="0">
                <a:solidFill>
                  <a:srgbClr val="000000"/>
                </a:solidFill>
                <a:effectLst/>
                <a:latin typeface="Times New Roman" panose="02020603050405020304" pitchFamily="18" charset="0"/>
              </a:rPr>
              <a:t>Они пред</a:t>
            </a:r>
            <a:r>
              <a:rPr lang="ru-RU" b="0" i="0" dirty="0">
                <a:solidFill>
                  <a:srgbClr val="000000"/>
                </a:solidFill>
                <a:effectLst/>
                <a:latin typeface="Times New Roman" panose="02020603050405020304" pitchFamily="18" charset="0"/>
              </a:rPr>
              <a:t>назначены для вывода информации и для ввода данных пользователями. Эти компоненты являются элементами оконного или веб-интерфейса.</a:t>
            </a:r>
          </a:p>
          <a:p>
            <a:pPr algn="l"/>
            <a:r>
              <a:rPr lang="ru-RU" b="0" i="0" dirty="0">
                <a:solidFill>
                  <a:srgbClr val="000000"/>
                </a:solidFill>
                <a:effectLst/>
                <a:latin typeface="Times New Roman" panose="02020603050405020304" pitchFamily="18" charset="0"/>
              </a:rPr>
              <a:t>2. </a:t>
            </a:r>
            <a:r>
              <a:rPr lang="ru-RU" b="0" i="1" dirty="0">
                <a:solidFill>
                  <a:srgbClr val="000000"/>
                </a:solidFill>
                <a:effectLst/>
                <a:latin typeface="Times New Roman" panose="02020603050405020304" pitchFamily="18" charset="0"/>
              </a:rPr>
              <a:t>Компоненты сценариев </a:t>
            </a:r>
            <a:r>
              <a:rPr lang="ru-RU" b="0" i="0" dirty="0">
                <a:solidFill>
                  <a:srgbClr val="000000"/>
                </a:solidFill>
                <a:effectLst/>
                <a:latin typeface="Times New Roman" panose="02020603050405020304" pitchFamily="18" charset="0"/>
              </a:rPr>
              <a:t>(UI </a:t>
            </a:r>
            <a:r>
              <a:rPr lang="ru-RU" b="0" i="0" dirty="0" err="1">
                <a:solidFill>
                  <a:srgbClr val="000000"/>
                </a:solidFill>
                <a:effectLst/>
                <a:latin typeface="Times New Roman" panose="02020603050405020304" pitchFamily="18" charset="0"/>
              </a:rPr>
              <a:t>Process</a:t>
            </a:r>
            <a:r>
              <a:rPr lang="ru-RU" b="0" i="0" dirty="0">
                <a:solidFill>
                  <a:srgbClr val="000000"/>
                </a:solidFill>
                <a:effectLst/>
                <a:latin typeface="Times New Roman" panose="02020603050405020304" pitchFamily="18" charset="0"/>
              </a:rPr>
              <a:t> </a:t>
            </a:r>
            <a:r>
              <a:rPr lang="ru-RU" b="0" i="0" dirty="0" err="1">
                <a:solidFill>
                  <a:srgbClr val="000000"/>
                </a:solidFill>
                <a:effectLst/>
                <a:latin typeface="Times New Roman" panose="02020603050405020304" pitchFamily="18" charset="0"/>
              </a:rPr>
              <a:t>Components</a:t>
            </a:r>
            <a:r>
              <a:rPr lang="ru-RU" b="0" i="0" dirty="0">
                <a:solidFill>
                  <a:srgbClr val="000000"/>
                </a:solidFill>
                <a:effectLst/>
                <a:latin typeface="Times New Roman" panose="02020603050405020304" pitchFamily="18" charset="0"/>
              </a:rPr>
              <a:t>). Обычно система подчиняется определённым правилам взаимодействия с ней. Например, в приложении для продажи товаров реализуется следующий сценарий: пользователь выбирает категорию товара из списка категорий, система показывает список товаров, затем пользователь выбирает товар, и система показывает данные по товару. Для того чтобы упорядочить такие сценарии и повторно их использовать, они объединяются в специальные объекты. Кроме этого, создаётся специальный механизм, который позволяет пользователю работать с системой только по определённым сценариям.</a:t>
            </a:r>
          </a:p>
          <a:p>
            <a:pPr algn="just"/>
            <a:r>
              <a:rPr lang="ru-RU" b="0" i="0" dirty="0">
                <a:solidFill>
                  <a:srgbClr val="000000"/>
                </a:solidFill>
                <a:effectLst/>
                <a:latin typeface="Times New Roman" panose="02020603050405020304" pitchFamily="18" charset="0"/>
              </a:rPr>
              <a:t>3. </a:t>
            </a:r>
            <a:r>
              <a:rPr lang="ru-RU" b="0" i="1" dirty="0">
                <a:solidFill>
                  <a:srgbClr val="000000"/>
                </a:solidFill>
                <a:effectLst/>
                <a:latin typeface="Times New Roman" panose="02020603050405020304" pitchFamily="18" charset="0"/>
              </a:rPr>
              <a:t>Рабочие потоки </a:t>
            </a:r>
            <a:r>
              <a:rPr lang="ru-RU" b="0" i="0" dirty="0">
                <a:solidFill>
                  <a:srgbClr val="000000"/>
                </a:solidFill>
                <a:effectLst/>
                <a:latin typeface="Times New Roman" panose="02020603050405020304" pitchFamily="18" charset="0"/>
              </a:rPr>
              <a:t>(</a:t>
            </a:r>
            <a:r>
              <a:rPr lang="ru-RU" b="0" i="0" dirty="0" err="1">
                <a:solidFill>
                  <a:srgbClr val="000000"/>
                </a:solidFill>
                <a:effectLst/>
                <a:latin typeface="Times New Roman" panose="02020603050405020304" pitchFamily="18" charset="0"/>
              </a:rPr>
              <a:t>Business</a:t>
            </a:r>
            <a:r>
              <a:rPr lang="ru-RU" b="0" i="0" dirty="0">
                <a:solidFill>
                  <a:srgbClr val="000000"/>
                </a:solidFill>
                <a:effectLst/>
                <a:latin typeface="Times New Roman" panose="02020603050405020304" pitchFamily="18" charset="0"/>
              </a:rPr>
              <a:t> </a:t>
            </a:r>
            <a:r>
              <a:rPr lang="ru-RU" b="0" i="0" dirty="0" err="1">
                <a:solidFill>
                  <a:srgbClr val="000000"/>
                </a:solidFill>
                <a:effectLst/>
                <a:latin typeface="Times New Roman" panose="02020603050405020304" pitchFamily="18" charset="0"/>
              </a:rPr>
              <a:t>Workflows</a:t>
            </a:r>
            <a:r>
              <a:rPr lang="ru-RU" b="0" i="0" dirty="0">
                <a:solidFill>
                  <a:srgbClr val="000000"/>
                </a:solidFill>
                <a:effectLst/>
                <a:latin typeface="Times New Roman" panose="02020603050405020304" pitchFamily="18" charset="0"/>
              </a:rPr>
              <a:t>). После получения данных от пользователя они должны быть использованы при выполнении бизнес-процессов (рабочих потоков). Бизнес-процессы состоят из шагов, которые должны быть выполнены в определённом порядке. Например, система должна подсчитать общую сумму заказа, проверить данные кредитной карты и организовать доставку товара. При этом заранее неизвестно, сколько времени потребуется на выполнение этих шагов. Поэтому нужен механизм управления этими операциями.</a:t>
            </a:r>
          </a:p>
          <a:p>
            <a:br>
              <a:rPr lang="ru-RU" b="0" i="0" dirty="0">
                <a:solidFill>
                  <a:srgbClr val="000000"/>
                </a:solidFill>
                <a:effectLst/>
                <a:latin typeface="Arial" panose="020B0604020202020204" pitchFamily="34" charset="0"/>
              </a:rPr>
            </a:br>
            <a:endParaRPr lang="en-US" dirty="0"/>
          </a:p>
        </p:txBody>
      </p:sp>
    </p:spTree>
    <p:extLst>
      <p:ext uri="{BB962C8B-B14F-4D97-AF65-F5344CB8AC3E}">
        <p14:creationId xmlns:p14="http://schemas.microsoft.com/office/powerpoint/2010/main" val="294826773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4FAFB6-CFDE-403F-87DF-A4C6BB44B944}"/>
              </a:ext>
            </a:extLst>
          </p:cNvPr>
          <p:cNvSpPr txBox="1"/>
          <p:nvPr/>
        </p:nvSpPr>
        <p:spPr>
          <a:xfrm>
            <a:off x="307758" y="335845"/>
            <a:ext cx="11792505" cy="6186309"/>
          </a:xfrm>
          <a:prstGeom prst="rect">
            <a:avLst/>
          </a:prstGeom>
          <a:noFill/>
        </p:spPr>
        <p:txBody>
          <a:bodyPr wrap="square">
            <a:spAutoFit/>
          </a:bodyPr>
          <a:lstStyle/>
          <a:p>
            <a:pPr algn="l"/>
            <a:r>
              <a:rPr lang="ru-RU" b="0" dirty="0">
                <a:solidFill>
                  <a:srgbClr val="000000"/>
                </a:solidFill>
                <a:effectLst/>
                <a:latin typeface="Times New Roman" panose="02020603050405020304" pitchFamily="18" charset="0"/>
              </a:rPr>
              <a:t>4. </a:t>
            </a:r>
            <a:r>
              <a:rPr lang="ru-RU" b="0" i="1" dirty="0">
                <a:solidFill>
                  <a:srgbClr val="000000"/>
                </a:solidFill>
                <a:effectLst/>
                <a:latin typeface="Times New Roman" panose="02020603050405020304" pitchFamily="18" charset="0"/>
              </a:rPr>
              <a:t>Бизнес-компоненты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Business</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Components</a:t>
            </a:r>
            <a:r>
              <a:rPr lang="ru-RU" b="0" dirty="0">
                <a:solidFill>
                  <a:srgbClr val="000000"/>
                </a:solidFill>
                <a:effectLst/>
                <a:latin typeface="Times New Roman" panose="02020603050405020304" pitchFamily="18" charset="0"/>
              </a:rPr>
              <a:t>). В этих компонентах реализуются бизнес-правила и решаются основные задачи. Другими словами, в них реализуется бизнес-логика приложения. Например, в системе продажи товаров нужно реализовать способ подсчёта общей стоимости покупки и назначить соответствующую плату за доставку.</a:t>
            </a:r>
          </a:p>
          <a:p>
            <a:pPr algn="just"/>
            <a:r>
              <a:rPr lang="ru-RU" b="0" dirty="0">
                <a:solidFill>
                  <a:srgbClr val="000000"/>
                </a:solidFill>
                <a:effectLst/>
                <a:latin typeface="Times New Roman" panose="02020603050405020304" pitchFamily="18" charset="0"/>
              </a:rPr>
              <a:t>5. </a:t>
            </a:r>
            <a:r>
              <a:rPr lang="ru-RU" b="0" i="1" dirty="0">
                <a:solidFill>
                  <a:srgbClr val="000000"/>
                </a:solidFill>
                <a:effectLst/>
                <a:latin typeface="Times New Roman" panose="02020603050405020304" pitchFamily="18" charset="0"/>
              </a:rPr>
              <a:t>Агенты сервисов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Service</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Gateways</a:t>
            </a:r>
            <a:r>
              <a:rPr lang="ru-RU" b="0" dirty="0">
                <a:solidFill>
                  <a:srgbClr val="000000"/>
                </a:solidFill>
                <a:effectLst/>
                <a:latin typeface="Times New Roman" panose="02020603050405020304" pitchFamily="18" charset="0"/>
              </a:rPr>
              <a:t>). Когда бизнес-компоненту понадобится функциональность внешнего сервиса, он должен обратиться к некоторому объекту, представляющему этот сервис в системе. На этих агентов часто ложится задача преобразования формата данных внешнего сервиса к формату вызывающего компонента. Например, бизнес-компоненты могут использовать одного агента сервиса для работы с сервисом проверки кредитных карт и другого агента для взаимодействия с сервисом обработки данных от курьера.</a:t>
            </a:r>
          </a:p>
          <a:p>
            <a:pPr algn="just"/>
            <a:r>
              <a:rPr lang="ru-RU" b="0" dirty="0">
                <a:solidFill>
                  <a:srgbClr val="000000"/>
                </a:solidFill>
                <a:effectLst/>
                <a:latin typeface="Times New Roman" panose="02020603050405020304" pitchFamily="18" charset="0"/>
              </a:rPr>
              <a:t>6. </a:t>
            </a:r>
            <a:r>
              <a:rPr lang="ru-RU" b="0" i="1" dirty="0">
                <a:solidFill>
                  <a:srgbClr val="000000"/>
                </a:solidFill>
                <a:effectLst/>
                <a:latin typeface="Times New Roman" panose="02020603050405020304" pitchFamily="18" charset="0"/>
              </a:rPr>
              <a:t>Интерфейсы сервисов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Service</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Interfaces</a:t>
            </a:r>
            <a:r>
              <a:rPr lang="ru-RU" b="0" dirty="0">
                <a:solidFill>
                  <a:srgbClr val="000000"/>
                </a:solidFill>
                <a:effectLst/>
                <a:latin typeface="Times New Roman" panose="02020603050405020304" pitchFamily="18" charset="0"/>
              </a:rPr>
              <a:t>). Чтобы сервисы могли воспользоваться функциональностью друг друга, а приложения – функциональностью сервисов, должен быть определён протокол обмена данными и сообщениями между сервисами и приложениями-потребителями. Этот протокол объявляется как интерфейс сервиса. Часто эти интерфейсы называют бизнес-фасадом.</a:t>
            </a:r>
          </a:p>
          <a:p>
            <a:pPr algn="l"/>
            <a:r>
              <a:rPr lang="ru-RU" b="0" i="1" dirty="0">
                <a:solidFill>
                  <a:srgbClr val="000000"/>
                </a:solidFill>
                <a:effectLst/>
                <a:latin typeface="Times New Roman" panose="02020603050405020304" pitchFamily="18" charset="0"/>
              </a:rPr>
              <a:t>7. Компоненты, отвечающие за доступ к данным (</a:t>
            </a:r>
            <a:r>
              <a:rPr lang="ru-RU" b="0" i="1" dirty="0" err="1">
                <a:solidFill>
                  <a:srgbClr val="000000"/>
                </a:solidFill>
                <a:effectLst/>
                <a:latin typeface="Times New Roman" panose="02020603050405020304" pitchFamily="18" charset="0"/>
              </a:rPr>
              <a:t>Data</a:t>
            </a:r>
            <a:r>
              <a:rPr lang="ru-RU" b="0" i="1" dirty="0">
                <a:solidFill>
                  <a:srgbClr val="000000"/>
                </a:solidFill>
                <a:effectLst/>
                <a:latin typeface="Times New Roman" panose="02020603050405020304" pitchFamily="18" charset="0"/>
              </a:rPr>
              <a:t> </a:t>
            </a:r>
            <a:r>
              <a:rPr lang="ru-RU" b="0" i="1" dirty="0" err="1">
                <a:solidFill>
                  <a:srgbClr val="000000"/>
                </a:solidFill>
                <a:effectLst/>
                <a:latin typeface="Times New Roman" panose="02020603050405020304" pitchFamily="18" charset="0"/>
              </a:rPr>
              <a:t>Access</a:t>
            </a:r>
            <a:r>
              <a:rPr lang="ru-RU" b="0" i="1" dirty="0">
                <a:solidFill>
                  <a:srgbClr val="000000"/>
                </a:solidFill>
                <a:effectLst/>
                <a:latin typeface="Times New Roman" panose="02020603050405020304" pitchFamily="18" charset="0"/>
              </a:rPr>
              <a:t> </a:t>
            </a:r>
            <a:r>
              <a:rPr lang="ru-RU" b="0" i="1" dirty="0" err="1">
                <a:solidFill>
                  <a:srgbClr val="000000"/>
                </a:solidFill>
                <a:effectLst/>
                <a:latin typeface="Times New Roman" panose="02020603050405020304" pitchFamily="18" charset="0"/>
              </a:rPr>
              <a:t>Components</a:t>
            </a:r>
            <a:r>
              <a:rPr lang="ru-RU" b="0" i="1" dirty="0">
                <a:solidFill>
                  <a:srgbClr val="000000"/>
                </a:solidFill>
                <a:effectLst/>
                <a:latin typeface="Times New Roman" panose="02020603050405020304" pitchFamily="18" charset="0"/>
              </a:rPr>
              <a:t>).</a:t>
            </a:r>
          </a:p>
          <a:p>
            <a:pPr algn="just"/>
            <a:r>
              <a:rPr lang="ru-RU" b="0" dirty="0">
                <a:solidFill>
                  <a:srgbClr val="000000"/>
                </a:solidFill>
                <a:effectLst/>
                <a:latin typeface="Times New Roman" panose="02020603050405020304" pitchFamily="18" charset="0"/>
              </a:rPr>
              <a:t>Программам нужно где-то хранить данные и в какой-то момент выполнения </a:t>
            </a:r>
            <a:r>
              <a:rPr lang="ru-RU" b="0" dirty="0" err="1">
                <a:solidFill>
                  <a:srgbClr val="000000"/>
                </a:solidFill>
                <a:effectLst/>
                <a:latin typeface="Times New Roman" panose="02020603050405020304" pitchFamily="18" charset="0"/>
              </a:rPr>
              <a:t>биз</a:t>
            </a:r>
            <a:r>
              <a:rPr lang="ru-RU" b="0" dirty="0">
                <a:solidFill>
                  <a:srgbClr val="000000"/>
                </a:solidFill>
                <a:effectLst/>
                <a:latin typeface="Times New Roman" panose="02020603050405020304" pitchFamily="18" charset="0"/>
              </a:rPr>
              <a:t>- нес-процесса к ним обращаться. Имеет смысл абстрагироваться от конкретного вида данных конкретного приложения в пользу универсальных компонентов, представляющих данные. Эти компоненты размещаются в слое доступа к данным. Например, чтобы показать данные о товаре пользователю, приложению понадобится получить данные о товаре из БД. Для этого будет задействован слой доступа к данным и сама БД.</a:t>
            </a:r>
          </a:p>
          <a:p>
            <a:pPr algn="just"/>
            <a:r>
              <a:rPr lang="ru-RU" b="0" dirty="0">
                <a:solidFill>
                  <a:srgbClr val="000000"/>
                </a:solidFill>
                <a:effectLst/>
                <a:latin typeface="Times New Roman" panose="02020603050405020304" pitchFamily="18" charset="0"/>
              </a:rPr>
              <a:t>8. </a:t>
            </a:r>
            <a:r>
              <a:rPr lang="ru-RU" b="0" i="1" dirty="0">
                <a:solidFill>
                  <a:srgbClr val="000000"/>
                </a:solidFill>
                <a:effectLst/>
                <a:latin typeface="Times New Roman" panose="02020603050405020304" pitchFamily="18" charset="0"/>
              </a:rPr>
              <a:t>Бизнес-сущности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Business</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Entities</a:t>
            </a:r>
            <a:r>
              <a:rPr lang="ru-RU" b="0" dirty="0">
                <a:solidFill>
                  <a:srgbClr val="000000"/>
                </a:solidFill>
                <a:effectLst/>
                <a:latin typeface="Times New Roman" panose="02020603050405020304" pitchFamily="18" charset="0"/>
              </a:rPr>
              <a:t>). Приложению понадобится передавать данные между компонентами и уровнями. Например, список товаров должен быть передан из слоя доступа к данным в слой представления. Поэтому нужен способ представления в системе бизнес-сущностей из предметной области. Для этого могут использоваться готовые структуры данных или могут быть созданы специальные классы.</a:t>
            </a:r>
          </a:p>
        </p:txBody>
      </p:sp>
    </p:spTree>
    <p:extLst>
      <p:ext uri="{BB962C8B-B14F-4D97-AF65-F5344CB8AC3E}">
        <p14:creationId xmlns:p14="http://schemas.microsoft.com/office/powerpoint/2010/main" val="165936472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2C5570-7C7C-4A90-BA4A-B406257443AB}"/>
              </a:ext>
            </a:extLst>
          </p:cNvPr>
          <p:cNvSpPr txBox="1"/>
          <p:nvPr/>
        </p:nvSpPr>
        <p:spPr>
          <a:xfrm>
            <a:off x="594804" y="361194"/>
            <a:ext cx="11407806" cy="6740307"/>
          </a:xfrm>
          <a:prstGeom prst="rect">
            <a:avLst/>
          </a:prstGeom>
          <a:noFill/>
        </p:spPr>
        <p:txBody>
          <a:bodyPr wrap="square">
            <a:spAutoFit/>
          </a:bodyPr>
          <a:lstStyle/>
          <a:p>
            <a:pPr algn="l"/>
            <a:r>
              <a:rPr lang="ru-RU" b="1" dirty="0">
                <a:solidFill>
                  <a:srgbClr val="000000"/>
                </a:solidFill>
                <a:effectLst/>
                <a:latin typeface="Arial" panose="020B0604020202020204" pitchFamily="34" charset="0"/>
              </a:rPr>
              <a:t>Шина сообщений</a:t>
            </a:r>
          </a:p>
          <a:p>
            <a:pPr algn="just"/>
            <a:r>
              <a:rPr lang="ru-RU" b="0" dirty="0">
                <a:solidFill>
                  <a:srgbClr val="000000"/>
                </a:solidFill>
                <a:effectLst/>
                <a:latin typeface="Times New Roman" panose="02020603050405020304" pitchFamily="18" charset="0"/>
              </a:rPr>
              <a:t>Архитектура, основанная на шине сообщений (</a:t>
            </a:r>
            <a:r>
              <a:rPr lang="ru-RU" b="0" dirty="0" err="1">
                <a:solidFill>
                  <a:srgbClr val="000000"/>
                </a:solidFill>
                <a:effectLst/>
                <a:latin typeface="Times New Roman" panose="02020603050405020304" pitchFamily="18" charset="0"/>
              </a:rPr>
              <a:t>message</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bus</a:t>
            </a:r>
            <a:r>
              <a:rPr lang="ru-RU" b="0" dirty="0">
                <a:solidFill>
                  <a:srgbClr val="000000"/>
                </a:solidFill>
                <a:effectLst/>
                <a:latin typeface="Times New Roman" panose="02020603050405020304" pitchFamily="18" charset="0"/>
              </a:rPr>
              <a:t>), подразумевает наличие общего коммуникационного канала, используя который компоненты обмениваются информацией. Компонент помещает сообщение в коммуникационный канал, после этого сообщение рассылается всем заинтересованным компонентам. Данная архитектура направлена на решение коммуникационных задач.</a:t>
            </a:r>
          </a:p>
          <a:p>
            <a:pPr algn="l"/>
            <a:r>
              <a:rPr lang="ru-RU" b="0" dirty="0">
                <a:solidFill>
                  <a:srgbClr val="000000"/>
                </a:solidFill>
                <a:effectLst/>
                <a:latin typeface="Times New Roman" panose="02020603050405020304" pitchFamily="18" charset="0"/>
              </a:rPr>
              <a:t>Принципы архитектуры с использованием шины сообщений следующие:</a:t>
            </a:r>
          </a:p>
          <a:p>
            <a:pPr algn="just"/>
            <a:r>
              <a:rPr lang="ru-RU" b="0" dirty="0">
                <a:solidFill>
                  <a:srgbClr val="000000"/>
                </a:solidFill>
                <a:effectLst/>
                <a:latin typeface="Times New Roman" panose="02020603050405020304" pitchFamily="18" charset="0"/>
              </a:rPr>
              <a:t>1.Все коммуникации между компонентами выполняются только при помощи информационных сообщений.</a:t>
            </a:r>
          </a:p>
          <a:p>
            <a:pPr algn="just"/>
            <a:r>
              <a:rPr lang="ru-RU" b="0" dirty="0">
                <a:solidFill>
                  <a:srgbClr val="000000"/>
                </a:solidFill>
                <a:effectLst/>
                <a:latin typeface="Times New Roman" panose="02020603050405020304" pitchFamily="18" charset="0"/>
              </a:rPr>
              <a:t>2.Сообщения имеют стандартный формат. Это позволяет интегрировать</a:t>
            </a:r>
          </a:p>
          <a:p>
            <a:pPr algn="l"/>
            <a:r>
              <a:rPr lang="ru-RU" b="0" dirty="0">
                <a:solidFill>
                  <a:srgbClr val="000000"/>
                </a:solidFill>
                <a:effectLst/>
                <a:latin typeface="Times New Roman" panose="02020603050405020304" pitchFamily="18" charset="0"/>
              </a:rPr>
              <a:t>компоненты, разработанные на разных платформах.</a:t>
            </a:r>
          </a:p>
          <a:p>
            <a:pPr algn="just"/>
            <a:r>
              <a:rPr lang="ru-RU" b="0" dirty="0">
                <a:solidFill>
                  <a:srgbClr val="000000"/>
                </a:solidFill>
                <a:effectLst/>
                <a:latin typeface="Times New Roman" panose="02020603050405020304" pitchFamily="18" charset="0"/>
              </a:rPr>
              <a:t>3.Общая логика приложения изменяется путём удаления или добавления компонентов, подключённых к шине.</a:t>
            </a:r>
          </a:p>
          <a:p>
            <a:pPr algn="just"/>
            <a:r>
              <a:rPr lang="ru-RU" b="0" dirty="0">
                <a:solidFill>
                  <a:srgbClr val="000000"/>
                </a:solidFill>
                <a:effectLst/>
                <a:latin typeface="Times New Roman" panose="02020603050405020304" pitchFamily="18" charset="0"/>
              </a:rPr>
              <a:t>4.Как правило, коммуникация происходит в асинхронном режиме. Преимущества шины сообщений:</a:t>
            </a:r>
          </a:p>
          <a:p>
            <a:pPr algn="just"/>
            <a:r>
              <a:rPr lang="ru-RU" b="0" dirty="0">
                <a:solidFill>
                  <a:srgbClr val="000000"/>
                </a:solidFill>
                <a:effectLst/>
                <a:latin typeface="Times New Roman" panose="02020603050405020304" pitchFamily="18" charset="0"/>
              </a:rPr>
              <a:t>– </a:t>
            </a:r>
            <a:r>
              <a:rPr lang="ru-RU" b="1" dirty="0">
                <a:solidFill>
                  <a:srgbClr val="000000"/>
                </a:solidFill>
                <a:effectLst/>
                <a:latin typeface="Times New Roman" panose="02020603050405020304" pitchFamily="18" charset="0"/>
              </a:rPr>
              <a:t>Расширяемость</a:t>
            </a:r>
            <a:r>
              <a:rPr lang="ru-RU" b="0" dirty="0">
                <a:solidFill>
                  <a:srgbClr val="000000"/>
                </a:solidFill>
                <a:effectLst/>
                <a:latin typeface="Times New Roman" panose="02020603050405020304" pitchFamily="18" charset="0"/>
              </a:rPr>
              <a:t>. Компоненты, подключённые к шине, добавляются и уда-</a:t>
            </a:r>
          </a:p>
          <a:p>
            <a:pPr algn="l"/>
            <a:r>
              <a:rPr lang="ru-RU" b="0" dirty="0" err="1">
                <a:solidFill>
                  <a:srgbClr val="000000"/>
                </a:solidFill>
                <a:effectLst/>
                <a:latin typeface="Times New Roman" panose="02020603050405020304" pitchFamily="18" charset="0"/>
              </a:rPr>
              <a:t>ляются</a:t>
            </a:r>
            <a:r>
              <a:rPr lang="ru-RU" b="0" dirty="0">
                <a:solidFill>
                  <a:srgbClr val="000000"/>
                </a:solidFill>
                <a:effectLst/>
                <a:latin typeface="Times New Roman" panose="02020603050405020304" pitchFamily="18" charset="0"/>
              </a:rPr>
              <a:t> без воздействия на другие подключённые компоненты.</a:t>
            </a:r>
          </a:p>
          <a:p>
            <a:pPr algn="just"/>
            <a:r>
              <a:rPr lang="ru-RU" b="0" dirty="0">
                <a:solidFill>
                  <a:srgbClr val="000000"/>
                </a:solidFill>
                <a:effectLst/>
                <a:latin typeface="Times New Roman" panose="02020603050405020304" pitchFamily="18" charset="0"/>
              </a:rPr>
              <a:t>–</a:t>
            </a:r>
            <a:r>
              <a:rPr lang="ru-RU" b="1" dirty="0">
                <a:solidFill>
                  <a:srgbClr val="000000"/>
                </a:solidFill>
                <a:effectLst/>
                <a:latin typeface="Times New Roman" panose="02020603050405020304" pitchFamily="18" charset="0"/>
              </a:rPr>
              <a:t>Уменьшение сложности</a:t>
            </a:r>
            <a:r>
              <a:rPr lang="ru-RU" b="0" dirty="0">
                <a:solidFill>
                  <a:srgbClr val="000000"/>
                </a:solidFill>
                <a:effectLst/>
                <a:latin typeface="Times New Roman" panose="02020603050405020304" pitchFamily="18" charset="0"/>
              </a:rPr>
              <a:t>. Для взаимодействий с системой </a:t>
            </a:r>
            <a:r>
              <a:rPr lang="ru-RU" b="0" dirty="0" err="1">
                <a:solidFill>
                  <a:srgbClr val="000000"/>
                </a:solidFill>
                <a:effectLst/>
                <a:latin typeface="Times New Roman" panose="02020603050405020304" pitchFamily="18" charset="0"/>
              </a:rPr>
              <a:t>компонентдолжен</a:t>
            </a:r>
            <a:r>
              <a:rPr lang="ru-RU" b="0" dirty="0">
                <a:solidFill>
                  <a:srgbClr val="000000"/>
                </a:solidFill>
                <a:effectLst/>
                <a:latin typeface="Times New Roman" panose="02020603050405020304" pitchFamily="18" charset="0"/>
              </a:rPr>
              <a:t> реализовать только логику работы с общей шиной.</a:t>
            </a:r>
          </a:p>
          <a:p>
            <a:pPr algn="just"/>
            <a:r>
              <a:rPr lang="ru-RU" b="0" dirty="0">
                <a:solidFill>
                  <a:srgbClr val="000000"/>
                </a:solidFill>
                <a:effectLst/>
                <a:latin typeface="Times New Roman" panose="02020603050405020304" pitchFamily="18" charset="0"/>
              </a:rPr>
              <a:t>–</a:t>
            </a:r>
            <a:r>
              <a:rPr lang="ru-RU" b="1" dirty="0">
                <a:solidFill>
                  <a:srgbClr val="000000"/>
                </a:solidFill>
                <a:effectLst/>
                <a:latin typeface="Times New Roman" panose="02020603050405020304" pitchFamily="18" charset="0"/>
              </a:rPr>
              <a:t>Масштабируемость</a:t>
            </a:r>
            <a:r>
              <a:rPr lang="ru-RU" b="0" dirty="0">
                <a:solidFill>
                  <a:srgbClr val="000000"/>
                </a:solidFill>
                <a:effectLst/>
                <a:latin typeface="Times New Roman" panose="02020603050405020304" pitchFamily="18" charset="0"/>
              </a:rPr>
              <a:t>. При увеличении нагрузки на один из подключённых</a:t>
            </a:r>
          </a:p>
          <a:p>
            <a:pPr algn="just"/>
            <a:r>
              <a:rPr lang="ru-RU" b="0" dirty="0">
                <a:solidFill>
                  <a:srgbClr val="000000"/>
                </a:solidFill>
                <a:effectLst/>
                <a:latin typeface="Times New Roman" panose="02020603050405020304" pitchFamily="18" charset="0"/>
              </a:rPr>
              <a:t>компонентов достаточно добавить к шине копию этого компонента, которая будет обрабатывать часть сообщений.</a:t>
            </a:r>
          </a:p>
          <a:p>
            <a:pPr algn="just"/>
            <a:r>
              <a:rPr lang="ru-RU" b="0" dirty="0">
                <a:solidFill>
                  <a:srgbClr val="000000"/>
                </a:solidFill>
                <a:effectLst/>
                <a:latin typeface="Times New Roman" panose="02020603050405020304" pitchFamily="18" charset="0"/>
              </a:rPr>
              <a:t>Вариациями стиля шина сообщений являются </a:t>
            </a:r>
            <a:r>
              <a:rPr lang="ru-RU" b="0" i="1" dirty="0">
                <a:solidFill>
                  <a:srgbClr val="000000"/>
                </a:solidFill>
                <a:effectLst/>
                <a:latin typeface="Times New Roman" panose="02020603050405020304" pitchFamily="18" charset="0"/>
              </a:rPr>
              <a:t>шина сервисов масштаба предприятия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enterprise</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service</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bus</a:t>
            </a:r>
            <a:r>
              <a:rPr lang="ru-RU" b="0" dirty="0">
                <a:solidFill>
                  <a:srgbClr val="000000"/>
                </a:solidFill>
                <a:effectLst/>
                <a:latin typeface="Times New Roman" panose="02020603050405020304" pitchFamily="18" charset="0"/>
              </a:rPr>
              <a:t>) и шина интернет-сервисов (</a:t>
            </a:r>
            <a:r>
              <a:rPr lang="ru-RU" b="0" dirty="0" err="1">
                <a:solidFill>
                  <a:srgbClr val="000000"/>
                </a:solidFill>
                <a:effectLst/>
                <a:latin typeface="Times New Roman" panose="02020603050405020304" pitchFamily="18" charset="0"/>
              </a:rPr>
              <a:t>internet</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service</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bus</a:t>
            </a:r>
            <a:r>
              <a:rPr lang="ru-RU" b="0" dirty="0">
                <a:solidFill>
                  <a:srgbClr val="000000"/>
                </a:solidFill>
                <a:effectLst/>
                <a:latin typeface="Times New Roman" panose="02020603050405020304" pitchFamily="18" charset="0"/>
              </a:rPr>
              <a:t>). В первом случает имеется в виду наличие средств для конвертирования сообщений, циркулирующих по шине, в различные форматы. Во втором случае шина объединяет компоненты, распределённые по всемирной сети. Это подразумевает идентификацию клиентов при помощи </a:t>
            </a:r>
            <a:r>
              <a:rPr lang="ru-RU" b="0" i="1" dirty="0">
                <a:solidFill>
                  <a:srgbClr val="000000"/>
                </a:solidFill>
                <a:effectLst/>
                <a:latin typeface="Times New Roman" panose="02020603050405020304" pitchFamily="18" charset="0"/>
              </a:rPr>
              <a:t>универсального идентификатора ресурсов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uniform</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resource</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identifier</a:t>
            </a:r>
            <a:r>
              <a:rPr lang="ru-RU" b="0" dirty="0">
                <a:solidFill>
                  <a:srgbClr val="000000"/>
                </a:solidFill>
                <a:effectLst/>
                <a:latin typeface="Times New Roman" panose="02020603050405020304" pitchFamily="18" charset="0"/>
              </a:rPr>
              <a:t>, URI) и особые политики безопасности.</a:t>
            </a:r>
          </a:p>
          <a:p>
            <a:pPr algn="l"/>
            <a:endParaRPr lang="ru-RU" b="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362282400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0C461B-3D73-41B7-B7E0-F77ACBC597D4}"/>
              </a:ext>
            </a:extLst>
          </p:cNvPr>
          <p:cNvSpPr txBox="1"/>
          <p:nvPr/>
        </p:nvSpPr>
        <p:spPr>
          <a:xfrm>
            <a:off x="257452" y="547508"/>
            <a:ext cx="11425561" cy="5078313"/>
          </a:xfrm>
          <a:prstGeom prst="rect">
            <a:avLst/>
          </a:prstGeom>
          <a:noFill/>
        </p:spPr>
        <p:txBody>
          <a:bodyPr wrap="square">
            <a:spAutoFit/>
          </a:bodyPr>
          <a:lstStyle/>
          <a:p>
            <a:pPr algn="l"/>
            <a:r>
              <a:rPr lang="ru-RU" b="1" dirty="0">
                <a:solidFill>
                  <a:srgbClr val="000000"/>
                </a:solidFill>
                <a:effectLst/>
                <a:latin typeface="Arial" panose="020B0604020202020204" pitchFamily="34" charset="0"/>
              </a:rPr>
              <a:t>Многозвенная архитектура</a:t>
            </a:r>
          </a:p>
          <a:p>
            <a:pPr algn="just"/>
            <a:r>
              <a:rPr lang="ru-RU" b="0" i="1" dirty="0">
                <a:solidFill>
                  <a:srgbClr val="000000"/>
                </a:solidFill>
                <a:effectLst/>
                <a:latin typeface="Times New Roman" panose="02020603050405020304" pitchFamily="18" charset="0"/>
              </a:rPr>
              <a:t>Многозвенная архитектура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multitier</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architecture</a:t>
            </a:r>
            <a:r>
              <a:rPr lang="ru-RU" b="0" dirty="0">
                <a:solidFill>
                  <a:srgbClr val="000000"/>
                </a:solidFill>
                <a:effectLst/>
                <a:latin typeface="Times New Roman" panose="02020603050405020304" pitchFamily="18" charset="0"/>
              </a:rPr>
              <a:t>) – это архитектурный стиль развёртывания приложений, подразумевающий разделение компонентов на функциональные группы, подобно тому, как это происходит в многоуровневой архитектуре. Группа (реже – несколько групп) формируют </a:t>
            </a:r>
            <a:r>
              <a:rPr lang="ru-RU" b="0" i="1" dirty="0">
                <a:solidFill>
                  <a:srgbClr val="000000"/>
                </a:solidFill>
                <a:effectLst/>
                <a:latin typeface="Times New Roman" panose="02020603050405020304" pitchFamily="18" charset="0"/>
              </a:rPr>
              <a:t>звено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tier</a:t>
            </a:r>
            <a:r>
              <a:rPr lang="ru-RU" b="0" dirty="0">
                <a:solidFill>
                  <a:srgbClr val="000000"/>
                </a:solidFill>
                <a:effectLst/>
                <a:latin typeface="Times New Roman" panose="02020603050405020304" pitchFamily="18" charset="0"/>
              </a:rPr>
              <a:t>) – часть приложения, которая физически обособлена, выполняется в отдельном процессе или на отдельном физическом компьютере.</a:t>
            </a:r>
          </a:p>
          <a:p>
            <a:pPr algn="l"/>
            <a:r>
              <a:rPr lang="ru-RU" b="0" dirty="0">
                <a:solidFill>
                  <a:srgbClr val="000000"/>
                </a:solidFill>
                <a:effectLst/>
                <a:latin typeface="Times New Roman" panose="02020603050405020304" pitchFamily="18" charset="0"/>
              </a:rPr>
              <a:t>Многозвенная архитектура характеризуется следующими принципами:</a:t>
            </a:r>
          </a:p>
          <a:p>
            <a:pPr algn="just"/>
            <a:r>
              <a:rPr lang="ru-RU" b="0" dirty="0">
                <a:solidFill>
                  <a:srgbClr val="000000"/>
                </a:solidFill>
                <a:effectLst/>
                <a:latin typeface="Times New Roman" panose="02020603050405020304" pitchFamily="18" charset="0"/>
              </a:rPr>
              <a:t>1.Это архитектурный стиль развёртывания многоуровневой архитектуры.</a:t>
            </a:r>
          </a:p>
          <a:p>
            <a:pPr algn="just"/>
            <a:r>
              <a:rPr lang="ru-RU" b="0" dirty="0">
                <a:solidFill>
                  <a:srgbClr val="000000"/>
                </a:solidFill>
                <a:effectLst/>
                <a:latin typeface="Times New Roman" panose="02020603050405020304" pitchFamily="18" charset="0"/>
              </a:rPr>
              <a:t>2.Звенья зависят только от своих непосредственных соседей. Звено </a:t>
            </a:r>
            <a:r>
              <a:rPr lang="ru-RU" b="0" i="1" dirty="0">
                <a:solidFill>
                  <a:srgbClr val="000000"/>
                </a:solidFill>
                <a:effectLst/>
                <a:latin typeface="Times New Roman" panose="02020603050405020304" pitchFamily="18" charset="0"/>
              </a:rPr>
              <a:t>n </a:t>
            </a:r>
            <a:r>
              <a:rPr lang="ru-RU" b="0" dirty="0">
                <a:solidFill>
                  <a:srgbClr val="000000"/>
                </a:solidFill>
                <a:effectLst/>
                <a:latin typeface="Times New Roman" panose="02020603050405020304" pitchFamily="18" charset="0"/>
              </a:rPr>
              <a:t>знает,</a:t>
            </a:r>
          </a:p>
          <a:p>
            <a:pPr algn="just"/>
            <a:r>
              <a:rPr lang="ru-RU" b="0" dirty="0">
                <a:solidFill>
                  <a:srgbClr val="000000"/>
                </a:solidFill>
                <a:effectLst/>
                <a:latin typeface="Times New Roman" panose="02020603050405020304" pitchFamily="18" charset="0"/>
              </a:rPr>
              <a:t>как обрабатывать запросы от звена </a:t>
            </a:r>
            <a:r>
              <a:rPr lang="ru-RU" b="0" i="1" dirty="0">
                <a:solidFill>
                  <a:srgbClr val="000000"/>
                </a:solidFill>
                <a:effectLst/>
                <a:latin typeface="Times New Roman" panose="02020603050405020304" pitchFamily="18" charset="0"/>
              </a:rPr>
              <a:t>n</a:t>
            </a:r>
            <a:r>
              <a:rPr lang="ru-RU" b="0" dirty="0">
                <a:solidFill>
                  <a:srgbClr val="000000"/>
                </a:solidFill>
                <a:effectLst/>
                <a:latin typeface="Times New Roman" panose="02020603050405020304" pitchFamily="18" charset="0"/>
              </a:rPr>
              <a:t>+1, передавать запросы к звену </a:t>
            </a:r>
            <a:r>
              <a:rPr lang="ru-RU" b="0" i="1" dirty="0">
                <a:solidFill>
                  <a:srgbClr val="000000"/>
                </a:solidFill>
                <a:effectLst/>
                <a:latin typeface="Times New Roman" panose="02020603050405020304" pitchFamily="18" charset="0"/>
              </a:rPr>
              <a:t>n</a:t>
            </a:r>
            <a:r>
              <a:rPr lang="ru-RU" b="0" dirty="0">
                <a:solidFill>
                  <a:srgbClr val="000000"/>
                </a:solidFill>
                <a:effectLst/>
                <a:latin typeface="Times New Roman" panose="02020603050405020304" pitchFamily="18" charset="0"/>
              </a:rPr>
              <a:t>-1 и интерпретировать полученные результаты.</a:t>
            </a:r>
          </a:p>
          <a:p>
            <a:pPr algn="just"/>
            <a:r>
              <a:rPr lang="ru-RU" b="0" dirty="0">
                <a:solidFill>
                  <a:srgbClr val="000000"/>
                </a:solidFill>
                <a:effectLst/>
                <a:latin typeface="Times New Roman" panose="02020603050405020304" pitchFamily="18" charset="0"/>
              </a:rPr>
              <a:t>3. Уровень развёртывается в отдельное звено, если функциями этого уровня пользуются внешние приложения и сервисы. В противном случае размещение уровня в отдельном звене возможно, но не обязательно.</a:t>
            </a:r>
          </a:p>
          <a:p>
            <a:pPr algn="l"/>
            <a:r>
              <a:rPr lang="ru-RU" b="0" dirty="0">
                <a:solidFill>
                  <a:srgbClr val="000000"/>
                </a:solidFill>
                <a:effectLst/>
                <a:latin typeface="Times New Roman" panose="02020603050405020304" pitchFamily="18" charset="0"/>
              </a:rPr>
              <a:t>Преимущества многозвенной архитектуры:</a:t>
            </a:r>
          </a:p>
          <a:p>
            <a:pPr algn="just"/>
            <a:r>
              <a:rPr lang="ru-RU" b="0" dirty="0">
                <a:solidFill>
                  <a:srgbClr val="000000"/>
                </a:solidFill>
                <a:effectLst/>
                <a:latin typeface="Times New Roman" panose="02020603050405020304" pitchFamily="18" charset="0"/>
              </a:rPr>
              <a:t>–</a:t>
            </a:r>
            <a:r>
              <a:rPr lang="ru-RU" b="1" dirty="0">
                <a:solidFill>
                  <a:srgbClr val="000000"/>
                </a:solidFill>
                <a:effectLst/>
                <a:latin typeface="Times New Roman" panose="02020603050405020304" pitchFamily="18" charset="0"/>
              </a:rPr>
              <a:t>Удобство сопровождения</a:t>
            </a:r>
            <a:r>
              <a:rPr lang="ru-RU" b="0" dirty="0">
                <a:solidFill>
                  <a:srgbClr val="000000"/>
                </a:solidFill>
                <a:effectLst/>
                <a:latin typeface="Times New Roman" panose="02020603050405020304" pitchFamily="18" charset="0"/>
              </a:rPr>
              <a:t>. Физическая изоляция звеньев облегчает замену оборудования.</a:t>
            </a:r>
          </a:p>
          <a:p>
            <a:pPr algn="just"/>
            <a:r>
              <a:rPr lang="ru-RU" b="0" dirty="0">
                <a:solidFill>
                  <a:srgbClr val="000000"/>
                </a:solidFill>
                <a:effectLst/>
                <a:latin typeface="Times New Roman" panose="02020603050405020304" pitchFamily="18" charset="0"/>
              </a:rPr>
              <a:t>–</a:t>
            </a:r>
            <a:r>
              <a:rPr lang="ru-RU" b="1" dirty="0">
                <a:solidFill>
                  <a:srgbClr val="000000"/>
                </a:solidFill>
                <a:effectLst/>
                <a:latin typeface="Times New Roman" panose="02020603050405020304" pitchFamily="18" charset="0"/>
              </a:rPr>
              <a:t>Масштабируемость</a:t>
            </a:r>
            <a:r>
              <a:rPr lang="ru-RU" b="0" dirty="0">
                <a:solidFill>
                  <a:srgbClr val="000000"/>
                </a:solidFill>
                <a:effectLst/>
                <a:latin typeface="Times New Roman" panose="02020603050405020304" pitchFamily="18" charset="0"/>
              </a:rPr>
              <a:t>. При увеличении нагрузки на одно из звеньев воз-</a:t>
            </a:r>
          </a:p>
          <a:p>
            <a:pPr algn="l"/>
            <a:r>
              <a:rPr lang="ru-RU" b="0" dirty="0">
                <a:solidFill>
                  <a:srgbClr val="000000"/>
                </a:solidFill>
                <a:effectLst/>
                <a:latin typeface="Times New Roman" panose="02020603050405020304" pitchFamily="18" charset="0"/>
              </a:rPr>
              <a:t>можно лёгкое увеличение количества оборудования в звене.</a:t>
            </a:r>
          </a:p>
          <a:p>
            <a:pPr algn="l"/>
            <a:r>
              <a:rPr lang="ru-RU" b="1" dirty="0">
                <a:solidFill>
                  <a:srgbClr val="000000"/>
                </a:solidFill>
                <a:effectLst/>
                <a:latin typeface="Times New Roman" panose="02020603050405020304" pitchFamily="18" charset="0"/>
              </a:rPr>
              <a:t>– Увеличение работоспособности и доступность. Этот показатель возрас</a:t>
            </a:r>
            <a:r>
              <a:rPr lang="ru-RU" b="0" dirty="0">
                <a:solidFill>
                  <a:srgbClr val="000000"/>
                </a:solidFill>
                <a:effectLst/>
                <a:latin typeface="Times New Roman" panose="02020603050405020304" pitchFamily="18" charset="0"/>
              </a:rPr>
              <a:t>тает благодаря физической изолированности и независимости оборудования.</a:t>
            </a:r>
          </a:p>
        </p:txBody>
      </p:sp>
    </p:spTree>
    <p:extLst>
      <p:ext uri="{BB962C8B-B14F-4D97-AF65-F5344CB8AC3E}">
        <p14:creationId xmlns:p14="http://schemas.microsoft.com/office/powerpoint/2010/main" val="129829004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9D3C01BF-3EC4-40EE-8A5A-7091120F4D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507" y="453574"/>
            <a:ext cx="10167034" cy="5672017"/>
          </a:xfrm>
          <a:prstGeom prst="rect">
            <a:avLst/>
          </a:prstGeom>
        </p:spPr>
      </p:pic>
    </p:spTree>
    <p:extLst>
      <p:ext uri="{BB962C8B-B14F-4D97-AF65-F5344CB8AC3E}">
        <p14:creationId xmlns:p14="http://schemas.microsoft.com/office/powerpoint/2010/main" val="128780884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2F84E0-3317-41DB-A082-2EBA5B737DEC}"/>
              </a:ext>
            </a:extLst>
          </p:cNvPr>
          <p:cNvSpPr txBox="1"/>
          <p:nvPr/>
        </p:nvSpPr>
        <p:spPr>
          <a:xfrm>
            <a:off x="257452" y="199565"/>
            <a:ext cx="11532094" cy="3970318"/>
          </a:xfrm>
          <a:prstGeom prst="rect">
            <a:avLst/>
          </a:prstGeom>
          <a:noFill/>
        </p:spPr>
        <p:txBody>
          <a:bodyPr wrap="square">
            <a:spAutoFit/>
          </a:bodyPr>
          <a:lstStyle/>
          <a:p>
            <a:pPr algn="l"/>
            <a:r>
              <a:rPr lang="ru-RU" b="1" i="0" dirty="0">
                <a:solidFill>
                  <a:srgbClr val="000000"/>
                </a:solidFill>
                <a:effectLst/>
                <a:latin typeface="Arial" panose="020B0604020202020204" pitchFamily="34" charset="0"/>
              </a:rPr>
              <a:t>Объектно-ориентированная архитектура</a:t>
            </a:r>
          </a:p>
          <a:p>
            <a:pPr algn="just"/>
            <a:r>
              <a:rPr lang="ru-RU" b="0" i="1" dirty="0">
                <a:solidFill>
                  <a:srgbClr val="000000"/>
                </a:solidFill>
                <a:effectLst/>
                <a:latin typeface="Times New Roman" panose="02020603050405020304" pitchFamily="18" charset="0"/>
              </a:rPr>
              <a:t>При использовании объектно-ориентированной архитектуры (</a:t>
            </a:r>
            <a:r>
              <a:rPr lang="ru-RU" b="0" i="1" dirty="0" err="1">
                <a:solidFill>
                  <a:srgbClr val="000000"/>
                </a:solidFill>
                <a:effectLst/>
                <a:latin typeface="Times New Roman" panose="02020603050405020304" pitchFamily="18" charset="0"/>
              </a:rPr>
              <a:t>objectoriented</a:t>
            </a:r>
            <a:r>
              <a:rPr lang="ru-RU" b="0" i="1" dirty="0">
                <a:solidFill>
                  <a:srgbClr val="000000"/>
                </a:solidFill>
                <a:effectLst/>
                <a:latin typeface="Times New Roman" panose="02020603050405020304" pitchFamily="18" charset="0"/>
              </a:rPr>
              <a:t> </a:t>
            </a:r>
            <a:r>
              <a:rPr lang="ru-RU" b="0" i="1" dirty="0" err="1">
                <a:solidFill>
                  <a:srgbClr val="000000"/>
                </a:solidFill>
                <a:effectLst/>
                <a:latin typeface="Times New Roman" panose="02020603050405020304" pitchFamily="18" charset="0"/>
              </a:rPr>
              <a:t>architecture</a:t>
            </a:r>
            <a:r>
              <a:rPr lang="ru-RU" b="0" i="1" dirty="0">
                <a:solidFill>
                  <a:srgbClr val="000000"/>
                </a:solidFill>
                <a:effectLst/>
                <a:latin typeface="Times New Roman" panose="02020603050405020304" pitchFamily="18" charset="0"/>
              </a:rPr>
              <a:t>) система воспринимается как набор взаимодействующих объектов. Каждый такой объект содержит данные и необходимое поведение, а коммуникация между объектами происходит через открытые интерфейсы путём посылки и приёма сообщений.</a:t>
            </a:r>
          </a:p>
          <a:p>
            <a:pPr algn="just"/>
            <a:r>
              <a:rPr lang="ru-RU" b="0" i="0" dirty="0">
                <a:solidFill>
                  <a:srgbClr val="000000"/>
                </a:solidFill>
                <a:effectLst/>
                <a:latin typeface="Times New Roman" panose="02020603050405020304" pitchFamily="18" charset="0"/>
              </a:rPr>
              <a:t>Главные принципы объектно-ориентированной архитектуры, в целом, соответствуют принципам ООП:</a:t>
            </a:r>
          </a:p>
          <a:p>
            <a:pPr algn="just"/>
            <a:r>
              <a:rPr lang="ru-RU" b="0" i="0" dirty="0">
                <a:solidFill>
                  <a:srgbClr val="000000"/>
                </a:solidFill>
                <a:effectLst/>
                <a:latin typeface="Times New Roman" panose="02020603050405020304" pitchFamily="18" charset="0"/>
              </a:rPr>
              <a:t>1.Использование абстракций (базовые классы, интерфейсы) для сокрытия деталей конкретных реализаций.</a:t>
            </a:r>
          </a:p>
          <a:p>
            <a:pPr algn="just"/>
            <a:r>
              <a:rPr lang="ru-RU" b="0" i="0" dirty="0">
                <a:solidFill>
                  <a:srgbClr val="000000"/>
                </a:solidFill>
                <a:effectLst/>
                <a:latin typeface="Times New Roman" panose="02020603050405020304" pitchFamily="18" charset="0"/>
              </a:rPr>
              <a:t>2.Использование агрегирования – построение сложных объектов, включающих простые объекты.</a:t>
            </a:r>
          </a:p>
          <a:p>
            <a:pPr algn="just"/>
            <a:r>
              <a:rPr lang="ru-RU" b="0" i="0" dirty="0">
                <a:solidFill>
                  <a:srgbClr val="000000"/>
                </a:solidFill>
                <a:effectLst/>
                <a:latin typeface="Times New Roman" panose="02020603050405020304" pitchFamily="18" charset="0"/>
              </a:rPr>
              <a:t>3.Инкапсуляция.</a:t>
            </a:r>
          </a:p>
          <a:p>
            <a:pPr algn="just"/>
            <a:r>
              <a:rPr lang="ru-RU" b="0" i="0" dirty="0">
                <a:solidFill>
                  <a:srgbClr val="000000"/>
                </a:solidFill>
                <a:effectLst/>
                <a:latin typeface="Times New Roman" panose="02020603050405020304" pitchFamily="18" charset="0"/>
              </a:rPr>
              <a:t>4.Наследование.</a:t>
            </a:r>
          </a:p>
          <a:p>
            <a:pPr algn="just"/>
            <a:r>
              <a:rPr lang="ru-RU" b="0" i="0" dirty="0">
                <a:solidFill>
                  <a:srgbClr val="000000"/>
                </a:solidFill>
                <a:effectLst/>
                <a:latin typeface="Times New Roman" panose="02020603050405020304" pitchFamily="18" charset="0"/>
              </a:rPr>
              <a:t>5.Полиморфизм.</a:t>
            </a:r>
          </a:p>
          <a:p>
            <a:pPr algn="just"/>
            <a:r>
              <a:rPr lang="ru-RU" b="0" i="0" dirty="0">
                <a:solidFill>
                  <a:srgbClr val="000000"/>
                </a:solidFill>
                <a:effectLst/>
                <a:latin typeface="Times New Roman" panose="02020603050405020304" pitchFamily="18" charset="0"/>
              </a:rPr>
              <a:t>6.Уменьшение связанности объектов друг с другом благодаря применению интерфейсов и объектных фабрик.</a:t>
            </a:r>
          </a:p>
          <a:p>
            <a:pPr algn="just"/>
            <a:r>
              <a:rPr lang="ru-RU" b="0" i="0" dirty="0">
                <a:solidFill>
                  <a:srgbClr val="000000"/>
                </a:solidFill>
                <a:effectLst/>
                <a:latin typeface="Times New Roman" panose="02020603050405020304" pitchFamily="18" charset="0"/>
              </a:rPr>
              <a:t>Преимуществами объектно-ориентированной архитектуры являются высокая тестируемость систем, расширяемость, способность к </a:t>
            </a:r>
            <a:r>
              <a:rPr lang="ru-RU" b="0" i="0" dirty="0" err="1">
                <a:solidFill>
                  <a:srgbClr val="000000"/>
                </a:solidFill>
                <a:effectLst/>
                <a:latin typeface="Times New Roman" panose="02020603050405020304" pitchFamily="18" charset="0"/>
              </a:rPr>
              <a:t>повторномуиспользованию</a:t>
            </a:r>
            <a:r>
              <a:rPr lang="ru-RU" b="0" i="0" dirty="0">
                <a:solidFill>
                  <a:srgbClr val="000000"/>
                </a:solidFill>
                <a:effectLst/>
                <a:latin typeface="Times New Roman" panose="02020603050405020304" pitchFamily="18" charset="0"/>
              </a:rPr>
              <a:t>.</a:t>
            </a:r>
          </a:p>
          <a:p>
            <a:pPr algn="l"/>
            <a:endParaRPr lang="ru-RU" b="0" i="0" dirty="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195807253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DECDE-8D36-493C-9B09-FFF6149D2272}"/>
              </a:ext>
            </a:extLst>
          </p:cNvPr>
          <p:cNvSpPr txBox="1"/>
          <p:nvPr/>
        </p:nvSpPr>
        <p:spPr>
          <a:xfrm>
            <a:off x="470516" y="682464"/>
            <a:ext cx="10999433" cy="4801314"/>
          </a:xfrm>
          <a:prstGeom prst="rect">
            <a:avLst/>
          </a:prstGeom>
          <a:noFill/>
        </p:spPr>
        <p:txBody>
          <a:bodyPr wrap="square">
            <a:spAutoFit/>
          </a:bodyPr>
          <a:lstStyle/>
          <a:p>
            <a:pPr algn="l"/>
            <a:r>
              <a:rPr lang="ru-RU" b="0" dirty="0">
                <a:solidFill>
                  <a:srgbClr val="000000"/>
                </a:solidFill>
                <a:effectLst/>
                <a:latin typeface="Times New Roman" panose="02020603050405020304" pitchFamily="18" charset="0"/>
              </a:rPr>
              <a:t>Рассмотрим одну из вариаций объектно-ориентированной архитектуры, из</a:t>
            </a:r>
            <a:r>
              <a:rPr lang="ru-RU" b="0" i="1" dirty="0">
                <a:solidFill>
                  <a:srgbClr val="000000"/>
                </a:solidFill>
                <a:effectLst/>
                <a:latin typeface="Times New Roman" panose="02020603050405020304" pitchFamily="18" charset="0"/>
              </a:rPr>
              <a:t>вестную как проектирование, основывающееся на домене1 (</a:t>
            </a:r>
            <a:r>
              <a:rPr lang="ru-RU" b="0" i="1" dirty="0" err="1">
                <a:solidFill>
                  <a:srgbClr val="000000"/>
                </a:solidFill>
                <a:effectLst/>
                <a:latin typeface="Times New Roman" panose="02020603050405020304" pitchFamily="18" charset="0"/>
              </a:rPr>
              <a:t>domain-driven</a:t>
            </a:r>
            <a:r>
              <a:rPr lang="ru-RU" b="0" i="1" dirty="0">
                <a:solidFill>
                  <a:srgbClr val="000000"/>
                </a:solidFill>
                <a:effectLst/>
                <a:latin typeface="Times New Roman" panose="02020603050405020304" pitchFamily="18" charset="0"/>
              </a:rPr>
              <a:t> </a:t>
            </a:r>
            <a:r>
              <a:rPr lang="ru-RU" b="0" i="1" dirty="0" err="1">
                <a:solidFill>
                  <a:srgbClr val="000000"/>
                </a:solidFill>
                <a:effectLst/>
                <a:latin typeface="Times New Roman" panose="02020603050405020304" pitchFamily="18" charset="0"/>
              </a:rPr>
              <a:t>design</a:t>
            </a:r>
            <a:r>
              <a:rPr lang="ru-RU" b="0" i="1" dirty="0">
                <a:solidFill>
                  <a:srgbClr val="000000"/>
                </a:solidFill>
                <a:effectLst/>
                <a:latin typeface="Times New Roman" panose="02020603050405020304" pitchFamily="18" charset="0"/>
              </a:rPr>
              <a:t>, DDD). DDD используется для разработки уровня домена – одного из уровней в многоуровневой архитектуре приложений. Уровень домена описывает модель, с которой работает система, включая данные и бизнес-логику. При создании уровня домена DDD сосредотачивается на следующих объектах:</a:t>
            </a:r>
          </a:p>
          <a:p>
            <a:pPr algn="just"/>
            <a:r>
              <a:rPr lang="ru-RU" b="0" dirty="0">
                <a:solidFill>
                  <a:srgbClr val="000000"/>
                </a:solidFill>
                <a:effectLst/>
                <a:latin typeface="Times New Roman" panose="02020603050405020304" pitchFamily="18" charset="0"/>
              </a:rPr>
              <a:t>1.</a:t>
            </a:r>
            <a:r>
              <a:rPr lang="ru-RU" b="0" i="1" dirty="0">
                <a:solidFill>
                  <a:srgbClr val="000000"/>
                </a:solidFill>
                <a:effectLst/>
                <a:latin typeface="Times New Roman" panose="02020603050405020304" pitchFamily="18" charset="0"/>
              </a:rPr>
              <a:t>Сущности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entities</a:t>
            </a:r>
            <a:r>
              <a:rPr lang="ru-RU" b="0" dirty="0">
                <a:solidFill>
                  <a:srgbClr val="000000"/>
                </a:solidFill>
                <a:effectLst/>
                <a:latin typeface="Times New Roman" panose="02020603050405020304" pitchFamily="18" charset="0"/>
              </a:rPr>
              <a:t>). Основные объекты модели, обладающие уникальным идентификатором. Например, при разработке системы интернет-магазина сущностями могут быть покупатель, заказ, товар.</a:t>
            </a:r>
          </a:p>
          <a:p>
            <a:pPr algn="just"/>
            <a:r>
              <a:rPr lang="ru-RU" b="0" dirty="0">
                <a:solidFill>
                  <a:srgbClr val="000000"/>
                </a:solidFill>
                <a:effectLst/>
                <a:latin typeface="Times New Roman" panose="02020603050405020304" pitchFamily="18" charset="0"/>
              </a:rPr>
              <a:t>2.</a:t>
            </a:r>
            <a:r>
              <a:rPr lang="ru-RU" b="0" i="1" dirty="0">
                <a:solidFill>
                  <a:srgbClr val="000000"/>
                </a:solidFill>
                <a:effectLst/>
                <a:latin typeface="Times New Roman" panose="02020603050405020304" pitchFamily="18" charset="0"/>
              </a:rPr>
              <a:t>Объекты-значения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value</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objects</a:t>
            </a:r>
            <a:r>
              <a:rPr lang="ru-RU" b="0" dirty="0">
                <a:solidFill>
                  <a:srgbClr val="000000"/>
                </a:solidFill>
                <a:effectLst/>
                <a:latin typeface="Times New Roman" panose="02020603050405020304" pitchFamily="18" charset="0"/>
              </a:rPr>
              <a:t>). Объекты, которые представляют сгруппированный набор атрибутов. Например, адрес, состоящий из города, улицы, но-</a:t>
            </a:r>
          </a:p>
          <a:p>
            <a:pPr algn="just"/>
            <a:r>
              <a:rPr lang="ru-RU" b="0" dirty="0">
                <a:solidFill>
                  <a:srgbClr val="000000"/>
                </a:solidFill>
                <a:effectLst/>
                <a:latin typeface="Times New Roman" panose="02020603050405020304" pitchFamily="18" charset="0"/>
              </a:rPr>
              <a:t>мера дома. Объекты-значения используются как части сущностей и не обладают уникальным идентификатором.</a:t>
            </a:r>
          </a:p>
          <a:p>
            <a:pPr algn="just"/>
            <a:r>
              <a:rPr lang="ru-RU" b="0" dirty="0">
                <a:solidFill>
                  <a:srgbClr val="000000"/>
                </a:solidFill>
                <a:effectLst/>
                <a:latin typeface="Times New Roman" panose="02020603050405020304" pitchFamily="18" charset="0"/>
              </a:rPr>
              <a:t>3. </a:t>
            </a:r>
            <a:r>
              <a:rPr lang="ru-RU" b="0" i="1" dirty="0">
                <a:solidFill>
                  <a:srgbClr val="000000"/>
                </a:solidFill>
                <a:effectLst/>
                <a:latin typeface="Times New Roman" panose="02020603050405020304" pitchFamily="18" charset="0"/>
              </a:rPr>
              <a:t>Агрегаторы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aggregates</a:t>
            </a:r>
            <a:r>
              <a:rPr lang="ru-RU" b="0" dirty="0">
                <a:solidFill>
                  <a:srgbClr val="000000"/>
                </a:solidFill>
                <a:effectLst/>
                <a:latin typeface="Times New Roman" panose="02020603050405020304" pitchFamily="18" charset="0"/>
              </a:rPr>
              <a:t>). Это особый вид сущностей, содержащий вложенные сущности. Например, заказ может содержать список </a:t>
            </a:r>
            <a:r>
              <a:rPr lang="ru-RU" b="0" dirty="0" err="1">
                <a:solidFill>
                  <a:srgbClr val="000000"/>
                </a:solidFill>
                <a:effectLst/>
                <a:latin typeface="Times New Roman" panose="02020603050405020304" pitchFamily="18" charset="0"/>
              </a:rPr>
              <a:t>заказываемыхтоваров</a:t>
            </a:r>
            <a:r>
              <a:rPr lang="ru-RU" b="0" dirty="0">
                <a:solidFill>
                  <a:srgbClr val="000000"/>
                </a:solidFill>
                <a:effectLst/>
                <a:latin typeface="Times New Roman" panose="02020603050405020304" pitchFamily="18" charset="0"/>
              </a:rPr>
              <a:t>. Агрегируемые сущности не имеют самостоятельного значения и должны быть доступны только через агрегатор.</a:t>
            </a:r>
          </a:p>
          <a:p>
            <a:pPr algn="just"/>
            <a:r>
              <a:rPr lang="ru-RU" b="0" dirty="0">
                <a:solidFill>
                  <a:srgbClr val="000000"/>
                </a:solidFill>
                <a:effectLst/>
                <a:latin typeface="Times New Roman" panose="02020603050405020304" pitchFamily="18" charset="0"/>
              </a:rPr>
              <a:t>4.</a:t>
            </a:r>
            <a:r>
              <a:rPr lang="ru-RU" b="0" i="1" dirty="0">
                <a:solidFill>
                  <a:srgbClr val="000000"/>
                </a:solidFill>
                <a:effectLst/>
                <a:latin typeface="Times New Roman" panose="02020603050405020304" pitchFamily="18" charset="0"/>
              </a:rPr>
              <a:t>Хранилища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repositories</a:t>
            </a:r>
            <a:r>
              <a:rPr lang="ru-RU" b="0" dirty="0">
                <a:solidFill>
                  <a:srgbClr val="000000"/>
                </a:solidFill>
                <a:effectLst/>
                <a:latin typeface="Times New Roman" panose="02020603050405020304" pitchFamily="18" charset="0"/>
              </a:rPr>
              <a:t>). Методы или классы, используемые для сохранения сущностей во внешних источниках данных и для получения сущностей из источников.</a:t>
            </a:r>
          </a:p>
          <a:p>
            <a:pPr algn="just"/>
            <a:r>
              <a:rPr lang="ru-RU" b="0" dirty="0">
                <a:solidFill>
                  <a:srgbClr val="000000"/>
                </a:solidFill>
                <a:effectLst/>
                <a:latin typeface="Times New Roman" panose="02020603050405020304" pitchFamily="18" charset="0"/>
              </a:rPr>
              <a:t>5.</a:t>
            </a:r>
            <a:r>
              <a:rPr lang="ru-RU" b="0" i="1" dirty="0">
                <a:solidFill>
                  <a:srgbClr val="000000"/>
                </a:solidFill>
                <a:effectLst/>
                <a:latin typeface="Times New Roman" panose="02020603050405020304" pitchFamily="18" charset="0"/>
              </a:rPr>
              <a:t>Фабрики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factories</a:t>
            </a:r>
            <a:r>
              <a:rPr lang="ru-RU" b="0" dirty="0">
                <a:solidFill>
                  <a:srgbClr val="000000"/>
                </a:solidFill>
                <a:effectLst/>
                <a:latin typeface="Times New Roman" panose="02020603050405020304" pitchFamily="18" charset="0"/>
              </a:rPr>
              <a:t>). Методы или классы, используемые для создания новых сущностей и агрегаторов.</a:t>
            </a:r>
          </a:p>
        </p:txBody>
      </p:sp>
    </p:spTree>
    <p:extLst>
      <p:ext uri="{BB962C8B-B14F-4D97-AF65-F5344CB8AC3E}">
        <p14:creationId xmlns:p14="http://schemas.microsoft.com/office/powerpoint/2010/main" val="15755515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AEB487-7144-4989-8380-C419748F23D0}"/>
              </a:ext>
            </a:extLst>
          </p:cNvPr>
          <p:cNvSpPr txBox="1"/>
          <p:nvPr/>
        </p:nvSpPr>
        <p:spPr>
          <a:xfrm>
            <a:off x="790113" y="876019"/>
            <a:ext cx="10156054" cy="4524315"/>
          </a:xfrm>
          <a:prstGeom prst="rect">
            <a:avLst/>
          </a:prstGeom>
          <a:noFill/>
        </p:spPr>
        <p:txBody>
          <a:bodyPr wrap="square">
            <a:spAutoFit/>
          </a:bodyPr>
          <a:lstStyle/>
          <a:p>
            <a:pPr algn="just"/>
            <a:r>
              <a:rPr lang="ru-RU" b="1" dirty="0">
                <a:solidFill>
                  <a:srgbClr val="000000"/>
                </a:solidFill>
                <a:effectLst/>
                <a:latin typeface="Arial" panose="020B0604020202020204" pitchFamily="34" charset="0"/>
              </a:rPr>
              <a:t>Выделенное представление</a:t>
            </a:r>
          </a:p>
          <a:p>
            <a:pPr algn="l"/>
            <a:r>
              <a:rPr lang="ru-RU" b="0" i="1" dirty="0">
                <a:solidFill>
                  <a:srgbClr val="000000"/>
                </a:solidFill>
                <a:effectLst/>
                <a:latin typeface="Times New Roman" panose="02020603050405020304" pitchFamily="18" charset="0"/>
              </a:rPr>
              <a:t>Выделенное представление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separated</a:t>
            </a:r>
            <a:r>
              <a:rPr lang="ru-RU" b="0" dirty="0">
                <a:solidFill>
                  <a:srgbClr val="000000"/>
                </a:solidFill>
                <a:effectLst/>
                <a:latin typeface="Times New Roman" panose="02020603050405020304" pitchFamily="18" charset="0"/>
              </a:rPr>
              <a:t> </a:t>
            </a:r>
            <a:r>
              <a:rPr lang="ru-RU" b="0" dirty="0" err="1">
                <a:solidFill>
                  <a:srgbClr val="000000"/>
                </a:solidFill>
                <a:effectLst/>
                <a:latin typeface="Times New Roman" panose="02020603050405020304" pitchFamily="18" charset="0"/>
              </a:rPr>
              <a:t>presentation</a:t>
            </a:r>
            <a:r>
              <a:rPr lang="ru-RU" b="0" dirty="0">
                <a:solidFill>
                  <a:srgbClr val="000000"/>
                </a:solidFill>
                <a:effectLst/>
                <a:latin typeface="Times New Roman" panose="02020603050405020304" pitchFamily="18" charset="0"/>
              </a:rPr>
              <a:t>) – это стиль обработки за-</a:t>
            </a:r>
          </a:p>
          <a:p>
            <a:pPr algn="just"/>
            <a:r>
              <a:rPr lang="ru-RU" b="0" dirty="0" err="1">
                <a:solidFill>
                  <a:srgbClr val="000000"/>
                </a:solidFill>
                <a:effectLst/>
                <a:latin typeface="Times New Roman" panose="02020603050405020304" pitchFamily="18" charset="0"/>
              </a:rPr>
              <a:t>просов</a:t>
            </a:r>
            <a:r>
              <a:rPr lang="ru-RU" b="0" dirty="0">
                <a:solidFill>
                  <a:srgbClr val="000000"/>
                </a:solidFill>
                <a:effectLst/>
                <a:latin typeface="Times New Roman" panose="02020603050405020304" pitchFamily="18" charset="0"/>
              </a:rPr>
              <a:t> или действий пользователя, а также манипулирования элементами интерфейса и данными. Стиль подразумевает отделение элементов интерфейса от логики приложения.</a:t>
            </a:r>
          </a:p>
          <a:p>
            <a:pPr algn="l"/>
            <a:r>
              <a:rPr lang="ru-RU" b="0" dirty="0">
                <a:solidFill>
                  <a:srgbClr val="000000"/>
                </a:solidFill>
                <a:effectLst/>
                <a:latin typeface="Times New Roman" panose="02020603050405020304" pitchFamily="18" charset="0"/>
              </a:rPr>
              <a:t>Ключевыми принципами данного архитектурного стиля являются:</a:t>
            </a:r>
          </a:p>
          <a:p>
            <a:pPr algn="just"/>
            <a:r>
              <a:rPr lang="ru-RU" b="0" dirty="0">
                <a:solidFill>
                  <a:srgbClr val="000000"/>
                </a:solidFill>
                <a:effectLst/>
                <a:latin typeface="Times New Roman" panose="02020603050405020304" pitchFamily="18" charset="0"/>
              </a:rPr>
              <a:t>1.Выделение отдельных функций и ролей для задач обработки запросов, изменения данных и представления данных.</a:t>
            </a:r>
          </a:p>
          <a:p>
            <a:pPr algn="just"/>
            <a:r>
              <a:rPr lang="ru-RU" b="0" dirty="0">
                <a:solidFill>
                  <a:srgbClr val="000000"/>
                </a:solidFill>
                <a:effectLst/>
                <a:latin typeface="Times New Roman" panose="02020603050405020304" pitchFamily="18" charset="0"/>
              </a:rPr>
              <a:t>2.Для интеграции отдельных компонентов может использоваться событийная модель.</a:t>
            </a:r>
          </a:p>
          <a:p>
            <a:pPr algn="just"/>
            <a:r>
              <a:rPr lang="ru-RU" b="0" dirty="0">
                <a:solidFill>
                  <a:srgbClr val="000000"/>
                </a:solidFill>
                <a:effectLst/>
                <a:latin typeface="Times New Roman" panose="02020603050405020304" pitchFamily="18" charset="0"/>
              </a:rPr>
              <a:t>Основным преимуществом рассматриваемого стиля является улучшенная возможность организации тестирования отдельных компонентов системы.</a:t>
            </a:r>
          </a:p>
          <a:p>
            <a:pPr algn="just"/>
            <a:r>
              <a:rPr lang="ru-RU" b="0" dirty="0">
                <a:solidFill>
                  <a:srgbClr val="000000"/>
                </a:solidFill>
                <a:effectLst/>
                <a:latin typeface="Times New Roman" panose="02020603050405020304" pitchFamily="18" charset="0"/>
              </a:rPr>
              <a:t>В качестве примера использования выделенного представления рассмотрим шаблон </a:t>
            </a:r>
            <a:r>
              <a:rPr lang="ru-RU" b="0" i="1" dirty="0">
                <a:solidFill>
                  <a:srgbClr val="000000"/>
                </a:solidFill>
                <a:effectLst/>
                <a:latin typeface="Times New Roman" panose="02020603050405020304" pitchFamily="18" charset="0"/>
              </a:rPr>
              <a:t>модель-представление-контроллер </a:t>
            </a:r>
            <a:r>
              <a:rPr lang="ru-RU" b="0" dirty="0">
                <a:solidFill>
                  <a:srgbClr val="000000"/>
                </a:solidFill>
                <a:effectLst/>
                <a:latin typeface="Times New Roman" panose="02020603050405020304" pitchFamily="18" charset="0"/>
              </a:rPr>
              <a:t>(</a:t>
            </a:r>
            <a:r>
              <a:rPr lang="ru-RU" b="0" dirty="0" err="1">
                <a:solidFill>
                  <a:srgbClr val="000000"/>
                </a:solidFill>
                <a:effectLst/>
                <a:latin typeface="Times New Roman" panose="02020603050405020304" pitchFamily="18" charset="0"/>
              </a:rPr>
              <a:t>Model-View-Controller</a:t>
            </a:r>
            <a:r>
              <a:rPr lang="ru-RU" b="0" dirty="0">
                <a:solidFill>
                  <a:srgbClr val="000000"/>
                </a:solidFill>
                <a:effectLst/>
                <a:latin typeface="Times New Roman" panose="02020603050405020304" pitchFamily="18" charset="0"/>
              </a:rPr>
              <a:t>, MVC). Этот шаблон имеет три основных компонента (рис. 4):</a:t>
            </a:r>
          </a:p>
          <a:p>
            <a:pPr algn="just"/>
            <a:r>
              <a:rPr lang="ru-RU" b="0" dirty="0">
                <a:solidFill>
                  <a:srgbClr val="000000"/>
                </a:solidFill>
                <a:effectLst/>
                <a:latin typeface="Times New Roman" panose="02020603050405020304" pitchFamily="18" charset="0"/>
              </a:rPr>
              <a:t>– </a:t>
            </a:r>
            <a:r>
              <a:rPr lang="ru-RU" b="0" i="1" dirty="0">
                <a:solidFill>
                  <a:srgbClr val="000000"/>
                </a:solidFill>
                <a:effectLst/>
                <a:latin typeface="Times New Roman" panose="02020603050405020304" pitchFamily="18" charset="0"/>
              </a:rPr>
              <a:t>Модель </a:t>
            </a:r>
            <a:r>
              <a:rPr lang="ru-RU" b="0" dirty="0">
                <a:solidFill>
                  <a:srgbClr val="000000"/>
                </a:solidFill>
                <a:effectLst/>
                <a:latin typeface="Times New Roman" panose="02020603050405020304" pitchFamily="18" charset="0"/>
              </a:rPr>
              <a:t>представляет данные, с которыми работает приложение. Модель также реализовывает логику обработки данных согласно заданным бизнес -правилам и обеспечивает чтение и сохранение данных во внешних источниках.</a:t>
            </a:r>
          </a:p>
        </p:txBody>
      </p:sp>
    </p:spTree>
    <p:extLst>
      <p:ext uri="{BB962C8B-B14F-4D97-AF65-F5344CB8AC3E}">
        <p14:creationId xmlns:p14="http://schemas.microsoft.com/office/powerpoint/2010/main" val="345293765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a:extLst>
              <a:ext uri="{FF2B5EF4-FFF2-40B4-BE49-F238E27FC236}">
                <a16:creationId xmlns:a16="http://schemas.microsoft.com/office/drawing/2014/main" id="{F1451273-8E7C-4079-96D4-AD099F5940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5491" y="366609"/>
            <a:ext cx="8281017" cy="5725477"/>
          </a:xfrm>
          <a:prstGeom prst="rect">
            <a:avLst/>
          </a:prstGeom>
        </p:spPr>
      </p:pic>
    </p:spTree>
    <p:extLst>
      <p:ext uri="{BB962C8B-B14F-4D97-AF65-F5344CB8AC3E}">
        <p14:creationId xmlns:p14="http://schemas.microsoft.com/office/powerpoint/2010/main" val="397723235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0184D9-489A-4D50-A302-2C0CF1F6006A}"/>
              </a:ext>
            </a:extLst>
          </p:cNvPr>
          <p:cNvSpPr txBox="1"/>
          <p:nvPr/>
        </p:nvSpPr>
        <p:spPr>
          <a:xfrm>
            <a:off x="390617" y="199565"/>
            <a:ext cx="11301274" cy="3970318"/>
          </a:xfrm>
          <a:prstGeom prst="rect">
            <a:avLst/>
          </a:prstGeom>
          <a:noFill/>
        </p:spPr>
        <p:txBody>
          <a:bodyPr wrap="square">
            <a:spAutoFit/>
          </a:bodyPr>
          <a:lstStyle/>
          <a:p>
            <a:pPr algn="l"/>
            <a:r>
              <a:rPr lang="ru-RU" b="1" dirty="0">
                <a:solidFill>
                  <a:srgbClr val="000000"/>
                </a:solidFill>
                <a:effectLst/>
                <a:latin typeface="Arial" panose="020B0604020202020204" pitchFamily="34" charset="0"/>
              </a:rPr>
              <a:t>Архитектура, ориентированная на сервисы</a:t>
            </a:r>
          </a:p>
          <a:p>
            <a:pPr algn="l"/>
            <a:r>
              <a:rPr lang="ru-RU" b="0" i="1" dirty="0">
                <a:solidFill>
                  <a:srgbClr val="000000"/>
                </a:solidFill>
                <a:effectLst/>
                <a:latin typeface="Times New Roman" panose="02020603050405020304" pitchFamily="18" charset="0"/>
              </a:rPr>
              <a:t>Архитектура, ориентированная на сервисы (</a:t>
            </a:r>
            <a:r>
              <a:rPr lang="ru-RU" b="0" i="1" dirty="0" err="1">
                <a:solidFill>
                  <a:srgbClr val="000000"/>
                </a:solidFill>
                <a:effectLst/>
                <a:latin typeface="Times New Roman" panose="02020603050405020304" pitchFamily="18" charset="0"/>
              </a:rPr>
              <a:t>service-oriented</a:t>
            </a:r>
            <a:r>
              <a:rPr lang="ru-RU" b="0" i="1" dirty="0">
                <a:solidFill>
                  <a:srgbClr val="000000"/>
                </a:solidFill>
                <a:effectLst/>
                <a:latin typeface="Times New Roman" panose="02020603050405020304" pitchFamily="18" charset="0"/>
              </a:rPr>
              <a:t> </a:t>
            </a:r>
            <a:r>
              <a:rPr lang="ru-RU" b="0" i="1" dirty="0" err="1">
                <a:solidFill>
                  <a:srgbClr val="000000"/>
                </a:solidFill>
                <a:effectLst/>
                <a:latin typeface="Times New Roman" panose="02020603050405020304" pitchFamily="18" charset="0"/>
              </a:rPr>
              <a:t>architecture</a:t>
            </a:r>
            <a:r>
              <a:rPr lang="ru-RU" b="0" i="1" dirty="0">
                <a:solidFill>
                  <a:srgbClr val="000000"/>
                </a:solidFill>
                <a:effectLst/>
                <a:latin typeface="Times New Roman" panose="02020603050405020304" pitchFamily="18" charset="0"/>
              </a:rPr>
              <a:t>,</a:t>
            </a:r>
          </a:p>
          <a:p>
            <a:pPr algn="just"/>
            <a:r>
              <a:rPr lang="ru-RU" b="0" dirty="0">
                <a:solidFill>
                  <a:srgbClr val="000000"/>
                </a:solidFill>
                <a:effectLst/>
                <a:latin typeface="Times New Roman" panose="02020603050405020304" pitchFamily="18" charset="0"/>
              </a:rPr>
              <a:t>SOA), предоставляет требуемые функции в виде набора сервисов. Сервисы используют стандартные протоколы для вызова своих функций, публикации в сети и обнаружения. Отдельный сервис должен рассматриваться как независимое приложение, а не как компонент или объект. Основной задачей при использовании SOA является определение интерфейса сервиса и схемы передаваемых при вызове сервиса данных.</a:t>
            </a:r>
          </a:p>
          <a:p>
            <a:pPr algn="l"/>
            <a:r>
              <a:rPr lang="ru-RU" b="0" dirty="0">
                <a:solidFill>
                  <a:srgbClr val="000000"/>
                </a:solidFill>
                <a:effectLst/>
                <a:latin typeface="Times New Roman" panose="02020603050405020304" pitchFamily="18" charset="0"/>
              </a:rPr>
              <a:t>Базовые принципы SOA:</a:t>
            </a:r>
          </a:p>
          <a:p>
            <a:pPr algn="just"/>
            <a:r>
              <a:rPr lang="ru-RU" b="0" dirty="0">
                <a:solidFill>
                  <a:srgbClr val="000000"/>
                </a:solidFill>
                <a:effectLst/>
                <a:latin typeface="Times New Roman" panose="02020603050405020304" pitchFamily="18" charset="0"/>
              </a:rPr>
              <a:t>1.Сервисы автономны и независимы друг от друга.</a:t>
            </a:r>
          </a:p>
          <a:p>
            <a:pPr algn="just"/>
            <a:r>
              <a:rPr lang="ru-RU" b="0" dirty="0">
                <a:solidFill>
                  <a:srgbClr val="000000"/>
                </a:solidFill>
                <a:effectLst/>
                <a:latin typeface="Times New Roman" panose="02020603050405020304" pitchFamily="18" charset="0"/>
              </a:rPr>
              <a:t>2.Сервисы распределены в локальной или глобальной сети. </a:t>
            </a:r>
            <a:r>
              <a:rPr lang="ru-RU" b="0" dirty="0" err="1">
                <a:solidFill>
                  <a:srgbClr val="000000"/>
                </a:solidFill>
                <a:effectLst/>
                <a:latin typeface="Times New Roman" panose="02020603050405020304" pitchFamily="18" charset="0"/>
              </a:rPr>
              <a:t>Местоположе</a:t>
            </a:r>
            <a:r>
              <a:rPr lang="ru-RU" b="0" dirty="0">
                <a:solidFill>
                  <a:srgbClr val="000000"/>
                </a:solidFill>
                <a:effectLst/>
                <a:latin typeface="Times New Roman" panose="02020603050405020304" pitchFamily="18" charset="0"/>
              </a:rPr>
              <a:t>-</a:t>
            </a:r>
          </a:p>
          <a:p>
            <a:pPr algn="just"/>
            <a:r>
              <a:rPr lang="ru-RU" b="0" dirty="0" err="1">
                <a:solidFill>
                  <a:srgbClr val="000000"/>
                </a:solidFill>
                <a:effectLst/>
                <a:latin typeface="Times New Roman" panose="02020603050405020304" pitchFamily="18" charset="0"/>
              </a:rPr>
              <a:t>ние</a:t>
            </a:r>
            <a:r>
              <a:rPr lang="ru-RU" b="0" dirty="0">
                <a:solidFill>
                  <a:srgbClr val="000000"/>
                </a:solidFill>
                <a:effectLst/>
                <a:latin typeface="Times New Roman" panose="02020603050405020304" pitchFamily="18" charset="0"/>
              </a:rPr>
              <a:t> сервиса не важно – главное, чтобы сеть доступа к сервису поддерживал </a:t>
            </a:r>
            <a:r>
              <a:rPr lang="ru-RU" b="0" dirty="0" err="1">
                <a:solidFill>
                  <a:srgbClr val="000000"/>
                </a:solidFill>
                <a:effectLst/>
                <a:latin typeface="Times New Roman" panose="02020603050405020304" pitchFamily="18" charset="0"/>
              </a:rPr>
              <a:t>атребуемые</a:t>
            </a:r>
            <a:r>
              <a:rPr lang="ru-RU" b="0" dirty="0">
                <a:solidFill>
                  <a:srgbClr val="000000"/>
                </a:solidFill>
                <a:effectLst/>
                <a:latin typeface="Times New Roman" panose="02020603050405020304" pitchFamily="18" charset="0"/>
              </a:rPr>
              <a:t> протоколы.</a:t>
            </a:r>
          </a:p>
          <a:p>
            <a:pPr algn="just"/>
            <a:r>
              <a:rPr lang="ru-RU" b="0" dirty="0">
                <a:solidFill>
                  <a:srgbClr val="000000"/>
                </a:solidFill>
                <a:effectLst/>
                <a:latin typeface="Times New Roman" panose="02020603050405020304" pitchFamily="18" charset="0"/>
              </a:rPr>
              <a:t>3. Сервисы публикуют контракты использования и схемы для данных обмена, но скрывают внутренние классы своей реализации.</a:t>
            </a:r>
          </a:p>
          <a:p>
            <a:pPr algn="just"/>
            <a:r>
              <a:rPr lang="ru-RU" b="0" dirty="0">
                <a:solidFill>
                  <a:srgbClr val="000000"/>
                </a:solidFill>
                <a:effectLst/>
                <a:latin typeface="Times New Roman" panose="02020603050405020304" pitchFamily="18" charset="0"/>
              </a:rPr>
              <a:t>Преимуществами архитектуры, ориентированной на сервисы, являются высокая абстракция и возможность использования сервисов в различных приложениях.</a:t>
            </a:r>
          </a:p>
        </p:txBody>
      </p:sp>
    </p:spTree>
    <p:extLst>
      <p:ext uri="{BB962C8B-B14F-4D97-AF65-F5344CB8AC3E}">
        <p14:creationId xmlns:p14="http://schemas.microsoft.com/office/powerpoint/2010/main" val="7812625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3C675D-A2AD-4CFF-A9B0-6D99F7DBF29B}"/>
              </a:ext>
            </a:extLst>
          </p:cNvPr>
          <p:cNvSpPr txBox="1"/>
          <p:nvPr/>
        </p:nvSpPr>
        <p:spPr>
          <a:xfrm>
            <a:off x="440924" y="476604"/>
            <a:ext cx="11310151" cy="3693319"/>
          </a:xfrm>
          <a:prstGeom prst="rect">
            <a:avLst/>
          </a:prstGeom>
          <a:noFill/>
        </p:spPr>
        <p:txBody>
          <a:bodyPr wrap="square">
            <a:spAutoFit/>
          </a:bodyPr>
          <a:lstStyle/>
          <a:p>
            <a:r>
              <a:rPr lang="ru-RU" i="1" dirty="0">
                <a:effectLst/>
                <a:latin typeface="georgia, serif"/>
              </a:rPr>
              <a:t>Шаблон проектирования MVC предполагает разделение данных приложения, пользовательского интерфейса и управляющей логики на три отдельных компонента:</a:t>
            </a:r>
            <a:r>
              <a:rPr lang="ru-RU" b="1" i="1" dirty="0">
                <a:effectLst/>
                <a:latin typeface="georgia, serif"/>
              </a:rPr>
              <a:t>  </a:t>
            </a:r>
          </a:p>
          <a:p>
            <a:r>
              <a:rPr lang="ru-RU" b="1" i="1" dirty="0">
                <a:effectLst/>
                <a:latin typeface="georgia, serif"/>
              </a:rPr>
              <a:t>модель</a:t>
            </a:r>
            <a:r>
              <a:rPr lang="ru-RU" i="1" dirty="0">
                <a:effectLst/>
                <a:latin typeface="georgia, serif"/>
              </a:rPr>
              <a:t>, </a:t>
            </a:r>
            <a:r>
              <a:rPr lang="ru-RU" b="1" i="1" dirty="0">
                <a:effectLst/>
                <a:latin typeface="georgia, serif"/>
              </a:rPr>
              <a:t>представление</a:t>
            </a:r>
            <a:r>
              <a:rPr lang="ru-RU" i="1" dirty="0">
                <a:effectLst/>
                <a:latin typeface="georgia, serif"/>
              </a:rPr>
              <a:t> и </a:t>
            </a:r>
            <a:r>
              <a:rPr lang="ru-RU" b="1" i="1" dirty="0">
                <a:effectLst/>
                <a:latin typeface="georgia, serif"/>
              </a:rPr>
              <a:t>контроллер</a:t>
            </a:r>
            <a:r>
              <a:rPr lang="ru-RU" i="1" dirty="0">
                <a:effectLst/>
                <a:latin typeface="georgia, serif"/>
              </a:rPr>
              <a:t> – таким образом, что модификация каждого компонента может осуществляться независимо. </a:t>
            </a:r>
          </a:p>
          <a:p>
            <a:endParaRPr lang="ru-RU" i="1" dirty="0">
              <a:latin typeface="georgia, serif"/>
            </a:endParaRPr>
          </a:p>
          <a:p>
            <a:r>
              <a:rPr lang="ru-RU" i="1" dirty="0">
                <a:effectLst/>
                <a:latin typeface="georgia, serif"/>
              </a:rPr>
              <a:t>Модель (</a:t>
            </a:r>
            <a:r>
              <a:rPr lang="ru-RU" i="1" dirty="0" err="1">
                <a:effectLst/>
                <a:latin typeface="georgia, serif"/>
              </a:rPr>
              <a:t>Model</a:t>
            </a:r>
            <a:r>
              <a:rPr lang="ru-RU" i="1" dirty="0">
                <a:effectLst/>
                <a:latin typeface="georgia, serif"/>
              </a:rPr>
              <a:t>) предоставляет данные предметной области представлению и реагирует на команды контроллера, изменяя свое состояние. </a:t>
            </a:r>
            <a:r>
              <a:rPr lang="ru-RU" i="1" dirty="0">
                <a:effectLst/>
                <a:latin typeface="georgia" panose="02040502050405020303" pitchFamily="18" charset="0"/>
              </a:rPr>
              <a:t>  </a:t>
            </a:r>
          </a:p>
          <a:p>
            <a:endParaRPr lang="ru-RU" i="1" dirty="0">
              <a:latin typeface="georgia" panose="02040502050405020303" pitchFamily="18" charset="0"/>
            </a:endParaRPr>
          </a:p>
          <a:p>
            <a:r>
              <a:rPr lang="ru-RU" i="1" dirty="0">
                <a:effectLst/>
                <a:latin typeface="georgia" panose="02040502050405020303" pitchFamily="18" charset="0"/>
              </a:rPr>
              <a:t>Представление (</a:t>
            </a:r>
            <a:r>
              <a:rPr lang="ru-RU" i="1" dirty="0" err="1">
                <a:effectLst/>
                <a:latin typeface="georgia" panose="02040502050405020303" pitchFamily="18" charset="0"/>
              </a:rPr>
              <a:t>View</a:t>
            </a:r>
            <a:r>
              <a:rPr lang="ru-RU" i="1" dirty="0">
                <a:effectLst/>
                <a:latin typeface="georgia" panose="02040502050405020303" pitchFamily="18" charset="0"/>
              </a:rPr>
              <a:t>) отвечает за отображение данных предметной области (модели) пользователю, реагируя на изменения модели. </a:t>
            </a:r>
          </a:p>
          <a:p>
            <a:endParaRPr lang="ru-RU" i="1" dirty="0">
              <a:latin typeface="georgia" panose="02040502050405020303" pitchFamily="18" charset="0"/>
            </a:endParaRPr>
          </a:p>
          <a:p>
            <a:r>
              <a:rPr lang="ru-RU" i="1" dirty="0">
                <a:effectLst/>
                <a:latin typeface="georgia" panose="02040502050405020303" pitchFamily="18" charset="0"/>
              </a:rPr>
              <a:t> Контроллер(</a:t>
            </a:r>
            <a:r>
              <a:rPr lang="ru-RU" i="1" dirty="0" err="1">
                <a:effectLst/>
                <a:latin typeface="georgia" panose="02040502050405020303" pitchFamily="18" charset="0"/>
              </a:rPr>
              <a:t>Controller</a:t>
            </a:r>
            <a:r>
              <a:rPr lang="ru-RU" i="1" dirty="0">
                <a:effectLst/>
                <a:latin typeface="georgia" panose="02040502050405020303" pitchFamily="18" charset="0"/>
              </a:rPr>
              <a:t>) интерпретирует действия пользователя, оповещая модель о необходимости изменений.</a:t>
            </a:r>
            <a:endParaRPr lang="en-US" dirty="0"/>
          </a:p>
        </p:txBody>
      </p:sp>
    </p:spTree>
    <p:extLst>
      <p:ext uri="{BB962C8B-B14F-4D97-AF65-F5344CB8AC3E}">
        <p14:creationId xmlns:p14="http://schemas.microsoft.com/office/powerpoint/2010/main" val="664951552"/>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FEE35A-AAC8-4282-B204-925E9B769860}"/>
              </a:ext>
            </a:extLst>
          </p:cNvPr>
          <p:cNvSpPr txBox="1"/>
          <p:nvPr/>
        </p:nvSpPr>
        <p:spPr>
          <a:xfrm>
            <a:off x="414291" y="463987"/>
            <a:ext cx="11363417" cy="6186309"/>
          </a:xfrm>
          <a:prstGeom prst="rect">
            <a:avLst/>
          </a:prstGeom>
          <a:noFill/>
        </p:spPr>
        <p:txBody>
          <a:bodyPr wrap="square">
            <a:spAutoFit/>
          </a:bodyPr>
          <a:lstStyle/>
          <a:p>
            <a:pPr>
              <a:buFont typeface="Arial" panose="020B0604020202020204" pitchFamily="34" charset="0"/>
              <a:buChar char="•"/>
            </a:pPr>
            <a:r>
              <a:rPr lang="ru-RU" b="1" i="1" dirty="0">
                <a:solidFill>
                  <a:srgbClr val="990000"/>
                </a:solidFill>
                <a:effectLst/>
                <a:latin typeface="georgia" panose="02040502050405020303" pitchFamily="18" charset="0"/>
              </a:rPr>
              <a:t>Пользователь взаимодействует с моделью. </a:t>
            </a:r>
            <a:endParaRPr lang="ru-RU" dirty="0"/>
          </a:p>
          <a:p>
            <a:r>
              <a:rPr lang="ru-RU" b="1" i="1" dirty="0">
                <a:latin typeface="georgia, serif"/>
              </a:rPr>
              <a:t>Представление </a:t>
            </a:r>
            <a:r>
              <a:rPr lang="ru-RU" i="1" dirty="0">
                <a:latin typeface="georgia, serif"/>
              </a:rPr>
              <a:t>— «окно», через которое пользователь воспринимает модель. Когда вы дела</a:t>
            </a:r>
            <a:r>
              <a:rPr lang="ru-RU" i="1" dirty="0">
                <a:effectLst/>
                <a:latin typeface="georgia, serif"/>
              </a:rPr>
              <a:t>ете что-то с представлением (скажем, щелкаете на кнопке воспроизведения), представление сообщает контроллеру, какая операция была выполнена. Контроллер должен обработать это действие. </a:t>
            </a:r>
            <a:endParaRPr lang="ru-RU" dirty="0"/>
          </a:p>
          <a:p>
            <a:pPr>
              <a:buFont typeface="Arial" panose="020B0604020202020204" pitchFamily="34" charset="0"/>
              <a:buChar char="•"/>
            </a:pPr>
            <a:r>
              <a:rPr lang="ru-RU" b="1" i="1" dirty="0">
                <a:solidFill>
                  <a:srgbClr val="990000"/>
                </a:solidFill>
                <a:effectLst/>
                <a:latin typeface="georgia" panose="02040502050405020303" pitchFamily="18" charset="0"/>
              </a:rPr>
              <a:t>Контроллер обращается к модели с запросами об изменении состояния. </a:t>
            </a:r>
            <a:endParaRPr lang="ru-RU" dirty="0"/>
          </a:p>
          <a:p>
            <a:r>
              <a:rPr lang="ru-RU" b="1" i="1" dirty="0">
                <a:latin typeface="georgia, serif"/>
              </a:rPr>
              <a:t>Контроллер</a:t>
            </a:r>
            <a:r>
              <a:rPr lang="ru-RU" i="1" dirty="0">
                <a:latin typeface="georgia, serif"/>
              </a:rPr>
              <a:t> получает действия пользователя и интерпретирует их. Если вы щелкаете на </a:t>
            </a:r>
            <a:r>
              <a:rPr lang="ru-RU" i="1" dirty="0">
                <a:effectLst/>
                <a:latin typeface="georgia, serif"/>
              </a:rPr>
              <a:t>кнопке, контроллер должен разобраться, что это значит и какие операции с моделью должны быть выполнены при данном действии. </a:t>
            </a:r>
            <a:endParaRPr lang="ru-RU" dirty="0"/>
          </a:p>
          <a:p>
            <a:pPr>
              <a:buFont typeface="Arial" panose="020B0604020202020204" pitchFamily="34" charset="0"/>
              <a:buChar char="•"/>
            </a:pPr>
            <a:r>
              <a:rPr lang="ru-RU" b="1" i="1" dirty="0">
                <a:solidFill>
                  <a:srgbClr val="990000"/>
                </a:solidFill>
                <a:effectLst/>
                <a:latin typeface="georgia" panose="02040502050405020303" pitchFamily="18" charset="0"/>
              </a:rPr>
              <a:t>Контроллер также может обратиться к представлению с запросом об изменении. </a:t>
            </a:r>
            <a:endParaRPr lang="ru-RU" dirty="0"/>
          </a:p>
          <a:p>
            <a:r>
              <a:rPr lang="ru-RU" i="1" dirty="0">
                <a:latin typeface="georgia, serif"/>
              </a:rPr>
              <a:t>Когда контроллер получает действие от представления, в результате его обработки он мо</a:t>
            </a:r>
            <a:r>
              <a:rPr lang="ru-RU" i="1" dirty="0">
                <a:effectLst/>
                <a:latin typeface="georgia, serif"/>
              </a:rPr>
              <a:t>жет обратиться к представлению с запросом на изменение (скажем, заблокировать некоторые кнопки или команды меню). </a:t>
            </a:r>
            <a:endParaRPr lang="ru-RU" dirty="0"/>
          </a:p>
          <a:p>
            <a:pPr>
              <a:buFont typeface="Arial" panose="020B0604020202020204" pitchFamily="34" charset="0"/>
              <a:buChar char="•"/>
            </a:pPr>
            <a:r>
              <a:rPr lang="ru-RU" i="1" dirty="0">
                <a:effectLst/>
                <a:latin typeface="georgia" panose="02040502050405020303" pitchFamily="18" charset="0"/>
              </a:rPr>
              <a:t> </a:t>
            </a:r>
            <a:r>
              <a:rPr lang="ru-RU" b="1" i="1" dirty="0">
                <a:effectLst/>
                <a:latin typeface="georgia" panose="02040502050405020303" pitchFamily="18" charset="0"/>
              </a:rPr>
              <a:t>Модель оповещает представление об изменении состояния. </a:t>
            </a:r>
            <a:endParaRPr lang="ru-RU" dirty="0"/>
          </a:p>
          <a:p>
            <a:r>
              <a:rPr lang="ru-RU" i="1" dirty="0">
                <a:latin typeface="georgia, serif"/>
              </a:rPr>
              <a:t>Когда в модели что-то изменяется (вследствие действий пользователя или других внутрен</a:t>
            </a:r>
            <a:r>
              <a:rPr lang="ru-RU" i="1" dirty="0">
                <a:effectLst/>
                <a:latin typeface="georgia, serif"/>
              </a:rPr>
              <a:t>них изменений — скажем, перехода к следующей песне в списке), модель оповещает представление об изменении состояния. </a:t>
            </a:r>
            <a:endParaRPr lang="ru-RU" dirty="0"/>
          </a:p>
          <a:p>
            <a:pPr>
              <a:buFont typeface="Arial" panose="020B0604020202020204" pitchFamily="34" charset="0"/>
              <a:buChar char="•"/>
            </a:pPr>
            <a:r>
              <a:rPr lang="ru-RU" b="1" i="1" dirty="0">
                <a:solidFill>
                  <a:srgbClr val="990000"/>
                </a:solidFill>
                <a:effectLst/>
                <a:latin typeface="georgia" panose="02040502050405020303" pitchFamily="18" charset="0"/>
              </a:rPr>
              <a:t>Представление запрашивает у модели информацию состояния. </a:t>
            </a:r>
            <a:endParaRPr lang="ru-RU" dirty="0"/>
          </a:p>
          <a:p>
            <a:r>
              <a:rPr lang="ru-RU" b="1" i="1" dirty="0">
                <a:latin typeface="georgia, serif"/>
              </a:rPr>
              <a:t>Представление </a:t>
            </a:r>
            <a:r>
              <a:rPr lang="ru-RU" i="1" dirty="0">
                <a:latin typeface="georgia, serif"/>
              </a:rPr>
              <a:t>получает отображаемую информацию состояния непосредственно от модели. </a:t>
            </a:r>
            <a:endParaRPr lang="ru-RU" dirty="0"/>
          </a:p>
          <a:p>
            <a:r>
              <a:rPr lang="ru-RU" i="1" dirty="0">
                <a:latin typeface="georgia, serif"/>
              </a:rPr>
              <a:t>Например, когда модель оповещает представление о начале воспроизведения новой песни, </a:t>
            </a:r>
            <a:r>
              <a:rPr lang="ru-RU" i="1" dirty="0">
                <a:effectLst/>
                <a:latin typeface="georgia, serif"/>
              </a:rPr>
              <a:t>представление запрашивает название песни и отображает его. Представление также может запросить у модели информацию состояния в результате запроса на изменение состояния со стороны контроллера. </a:t>
            </a:r>
            <a:endParaRPr lang="ru-RU" dirty="0"/>
          </a:p>
        </p:txBody>
      </p:sp>
    </p:spTree>
    <p:extLst>
      <p:ext uri="{BB962C8B-B14F-4D97-AF65-F5344CB8AC3E}">
        <p14:creationId xmlns:p14="http://schemas.microsoft.com/office/powerpoint/2010/main" val="394894227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325F04-2580-49D3-A91B-A7B29097C39C}"/>
              </a:ext>
            </a:extLst>
          </p:cNvPr>
          <p:cNvSpPr txBox="1"/>
          <p:nvPr/>
        </p:nvSpPr>
        <p:spPr>
          <a:xfrm>
            <a:off x="702815" y="612844"/>
            <a:ext cx="10786369" cy="5632311"/>
          </a:xfrm>
          <a:prstGeom prst="rect">
            <a:avLst/>
          </a:prstGeom>
          <a:noFill/>
        </p:spPr>
        <p:txBody>
          <a:bodyPr wrap="square">
            <a:spAutoFit/>
          </a:bodyPr>
          <a:lstStyle/>
          <a:p>
            <a:pPr algn="ctr"/>
            <a:r>
              <a:rPr lang="ru-RU" b="1" dirty="0">
                <a:effectLst/>
                <a:latin typeface="georgia" panose="02040502050405020303" pitchFamily="18" charset="0"/>
              </a:rPr>
              <a:t>MVC с точки зрения шаблонов .</a:t>
            </a:r>
            <a:endParaRPr lang="ru-RU" dirty="0">
              <a:effectLst/>
              <a:latin typeface="georgia" panose="02040502050405020303" pitchFamily="18" charset="0"/>
            </a:endParaRPr>
          </a:p>
          <a:p>
            <a:r>
              <a:rPr lang="ru-RU" i="1" dirty="0">
                <a:effectLst/>
                <a:latin typeface="georgia" panose="02040502050405020303" pitchFamily="18" charset="0"/>
              </a:rPr>
              <a:t> </a:t>
            </a:r>
          </a:p>
          <a:p>
            <a:pPr algn="ctr"/>
            <a:r>
              <a:rPr lang="ru-RU" b="1" dirty="0">
                <a:effectLst/>
                <a:latin typeface="georgia" panose="02040502050405020303" pitchFamily="18" charset="0"/>
              </a:rPr>
              <a:t>Стратегия </a:t>
            </a:r>
            <a:endParaRPr lang="ru-RU" dirty="0">
              <a:effectLst/>
              <a:latin typeface="georgia" panose="02040502050405020303" pitchFamily="18" charset="0"/>
            </a:endParaRPr>
          </a:p>
          <a:p>
            <a:r>
              <a:rPr lang="ru-RU" i="1" dirty="0">
                <a:effectLst/>
                <a:latin typeface="georgia" panose="02040502050405020303" pitchFamily="18" charset="0"/>
              </a:rPr>
              <a:t>                 Представление и контроллер реализуют классический шаблон </a:t>
            </a:r>
            <a:r>
              <a:rPr lang="ru-RU" b="1" i="1" dirty="0">
                <a:effectLst/>
                <a:latin typeface="georgia" panose="02040502050405020303" pitchFamily="18" charset="0"/>
              </a:rPr>
              <a:t>Стратегия</a:t>
            </a:r>
            <a:r>
              <a:rPr lang="ru-RU" i="1" dirty="0">
                <a:effectLst/>
                <a:latin typeface="georgia" panose="02040502050405020303" pitchFamily="18" charset="0"/>
              </a:rPr>
              <a:t>. Представление — объект со сменной стратегией, контроллер эту стратегию предоставляет. Представление интересуют только визуальные аспекты приложения, а все решения относительно поведения интерфейса делегируются контроллеру. Применение шаблона Стратегия также сохраняет логическую изоляцию представления от модели, потому что все взаимодействия с моделью для выполнения пользовательских запросов осуществляются контроллером. Представлению о них ничего не известно. </a:t>
            </a:r>
          </a:p>
          <a:p>
            <a:pPr algn="ctr"/>
            <a:r>
              <a:rPr lang="ru-RU" b="1" dirty="0">
                <a:effectLst/>
                <a:latin typeface="georgia" panose="02040502050405020303" pitchFamily="18" charset="0"/>
              </a:rPr>
              <a:t>Представление </a:t>
            </a:r>
            <a:endParaRPr lang="ru-RU" dirty="0">
              <a:effectLst/>
              <a:latin typeface="georgia" panose="02040502050405020303" pitchFamily="18" charset="0"/>
            </a:endParaRPr>
          </a:p>
          <a:p>
            <a:r>
              <a:rPr lang="ru-RU" i="1" dirty="0">
                <a:effectLst/>
                <a:latin typeface="georgia" panose="02040502050405020303" pitchFamily="18" charset="0"/>
              </a:rPr>
              <a:t>                   Изображение состоит из вложенных окон, панелей, кнопок, надписей и т. д. Каждый компонент является комбинацией (окно) или листом (кнопка). Когда контроллер приказывает представлению обновиться, он обращается к верхнему компоненту, а шаблон </a:t>
            </a:r>
            <a:r>
              <a:rPr lang="ru-RU" b="1" i="1" dirty="0">
                <a:effectLst/>
                <a:latin typeface="georgia" panose="02040502050405020303" pitchFamily="18" charset="0"/>
              </a:rPr>
              <a:t>Компоновщик</a:t>
            </a:r>
            <a:r>
              <a:rPr lang="ru-RU" i="1" dirty="0">
                <a:effectLst/>
                <a:latin typeface="georgia" panose="02040502050405020303" pitchFamily="18" charset="0"/>
              </a:rPr>
              <a:t> делает все остальное. </a:t>
            </a:r>
          </a:p>
          <a:p>
            <a:pPr algn="ctr"/>
            <a:r>
              <a:rPr lang="ru-RU" b="1" dirty="0">
                <a:effectLst/>
                <a:latin typeface="georgia" panose="02040502050405020303" pitchFamily="18" charset="0"/>
              </a:rPr>
              <a:t>Модель </a:t>
            </a:r>
            <a:endParaRPr lang="ru-RU" dirty="0">
              <a:effectLst/>
              <a:latin typeface="georgia" panose="02040502050405020303" pitchFamily="18" charset="0"/>
            </a:endParaRPr>
          </a:p>
          <a:p>
            <a:r>
              <a:rPr lang="ru-RU" i="1" dirty="0">
                <a:effectLst/>
                <a:latin typeface="georgia" panose="02040502050405020303" pitchFamily="18" charset="0"/>
              </a:rPr>
              <a:t>                   Модель реализует шаблон </a:t>
            </a:r>
            <a:r>
              <a:rPr lang="ru-RU" b="1" i="1" dirty="0">
                <a:effectLst/>
                <a:latin typeface="georgia" panose="02040502050405020303" pitchFamily="18" charset="0"/>
              </a:rPr>
              <a:t>Наблюдатель</a:t>
            </a:r>
            <a:r>
              <a:rPr lang="ru-RU" i="1" dirty="0">
                <a:effectLst/>
                <a:latin typeface="georgia" panose="02040502050405020303" pitchFamily="18" charset="0"/>
              </a:rPr>
              <a:t> для оповещения заинтересованных объектов об изменениях состояния.  Шаблон Наблюдатель  обеспечивает полную независимость модели от представлений и контроллеров. Он позволяет использовать разные представления с одной моделью, или даже несколько представлений одновременно. </a:t>
            </a:r>
          </a:p>
        </p:txBody>
      </p:sp>
    </p:spTree>
    <p:extLst>
      <p:ext uri="{BB962C8B-B14F-4D97-AF65-F5344CB8AC3E}">
        <p14:creationId xmlns:p14="http://schemas.microsoft.com/office/powerpoint/2010/main" val="181303598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548034B-1BF7-4074-B8AA-8C2186D9298E}"/>
              </a:ext>
            </a:extLst>
          </p:cNvPr>
          <p:cNvSpPr txBox="1"/>
          <p:nvPr/>
        </p:nvSpPr>
        <p:spPr>
          <a:xfrm>
            <a:off x="213063" y="1030562"/>
            <a:ext cx="11620871" cy="5632311"/>
          </a:xfrm>
          <a:prstGeom prst="rect">
            <a:avLst/>
          </a:prstGeom>
          <a:noFill/>
        </p:spPr>
        <p:txBody>
          <a:bodyPr wrap="square">
            <a:spAutoFit/>
          </a:bodyPr>
          <a:lstStyle/>
          <a:p>
            <a:r>
              <a:rPr lang="ru-RU" b="1" dirty="0"/>
              <a:t>Основная суть DDD</a:t>
            </a:r>
          </a:p>
          <a:p>
            <a:r>
              <a:rPr lang="ru-RU" dirty="0"/>
              <a:t>У нас есть домен (</a:t>
            </a:r>
            <a:r>
              <a:rPr lang="ru-RU" b="1" dirty="0" err="1"/>
              <a:t>domain</a:t>
            </a:r>
            <a:r>
              <a:rPr lang="ru-RU" dirty="0"/>
              <a:t>), который является бизнес задачей (например “счет на оплату билетов в кино”).</a:t>
            </a:r>
          </a:p>
          <a:p>
            <a:r>
              <a:rPr lang="ru-RU" dirty="0"/>
              <a:t>Работа с доменом начинается с анализа предметной области и составления требований. Этим занимаются </a:t>
            </a:r>
            <a:r>
              <a:rPr lang="ru-RU" dirty="0" err="1"/>
              <a:t>Domain</a:t>
            </a:r>
            <a:r>
              <a:rPr lang="ru-RU" dirty="0"/>
              <a:t> </a:t>
            </a:r>
            <a:r>
              <a:rPr lang="ru-RU" dirty="0" err="1"/>
              <a:t>experts</a:t>
            </a:r>
            <a:r>
              <a:rPr lang="ru-RU" dirty="0"/>
              <a:t>. Они прекрасно знают как работает домен и все его бизнес-процессы.</a:t>
            </a:r>
          </a:p>
          <a:p>
            <a:endParaRPr lang="ru-RU" dirty="0"/>
          </a:p>
          <a:p>
            <a:r>
              <a:rPr lang="ru-RU" dirty="0"/>
              <a:t>Далее происходит разбиение домена на под-домены (</a:t>
            </a:r>
            <a:r>
              <a:rPr lang="ru-RU" b="1" dirty="0" err="1"/>
              <a:t>subdomain</a:t>
            </a:r>
            <a:r>
              <a:rPr lang="ru-RU" dirty="0"/>
              <a:t>).</a:t>
            </a:r>
          </a:p>
          <a:p>
            <a:r>
              <a:rPr lang="ru-RU" b="1" dirty="0" err="1"/>
              <a:t>Subdomain</a:t>
            </a:r>
            <a:r>
              <a:rPr lang="ru-RU" dirty="0"/>
              <a:t> — это те действующие элементы проекта, которые представляют из себя основной функционал (программное выражение наших бизнес ценностей).</a:t>
            </a:r>
          </a:p>
          <a:p>
            <a:r>
              <a:rPr lang="ru-RU" dirty="0"/>
              <a:t>Далее идет основной бизнес процесс (</a:t>
            </a:r>
            <a:r>
              <a:rPr lang="ru-RU" b="1" dirty="0" err="1"/>
              <a:t>Core</a:t>
            </a:r>
            <a:r>
              <a:rPr lang="ru-RU" b="1" dirty="0"/>
              <a:t> </a:t>
            </a:r>
            <a:r>
              <a:rPr lang="ru-RU" b="1" dirty="0" err="1"/>
              <a:t>domain</a:t>
            </a:r>
            <a:r>
              <a:rPr lang="ru-RU" dirty="0"/>
              <a:t>).</a:t>
            </a:r>
          </a:p>
          <a:p>
            <a:endParaRPr lang="ru-RU" b="1" dirty="0"/>
          </a:p>
          <a:p>
            <a:r>
              <a:rPr lang="ru-RU" b="1" dirty="0" err="1"/>
              <a:t>Core</a:t>
            </a:r>
            <a:r>
              <a:rPr lang="ru-RU" b="1" dirty="0"/>
              <a:t> </a:t>
            </a:r>
            <a:r>
              <a:rPr lang="ru-RU" b="1" dirty="0" err="1"/>
              <a:t>domain</a:t>
            </a:r>
            <a:r>
              <a:rPr lang="ru-RU" dirty="0"/>
              <a:t> — основной бизнес процесс. Это не </a:t>
            </a:r>
            <a:r>
              <a:rPr lang="ru-RU" dirty="0" err="1"/>
              <a:t>core</a:t>
            </a:r>
            <a:r>
              <a:rPr lang="ru-RU" dirty="0"/>
              <a:t> </a:t>
            </a:r>
            <a:r>
              <a:rPr lang="ru-RU" dirty="0" err="1"/>
              <a:t>domain</a:t>
            </a:r>
            <a:r>
              <a:rPr lang="ru-RU" dirty="0"/>
              <a:t>, который в коде, некая сущность с основной логикой. Это весь процесс в целом. Он отвечает за бизнес ценность самого продукта.</a:t>
            </a:r>
          </a:p>
          <a:p>
            <a:endParaRPr lang="ru-RU" dirty="0"/>
          </a:p>
          <a:p>
            <a:r>
              <a:rPr lang="ru-RU" b="1" dirty="0" err="1"/>
              <a:t>Supporting</a:t>
            </a:r>
            <a:r>
              <a:rPr lang="ru-RU" b="1" dirty="0"/>
              <a:t> </a:t>
            </a:r>
            <a:r>
              <a:rPr lang="ru-RU" b="1" dirty="0" err="1"/>
              <a:t>subdomain</a:t>
            </a:r>
            <a:r>
              <a:rPr lang="ru-RU" dirty="0"/>
              <a:t> — важная составляющая, от которых зависит наш бизнес, но которые не имеют прямого отношения к </a:t>
            </a:r>
            <a:r>
              <a:rPr lang="ru-RU" b="1" dirty="0" err="1"/>
              <a:t>Core</a:t>
            </a:r>
            <a:r>
              <a:rPr lang="ru-RU" b="1" dirty="0"/>
              <a:t> </a:t>
            </a:r>
            <a:r>
              <a:rPr lang="ru-RU" b="1" dirty="0" err="1"/>
              <a:t>domain</a:t>
            </a:r>
            <a:r>
              <a:rPr lang="ru-RU" dirty="0"/>
              <a:t>.</a:t>
            </a:r>
          </a:p>
          <a:p>
            <a:r>
              <a:rPr lang="ru-RU" b="1" dirty="0" err="1"/>
              <a:t>Generic</a:t>
            </a:r>
            <a:r>
              <a:rPr lang="ru-RU" b="1" dirty="0"/>
              <a:t> </a:t>
            </a:r>
            <a:r>
              <a:rPr lang="ru-RU" b="1" dirty="0" err="1"/>
              <a:t>subdomain</a:t>
            </a:r>
            <a:r>
              <a:rPr lang="ru-RU" dirty="0"/>
              <a:t> — это составляющая, которая помогает бизнес процессу, на что мы можем не тратить свои ресурсы при проектировании.</a:t>
            </a:r>
          </a:p>
          <a:p>
            <a:r>
              <a:rPr lang="ru-RU" b="1" dirty="0" err="1"/>
              <a:t>Bounded</a:t>
            </a:r>
            <a:r>
              <a:rPr lang="ru-RU" b="1" dirty="0"/>
              <a:t> </a:t>
            </a:r>
            <a:r>
              <a:rPr lang="ru-RU" b="1" dirty="0" err="1"/>
              <a:t>context</a:t>
            </a:r>
            <a:r>
              <a:rPr lang="ru-RU" dirty="0"/>
              <a:t> — это разграничение контекстов (это бизнес функционал, который описан BA).</a:t>
            </a:r>
          </a:p>
          <a:p>
            <a:r>
              <a:rPr lang="ru-RU" dirty="0"/>
              <a:t>Ниже я стырил картинку из интернета, на которой наглядно изображены все под-домены.</a:t>
            </a:r>
          </a:p>
          <a:p>
            <a:endParaRPr lang="ru-RU" dirty="0"/>
          </a:p>
        </p:txBody>
      </p:sp>
    </p:spTree>
    <p:extLst>
      <p:ext uri="{BB962C8B-B14F-4D97-AF65-F5344CB8AC3E}">
        <p14:creationId xmlns:p14="http://schemas.microsoft.com/office/powerpoint/2010/main" val="275891738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E9E23429-2BBD-4276-ABF2-85B24E9FA5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4800" y="615950"/>
            <a:ext cx="6502400" cy="5626100"/>
          </a:xfrm>
          <a:prstGeom prst="rect">
            <a:avLst/>
          </a:prstGeom>
        </p:spPr>
      </p:pic>
    </p:spTree>
    <p:extLst>
      <p:ext uri="{BB962C8B-B14F-4D97-AF65-F5344CB8AC3E}">
        <p14:creationId xmlns:p14="http://schemas.microsoft.com/office/powerpoint/2010/main" val="108319412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7D736C5-FAEF-4207-810C-811823741B6C}"/>
              </a:ext>
            </a:extLst>
          </p:cNvPr>
          <p:cNvSpPr txBox="1"/>
          <p:nvPr/>
        </p:nvSpPr>
        <p:spPr>
          <a:xfrm>
            <a:off x="337351" y="663074"/>
            <a:ext cx="11292397" cy="3139321"/>
          </a:xfrm>
          <a:prstGeom prst="rect">
            <a:avLst/>
          </a:prstGeom>
          <a:noFill/>
        </p:spPr>
        <p:txBody>
          <a:bodyPr wrap="square">
            <a:spAutoFit/>
          </a:bodyPr>
          <a:lstStyle/>
          <a:p>
            <a:r>
              <a:rPr lang="ru-RU" dirty="0"/>
              <a:t>DDD позволяет упростить взаимодействие между всеми аспектами разработки продукта </a:t>
            </a:r>
            <a:r>
              <a:rPr lang="ru-RU" b="1" dirty="0"/>
              <a:t>от</a:t>
            </a:r>
            <a:r>
              <a:rPr lang="ru-RU" dirty="0"/>
              <a:t> </a:t>
            </a:r>
            <a:r>
              <a:rPr lang="ru-RU" i="1" dirty="0"/>
              <a:t>этапа появления идеи</a:t>
            </a:r>
            <a:r>
              <a:rPr lang="ru-RU" dirty="0"/>
              <a:t> </a:t>
            </a:r>
            <a:r>
              <a:rPr lang="ru-RU" b="1" dirty="0"/>
              <a:t>до</a:t>
            </a:r>
            <a:r>
              <a:rPr lang="ru-RU" dirty="0"/>
              <a:t> </a:t>
            </a:r>
            <a:r>
              <a:rPr lang="ru-RU" i="1" dirty="0"/>
              <a:t>тестирования уже полностью готового продукта</a:t>
            </a:r>
            <a:r>
              <a:rPr lang="ru-RU" dirty="0"/>
              <a:t>.</a:t>
            </a:r>
          </a:p>
          <a:p>
            <a:r>
              <a:rPr lang="ru-RU" dirty="0"/>
              <a:t>На протяжении всего этапа проектирования и разработки:</a:t>
            </a:r>
          </a:p>
          <a:p>
            <a:pPr>
              <a:buFont typeface="Arial" panose="020B0604020202020204" pitchFamily="34" charset="0"/>
              <a:buChar char="•"/>
            </a:pPr>
            <a:r>
              <a:rPr lang="ru-RU" dirty="0"/>
              <a:t>вся команда будет общаться на едином языке, все будут понимать суть того что происходит в том или ином контексте,</a:t>
            </a:r>
          </a:p>
          <a:p>
            <a:pPr>
              <a:buFont typeface="Arial" panose="020B0604020202020204" pitchFamily="34" charset="0"/>
              <a:buChar char="•"/>
            </a:pPr>
            <a:r>
              <a:rPr lang="ru-RU" dirty="0"/>
              <a:t>внесение доработок будет упрощено за счет распределения по контекстам,</a:t>
            </a:r>
          </a:p>
          <a:p>
            <a:pPr>
              <a:buFont typeface="Arial" panose="020B0604020202020204" pitchFamily="34" charset="0"/>
              <a:buChar char="•"/>
            </a:pPr>
            <a:r>
              <a:rPr lang="ru-RU" dirty="0"/>
              <a:t>будет происходить </a:t>
            </a:r>
            <a:r>
              <a:rPr lang="ru-RU" dirty="0" err="1"/>
              <a:t>раскидывание</a:t>
            </a:r>
            <a:r>
              <a:rPr lang="ru-RU" dirty="0"/>
              <a:t> контекстов на те или иные группы между разработчиками и т.д.</a:t>
            </a: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highlight>
                <a:srgbClr val="FFFF00"/>
              </a:highlight>
            </a:endParaRPr>
          </a:p>
          <a:p>
            <a:pPr>
              <a:buFont typeface="Arial" panose="020B0604020202020204" pitchFamily="34" charset="0"/>
              <a:buChar char="•"/>
            </a:pPr>
            <a:r>
              <a:rPr lang="ru-RU" dirty="0">
                <a:highlight>
                  <a:srgbClr val="FFFF00"/>
                </a:highlight>
              </a:rPr>
              <a:t>Линукс, сетевая инфраструктура </a:t>
            </a:r>
            <a:r>
              <a:rPr lang="ru-RU" dirty="0" err="1">
                <a:highlight>
                  <a:srgbClr val="FFFF00"/>
                </a:highlight>
              </a:rPr>
              <a:t>Линикс</a:t>
            </a:r>
            <a:r>
              <a:rPr lang="ru-RU" dirty="0">
                <a:highlight>
                  <a:srgbClr val="FFFF00"/>
                </a:highlight>
              </a:rPr>
              <a:t>, ядро, компоненты, проект реальный и тесты к нему.  </a:t>
            </a:r>
          </a:p>
          <a:p>
            <a:pPr>
              <a:buFont typeface="Arial" panose="020B0604020202020204" pitchFamily="34" charset="0"/>
              <a:buChar char="•"/>
            </a:pPr>
            <a:endParaRPr lang="ru-RU" dirty="0"/>
          </a:p>
        </p:txBody>
      </p:sp>
    </p:spTree>
    <p:extLst>
      <p:ext uri="{BB962C8B-B14F-4D97-AF65-F5344CB8AC3E}">
        <p14:creationId xmlns:p14="http://schemas.microsoft.com/office/powerpoint/2010/main" val="414228416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8DFD52-FAB5-47DF-96EC-8E162C15B7B9}"/>
              </a:ext>
            </a:extLst>
          </p:cNvPr>
          <p:cNvSpPr txBox="1"/>
          <p:nvPr/>
        </p:nvSpPr>
        <p:spPr>
          <a:xfrm>
            <a:off x="295922" y="408929"/>
            <a:ext cx="11635666" cy="6863417"/>
          </a:xfrm>
          <a:prstGeom prst="rect">
            <a:avLst/>
          </a:prstGeom>
          <a:noFill/>
        </p:spPr>
        <p:txBody>
          <a:bodyPr wrap="square">
            <a:spAutoFit/>
          </a:bodyPr>
          <a:lstStyle/>
          <a:p>
            <a:r>
              <a:rPr lang="ru-RU" sz="2000" b="1" dirty="0"/>
              <a:t>Основные термины и концепции операционных систем </a:t>
            </a:r>
            <a:endParaRPr lang="en-US" sz="2000" b="1" dirty="0"/>
          </a:p>
          <a:p>
            <a:r>
              <a:rPr lang="ru-RU" sz="2000" dirty="0"/>
              <a:t>Обзор ядра </a:t>
            </a:r>
            <a:r>
              <a:rPr lang="ru-RU" sz="2000" dirty="0" err="1"/>
              <a:t>Linux</a:t>
            </a:r>
            <a:r>
              <a:rPr lang="ru-RU" sz="2000" dirty="0"/>
              <a:t> </a:t>
            </a:r>
            <a:endParaRPr lang="en-US" sz="2000" dirty="0"/>
          </a:p>
          <a:p>
            <a:r>
              <a:rPr lang="ru-RU" sz="2000" dirty="0"/>
              <a:t>Основные термины и понятия операционных систем¶ </a:t>
            </a:r>
          </a:p>
          <a:p>
            <a:endParaRPr lang="en-US" sz="2000" dirty="0"/>
          </a:p>
          <a:p>
            <a:r>
              <a:rPr lang="ru-RU" sz="2000" b="1" dirty="0"/>
              <a:t>Пользователь против ядра</a:t>
            </a:r>
            <a:r>
              <a:rPr lang="ru-RU" sz="2000" dirty="0"/>
              <a:t>¶ </a:t>
            </a:r>
            <a:endParaRPr lang="en-US" sz="2000" dirty="0"/>
          </a:p>
          <a:p>
            <a:r>
              <a:rPr lang="ru-RU" sz="2000" dirty="0"/>
              <a:t>Ядро и пользователь — два термина, которые часто используются в операционных системах. Их определение довольно прямолинейно: </a:t>
            </a:r>
          </a:p>
          <a:p>
            <a:r>
              <a:rPr lang="ru-RU" sz="2000" b="1" dirty="0"/>
              <a:t>ядро </a:t>
            </a:r>
            <a:r>
              <a:rPr lang="ru-RU" sz="2000" dirty="0"/>
              <a:t>— это часть операционной системы, которая работает с более высокими привилегиями, тогда как </a:t>
            </a:r>
            <a:r>
              <a:rPr lang="ru-RU" sz="2000" b="1" dirty="0"/>
              <a:t>пользователь</a:t>
            </a:r>
            <a:r>
              <a:rPr lang="ru-RU" sz="2000" dirty="0"/>
              <a:t> (пространство) обычно означает приложения, работающие с низкими привилегиями. Однако эти термины сильно перегружены и могут иметь очень специфические значения в некоторых контекстах. Пользовательский режим и режим ядра — это термины, которые могут конкретно относиться к режиму выполнения процессора. </a:t>
            </a:r>
          </a:p>
          <a:p>
            <a:r>
              <a:rPr lang="ru-RU" sz="2000" dirty="0"/>
              <a:t>Код, работающий в режиме ядра, может полностью управлять ЦП, в то время как код, работающий в пользовательском режиме, имеет определенные ограничения. Например, локальные прерывания ЦП могут быть отключены или разрешены только при работе в режиме ядра. Если такая операция предпринята во время работы в пользовательском режиме, будет сгенерировано исключение, и ядро возьмет на себя его обработку. </a:t>
            </a:r>
          </a:p>
          <a:p>
            <a:r>
              <a:rPr lang="ru-RU" sz="2000" b="1" i="1" dirty="0"/>
              <a:t>Некоторые процессоры могут иметь даже более высокие привилегии, чем режим ядра, например. режим гипервизора, который доступен только для кода, работающего в гипервизоре (монитор виртуальной машины)</a:t>
            </a:r>
            <a:endParaRPr lang="en-US" sz="2000" b="1" i="1" dirty="0"/>
          </a:p>
          <a:p>
            <a:endParaRPr lang="en-US" sz="2000" dirty="0"/>
          </a:p>
          <a:p>
            <a:r>
              <a:rPr lang="ru-RU" sz="2000" dirty="0"/>
              <a:t> </a:t>
            </a:r>
            <a:endParaRPr lang="en-US" sz="2000" dirty="0"/>
          </a:p>
        </p:txBody>
      </p:sp>
    </p:spTree>
    <p:extLst>
      <p:ext uri="{BB962C8B-B14F-4D97-AF65-F5344CB8AC3E}">
        <p14:creationId xmlns:p14="http://schemas.microsoft.com/office/powerpoint/2010/main" val="238870189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BAB1AC-BE00-4BAC-B933-0C7979945E42}"/>
              </a:ext>
            </a:extLst>
          </p:cNvPr>
          <p:cNvSpPr txBox="1"/>
          <p:nvPr/>
        </p:nvSpPr>
        <p:spPr>
          <a:xfrm>
            <a:off x="337351" y="566678"/>
            <a:ext cx="11203619" cy="4616648"/>
          </a:xfrm>
          <a:prstGeom prst="rect">
            <a:avLst/>
          </a:prstGeom>
          <a:noFill/>
        </p:spPr>
        <p:txBody>
          <a:bodyPr wrap="square">
            <a:spAutoFit/>
          </a:bodyPr>
          <a:lstStyle/>
          <a:p>
            <a:r>
              <a:rPr lang="ru-RU" sz="2100" b="1" dirty="0"/>
              <a:t>Пространство пользователя и пространство ядра </a:t>
            </a:r>
            <a:r>
              <a:rPr lang="ru-RU" sz="2100" dirty="0"/>
              <a:t>могут конкретно относиться к защите памяти или к виртуальным адресным пространствам, связанным либо с ядром, либо с пользовательскими приложениями.</a:t>
            </a:r>
          </a:p>
          <a:p>
            <a:endParaRPr lang="ru-RU" sz="2100" dirty="0"/>
          </a:p>
          <a:p>
            <a:r>
              <a:rPr lang="ru-RU" sz="2100" dirty="0"/>
              <a:t> </a:t>
            </a:r>
            <a:r>
              <a:rPr lang="ru-RU" sz="2100" b="1" dirty="0"/>
              <a:t>Грубо говоря, пространство ядра </a:t>
            </a:r>
            <a:r>
              <a:rPr lang="ru-RU" sz="2100" dirty="0"/>
              <a:t>— это область памяти, зарезервированная для ядра, а пространство пользователя — это область памяти, зарезервированная для конкретного пользовательского процесса. </a:t>
            </a:r>
          </a:p>
          <a:p>
            <a:r>
              <a:rPr lang="ru-RU" sz="2100" b="1" dirty="0"/>
              <a:t>Доступ к пространству ядра защищен</a:t>
            </a:r>
            <a:r>
              <a:rPr lang="ru-RU" sz="2100" dirty="0"/>
              <a:t>, поэтому пользовательские приложения не могут получить к нему прямой доступ, в то время как к пользовательскому пространству можно получить прямой доступ из кода, работающего в режиме ядра. </a:t>
            </a:r>
          </a:p>
          <a:p>
            <a:r>
              <a:rPr lang="ru-RU" sz="2100" dirty="0"/>
              <a:t>Типичная архитектура операционной системы¶ </a:t>
            </a:r>
          </a:p>
          <a:p>
            <a:r>
              <a:rPr lang="ru-RU" sz="2100" dirty="0"/>
              <a:t>В типичной архитектуре операционной системы (см. рисунок ниже) ядро операционной системы отвечает за доступ и совместное использование оборудования безопасным и справедливым образом несколькими приложениями.</a:t>
            </a:r>
            <a:endParaRPr lang="en-US" sz="2100" dirty="0"/>
          </a:p>
        </p:txBody>
      </p:sp>
    </p:spTree>
    <p:extLst>
      <p:ext uri="{BB962C8B-B14F-4D97-AF65-F5344CB8AC3E}">
        <p14:creationId xmlns:p14="http://schemas.microsoft.com/office/powerpoint/2010/main" val="71095503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E97C93D4-F999-43B5-BBAB-E49EFD8957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1664" y="182089"/>
            <a:ext cx="8643078" cy="3246911"/>
          </a:xfrm>
          <a:prstGeom prst="rect">
            <a:avLst/>
          </a:prstGeom>
        </p:spPr>
      </p:pic>
      <p:sp>
        <p:nvSpPr>
          <p:cNvPr id="7" name="TextBox 6">
            <a:extLst>
              <a:ext uri="{FF2B5EF4-FFF2-40B4-BE49-F238E27FC236}">
                <a16:creationId xmlns:a16="http://schemas.microsoft.com/office/drawing/2014/main" id="{2E385826-0BF0-4B33-986A-7DCBB494AD8F}"/>
              </a:ext>
            </a:extLst>
          </p:cNvPr>
          <p:cNvSpPr txBox="1"/>
          <p:nvPr/>
        </p:nvSpPr>
        <p:spPr>
          <a:xfrm>
            <a:off x="476434" y="3352969"/>
            <a:ext cx="11239131" cy="2862322"/>
          </a:xfrm>
          <a:prstGeom prst="rect">
            <a:avLst/>
          </a:prstGeom>
          <a:noFill/>
        </p:spPr>
        <p:txBody>
          <a:bodyPr wrap="square">
            <a:spAutoFit/>
          </a:bodyPr>
          <a:lstStyle/>
          <a:p>
            <a:r>
              <a:rPr lang="ru-RU" dirty="0"/>
              <a:t>Ядро предлагает набор API-интерфейсов, которые выдают приложения, которые обычно называются «системными вызовами». </a:t>
            </a:r>
          </a:p>
          <a:p>
            <a:r>
              <a:rPr lang="ru-RU" dirty="0"/>
              <a:t>Эти API-интерфейсы отличаются от API-интерфейсов обычных библиотек, поскольку они являются границей, на которой режим выполнения переключается с пользовательского режима на режим ядра. </a:t>
            </a:r>
          </a:p>
          <a:p>
            <a:r>
              <a:rPr lang="ru-RU" dirty="0"/>
              <a:t>Для обеспечения совместимости приложений системные вызовы изменяются редко. </a:t>
            </a:r>
          </a:p>
          <a:p>
            <a:r>
              <a:rPr lang="ru-RU" dirty="0" err="1"/>
              <a:t>Linux</a:t>
            </a:r>
            <a:r>
              <a:rPr lang="ru-RU" dirty="0"/>
              <a:t> особенно применяет это (в отличие от API-интерфейсов ядра, которые могут меняться по мере необходимости). Сам код ядра можно логически разделить на код ядра и код драйверов устройств. </a:t>
            </a:r>
          </a:p>
          <a:p>
            <a:r>
              <a:rPr lang="ru-RU" dirty="0"/>
              <a:t>Код драйверов устройств отвечает за доступ к конкретным устройствам, в то время как основной код ядра является общим. Ядро  может быть дополнительно разделено на несколько логических подсистем (например, доступ к файлам, сеть, управление процессами и т. д.).</a:t>
            </a:r>
            <a:endParaRPr lang="en-US" dirty="0"/>
          </a:p>
        </p:txBody>
      </p:sp>
    </p:spTree>
    <p:extLst>
      <p:ext uri="{BB962C8B-B14F-4D97-AF65-F5344CB8AC3E}">
        <p14:creationId xmlns:p14="http://schemas.microsoft.com/office/powerpoint/2010/main" val="54570907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0A529F-9ED7-4D72-A8CC-F901CCDAEA6E}"/>
              </a:ext>
            </a:extLst>
          </p:cNvPr>
          <p:cNvSpPr txBox="1"/>
          <p:nvPr/>
        </p:nvSpPr>
        <p:spPr>
          <a:xfrm>
            <a:off x="639191" y="248575"/>
            <a:ext cx="11319029" cy="923330"/>
          </a:xfrm>
          <a:prstGeom prst="rect">
            <a:avLst/>
          </a:prstGeom>
          <a:noFill/>
        </p:spPr>
        <p:txBody>
          <a:bodyPr wrap="square">
            <a:spAutoFit/>
          </a:bodyPr>
          <a:lstStyle/>
          <a:p>
            <a:r>
              <a:rPr lang="ru-RU" b="1" dirty="0"/>
              <a:t>Монолитное ядро¶ </a:t>
            </a:r>
          </a:p>
          <a:p>
            <a:r>
              <a:rPr lang="ru-RU" dirty="0"/>
              <a:t>Монолитное ядро — это ядро, в котором нет защиты доступа между различными подсистемами ядра и в котором общедоступные функции могут напрямую вызываться между различными подсистемами.</a:t>
            </a:r>
            <a:endParaRPr lang="en-US" dirty="0"/>
          </a:p>
        </p:txBody>
      </p:sp>
      <p:pic>
        <p:nvPicPr>
          <p:cNvPr id="5" name="Рисунок 4">
            <a:extLst>
              <a:ext uri="{FF2B5EF4-FFF2-40B4-BE49-F238E27FC236}">
                <a16:creationId xmlns:a16="http://schemas.microsoft.com/office/drawing/2014/main" id="{93E9E7B3-B56D-46CC-A4C5-85F2F309BF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2784" y="1171905"/>
            <a:ext cx="7031115" cy="3864655"/>
          </a:xfrm>
          <a:prstGeom prst="rect">
            <a:avLst/>
          </a:prstGeom>
        </p:spPr>
      </p:pic>
      <p:sp>
        <p:nvSpPr>
          <p:cNvPr id="7" name="TextBox 6">
            <a:extLst>
              <a:ext uri="{FF2B5EF4-FFF2-40B4-BE49-F238E27FC236}">
                <a16:creationId xmlns:a16="http://schemas.microsoft.com/office/drawing/2014/main" id="{1DF02B1E-D63A-4085-A827-650265BF0DB5}"/>
              </a:ext>
            </a:extLst>
          </p:cNvPr>
          <p:cNvSpPr txBox="1"/>
          <p:nvPr/>
        </p:nvSpPr>
        <p:spPr>
          <a:xfrm>
            <a:off x="776794" y="5036560"/>
            <a:ext cx="11181425" cy="1477328"/>
          </a:xfrm>
          <a:prstGeom prst="rect">
            <a:avLst/>
          </a:prstGeom>
          <a:noFill/>
        </p:spPr>
        <p:txBody>
          <a:bodyPr wrap="square">
            <a:spAutoFit/>
          </a:bodyPr>
          <a:lstStyle/>
          <a:p>
            <a:r>
              <a:rPr lang="ru-RU" dirty="0"/>
              <a:t>Тем не менее, большинство монолитных ядер обеспечивают логическое разделение между подсистемами, особенно между ядром ядра и драйверами устройств с относительно строгими API (но не обязательно зафиксированными в сборке), которые должны использоваться для доступа к службам, предлагаемым одной подсистемой или драйверами устройств. Это, конечно, зависит от конкретной реализации ядра и архитектуры ядра.</a:t>
            </a:r>
            <a:endParaRPr lang="en-US" dirty="0"/>
          </a:p>
        </p:txBody>
      </p:sp>
    </p:spTree>
    <p:extLst>
      <p:ext uri="{BB962C8B-B14F-4D97-AF65-F5344CB8AC3E}">
        <p14:creationId xmlns:p14="http://schemas.microsoft.com/office/powerpoint/2010/main" val="129558706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BECD1223-CC0A-4CB8-B5EF-8CAB06229549}"/>
              </a:ext>
            </a:extLst>
          </p:cNvPr>
          <p:cNvSpPr>
            <a:spLocks noGrp="1"/>
          </p:cNvSpPr>
          <p:nvPr>
            <p:ph idx="1"/>
          </p:nvPr>
        </p:nvSpPr>
        <p:spPr>
          <a:xfrm>
            <a:off x="352148" y="289788"/>
            <a:ext cx="11588318" cy="3571998"/>
          </a:xfrm>
        </p:spPr>
        <p:txBody>
          <a:bodyPr>
            <a:normAutofit/>
          </a:bodyPr>
          <a:lstStyle/>
          <a:p>
            <a:pPr marL="0" indent="0">
              <a:buNone/>
            </a:pPr>
            <a:r>
              <a:rPr lang="ru-RU" sz="1800" b="1" dirty="0"/>
              <a:t>Монолитная ОС </a:t>
            </a:r>
            <a:r>
              <a:rPr lang="ru-RU" sz="1800" dirty="0"/>
              <a:t>(UNIX или </a:t>
            </a:r>
            <a:r>
              <a:rPr lang="ru-RU" sz="1800" dirty="0" err="1"/>
              <a:t>Novell</a:t>
            </a:r>
            <a:r>
              <a:rPr lang="ru-RU" sz="1800" dirty="0"/>
              <a:t> </a:t>
            </a:r>
            <a:r>
              <a:rPr lang="ru-RU" sz="1800" dirty="0" err="1"/>
              <a:t>NetWare</a:t>
            </a:r>
            <a:r>
              <a:rPr lang="ru-RU" sz="1800" dirty="0"/>
              <a:t>) использует монолитное ядро, которое компонуется как одна программа, работающая в привилегированном режиме. </a:t>
            </a:r>
          </a:p>
          <a:p>
            <a:pPr marL="0" indent="0">
              <a:buNone/>
            </a:pPr>
            <a:r>
              <a:rPr lang="ru-RU" sz="1800" dirty="0"/>
              <a:t>Монолитное ядро представляет собой набор процедур, каждая из которых может вызвать каждую. </a:t>
            </a:r>
          </a:p>
          <a:p>
            <a:pPr marL="0" indent="0">
              <a:buNone/>
            </a:pPr>
            <a:r>
              <a:rPr lang="ru-RU" sz="1800" dirty="0"/>
              <a:t>Все процедуры работают в привилегированном режиме. </a:t>
            </a:r>
          </a:p>
          <a:p>
            <a:pPr marL="0" indent="0">
              <a:buNone/>
            </a:pPr>
            <a:r>
              <a:rPr lang="ru-RU" sz="1800" dirty="0"/>
              <a:t>Таким образом, монолитное ядро – это такая схема операционной системы, при которой все ее компоненты являются составными частями одной программы, используют общие структуры данных и взаимодействуют друг с другом путем непосредственного вызова процедур. </a:t>
            </a:r>
          </a:p>
          <a:p>
            <a:pPr marL="0" indent="0">
              <a:buNone/>
            </a:pPr>
            <a:r>
              <a:rPr lang="ru-RU" sz="1800" dirty="0"/>
              <a:t>Для монолитной операционной системы ядро совпадает со всей системой. Во многих операционных системах с монолитным ядром сборка ядра, то есть его компиляция, осуществляется отдельно для каждого компьютера, на который устанавливается операционная система. При этом можно выбрать список оборудования и программных протоколов, поддержка которых будет включена в ядро. Так как ядро является единой программой, перекомпиляция – это единственный способ добавить в него новые компоненты или исключить неиспользуемые.</a:t>
            </a:r>
            <a:endParaRPr lang="en-US" dirty="0"/>
          </a:p>
        </p:txBody>
      </p:sp>
      <p:pic>
        <p:nvPicPr>
          <p:cNvPr id="5" name="Рисунок 4">
            <a:extLst>
              <a:ext uri="{FF2B5EF4-FFF2-40B4-BE49-F238E27FC236}">
                <a16:creationId xmlns:a16="http://schemas.microsoft.com/office/drawing/2014/main" id="{F67E7A93-3A2E-40DD-9E19-5AD90C9F3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1833" y="4096397"/>
            <a:ext cx="3518516" cy="2660878"/>
          </a:xfrm>
          <a:prstGeom prst="rect">
            <a:avLst/>
          </a:prstGeom>
        </p:spPr>
      </p:pic>
      <p:pic>
        <p:nvPicPr>
          <p:cNvPr id="7" name="Рисунок 6">
            <a:extLst>
              <a:ext uri="{FF2B5EF4-FFF2-40B4-BE49-F238E27FC236}">
                <a16:creationId xmlns:a16="http://schemas.microsoft.com/office/drawing/2014/main" id="{4F708210-EB8B-4B72-B53D-B72AFE0B55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755" y="4301184"/>
            <a:ext cx="2740888" cy="2114096"/>
          </a:xfrm>
          <a:prstGeom prst="rect">
            <a:avLst/>
          </a:prstGeom>
        </p:spPr>
      </p:pic>
    </p:spTree>
    <p:extLst>
      <p:ext uri="{BB962C8B-B14F-4D97-AF65-F5344CB8AC3E}">
        <p14:creationId xmlns:p14="http://schemas.microsoft.com/office/powerpoint/2010/main" val="384639869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287A8E-3014-4C66-829E-51C09AA1982F}"/>
              </a:ext>
            </a:extLst>
          </p:cNvPr>
          <p:cNvSpPr txBox="1"/>
          <p:nvPr/>
        </p:nvSpPr>
        <p:spPr>
          <a:xfrm>
            <a:off x="330693" y="338182"/>
            <a:ext cx="11574262" cy="1477328"/>
          </a:xfrm>
          <a:prstGeom prst="rect">
            <a:avLst/>
          </a:prstGeom>
          <a:noFill/>
        </p:spPr>
        <p:txBody>
          <a:bodyPr wrap="square">
            <a:spAutoFit/>
          </a:bodyPr>
          <a:lstStyle/>
          <a:p>
            <a:r>
              <a:rPr lang="ru-RU" b="1" dirty="0"/>
              <a:t>Микроядро</a:t>
            </a:r>
            <a:r>
              <a:rPr lang="ru-RU" dirty="0"/>
              <a:t>¶ </a:t>
            </a:r>
          </a:p>
          <a:p>
            <a:endParaRPr lang="ru-RU" dirty="0"/>
          </a:p>
          <a:p>
            <a:r>
              <a:rPr lang="ru-RU" dirty="0"/>
              <a:t>Микроядро — это ядро, в котором большие части ядра защищены друг от друга и обычно работают как службы в пользовательском пространстве. Поскольку значительные части ядра теперь работают в пользовательском режиме, оставшийся код, работающий в режиме ядра, значительно меньше, отсюда и термин «микроядро».</a:t>
            </a:r>
            <a:endParaRPr lang="en-US" dirty="0"/>
          </a:p>
        </p:txBody>
      </p:sp>
      <p:pic>
        <p:nvPicPr>
          <p:cNvPr id="5" name="Рисунок 4">
            <a:extLst>
              <a:ext uri="{FF2B5EF4-FFF2-40B4-BE49-F238E27FC236}">
                <a16:creationId xmlns:a16="http://schemas.microsoft.com/office/drawing/2014/main" id="{ED7DA992-1A96-4567-908E-B73B04F4F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060" y="2648220"/>
            <a:ext cx="9994641" cy="4072176"/>
          </a:xfrm>
          <a:prstGeom prst="rect">
            <a:avLst/>
          </a:prstGeom>
        </p:spPr>
      </p:pic>
    </p:spTree>
    <p:extLst>
      <p:ext uri="{BB962C8B-B14F-4D97-AF65-F5344CB8AC3E}">
        <p14:creationId xmlns:p14="http://schemas.microsoft.com/office/powerpoint/2010/main" val="207141987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31D0E6-8055-4162-808D-9C837EFC130D}"/>
              </a:ext>
            </a:extLst>
          </p:cNvPr>
          <p:cNvSpPr txBox="1"/>
          <p:nvPr/>
        </p:nvSpPr>
        <p:spPr>
          <a:xfrm>
            <a:off x="656947" y="338065"/>
            <a:ext cx="9916357" cy="5078313"/>
          </a:xfrm>
          <a:prstGeom prst="rect">
            <a:avLst/>
          </a:prstGeom>
          <a:noFill/>
        </p:spPr>
        <p:txBody>
          <a:bodyPr wrap="square">
            <a:spAutoFit/>
          </a:bodyPr>
          <a:lstStyle/>
          <a:p>
            <a:r>
              <a:rPr lang="ru-RU" b="1" dirty="0"/>
              <a:t>В </a:t>
            </a:r>
            <a:r>
              <a:rPr lang="ru-RU" b="1" dirty="0" err="1"/>
              <a:t>микроядерной</a:t>
            </a:r>
            <a:r>
              <a:rPr lang="ru-RU" b="1" dirty="0"/>
              <a:t> архитектуре ядро </a:t>
            </a:r>
            <a:r>
              <a:rPr lang="ru-RU" dirty="0"/>
              <a:t>содержит ровно столько кода, который позволяет передавать сообщения между различными работающими процессами. </a:t>
            </a:r>
          </a:p>
          <a:p>
            <a:endParaRPr lang="ru-RU" dirty="0"/>
          </a:p>
          <a:p>
            <a:r>
              <a:rPr lang="ru-RU" dirty="0"/>
              <a:t>На практике это означает реализацию планировщика и механизма IPC (</a:t>
            </a:r>
            <a:r>
              <a:rPr lang="ru-RU" dirty="0" err="1"/>
              <a:t>межпроцессовое</a:t>
            </a:r>
            <a:r>
              <a:rPr lang="ru-RU" dirty="0"/>
              <a:t> </a:t>
            </a:r>
            <a:r>
              <a:rPr lang="ru-RU" dirty="0" err="1"/>
              <a:t>взаимодейсвие</a:t>
            </a:r>
            <a:r>
              <a:rPr lang="ru-RU" dirty="0"/>
              <a:t>) в ядре, а также базовое управление памятью для настройки защиты между приложениями и службами. </a:t>
            </a:r>
          </a:p>
          <a:p>
            <a:r>
              <a:rPr lang="ru-RU" dirty="0"/>
              <a:t>Одним из преимуществ этой архитектуры является то, что сервисы изолированы, поэтому ошибки в одном сервисе не повлияют на другие сервисы. </a:t>
            </a:r>
          </a:p>
          <a:p>
            <a:r>
              <a:rPr lang="ru-RU" dirty="0"/>
              <a:t>Таким образом, в случае сбоя службы мы можем просто перезапустить ее, не затрагивая всю систему. </a:t>
            </a:r>
          </a:p>
          <a:p>
            <a:r>
              <a:rPr lang="ru-RU" dirty="0"/>
              <a:t>Однако на практике этого трудно добиться, поскольку перезапуск службы может повлиять на все приложения, которые зависят от этой службы (например, если файловый сервер выйдет из строя, все приложения с открытыми файловыми дескрипторами столкнутся с ошибками при доступе к ним). </a:t>
            </a:r>
          </a:p>
          <a:p>
            <a:r>
              <a:rPr lang="ru-RU" dirty="0"/>
              <a:t>Эта архитектура навязывает модульный подход к ядру и обеспечивает защиту памяти между службами, но за счет снижения производительности. То, что является простым вызовом функции между двумя службами на монолитных ядрах, теперь требует прохождения IPC и планирования, что приведет к снижению производительности.</a:t>
            </a:r>
            <a:endParaRPr lang="en-US" dirty="0"/>
          </a:p>
        </p:txBody>
      </p:sp>
    </p:spTree>
    <p:extLst>
      <p:ext uri="{BB962C8B-B14F-4D97-AF65-F5344CB8AC3E}">
        <p14:creationId xmlns:p14="http://schemas.microsoft.com/office/powerpoint/2010/main" val="204966820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9E1410-4024-4B7F-9860-2AA35A4D2FD2}"/>
              </a:ext>
            </a:extLst>
          </p:cNvPr>
          <p:cNvSpPr txBox="1"/>
          <p:nvPr/>
        </p:nvSpPr>
        <p:spPr>
          <a:xfrm>
            <a:off x="363983" y="403673"/>
            <a:ext cx="11745157" cy="5632311"/>
          </a:xfrm>
          <a:prstGeom prst="rect">
            <a:avLst/>
          </a:prstGeom>
          <a:noFill/>
        </p:spPr>
        <p:txBody>
          <a:bodyPr wrap="square">
            <a:spAutoFit/>
          </a:bodyPr>
          <a:lstStyle/>
          <a:p>
            <a:r>
              <a:rPr lang="ru-RU" b="1" dirty="0" err="1"/>
              <a:t>Микроядерная</a:t>
            </a:r>
            <a:r>
              <a:rPr lang="ru-RU" b="1" dirty="0"/>
              <a:t> </a:t>
            </a:r>
            <a:r>
              <a:rPr lang="ru-RU" dirty="0"/>
              <a:t>архитектура является альтернативой классическому способу построения операционной системы. </a:t>
            </a:r>
          </a:p>
          <a:p>
            <a:r>
              <a:rPr lang="ru-RU" dirty="0"/>
              <a:t>Под классической архитектурой в данном случае понимается рассмотренная выше структурная организация ОС, в соответствии с которой все основные функции операционной системы, составляющие многослойное ядро, выполняются в привилегированном режиме. </a:t>
            </a:r>
          </a:p>
          <a:p>
            <a:r>
              <a:rPr lang="ru-RU" dirty="0"/>
              <a:t>При этом некоторые вспомогательные функции ОС оформляются в виде приложений и выполняются в пользовательском режиме наряду с обычными пользовательскими программами (становясь системными утилитами или обрабатывающими программами). </a:t>
            </a:r>
          </a:p>
          <a:p>
            <a:r>
              <a:rPr lang="ru-RU" dirty="0"/>
              <a:t>Каждое приложение пользовательского режима работает в собственном адресном пространстве и защищено тем самым от какого-либо вмешательства других приложений. </a:t>
            </a:r>
          </a:p>
          <a:p>
            <a:r>
              <a:rPr lang="ru-RU" dirty="0"/>
              <a:t>Код ядра, выполняемый в привилегированном режиме, имеет доступ к областям памяти всех приложений, но сам полностью от них защищен. </a:t>
            </a:r>
          </a:p>
          <a:p>
            <a:r>
              <a:rPr lang="ru-RU" dirty="0"/>
              <a:t>Приложения обращаются к ядру с запросами на выполнение системных функций.</a:t>
            </a:r>
          </a:p>
          <a:p>
            <a:endParaRPr lang="ru-RU" dirty="0"/>
          </a:p>
          <a:p>
            <a:r>
              <a:rPr lang="ru-RU" dirty="0"/>
              <a:t>Суть </a:t>
            </a:r>
            <a:r>
              <a:rPr lang="ru-RU" dirty="0" err="1"/>
              <a:t>микроядерной</a:t>
            </a:r>
            <a:r>
              <a:rPr lang="ru-RU" dirty="0"/>
              <a:t> архитектуры состоит в следующем. В привилегированном режиме остается работать только очень небольшая часть ОС, называемая микроядром. Микроядро защищено от остальных частей ОС и приложений. В состав микроядра обычно входят машинно-зависимые модули, а также модули, выполняющие базовые (но не все!) функции ядра по управлению процессами, обработке прерываний, управлению виртуальной памятью, пересылке сообщений и управлению устройствами ввода-вывода, связанные с загрузкой или чтением регистров устройств. Набор функций микроядра обычно соответствует функциям слоя базовых механизмов обычного ядра. Такие функции операционной системы трудно, если не невозможно, выполнить в пространстве пользователя.</a:t>
            </a:r>
          </a:p>
        </p:txBody>
      </p:sp>
    </p:spTree>
    <p:extLst>
      <p:ext uri="{BB962C8B-B14F-4D97-AF65-F5344CB8AC3E}">
        <p14:creationId xmlns:p14="http://schemas.microsoft.com/office/powerpoint/2010/main" val="397654921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2A97566F-E886-4402-AFEF-F143A418DC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0641" y="973491"/>
            <a:ext cx="8554189" cy="4362636"/>
          </a:xfrm>
          <a:prstGeom prst="rect">
            <a:avLst/>
          </a:prstGeom>
        </p:spPr>
      </p:pic>
      <p:sp>
        <p:nvSpPr>
          <p:cNvPr id="6" name="TextBox 5">
            <a:extLst>
              <a:ext uri="{FF2B5EF4-FFF2-40B4-BE49-F238E27FC236}">
                <a16:creationId xmlns:a16="http://schemas.microsoft.com/office/drawing/2014/main" id="{90C90632-2D18-49DD-8C47-A9EE31498A5E}"/>
              </a:ext>
            </a:extLst>
          </p:cNvPr>
          <p:cNvSpPr txBox="1"/>
          <p:nvPr/>
        </p:nvSpPr>
        <p:spPr>
          <a:xfrm>
            <a:off x="1307235" y="5561343"/>
            <a:ext cx="9745463" cy="369332"/>
          </a:xfrm>
          <a:prstGeom prst="rect">
            <a:avLst/>
          </a:prstGeom>
          <a:noFill/>
        </p:spPr>
        <p:txBody>
          <a:bodyPr wrap="square">
            <a:spAutoFit/>
          </a:bodyPr>
          <a:lstStyle/>
          <a:p>
            <a:r>
              <a:rPr lang="ru-RU" dirty="0"/>
              <a:t>Перенос основного объема функций ядра в пользовательское пространство</a:t>
            </a:r>
            <a:endParaRPr lang="en-US" dirty="0"/>
          </a:p>
        </p:txBody>
      </p:sp>
    </p:spTree>
    <p:extLst>
      <p:ext uri="{BB962C8B-B14F-4D97-AF65-F5344CB8AC3E}">
        <p14:creationId xmlns:p14="http://schemas.microsoft.com/office/powerpoint/2010/main" val="330451524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543740E-49A1-4565-8579-D35FAC5254A9}"/>
              </a:ext>
            </a:extLst>
          </p:cNvPr>
          <p:cNvSpPr txBox="1"/>
          <p:nvPr/>
        </p:nvSpPr>
        <p:spPr>
          <a:xfrm>
            <a:off x="390617" y="519045"/>
            <a:ext cx="11452196" cy="6186309"/>
          </a:xfrm>
          <a:prstGeom prst="rect">
            <a:avLst/>
          </a:prstGeom>
          <a:noFill/>
        </p:spPr>
        <p:txBody>
          <a:bodyPr wrap="square">
            <a:spAutoFit/>
          </a:bodyPr>
          <a:lstStyle/>
          <a:p>
            <a:r>
              <a:rPr lang="ru-RU" dirty="0"/>
              <a:t>Все остальные более высокоуровневые функции ядра оформляются в виде приложений, работающих в пользовательском режиме. Однозначного решения о том, какие из системных функций нужно оставить в привилегированном режиме, а какие перенести в пользовательский, не существует. В общем случае многие менеджеры ресурсов, являющиеся неотъемлемыми частями обычного ядра — файловая система, подсистемы управления виртуальной памятью и процессами, менеджер безопасности и т. п., — становятся «периферийными» модулями, работающими в пользовательском режиме.</a:t>
            </a:r>
          </a:p>
          <a:p>
            <a:endParaRPr lang="ru-RU" dirty="0"/>
          </a:p>
          <a:p>
            <a:r>
              <a:rPr lang="ru-RU" dirty="0"/>
              <a:t>Работающие в пользовательском режиме менеджеры ресурсов имеют принципиальные отличия от традиционных утилит и обрабатывающих программ операционной системы, хотя при </a:t>
            </a:r>
            <a:r>
              <a:rPr lang="ru-RU" dirty="0" err="1"/>
              <a:t>микроядерной</a:t>
            </a:r>
            <a:r>
              <a:rPr lang="ru-RU" dirty="0"/>
              <a:t> архитектуре все эти программные компоненты также оформлены в виде приложений. </a:t>
            </a:r>
          </a:p>
          <a:p>
            <a:r>
              <a:rPr lang="ru-RU" dirty="0"/>
              <a:t>Утилиты и обрабатывающие программы вызываются в основном пользователями. Ситуации, когда одному приложению требуется выполнение функции (процедуры) другого приложения, возникают крайне редко. Поэтому в операционных системах с классической архитектурой отсутствует механизм, с помощью которого одно приложение могло бы вызвать функции другого.</a:t>
            </a:r>
          </a:p>
          <a:p>
            <a:r>
              <a:rPr lang="ru-RU" dirty="0"/>
              <a:t>Совсем другая ситуация возникает, когда в форме приложения оформляется часть операционной системы. По определению, основным назначением такого приложения является обслуживание запросов других приложений, например создание процесса, выделение памяти, проверка прав доступа к ресурсу и т. д. Именно поэтому менеджеры ресурсов, вынесенные в пользовательский режим, называются серверами ОС, то есть модулями, основным назначением которых является обслуживание запросов локальных приложений и других модулей ОС. Очевидно, что для реализации </a:t>
            </a:r>
            <a:r>
              <a:rPr lang="ru-RU" dirty="0" err="1"/>
              <a:t>микроядерной</a:t>
            </a:r>
            <a:r>
              <a:rPr lang="ru-RU" dirty="0"/>
              <a:t> архитектуры необходимым условием является наличие в операционной системе удобного и эффективного способа вызова процедур одного процесса из другого. Поддержка такого механизма и является одной из главных задач микроядра.</a:t>
            </a:r>
          </a:p>
        </p:txBody>
      </p:sp>
    </p:spTree>
    <p:extLst>
      <p:ext uri="{BB962C8B-B14F-4D97-AF65-F5344CB8AC3E}">
        <p14:creationId xmlns:p14="http://schemas.microsoft.com/office/powerpoint/2010/main" val="11198561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45BDE1-BAC8-4271-91E7-C6C951B15E61}"/>
              </a:ext>
            </a:extLst>
          </p:cNvPr>
          <p:cNvSpPr txBox="1"/>
          <p:nvPr/>
        </p:nvSpPr>
        <p:spPr>
          <a:xfrm>
            <a:off x="550416" y="295467"/>
            <a:ext cx="11505460" cy="2862322"/>
          </a:xfrm>
          <a:prstGeom prst="rect">
            <a:avLst/>
          </a:prstGeom>
          <a:noFill/>
        </p:spPr>
        <p:txBody>
          <a:bodyPr wrap="square">
            <a:spAutoFit/>
          </a:bodyPr>
          <a:lstStyle/>
          <a:p>
            <a:r>
              <a:rPr lang="ru-RU" dirty="0"/>
              <a:t>Схематично механизм обращения к функциям ОС, оформленным в виде серверов, выглядит следующим образом . Клиент, которым может быть либо прикладная программа, либо другой компонент ОС, запрашивает выполнение некоторой функции у соответствующего сервера, посылая ему сообщение. Непосредственная передача сообщений между приложениями невозможна, так как их адресные пространства изолированы друг от друга. Микроядро, выполняющееся в привилегированном режиме, имеет доступ к адресным пространствам каждого из этих приложений и поэтому может работать в качестве посредника. Микроядро сначала передает сообщение, содержащее имя и параметры вызываемой процедуры нужному серверу, затем сервер выполняет запрошенную операцию, после чего ядро возвращает результаты клиенту с помощью другого сообщения. Таким образом, работа </a:t>
            </a:r>
            <a:r>
              <a:rPr lang="ru-RU" dirty="0" err="1"/>
              <a:t>микроядерной</a:t>
            </a:r>
            <a:r>
              <a:rPr lang="ru-RU" dirty="0"/>
              <a:t> операционной системы соответствует известной модели клиент-сервер, в которой роль транспортных средств выполняет микроядро.</a:t>
            </a:r>
            <a:endParaRPr lang="en-US" dirty="0"/>
          </a:p>
        </p:txBody>
      </p:sp>
      <p:pic>
        <p:nvPicPr>
          <p:cNvPr id="5" name="Рисунок 4">
            <a:extLst>
              <a:ext uri="{FF2B5EF4-FFF2-40B4-BE49-F238E27FC236}">
                <a16:creationId xmlns:a16="http://schemas.microsoft.com/office/drawing/2014/main" id="{FD821620-0307-4AA6-BAE5-32090DB377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0135" y="3047259"/>
            <a:ext cx="6361405" cy="3307931"/>
          </a:xfrm>
          <a:prstGeom prst="rect">
            <a:avLst/>
          </a:prstGeom>
        </p:spPr>
      </p:pic>
      <p:sp>
        <p:nvSpPr>
          <p:cNvPr id="7" name="TextBox 6">
            <a:extLst>
              <a:ext uri="{FF2B5EF4-FFF2-40B4-BE49-F238E27FC236}">
                <a16:creationId xmlns:a16="http://schemas.microsoft.com/office/drawing/2014/main" id="{210A6CC3-1E6F-45FF-8382-C4D50C0723B7}"/>
              </a:ext>
            </a:extLst>
          </p:cNvPr>
          <p:cNvSpPr txBox="1"/>
          <p:nvPr/>
        </p:nvSpPr>
        <p:spPr>
          <a:xfrm>
            <a:off x="2249933" y="6377867"/>
            <a:ext cx="7531039" cy="369332"/>
          </a:xfrm>
          <a:prstGeom prst="rect">
            <a:avLst/>
          </a:prstGeom>
          <a:noFill/>
        </p:spPr>
        <p:txBody>
          <a:bodyPr wrap="square">
            <a:spAutoFit/>
          </a:bodyPr>
          <a:lstStyle/>
          <a:p>
            <a:r>
              <a:rPr lang="ru-RU" dirty="0"/>
              <a:t>Реализация системного вызова в </a:t>
            </a:r>
            <a:r>
              <a:rPr lang="ru-RU" dirty="0" err="1"/>
              <a:t>микроядерной</a:t>
            </a:r>
            <a:r>
              <a:rPr lang="ru-RU" dirty="0"/>
              <a:t> архитектуре</a:t>
            </a:r>
            <a:endParaRPr lang="en-US" dirty="0"/>
          </a:p>
        </p:txBody>
      </p:sp>
    </p:spTree>
    <p:extLst>
      <p:ext uri="{BB962C8B-B14F-4D97-AF65-F5344CB8AC3E}">
        <p14:creationId xmlns:p14="http://schemas.microsoft.com/office/powerpoint/2010/main" val="296655756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BFF8F85-1EA4-45A0-8DA2-45B81A793A4B}"/>
              </a:ext>
            </a:extLst>
          </p:cNvPr>
          <p:cNvSpPr txBox="1"/>
          <p:nvPr/>
        </p:nvSpPr>
        <p:spPr>
          <a:xfrm>
            <a:off x="244136" y="186948"/>
            <a:ext cx="11703728" cy="6740307"/>
          </a:xfrm>
          <a:prstGeom prst="rect">
            <a:avLst/>
          </a:prstGeom>
          <a:noFill/>
        </p:spPr>
        <p:txBody>
          <a:bodyPr wrap="square">
            <a:spAutoFit/>
          </a:bodyPr>
          <a:lstStyle/>
          <a:p>
            <a:r>
              <a:rPr lang="ru-RU" b="1" dirty="0"/>
              <a:t>Преимущества и недостатки </a:t>
            </a:r>
            <a:r>
              <a:rPr lang="ru-RU" b="1" dirty="0" err="1"/>
              <a:t>микроядерной</a:t>
            </a:r>
            <a:r>
              <a:rPr lang="ru-RU" b="1" dirty="0"/>
              <a:t> архитектуры</a:t>
            </a:r>
            <a:endParaRPr lang="ru-RU" dirty="0"/>
          </a:p>
          <a:p>
            <a:r>
              <a:rPr lang="ru-RU" dirty="0"/>
              <a:t>Операционные системы, основанные на концепции микроядра, в высокой степени удовлетворяют большинству требований, предъявляемых к современным ОС, обладая переносимостью, расширяемостью, надежностью и создавая хорошие предпосылки для поддержки распределенных приложений. За эти достоинства приходится платить снижением производительности, и это является основным недостатком </a:t>
            </a:r>
            <a:r>
              <a:rPr lang="ru-RU" dirty="0" err="1"/>
              <a:t>микроядерной</a:t>
            </a:r>
            <a:r>
              <a:rPr lang="ru-RU" dirty="0"/>
              <a:t> архитектуры.</a:t>
            </a:r>
          </a:p>
          <a:p>
            <a:r>
              <a:rPr lang="ru-RU" dirty="0"/>
              <a:t>Высокая степень переносимости обусловлена тем, что весь машинно-зависимый код изолирован в микроядре, поэтому для переноса системы на новый процессор требуется меньше изменений и все они логически сгруппированы вместе.</a:t>
            </a:r>
          </a:p>
          <a:p>
            <a:r>
              <a:rPr lang="ru-RU" dirty="0"/>
              <a:t>Расширяемость присуща </a:t>
            </a:r>
            <a:r>
              <a:rPr lang="ru-RU" dirty="0" err="1"/>
              <a:t>микроядерной</a:t>
            </a:r>
            <a:r>
              <a:rPr lang="ru-RU" dirty="0"/>
              <a:t> ОС в очень высокой степени. В традиционных системах даже при наличии многослойной структуры нелегко удалить один слой и поменять его на другой по причине множественности и размытости интерфейсов между слоями. Добавление новых функций и изменение существующих требует хорошего знания операционной системы и больших затрат времени. В то же время ограниченный набор четко определенных интерфейсов микроядра открывает путь к упорядоченному росту и эволюции ОС. Добавление новой подсистемы требует разработки нового приложения, что никак не затрагивает целостность микроядра. </a:t>
            </a:r>
            <a:r>
              <a:rPr lang="ru-RU" dirty="0" err="1"/>
              <a:t>Микроядерная</a:t>
            </a:r>
            <a:r>
              <a:rPr lang="ru-RU" dirty="0"/>
              <a:t> структура позволяет не только добавлять, но и сокращать число компонентов операционной системы, что также бывает очень полезно. Например, не всем пользователям нужны средства безопасности или поддержки распределенных вычислений, а удаление их из традиционного ядра чаще всего невозможно. Обычно традиционные операционные системы позволяют динамически добавлять в ядро или удалять из ядра только драйверы внешних устройств — ввиду частых изменений в конфигурации подключенных к компьютеру внешних устройств подсистема ввода-вывода ядра допускает загрузку и выгрузку драйверов «на ходу», но для этого она разрабатывается особым образом (например, среда STREAMS в UNIX или менеджер ввода-вывода в </a:t>
            </a:r>
            <a:r>
              <a:rPr lang="ru-RU" dirty="0" err="1"/>
              <a:t>Windows</a:t>
            </a:r>
            <a:r>
              <a:rPr lang="ru-RU" dirty="0"/>
              <a:t> NT). При </a:t>
            </a:r>
            <a:r>
              <a:rPr lang="ru-RU" dirty="0" err="1"/>
              <a:t>микроядерном</a:t>
            </a:r>
            <a:r>
              <a:rPr lang="ru-RU" dirty="0"/>
              <a:t> подходе </a:t>
            </a:r>
            <a:r>
              <a:rPr lang="ru-RU" dirty="0" err="1"/>
              <a:t>конфигурируемость</a:t>
            </a:r>
            <a:r>
              <a:rPr lang="ru-RU" dirty="0"/>
              <a:t> ОС не вызывает никаких проблем и не требует особых мер — достаточно изменить файл с настройками начальной конфигурации системы или же остановить не нужные больше серверы в ходе работы обычными для остановки приложений средствами.</a:t>
            </a:r>
          </a:p>
        </p:txBody>
      </p:sp>
    </p:spTree>
    <p:extLst>
      <p:ext uri="{BB962C8B-B14F-4D97-AF65-F5344CB8AC3E}">
        <p14:creationId xmlns:p14="http://schemas.microsoft.com/office/powerpoint/2010/main" val="254605282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B02C40-CACE-4D89-A13D-927C7B1EE100}"/>
              </a:ext>
            </a:extLst>
          </p:cNvPr>
          <p:cNvSpPr txBox="1"/>
          <p:nvPr/>
        </p:nvSpPr>
        <p:spPr>
          <a:xfrm>
            <a:off x="538579" y="266926"/>
            <a:ext cx="11114842" cy="5909310"/>
          </a:xfrm>
          <a:prstGeom prst="rect">
            <a:avLst/>
          </a:prstGeom>
          <a:noFill/>
        </p:spPr>
        <p:txBody>
          <a:bodyPr wrap="square">
            <a:spAutoFit/>
          </a:bodyPr>
          <a:lstStyle/>
          <a:p>
            <a:r>
              <a:rPr lang="ru-RU" dirty="0"/>
              <a:t>Использование </a:t>
            </a:r>
            <a:r>
              <a:rPr lang="ru-RU" dirty="0" err="1"/>
              <a:t>микроядерной</a:t>
            </a:r>
            <a:r>
              <a:rPr lang="ru-RU" dirty="0"/>
              <a:t> модели повышает надежность ОС. Каждый сервер выполняется в виде отдельного процесса в своей собственной области памяти и таким образом защищен от других серверов операционной системы, что не наблюдается в традиционной ОС, где все модули ядра могут влиять друг на друга. И если отдельный сервер терпит крах, то он может быть перезапущен без останова или повреждения остальных серверов ОС. Более того, поскольку серверы выполняются в пользовательском режиме, они не имеют непосредственного доступа к аппаратуре и не могут модифицировать память, в которой хранится и работает микроядро. Другим потенциальным источником повышения надежности ОС является уменьшенный объем кода микроядра по сравнению с традиционным ядром — это снижает вероятность появления ошибок программирования.</a:t>
            </a:r>
          </a:p>
          <a:p>
            <a:r>
              <a:rPr lang="ru-RU" dirty="0"/>
              <a:t>Модель с микроядром хорошо подходит для поддержки распределенных вычислений, так как использует механизмы, аналогичные сетевым: взаимодействие клиентов и серверов путем обмена сообщениями. Серверы </a:t>
            </a:r>
            <a:r>
              <a:rPr lang="ru-RU" dirty="0" err="1"/>
              <a:t>микроядерной</a:t>
            </a:r>
            <a:r>
              <a:rPr lang="ru-RU" dirty="0"/>
              <a:t> ОС могут работать как на одном, так и на разных компьютерах. В этом случае при получении сообщения от приложения микроядро может обработать его самостоятельно и передать локальному серверу или же переслать по сети микроядру, работающему на другом компьютере. Переход к распределенной обработке требует минимальных изменений в работе операционной системы — просто локальный транспорт заменяется на сетевой.</a:t>
            </a:r>
          </a:p>
          <a:p>
            <a:r>
              <a:rPr lang="ru-RU" dirty="0"/>
              <a:t>Производительность. При классической организации ОС  выполнение системного вызова сопровождается двумя переключениями режимов, а при </a:t>
            </a:r>
            <a:r>
              <a:rPr lang="ru-RU" dirty="0" err="1"/>
              <a:t>микроядерной</a:t>
            </a:r>
            <a:r>
              <a:rPr lang="ru-RU" dirty="0"/>
              <a:t> организации — четырьмя. Таким образом, операционная система на основе микроядра при прочих равных условиях всегда будет менее производительной, чем ОС с классическим ядром. Именно по этой причине </a:t>
            </a:r>
            <a:r>
              <a:rPr lang="ru-RU" dirty="0" err="1"/>
              <a:t>микроядерный</a:t>
            </a:r>
            <a:r>
              <a:rPr lang="ru-RU" dirty="0"/>
              <a:t> подход не получил такого широкого распространения, которое ему предрекали.</a:t>
            </a:r>
          </a:p>
        </p:txBody>
      </p:sp>
    </p:spTree>
    <p:extLst>
      <p:ext uri="{BB962C8B-B14F-4D97-AF65-F5344CB8AC3E}">
        <p14:creationId xmlns:p14="http://schemas.microsoft.com/office/powerpoint/2010/main" val="58159324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69765687-57D5-4546-9E62-BD8EB64FC0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7899" y="583199"/>
            <a:ext cx="7402127" cy="3271740"/>
          </a:xfrm>
          <a:prstGeom prst="rect">
            <a:avLst/>
          </a:prstGeom>
        </p:spPr>
      </p:pic>
      <p:sp>
        <p:nvSpPr>
          <p:cNvPr id="5" name="TextBox 4">
            <a:extLst>
              <a:ext uri="{FF2B5EF4-FFF2-40B4-BE49-F238E27FC236}">
                <a16:creationId xmlns:a16="http://schemas.microsoft.com/office/drawing/2014/main" id="{264045CA-AF81-42EF-A0E8-3E8B21C8CC09}"/>
              </a:ext>
            </a:extLst>
          </p:cNvPr>
          <p:cNvSpPr txBox="1"/>
          <p:nvPr/>
        </p:nvSpPr>
        <p:spPr>
          <a:xfrm>
            <a:off x="2967361" y="4169830"/>
            <a:ext cx="6094520" cy="369332"/>
          </a:xfrm>
          <a:prstGeom prst="rect">
            <a:avLst/>
          </a:prstGeom>
          <a:noFill/>
        </p:spPr>
        <p:txBody>
          <a:bodyPr wrap="square">
            <a:spAutoFit/>
          </a:bodyPr>
          <a:lstStyle/>
          <a:p>
            <a:r>
              <a:rPr lang="ru-RU" dirty="0"/>
              <a:t>Смена режимов при выполнении системного вызова</a:t>
            </a:r>
            <a:endParaRPr lang="en-US" dirty="0"/>
          </a:p>
        </p:txBody>
      </p:sp>
    </p:spTree>
    <p:extLst>
      <p:ext uri="{BB962C8B-B14F-4D97-AF65-F5344CB8AC3E}">
        <p14:creationId xmlns:p14="http://schemas.microsoft.com/office/powerpoint/2010/main" val="226966297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035CA02-A54F-4DBF-A43F-0279D8457419}"/>
              </a:ext>
            </a:extLst>
          </p:cNvPr>
          <p:cNvSpPr txBox="1"/>
          <p:nvPr/>
        </p:nvSpPr>
        <p:spPr>
          <a:xfrm>
            <a:off x="639192" y="710849"/>
            <a:ext cx="10644326" cy="5078313"/>
          </a:xfrm>
          <a:prstGeom prst="rect">
            <a:avLst/>
          </a:prstGeom>
          <a:noFill/>
        </p:spPr>
        <p:txBody>
          <a:bodyPr wrap="square">
            <a:spAutoFit/>
          </a:bodyPr>
          <a:lstStyle/>
          <a:p>
            <a:r>
              <a:rPr lang="ru-RU" dirty="0"/>
              <a:t>Серьезность этого недостатка хорошо иллюстрирует история развития </a:t>
            </a:r>
            <a:r>
              <a:rPr lang="ru-RU" dirty="0" err="1"/>
              <a:t>Windows</a:t>
            </a:r>
            <a:r>
              <a:rPr lang="ru-RU" dirty="0"/>
              <a:t> NT. В версиях 3.1 и 3.5 диспетчер окон, графическая библиотека и высокоуровневые драйверы графических устройств входили в состав сервера пользовательского режима, и вызов функций этих модулей осуществлялся в соответствии с </a:t>
            </a:r>
            <a:r>
              <a:rPr lang="ru-RU" dirty="0" err="1"/>
              <a:t>микроядерной</a:t>
            </a:r>
            <a:r>
              <a:rPr lang="ru-RU" dirty="0"/>
              <a:t> схемой. Однако очень скоро разработчики </a:t>
            </a:r>
            <a:r>
              <a:rPr lang="ru-RU" dirty="0" err="1"/>
              <a:t>Windows</a:t>
            </a:r>
            <a:r>
              <a:rPr lang="ru-RU" dirty="0"/>
              <a:t> NT поняли, что такой механизм обращений к часто используемым функциям графического интерфейса существенно замедляет работу приложений и делает данную операционную систему уязвимой в условиях острой конкуренции. В результате в версию </a:t>
            </a:r>
            <a:r>
              <a:rPr lang="ru-RU" dirty="0" err="1"/>
              <a:t>Windows</a:t>
            </a:r>
            <a:r>
              <a:rPr lang="ru-RU" dirty="0"/>
              <a:t> NT 4.0 были внесены существенные изменения — все перечисленные выше модули были перенесены в ядро, что отдалило эту ОС от идеальной </a:t>
            </a:r>
            <a:r>
              <a:rPr lang="ru-RU" dirty="0" err="1"/>
              <a:t>микроядерной</a:t>
            </a:r>
            <a:r>
              <a:rPr lang="ru-RU" dirty="0"/>
              <a:t> архитектуры, но зато резко повысило ее производительность.</a:t>
            </a:r>
          </a:p>
          <a:p>
            <a:r>
              <a:rPr lang="ru-RU" dirty="0"/>
              <a:t>Этот пример иллюстрирует главную проблему, с которой сталкиваются разработчики операционной системы, решившие применить </a:t>
            </a:r>
            <a:r>
              <a:rPr lang="ru-RU" dirty="0" err="1"/>
              <a:t>микроядерный</a:t>
            </a:r>
            <a:r>
              <a:rPr lang="ru-RU" dirty="0"/>
              <a:t> подход, — что включать в микроядро, а что выносить в пользовательское пространство. В идеальном случае микроядро может состоять только из средств передачи сообщений, средств взаимодействия с аппаратурой, в том числе средств доступа к механизмам привилегированной защиты. Однако многие разработчики не всегда жестко придерживаются принципа минимизации функций ядра, часто жертвуя этим ради повышения производительности. В результате реализации ОС образуют некоторый спектр, на одном краю которого находятся системы с минимально возможным микроядром, а на другом — системы, подобные </a:t>
            </a:r>
            <a:r>
              <a:rPr lang="ru-RU" dirty="0" err="1"/>
              <a:t>Windows</a:t>
            </a:r>
            <a:r>
              <a:rPr lang="ru-RU" dirty="0"/>
              <a:t> NT, в которых микроядро выполняет достаточно большой объем функций.</a:t>
            </a:r>
          </a:p>
        </p:txBody>
      </p:sp>
    </p:spTree>
    <p:extLst>
      <p:ext uri="{BB962C8B-B14F-4D97-AF65-F5344CB8AC3E}">
        <p14:creationId xmlns:p14="http://schemas.microsoft.com/office/powerpoint/2010/main" val="210241026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D4716B-F38C-4BAD-879C-95E70BBEE195}"/>
              </a:ext>
            </a:extLst>
          </p:cNvPr>
          <p:cNvSpPr txBox="1"/>
          <p:nvPr/>
        </p:nvSpPr>
        <p:spPr>
          <a:xfrm>
            <a:off x="656948" y="613234"/>
            <a:ext cx="10182687" cy="2862322"/>
          </a:xfrm>
          <a:prstGeom prst="rect">
            <a:avLst/>
          </a:prstGeom>
          <a:noFill/>
        </p:spPr>
        <p:txBody>
          <a:bodyPr wrap="square">
            <a:spAutoFit/>
          </a:bodyPr>
          <a:lstStyle/>
          <a:p>
            <a:r>
              <a:rPr lang="ru-RU" b="1" dirty="0"/>
              <a:t>Микроядра против монолитных ядер¶ </a:t>
            </a:r>
          </a:p>
          <a:p>
            <a:endParaRPr lang="ru-RU" b="1" dirty="0"/>
          </a:p>
          <a:p>
            <a:r>
              <a:rPr lang="ru-RU" b="1" dirty="0"/>
              <a:t>микроядра</a:t>
            </a:r>
            <a:r>
              <a:rPr lang="ru-RU" dirty="0"/>
              <a:t> лучше из-за модульной конструкции, которую обеспечивает микроядро. </a:t>
            </a:r>
          </a:p>
          <a:p>
            <a:r>
              <a:rPr lang="ru-RU" dirty="0"/>
              <a:t>Однако монолитные ядра также могут быть модульными, и для достижения этой цели современные монолитные ядра используют несколько подходов: </a:t>
            </a:r>
          </a:p>
          <a:p>
            <a:r>
              <a:rPr lang="ru-RU" dirty="0"/>
              <a:t>Компоненты могут быть включены или отключены во время компиляции. </a:t>
            </a:r>
          </a:p>
          <a:p>
            <a:r>
              <a:rPr lang="ru-RU" dirty="0"/>
              <a:t>Поддержка загружаемых модулей ядра (во время выполнения) </a:t>
            </a:r>
          </a:p>
          <a:p>
            <a:r>
              <a:rPr lang="ru-RU" dirty="0"/>
              <a:t>Организация ядро ​​в логические независимые подсистемы. </a:t>
            </a:r>
          </a:p>
          <a:p>
            <a:r>
              <a:rPr lang="ru-RU" dirty="0"/>
              <a:t>Строгие интерфейсы, но с низкой производительностью: макросы, встроенные функции, указатели функций. </a:t>
            </a:r>
          </a:p>
        </p:txBody>
      </p:sp>
    </p:spTree>
    <p:extLst>
      <p:ext uri="{BB962C8B-B14F-4D97-AF65-F5344CB8AC3E}">
        <p14:creationId xmlns:p14="http://schemas.microsoft.com/office/powerpoint/2010/main" val="3975142527"/>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9A560A2-4261-4C98-BDA2-D6145A1540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23875"/>
            <a:ext cx="11430000" cy="5810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000022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E77683-849E-42BE-99AA-1C183EE4FA16}"/>
              </a:ext>
            </a:extLst>
          </p:cNvPr>
          <p:cNvSpPr txBox="1"/>
          <p:nvPr/>
        </p:nvSpPr>
        <p:spPr>
          <a:xfrm>
            <a:off x="363984" y="176553"/>
            <a:ext cx="11097088" cy="5847755"/>
          </a:xfrm>
          <a:prstGeom prst="rect">
            <a:avLst/>
          </a:prstGeom>
          <a:noFill/>
        </p:spPr>
        <p:txBody>
          <a:bodyPr wrap="square">
            <a:spAutoFit/>
          </a:bodyPr>
          <a:lstStyle/>
          <a:p>
            <a:pPr algn="l"/>
            <a:r>
              <a:rPr lang="ru-RU" sz="2200" b="1" i="0" dirty="0">
                <a:solidFill>
                  <a:srgbClr val="000000"/>
                </a:solidFill>
                <a:effectLst/>
                <a:latin typeface="TT Norms Pro"/>
              </a:rPr>
              <a:t>Что такое </a:t>
            </a:r>
            <a:r>
              <a:rPr lang="ru-RU" sz="2200" b="1" i="0" dirty="0" err="1">
                <a:solidFill>
                  <a:srgbClr val="000000"/>
                </a:solidFill>
                <a:effectLst/>
                <a:latin typeface="TT Norms Pro"/>
              </a:rPr>
              <a:t>IaaS</a:t>
            </a:r>
            <a:r>
              <a:rPr lang="ru-RU" sz="2200" b="1" i="0" dirty="0">
                <a:solidFill>
                  <a:srgbClr val="000000"/>
                </a:solidFill>
                <a:effectLst/>
                <a:latin typeface="TT Norms Pro"/>
              </a:rPr>
              <a:t>: облачная инфраструктура как услуга</a:t>
            </a:r>
            <a:endParaRPr lang="en-US" sz="2200" b="1" i="0" dirty="0">
              <a:solidFill>
                <a:srgbClr val="000000"/>
              </a:solidFill>
              <a:effectLst/>
              <a:latin typeface="TT Norms Pro"/>
            </a:endParaRPr>
          </a:p>
          <a:p>
            <a:pPr algn="l"/>
            <a:endParaRPr lang="ru-RU" sz="2200" b="1" i="0" dirty="0">
              <a:solidFill>
                <a:srgbClr val="000000"/>
              </a:solidFill>
              <a:effectLst/>
              <a:latin typeface="TT Norms Pro"/>
            </a:endParaRPr>
          </a:p>
          <a:p>
            <a:pPr algn="l"/>
            <a:r>
              <a:rPr lang="ru-RU" sz="2200" b="0" i="0" dirty="0">
                <a:solidFill>
                  <a:srgbClr val="484848"/>
                </a:solidFill>
                <a:effectLst/>
                <a:latin typeface="TT Norms Pro"/>
              </a:rPr>
              <a:t>Практически ни одна компания не обходится без IT-инфраструктуры — даже небольшой фирме нужны серверы для хранения баз данных или инструменты, объединяющие компьютеры сотрудников в общую сеть. Компания может закупить серверы и настроить эту инфраструктуру у себя, но это достаточно долго и дорого. А может ничего не покупать, если взять в аренду облачные сервисы </a:t>
            </a:r>
            <a:r>
              <a:rPr lang="ru-RU" sz="2200" b="0" i="0" dirty="0" err="1">
                <a:solidFill>
                  <a:srgbClr val="484848"/>
                </a:solidFill>
                <a:effectLst/>
                <a:latin typeface="TT Norms Pro"/>
              </a:rPr>
              <a:t>IaaS</a:t>
            </a:r>
            <a:r>
              <a:rPr lang="ru-RU" sz="2200" b="0" i="0" dirty="0">
                <a:solidFill>
                  <a:srgbClr val="484848"/>
                </a:solidFill>
                <a:effectLst/>
                <a:latin typeface="TT Norms Pro"/>
              </a:rPr>
              <a:t>.</a:t>
            </a:r>
            <a:endParaRPr lang="en-US" sz="2200" b="0" i="0" dirty="0">
              <a:solidFill>
                <a:srgbClr val="484848"/>
              </a:solidFill>
              <a:effectLst/>
              <a:latin typeface="TT Norms Pro"/>
            </a:endParaRPr>
          </a:p>
          <a:p>
            <a:pPr algn="l"/>
            <a:endParaRPr lang="ru-RU" sz="2200" b="0" i="0" dirty="0">
              <a:solidFill>
                <a:srgbClr val="484848"/>
              </a:solidFill>
              <a:effectLst/>
              <a:latin typeface="TT Norms Pro"/>
            </a:endParaRPr>
          </a:p>
          <a:p>
            <a:pPr algn="l"/>
            <a:r>
              <a:rPr lang="ru-RU" sz="2200" b="1" i="0" dirty="0" err="1">
                <a:solidFill>
                  <a:srgbClr val="484848"/>
                </a:solidFill>
                <a:effectLst/>
                <a:latin typeface="TT Norms Pro"/>
              </a:rPr>
              <a:t>IaaS</a:t>
            </a:r>
            <a:r>
              <a:rPr lang="ru-RU" sz="2200" b="1" i="0" dirty="0">
                <a:solidFill>
                  <a:srgbClr val="484848"/>
                </a:solidFill>
                <a:effectLst/>
                <a:latin typeface="TT Norms Pro"/>
              </a:rPr>
              <a:t> — это </a:t>
            </a:r>
            <a:r>
              <a:rPr lang="ru-RU" sz="2200" b="1" i="0" dirty="0" err="1">
                <a:solidFill>
                  <a:srgbClr val="484848"/>
                </a:solidFill>
                <a:effectLst/>
                <a:latin typeface="TT Norms Pro"/>
              </a:rPr>
              <a:t>Infrastructure</a:t>
            </a:r>
            <a:r>
              <a:rPr lang="ru-RU" sz="2200" b="1" i="0" dirty="0">
                <a:solidFill>
                  <a:srgbClr val="484848"/>
                </a:solidFill>
                <a:effectLst/>
                <a:latin typeface="TT Norms Pro"/>
              </a:rPr>
              <a:t> </a:t>
            </a:r>
            <a:r>
              <a:rPr lang="ru-RU" sz="2200" b="1" i="0" dirty="0" err="1">
                <a:solidFill>
                  <a:srgbClr val="484848"/>
                </a:solidFill>
                <a:effectLst/>
                <a:latin typeface="TT Norms Pro"/>
              </a:rPr>
              <a:t>as</a:t>
            </a:r>
            <a:r>
              <a:rPr lang="ru-RU" sz="2200" b="1" i="0" dirty="0">
                <a:solidFill>
                  <a:srgbClr val="484848"/>
                </a:solidFill>
                <a:effectLst/>
                <a:latin typeface="TT Norms Pro"/>
              </a:rPr>
              <a:t> a </a:t>
            </a:r>
            <a:r>
              <a:rPr lang="ru-RU" sz="2200" b="1" i="0" dirty="0" err="1">
                <a:solidFill>
                  <a:srgbClr val="484848"/>
                </a:solidFill>
                <a:effectLst/>
                <a:latin typeface="TT Norms Pro"/>
              </a:rPr>
              <a:t>Service</a:t>
            </a:r>
            <a:r>
              <a:rPr lang="ru-RU" sz="2200" b="0" i="0" dirty="0">
                <a:solidFill>
                  <a:srgbClr val="484848"/>
                </a:solidFill>
                <a:effectLst/>
                <a:latin typeface="TT Norms Pro"/>
              </a:rPr>
              <a:t>, то есть инфраструктура как услуга. К инфраструктуре относят вычислительные ресурсы: виртуальные серверы, хранилища, сети. Это что-то вроде виртуальных «компьютеров», на которые можно установить что угодно: операционную систему, программное обеспечение, приложения.</a:t>
            </a:r>
            <a:endParaRPr lang="en-US" sz="2200" b="0" i="0" dirty="0">
              <a:solidFill>
                <a:srgbClr val="484848"/>
              </a:solidFill>
              <a:effectLst/>
              <a:latin typeface="TT Norms Pro"/>
            </a:endParaRPr>
          </a:p>
          <a:p>
            <a:pPr algn="l"/>
            <a:endParaRPr lang="en-US" sz="2200" b="0" i="0" dirty="0">
              <a:solidFill>
                <a:srgbClr val="484848"/>
              </a:solidFill>
              <a:effectLst/>
              <a:latin typeface="TT Norms Pro"/>
            </a:endParaRPr>
          </a:p>
          <a:p>
            <a:pPr algn="l"/>
            <a:r>
              <a:rPr lang="ru-RU" sz="2200" b="0" i="0" dirty="0">
                <a:solidFill>
                  <a:srgbClr val="484848"/>
                </a:solidFill>
                <a:effectLst/>
                <a:latin typeface="TT Norms Pro"/>
              </a:rPr>
              <a:t>Поставщик </a:t>
            </a:r>
            <a:r>
              <a:rPr lang="ru-RU" sz="2200" b="0" i="0" dirty="0" err="1">
                <a:solidFill>
                  <a:srgbClr val="484848"/>
                </a:solidFill>
                <a:effectLst/>
                <a:latin typeface="TT Norms Pro"/>
              </a:rPr>
              <a:t>IaaS</a:t>
            </a:r>
            <a:r>
              <a:rPr lang="ru-RU" sz="2200" b="0" i="0" dirty="0">
                <a:solidFill>
                  <a:srgbClr val="484848"/>
                </a:solidFill>
                <a:effectLst/>
                <a:latin typeface="TT Norms Pro"/>
              </a:rPr>
              <a:t> (инфраструктуры как сервиса), или облачный провайдер, уже все купил и собрал, обеспечил серверы электричеством и интернетом. Вам остается только подключиться к этим вычислительным мощностям через интернет и использовать их для своих целей.</a:t>
            </a:r>
          </a:p>
        </p:txBody>
      </p:sp>
    </p:spTree>
    <p:extLst>
      <p:ext uri="{BB962C8B-B14F-4D97-AF65-F5344CB8AC3E}">
        <p14:creationId xmlns:p14="http://schemas.microsoft.com/office/powerpoint/2010/main" val="154627540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E1C49E-300C-44F6-8927-13DDFFD026F5}"/>
              </a:ext>
            </a:extLst>
          </p:cNvPr>
          <p:cNvSpPr txBox="1"/>
          <p:nvPr/>
        </p:nvSpPr>
        <p:spPr>
          <a:xfrm>
            <a:off x="263371" y="222538"/>
            <a:ext cx="11665258" cy="5909310"/>
          </a:xfrm>
          <a:prstGeom prst="rect">
            <a:avLst/>
          </a:prstGeom>
          <a:noFill/>
        </p:spPr>
        <p:txBody>
          <a:bodyPr wrap="square">
            <a:spAutoFit/>
          </a:bodyPr>
          <a:lstStyle/>
          <a:p>
            <a:pPr algn="l"/>
            <a:r>
              <a:rPr lang="ru-RU" b="1" i="0" dirty="0" err="1">
                <a:solidFill>
                  <a:srgbClr val="484848"/>
                </a:solidFill>
                <a:effectLst/>
                <a:latin typeface="TT Norms Pro"/>
              </a:rPr>
              <a:t>IaaS</a:t>
            </a:r>
            <a:r>
              <a:rPr lang="ru-RU" b="1" i="0" dirty="0">
                <a:solidFill>
                  <a:srgbClr val="484848"/>
                </a:solidFill>
                <a:effectLst/>
                <a:latin typeface="TT Norms Pro"/>
              </a:rPr>
              <a:t> включает в себя</a:t>
            </a:r>
            <a:r>
              <a:rPr lang="ru-RU" b="0" i="0" dirty="0">
                <a:solidFill>
                  <a:srgbClr val="484848"/>
                </a:solidFill>
                <a:effectLst/>
                <a:latin typeface="TT Norms Pro"/>
              </a:rPr>
              <a:t>:</a:t>
            </a:r>
          </a:p>
          <a:p>
            <a:pPr algn="l">
              <a:buFont typeface="+mj-lt"/>
              <a:buAutoNum type="arabicPeriod"/>
            </a:pPr>
            <a:r>
              <a:rPr lang="ru-RU" b="0" i="0" u="none" strike="noStrike" dirty="0">
                <a:solidFill>
                  <a:srgbClr val="484848"/>
                </a:solidFill>
                <a:effectLst/>
                <a:latin typeface="TT Norms Pro"/>
                <a:hlinkClick r:id="rId2"/>
              </a:rPr>
              <a:t>Виртуальные серверы (VPS/VDS)</a:t>
            </a:r>
            <a:r>
              <a:rPr lang="ru-RU" b="0" i="0" dirty="0">
                <a:solidFill>
                  <a:srgbClr val="484848"/>
                </a:solidFill>
                <a:effectLst/>
                <a:latin typeface="TT Norms Pro"/>
              </a:rPr>
              <a:t>, на которые можно устанавливать различные программы. Иногда провайдер предлагает серверы сразу с операционными системами, чтобы на них можно было быстрее развернуть нужные приложения.</a:t>
            </a:r>
          </a:p>
          <a:p>
            <a:pPr algn="l">
              <a:buFont typeface="+mj-lt"/>
              <a:buAutoNum type="arabicPeriod"/>
            </a:pPr>
            <a:r>
              <a:rPr lang="ru-RU" b="0" i="0" dirty="0">
                <a:solidFill>
                  <a:srgbClr val="484848"/>
                </a:solidFill>
                <a:effectLst/>
                <a:latin typeface="TT Norms Pro"/>
              </a:rPr>
              <a:t>Сетевые настройки, которые обеспечивают связь виртуальных серверов друг с другом, внешними серверами, принадлежащими компании-клиенту, и интернетом. К ним относят:</a:t>
            </a:r>
          </a:p>
          <a:p>
            <a:pPr marL="742950" lvl="1" indent="-285750" algn="l">
              <a:buFont typeface="+mj-lt"/>
              <a:buAutoNum type="arabicPeriod"/>
            </a:pPr>
            <a:r>
              <a:rPr lang="ru-RU" b="0" i="0" dirty="0">
                <a:solidFill>
                  <a:srgbClr val="484848"/>
                </a:solidFill>
                <a:effectLst/>
                <a:latin typeface="TT Norms Pro"/>
              </a:rPr>
              <a:t>доступность серверов друг для друга и для внешней сети, маршрутизацию сетевых соединений серверов;</a:t>
            </a:r>
          </a:p>
          <a:p>
            <a:pPr marL="742950" lvl="1" indent="-285750" algn="l">
              <a:buFont typeface="+mj-lt"/>
              <a:buAutoNum type="arabicPeriod"/>
            </a:pPr>
            <a:r>
              <a:rPr lang="ru-RU" b="0" i="0" dirty="0">
                <a:solidFill>
                  <a:srgbClr val="484848"/>
                </a:solidFill>
                <a:effectLst/>
                <a:latin typeface="TT Norms Pro"/>
              </a:rPr>
              <a:t>балансировщики нагрузки, которые предотвращают перегрузки серверов, распределяя между ними входящий трафик;</a:t>
            </a:r>
          </a:p>
          <a:p>
            <a:pPr marL="742950" lvl="1" indent="-285750" algn="l">
              <a:buFont typeface="+mj-lt"/>
              <a:buAutoNum type="arabicPeriod"/>
            </a:pPr>
            <a:r>
              <a:rPr lang="ru-RU" b="0" i="0" dirty="0">
                <a:solidFill>
                  <a:srgbClr val="484848"/>
                </a:solidFill>
                <a:effectLst/>
                <a:latin typeface="TT Norms Pro"/>
              </a:rPr>
              <a:t>VPN — технологию шифрования данных, передаваемых компанией между облаком и ее физическим дата-центром;</a:t>
            </a:r>
          </a:p>
          <a:p>
            <a:pPr algn="l">
              <a:buFont typeface="+mj-lt"/>
              <a:buAutoNum type="arabicPeriod"/>
            </a:pPr>
            <a:r>
              <a:rPr lang="ru-RU" b="0" i="0" dirty="0">
                <a:solidFill>
                  <a:srgbClr val="484848"/>
                </a:solidFill>
                <a:effectLst/>
                <a:latin typeface="TT Norms Pro"/>
              </a:rPr>
              <a:t>Управление доступом пользователей. Например, можно ограничить доступ к отдельным виртуальным машинам или разрешить просмотр данных, но запретить вносить в них изменения.</a:t>
            </a:r>
          </a:p>
          <a:p>
            <a:pPr algn="l">
              <a:buFont typeface="+mj-lt"/>
              <a:buAutoNum type="arabicPeriod"/>
            </a:pPr>
            <a:r>
              <a:rPr lang="ru-RU" b="0" i="0" dirty="0">
                <a:solidFill>
                  <a:srgbClr val="484848"/>
                </a:solidFill>
                <a:effectLst/>
                <a:latin typeface="TT Norms Pro"/>
              </a:rPr>
              <a:t>Облачные хранилища для хранения файлов, данных или бэкапов. От обычных облачных дисков, с которыми имеют дело отдельные пользователи, они отличаются почти неограниченным объемом хранения и быстрой скоростью доступа к данным.</a:t>
            </a:r>
          </a:p>
          <a:p>
            <a:pPr algn="l">
              <a:buFont typeface="+mj-lt"/>
              <a:buAutoNum type="arabicPeriod"/>
            </a:pPr>
            <a:r>
              <a:rPr lang="ru-RU" b="0" i="0" dirty="0">
                <a:solidFill>
                  <a:srgbClr val="484848"/>
                </a:solidFill>
                <a:effectLst/>
                <a:latin typeface="TT Norms Pro"/>
              </a:rPr>
              <a:t>Сервисы резервного копирования и </a:t>
            </a:r>
            <a:r>
              <a:rPr lang="ru-RU" b="0" i="0" dirty="0" err="1">
                <a:solidFill>
                  <a:srgbClr val="484848"/>
                </a:solidFill>
                <a:effectLst/>
                <a:latin typeface="TT Norms Pro"/>
              </a:rPr>
              <a:t>катастрофоустойчивости</a:t>
            </a:r>
            <a:r>
              <a:rPr lang="ru-RU" b="0" i="0" dirty="0">
                <a:solidFill>
                  <a:srgbClr val="484848"/>
                </a:solidFill>
                <a:effectLst/>
                <a:latin typeface="TT Norms Pro"/>
              </a:rPr>
              <a:t>, которые страхуют вашу инфраструктуру от падений и потери данных при выходе из строя ее отдельных узлов.</a:t>
            </a:r>
          </a:p>
          <a:p>
            <a:pPr algn="l"/>
            <a:r>
              <a:rPr lang="ru-RU" b="0" i="0" dirty="0">
                <a:solidFill>
                  <a:srgbClr val="484848"/>
                </a:solidFill>
                <a:effectLst/>
                <a:latin typeface="TT Norms Pro"/>
              </a:rPr>
              <a:t>Когда вы арендуете инфраструктуру </a:t>
            </a:r>
            <a:r>
              <a:rPr lang="ru-RU" b="0" i="0" dirty="0" err="1">
                <a:solidFill>
                  <a:srgbClr val="484848"/>
                </a:solidFill>
                <a:effectLst/>
                <a:latin typeface="TT Norms Pro"/>
              </a:rPr>
              <a:t>IaaS</a:t>
            </a:r>
            <a:r>
              <a:rPr lang="ru-RU" b="0" i="0" dirty="0">
                <a:solidFill>
                  <a:srgbClr val="484848"/>
                </a:solidFill>
                <a:effectLst/>
                <a:latin typeface="TT Norms Pro"/>
              </a:rPr>
              <a:t>, то получаете виртуальные серверы, сетевые настройки и облачные хранилища, за которые отвечает провайдер. При этом у вас есть доступ к операционной системе виртуальных серверов и большая свобода в настройке и установке приложений.</a:t>
            </a:r>
          </a:p>
        </p:txBody>
      </p:sp>
    </p:spTree>
    <p:extLst>
      <p:ext uri="{BB962C8B-B14F-4D97-AF65-F5344CB8AC3E}">
        <p14:creationId xmlns:p14="http://schemas.microsoft.com/office/powerpoint/2010/main" val="381285106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87406D-28F1-4EE2-86F3-81D8389060EB}"/>
              </a:ext>
            </a:extLst>
          </p:cNvPr>
          <p:cNvSpPr txBox="1"/>
          <p:nvPr/>
        </p:nvSpPr>
        <p:spPr>
          <a:xfrm>
            <a:off x="727969" y="607860"/>
            <a:ext cx="10484528" cy="5355312"/>
          </a:xfrm>
          <a:prstGeom prst="rect">
            <a:avLst/>
          </a:prstGeom>
          <a:noFill/>
        </p:spPr>
        <p:txBody>
          <a:bodyPr wrap="square">
            <a:spAutoFit/>
          </a:bodyPr>
          <a:lstStyle/>
          <a:p>
            <a:pPr algn="l"/>
            <a:r>
              <a:rPr lang="ru-RU" b="1" i="0" dirty="0">
                <a:solidFill>
                  <a:srgbClr val="484848"/>
                </a:solidFill>
                <a:effectLst/>
                <a:highlight>
                  <a:srgbClr val="FFFF00"/>
                </a:highlight>
                <a:latin typeface="TT Norms Pro"/>
              </a:rPr>
              <a:t>Примеры </a:t>
            </a:r>
            <a:r>
              <a:rPr lang="ru-RU" b="1" i="0" dirty="0" err="1">
                <a:solidFill>
                  <a:srgbClr val="484848"/>
                </a:solidFill>
                <a:effectLst/>
                <a:highlight>
                  <a:srgbClr val="FFFF00"/>
                </a:highlight>
                <a:latin typeface="TT Norms Pro"/>
              </a:rPr>
              <a:t>IaaS</a:t>
            </a:r>
            <a:r>
              <a:rPr lang="ru-RU" b="0" i="0" dirty="0">
                <a:solidFill>
                  <a:srgbClr val="484848"/>
                </a:solidFill>
                <a:effectLst/>
                <a:highlight>
                  <a:srgbClr val="FFFF00"/>
                </a:highlight>
                <a:latin typeface="TT Norms Pro"/>
              </a:rPr>
              <a:t> —</a:t>
            </a:r>
            <a:r>
              <a:rPr lang="ru-RU" b="0" i="0" dirty="0">
                <a:solidFill>
                  <a:srgbClr val="484848"/>
                </a:solidFill>
                <a:effectLst/>
                <a:latin typeface="TT Norms Pro"/>
              </a:rPr>
              <a:t> как можно использовать облачную инфраструктуру:</a:t>
            </a:r>
          </a:p>
          <a:p>
            <a:pPr algn="l">
              <a:buFont typeface="+mj-lt"/>
              <a:buAutoNum type="arabicPeriod"/>
            </a:pPr>
            <a:r>
              <a:rPr lang="ru-RU" b="1" i="0" dirty="0">
                <a:solidFill>
                  <a:srgbClr val="484848"/>
                </a:solidFill>
                <a:effectLst/>
                <a:latin typeface="TT Norms Pro"/>
              </a:rPr>
              <a:t>Перенос IT-систем в облако</a:t>
            </a:r>
            <a:r>
              <a:rPr lang="ru-RU" b="0" i="0" dirty="0">
                <a:solidFill>
                  <a:srgbClr val="484848"/>
                </a:solidFill>
                <a:effectLst/>
                <a:latin typeface="TT Norms Pro"/>
              </a:rPr>
              <a:t>. Самое очевидное применение </a:t>
            </a:r>
            <a:r>
              <a:rPr lang="ru-RU" b="0" i="0" dirty="0" err="1">
                <a:solidFill>
                  <a:srgbClr val="484848"/>
                </a:solidFill>
                <a:effectLst/>
                <a:latin typeface="TT Norms Pro"/>
              </a:rPr>
              <a:t>IaaS</a:t>
            </a:r>
            <a:r>
              <a:rPr lang="ru-RU" b="0" i="0" dirty="0">
                <a:solidFill>
                  <a:srgbClr val="484848"/>
                </a:solidFill>
                <a:effectLst/>
                <a:latin typeface="TT Norms Pro"/>
              </a:rPr>
              <a:t> — отказ от физических серверов и перенос вашей IT-инфраструктуры в облако. С </a:t>
            </a:r>
            <a:r>
              <a:rPr lang="ru-RU" b="0" i="0" dirty="0" err="1">
                <a:solidFill>
                  <a:srgbClr val="484848"/>
                </a:solidFill>
                <a:effectLst/>
                <a:latin typeface="TT Norms Pro"/>
              </a:rPr>
              <a:t>IaaS</a:t>
            </a:r>
            <a:r>
              <a:rPr lang="ru-RU" b="0" i="0" dirty="0">
                <a:solidFill>
                  <a:srgbClr val="484848"/>
                </a:solidFill>
                <a:effectLst/>
                <a:latin typeface="TT Norms Pro"/>
              </a:rPr>
              <a:t> вы сможете делать все то же, что с физическим дата-центром — хранить данные, настроить CRM-систему, развернуть сайт или любые бизнес-серверы.</a:t>
            </a:r>
          </a:p>
          <a:p>
            <a:pPr algn="l">
              <a:buFont typeface="+mj-lt"/>
              <a:buAutoNum type="arabicPeriod"/>
            </a:pPr>
            <a:r>
              <a:rPr lang="ru-RU" b="1" i="0" dirty="0">
                <a:solidFill>
                  <a:srgbClr val="484848"/>
                </a:solidFill>
                <a:effectLst/>
                <a:latin typeface="TT Norms Pro"/>
              </a:rPr>
              <a:t>Экономия на инфраструктуре. </a:t>
            </a:r>
            <a:r>
              <a:rPr lang="ru-RU" b="0" i="0" dirty="0">
                <a:solidFill>
                  <a:srgbClr val="484848"/>
                </a:solidFill>
                <a:effectLst/>
                <a:latin typeface="TT Norms Pro"/>
              </a:rPr>
              <a:t>Если вы сами обслуживаете серверы, вам нужно платить за помещение, оборудование, лицензионное ПО — это большие капитальные расходы. Кроме того, в облаке провайдер берет на себя предоставление виртуальной инфраструктуры с оговоренным в SLA временем простоя (</a:t>
            </a:r>
            <a:r>
              <a:rPr lang="ru-RU" b="0" i="0" dirty="0" err="1">
                <a:solidFill>
                  <a:srgbClr val="484848"/>
                </a:solidFill>
                <a:effectLst/>
                <a:latin typeface="TT Norms Pro"/>
              </a:rPr>
              <a:t>даунтаймом</a:t>
            </a:r>
            <a:r>
              <a:rPr lang="ru-RU" b="0" i="0" dirty="0">
                <a:solidFill>
                  <a:srgbClr val="484848"/>
                </a:solidFill>
                <a:effectLst/>
                <a:latin typeface="TT Norms Pro"/>
              </a:rPr>
              <a:t>). Чтобы обеспечить такой же </a:t>
            </a:r>
            <a:r>
              <a:rPr lang="ru-RU" b="0" i="0" dirty="0" err="1">
                <a:solidFill>
                  <a:srgbClr val="484848"/>
                </a:solidFill>
                <a:effectLst/>
                <a:latin typeface="TT Norms Pro"/>
              </a:rPr>
              <a:t>аптайм</a:t>
            </a:r>
            <a:r>
              <a:rPr lang="ru-RU" b="0" i="0" dirty="0">
                <a:solidFill>
                  <a:srgbClr val="484848"/>
                </a:solidFill>
                <a:effectLst/>
                <a:latin typeface="TT Norms Pro"/>
              </a:rPr>
              <a:t> в собственном частном </a:t>
            </a:r>
            <a:r>
              <a:rPr lang="ru-RU" b="0" i="0" dirty="0" err="1">
                <a:solidFill>
                  <a:srgbClr val="484848"/>
                </a:solidFill>
                <a:effectLst/>
                <a:latin typeface="TT Norms Pro"/>
              </a:rPr>
              <a:t>ЦОДе</a:t>
            </a:r>
            <a:r>
              <a:rPr lang="ru-RU" b="0" i="0" dirty="0">
                <a:solidFill>
                  <a:srgbClr val="484848"/>
                </a:solidFill>
                <a:effectLst/>
                <a:latin typeface="TT Norms Pro"/>
              </a:rPr>
              <a:t>, а также управлять физической инфраструктурой и виртуализацией, нужен отдельный штат специалистов. Это дополнительные расходы сверх капитальных. Если собственный ЦОД для компании — не профильный бизнес, компания не умеет оценивать риски и дополнительные и скрытые расходы, у нее нет соответствующей экспертизы, тогда дешевле развернуть IT-инфраструктуру в облаке.</a:t>
            </a:r>
          </a:p>
          <a:p>
            <a:pPr algn="l">
              <a:buFont typeface="+mj-lt"/>
              <a:buAutoNum type="arabicPeriod"/>
            </a:pPr>
            <a:r>
              <a:rPr lang="ru-RU" b="1" i="0" dirty="0">
                <a:solidFill>
                  <a:srgbClr val="484848"/>
                </a:solidFill>
                <a:effectLst/>
                <a:latin typeface="TT Norms Pro"/>
              </a:rPr>
              <a:t>Быстрый запуск бизнеса</a:t>
            </a:r>
            <a:r>
              <a:rPr lang="ru-RU" b="0" i="0" dirty="0">
                <a:solidFill>
                  <a:srgbClr val="484848"/>
                </a:solidFill>
                <a:effectLst/>
                <a:latin typeface="TT Norms Pro"/>
              </a:rPr>
              <a:t>. Облачная инфраструктура </a:t>
            </a:r>
            <a:r>
              <a:rPr lang="ru-RU" b="0" i="0" dirty="0" err="1">
                <a:solidFill>
                  <a:srgbClr val="484848"/>
                </a:solidFill>
                <a:effectLst/>
                <a:latin typeface="TT Norms Pro"/>
              </a:rPr>
              <a:t>IaaS</a:t>
            </a:r>
            <a:r>
              <a:rPr lang="ru-RU" b="0" i="0" dirty="0">
                <a:solidFill>
                  <a:srgbClr val="484848"/>
                </a:solidFill>
                <a:effectLst/>
                <a:latin typeface="TT Norms Pro"/>
              </a:rPr>
              <a:t> снижает расходы бизнеса на старте, так как помогает уменьшить капитальные вложения, обойтись без закупки оборудования и организации дата-центра.</a:t>
            </a:r>
          </a:p>
          <a:p>
            <a:pPr algn="l">
              <a:buFont typeface="+mj-lt"/>
              <a:buAutoNum type="arabicPeriod"/>
            </a:pPr>
            <a:r>
              <a:rPr lang="ru-RU" b="1" i="0" dirty="0">
                <a:solidFill>
                  <a:srgbClr val="484848"/>
                </a:solidFill>
                <a:effectLst/>
                <a:latin typeface="TT Norms Pro"/>
              </a:rPr>
              <a:t>Расширение инфраструктуры.</a:t>
            </a:r>
            <a:r>
              <a:rPr lang="ru-RU" b="0" i="0" dirty="0">
                <a:solidFill>
                  <a:srgbClr val="484848"/>
                </a:solidFill>
                <a:effectLst/>
                <a:latin typeface="TT Norms Pro"/>
              </a:rPr>
              <a:t> Облачные технологии </a:t>
            </a:r>
            <a:r>
              <a:rPr lang="ru-RU" b="0" i="0" dirty="0" err="1">
                <a:solidFill>
                  <a:srgbClr val="484848"/>
                </a:solidFill>
                <a:effectLst/>
                <a:latin typeface="TT Norms Pro"/>
              </a:rPr>
              <a:t>IaaS</a:t>
            </a:r>
            <a:r>
              <a:rPr lang="ru-RU" b="0" i="0" dirty="0">
                <a:solidFill>
                  <a:srgbClr val="484848"/>
                </a:solidFill>
                <a:effectLst/>
                <a:latin typeface="TT Norms Pro"/>
              </a:rPr>
              <a:t> можно использовать и для расширения уже существующей инфраструктуры. К примеру, у вас есть физические серверы, но их мощности не хватает для нынешних задач. Вместо того чтобы покупать новые, можно подключиться к </a:t>
            </a:r>
            <a:r>
              <a:rPr lang="ru-RU" b="0" i="0" dirty="0" err="1">
                <a:solidFill>
                  <a:srgbClr val="484848"/>
                </a:solidFill>
                <a:effectLst/>
                <a:latin typeface="TT Norms Pro"/>
              </a:rPr>
              <a:t>IaaS</a:t>
            </a:r>
            <a:r>
              <a:rPr lang="ru-RU" b="0" i="0" dirty="0">
                <a:solidFill>
                  <a:srgbClr val="484848"/>
                </a:solidFill>
                <a:effectLst/>
                <a:latin typeface="TT Norms Pro"/>
              </a:rPr>
              <a:t>-платформе, и получить там нужные мощности.</a:t>
            </a:r>
          </a:p>
        </p:txBody>
      </p:sp>
    </p:spTree>
    <p:extLst>
      <p:ext uri="{BB962C8B-B14F-4D97-AF65-F5344CB8AC3E}">
        <p14:creationId xmlns:p14="http://schemas.microsoft.com/office/powerpoint/2010/main" val="364059597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D3D1D74-34BE-47CA-8A2E-52CE6BF9C3BE}"/>
              </a:ext>
            </a:extLst>
          </p:cNvPr>
          <p:cNvSpPr txBox="1"/>
          <p:nvPr/>
        </p:nvSpPr>
        <p:spPr>
          <a:xfrm>
            <a:off x="603682" y="670003"/>
            <a:ext cx="10635448" cy="5355312"/>
          </a:xfrm>
          <a:prstGeom prst="rect">
            <a:avLst/>
          </a:prstGeom>
          <a:noFill/>
        </p:spPr>
        <p:txBody>
          <a:bodyPr wrap="square">
            <a:spAutoFit/>
          </a:bodyPr>
          <a:lstStyle/>
          <a:p>
            <a:pPr algn="l">
              <a:buFont typeface="+mj-lt"/>
              <a:buAutoNum type="arabicPeriod"/>
            </a:pPr>
            <a:r>
              <a:rPr lang="ru-RU" b="1" i="0" dirty="0">
                <a:solidFill>
                  <a:srgbClr val="484848"/>
                </a:solidFill>
                <a:effectLst/>
                <a:latin typeface="TT Norms Pro"/>
              </a:rPr>
              <a:t>Инфраструктура для компаний со скачками спроса</a:t>
            </a:r>
            <a:r>
              <a:rPr lang="ru-RU" b="0" i="0" dirty="0">
                <a:solidFill>
                  <a:srgbClr val="484848"/>
                </a:solidFill>
                <a:effectLst/>
                <a:latin typeface="TT Norms Pro"/>
              </a:rPr>
              <a:t>. </a:t>
            </a:r>
            <a:r>
              <a:rPr lang="ru-RU" b="0" i="0" dirty="0" err="1">
                <a:solidFill>
                  <a:srgbClr val="484848"/>
                </a:solidFill>
                <a:effectLst/>
                <a:latin typeface="TT Norms Pro"/>
              </a:rPr>
              <a:t>IaaS</a:t>
            </a:r>
            <a:r>
              <a:rPr lang="ru-RU" b="0" i="0" dirty="0">
                <a:solidFill>
                  <a:srgbClr val="484848"/>
                </a:solidFill>
                <a:effectLst/>
                <a:latin typeface="TT Norms Pro"/>
              </a:rPr>
              <a:t> подходит, если у компании нелинейный спрос на ресурсы. Например, у вас есть физические серверы, на которых развернут интернет-магазин. В период праздников или распродаж сайт падает — покупателей приходит слишком много, и серверы не выдерживают. Если использовать облачную инфраструктуру, при увеличении нагрузки можно сразу получить дополнительные вычислительные мощности. А когда нагрузка упадет, вернуться к плановому потреблению мощностей. В случае обычной физической инфраструктуры нужно докупать дополнительные серверы — пользоваться ими вы будете только на пике нагрузки, а обслуживать постоянно. Это не говоря о том, что процедура закупки оборудования обычно занимает недели, а облачное масштабирование — минуты или даже секунды.</a:t>
            </a:r>
          </a:p>
          <a:p>
            <a:pPr algn="l">
              <a:buFont typeface="+mj-lt"/>
              <a:buAutoNum type="arabicPeriod"/>
            </a:pPr>
            <a:r>
              <a:rPr lang="ru-RU" b="1" i="0" dirty="0">
                <a:solidFill>
                  <a:srgbClr val="484848"/>
                </a:solidFill>
                <a:effectLst/>
                <a:latin typeface="TT Norms Pro"/>
              </a:rPr>
              <a:t>Разработка и тестирование. </a:t>
            </a:r>
            <a:r>
              <a:rPr lang="ru-RU" b="0" i="0" dirty="0">
                <a:solidFill>
                  <a:srgbClr val="484848"/>
                </a:solidFill>
                <a:effectLst/>
                <a:latin typeface="TT Norms Pro"/>
              </a:rPr>
              <a:t>Как и в собственной локальной инфраструктуре, в облачной можно организовать раздельные среды разработки, тестирования и «боевой» нагрузки, в которой запущено уже готовое приложение. Но, в отличие от собственной инфраструктуры, в облаке тестовые среды можно разворачивать мгновенно. После завершения тестов лишние среды можно свернуть и не переплачивать за простаивающие ресурсы. Всё это упрощает и ускоряет процесс тестирования ПО и позволяет экономить на покупке тестовых серверов.</a:t>
            </a:r>
          </a:p>
          <a:p>
            <a:pPr algn="l"/>
            <a:r>
              <a:rPr lang="ru-RU" b="0" i="0" dirty="0">
                <a:solidFill>
                  <a:srgbClr val="484848"/>
                </a:solidFill>
                <a:effectLst/>
                <a:latin typeface="TT Norms Pro"/>
              </a:rPr>
              <a:t>Для построения в облаке сложной инфраструктуры </a:t>
            </a:r>
            <a:r>
              <a:rPr lang="ru-RU" b="0" i="0" dirty="0" err="1">
                <a:solidFill>
                  <a:srgbClr val="484848"/>
                </a:solidFill>
                <a:effectLst/>
                <a:latin typeface="TT Norms Pro"/>
              </a:rPr>
              <a:t>IaaS</a:t>
            </a:r>
            <a:r>
              <a:rPr lang="ru-RU" b="0" i="0" dirty="0">
                <a:solidFill>
                  <a:srgbClr val="484848"/>
                </a:solidFill>
                <a:effectLst/>
                <a:latin typeface="TT Norms Pro"/>
              </a:rPr>
              <a:t> для крупных проектов может потребоваться </a:t>
            </a:r>
            <a:r>
              <a:rPr lang="ru-RU" b="0" i="0" u="none" strike="noStrike" dirty="0">
                <a:solidFill>
                  <a:srgbClr val="484848"/>
                </a:solidFill>
                <a:effectLst/>
                <a:latin typeface="TT Norms Pro"/>
                <a:hlinkClick r:id="rId2"/>
              </a:rPr>
              <a:t>помощь провайдера в миграции и администрировании</a:t>
            </a:r>
            <a:r>
              <a:rPr lang="ru-RU" b="0" i="0" dirty="0">
                <a:solidFill>
                  <a:srgbClr val="484848"/>
                </a:solidFill>
                <a:effectLst/>
                <a:latin typeface="TT Norms Pro"/>
              </a:rPr>
              <a:t>. Но для большинства проектов управление </a:t>
            </a:r>
            <a:r>
              <a:rPr lang="ru-RU" b="0" i="0" u="none" strike="noStrike" dirty="0">
                <a:solidFill>
                  <a:srgbClr val="484848"/>
                </a:solidFill>
                <a:effectLst/>
                <a:latin typeface="TT Norms Pro"/>
                <a:hlinkClick r:id="rId3"/>
              </a:rPr>
              <a:t>облачной инфраструктурой</a:t>
            </a:r>
            <a:r>
              <a:rPr lang="ru-RU" b="0" i="0" dirty="0">
                <a:solidFill>
                  <a:srgbClr val="484848"/>
                </a:solidFill>
                <a:effectLst/>
                <a:latin typeface="TT Norms Pro"/>
              </a:rPr>
              <a:t> не требует непосредственного участия провайдера. А если возникнут сложности, всегда можно обратиться в техподдержку.</a:t>
            </a:r>
          </a:p>
        </p:txBody>
      </p:sp>
    </p:spTree>
    <p:extLst>
      <p:ext uri="{BB962C8B-B14F-4D97-AF65-F5344CB8AC3E}">
        <p14:creationId xmlns:p14="http://schemas.microsoft.com/office/powerpoint/2010/main" val="3083997514"/>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7BB11B-C525-4DB7-8423-F929D680AFB5}"/>
              </a:ext>
            </a:extLst>
          </p:cNvPr>
          <p:cNvSpPr txBox="1"/>
          <p:nvPr/>
        </p:nvSpPr>
        <p:spPr>
          <a:xfrm>
            <a:off x="461639" y="338064"/>
            <a:ext cx="10653204" cy="5201424"/>
          </a:xfrm>
          <a:prstGeom prst="rect">
            <a:avLst/>
          </a:prstGeom>
          <a:noFill/>
        </p:spPr>
        <p:txBody>
          <a:bodyPr wrap="square">
            <a:spAutoFit/>
          </a:bodyPr>
          <a:lstStyle/>
          <a:p>
            <a:pPr algn="l"/>
            <a:r>
              <a:rPr lang="ru-RU" sz="2400" b="0" i="0" dirty="0">
                <a:solidFill>
                  <a:srgbClr val="000000"/>
                </a:solidFill>
                <a:effectLst/>
                <a:latin typeface="TT Norms Pro"/>
              </a:rPr>
              <a:t>Что такое </a:t>
            </a:r>
            <a:r>
              <a:rPr lang="ru-RU" sz="2400" b="0" i="0" dirty="0" err="1">
                <a:solidFill>
                  <a:srgbClr val="000000"/>
                </a:solidFill>
                <a:effectLst/>
                <a:latin typeface="TT Norms Pro"/>
              </a:rPr>
              <a:t>PaaS</a:t>
            </a:r>
            <a:r>
              <a:rPr lang="ru-RU" sz="2400" b="0" i="0" dirty="0">
                <a:solidFill>
                  <a:srgbClr val="000000"/>
                </a:solidFill>
                <a:effectLst/>
                <a:latin typeface="TT Norms Pro"/>
              </a:rPr>
              <a:t>: облачная платформа как услуга</a:t>
            </a:r>
          </a:p>
          <a:p>
            <a:pPr algn="l"/>
            <a:r>
              <a:rPr lang="ru-RU" sz="2200" b="0" i="0" dirty="0">
                <a:solidFill>
                  <a:srgbClr val="484848"/>
                </a:solidFill>
                <a:effectLst/>
                <a:latin typeface="TT Norms Pro"/>
              </a:rPr>
              <a:t>Провайдеры облачных услуг могут предоставлять уже настроенные инструменты (платформы) под разные задачи. Такие инструменты называют </a:t>
            </a:r>
            <a:r>
              <a:rPr lang="ru-RU" sz="2200" b="1" i="0" dirty="0" err="1">
                <a:solidFill>
                  <a:srgbClr val="484848"/>
                </a:solidFill>
                <a:effectLst/>
                <a:latin typeface="TT Norms Pro"/>
              </a:rPr>
              <a:t>PaaS</a:t>
            </a:r>
            <a:r>
              <a:rPr lang="ru-RU" sz="2200" b="1" i="0" dirty="0">
                <a:solidFill>
                  <a:srgbClr val="484848"/>
                </a:solidFill>
                <a:effectLst/>
                <a:latin typeface="TT Norms Pro"/>
              </a:rPr>
              <a:t> — это </a:t>
            </a:r>
            <a:r>
              <a:rPr lang="ru-RU" sz="2200" b="1" i="0" dirty="0" err="1">
                <a:solidFill>
                  <a:srgbClr val="484848"/>
                </a:solidFill>
                <a:effectLst/>
                <a:latin typeface="TT Norms Pro"/>
              </a:rPr>
              <a:t>Platform</a:t>
            </a:r>
            <a:r>
              <a:rPr lang="ru-RU" sz="2200" b="1" i="0" dirty="0">
                <a:solidFill>
                  <a:srgbClr val="484848"/>
                </a:solidFill>
                <a:effectLst/>
                <a:latin typeface="TT Norms Pro"/>
              </a:rPr>
              <a:t> </a:t>
            </a:r>
            <a:r>
              <a:rPr lang="ru-RU" sz="2200" b="1" i="0" dirty="0" err="1">
                <a:solidFill>
                  <a:srgbClr val="484848"/>
                </a:solidFill>
                <a:effectLst/>
                <a:latin typeface="TT Norms Pro"/>
              </a:rPr>
              <a:t>as</a:t>
            </a:r>
            <a:r>
              <a:rPr lang="ru-RU" sz="2200" b="1" i="0" dirty="0">
                <a:solidFill>
                  <a:srgbClr val="484848"/>
                </a:solidFill>
                <a:effectLst/>
                <a:latin typeface="TT Norms Pro"/>
              </a:rPr>
              <a:t> a </a:t>
            </a:r>
            <a:r>
              <a:rPr lang="ru-RU" sz="2200" b="1" i="0" dirty="0" err="1">
                <a:solidFill>
                  <a:srgbClr val="484848"/>
                </a:solidFill>
                <a:effectLst/>
                <a:latin typeface="TT Norms Pro"/>
              </a:rPr>
              <a:t>Service</a:t>
            </a:r>
            <a:r>
              <a:rPr lang="ru-RU" sz="2200" b="0" i="0" dirty="0">
                <a:solidFill>
                  <a:srgbClr val="484848"/>
                </a:solidFill>
                <a:effectLst/>
                <a:latin typeface="TT Norms Pro"/>
              </a:rPr>
              <a:t>, платформа как услуга.</a:t>
            </a:r>
          </a:p>
          <a:p>
            <a:pPr algn="l"/>
            <a:r>
              <a:rPr lang="ru-RU" sz="2200" b="0" i="0" dirty="0">
                <a:solidFill>
                  <a:srgbClr val="484848"/>
                </a:solidFill>
                <a:effectLst/>
                <a:latin typeface="TT Norms Pro"/>
              </a:rPr>
              <a:t>Ключевое отличие </a:t>
            </a:r>
            <a:r>
              <a:rPr lang="ru-RU" sz="2200" b="0" i="0" dirty="0" err="1">
                <a:solidFill>
                  <a:srgbClr val="484848"/>
                </a:solidFill>
                <a:effectLst/>
                <a:latin typeface="TT Norms Pro"/>
              </a:rPr>
              <a:t>PaaS</a:t>
            </a:r>
            <a:r>
              <a:rPr lang="ru-RU" sz="2200" b="0" i="0" dirty="0">
                <a:solidFill>
                  <a:srgbClr val="484848"/>
                </a:solidFill>
                <a:effectLst/>
                <a:latin typeface="TT Norms Pro"/>
              </a:rPr>
              <a:t> от </a:t>
            </a:r>
            <a:r>
              <a:rPr lang="ru-RU" sz="2200" b="0" i="0" dirty="0" err="1">
                <a:solidFill>
                  <a:srgbClr val="484848"/>
                </a:solidFill>
                <a:effectLst/>
                <a:latin typeface="TT Norms Pro"/>
              </a:rPr>
              <a:t>IaaS</a:t>
            </a:r>
            <a:r>
              <a:rPr lang="ru-RU" sz="2200" b="0" i="0" dirty="0">
                <a:solidFill>
                  <a:srgbClr val="484848"/>
                </a:solidFill>
                <a:effectLst/>
                <a:latin typeface="TT Norms Pro"/>
              </a:rPr>
              <a:t> в том, что здесь у вас есть определенные инструменты, например: система управления базами данных, среда машинного обучения или обработки </a:t>
            </a:r>
            <a:r>
              <a:rPr lang="ru-RU" sz="2200" b="0" i="0" dirty="0" err="1">
                <a:solidFill>
                  <a:srgbClr val="484848"/>
                </a:solidFill>
                <a:effectLst/>
                <a:latin typeface="TT Norms Pro"/>
              </a:rPr>
              <a:t>big</a:t>
            </a:r>
            <a:r>
              <a:rPr lang="ru-RU" sz="2200" b="0" i="0" dirty="0">
                <a:solidFill>
                  <a:srgbClr val="484848"/>
                </a:solidFill>
                <a:effectLst/>
                <a:latin typeface="TT Norms Pro"/>
              </a:rPr>
              <a:t> </a:t>
            </a:r>
            <a:r>
              <a:rPr lang="ru-RU" sz="2200" b="0" i="0" dirty="0" err="1">
                <a:solidFill>
                  <a:srgbClr val="484848"/>
                </a:solidFill>
                <a:effectLst/>
                <a:latin typeface="TT Norms Pro"/>
              </a:rPr>
              <a:t>data</a:t>
            </a:r>
            <a:r>
              <a:rPr lang="ru-RU" sz="2200" b="0" i="0" dirty="0">
                <a:solidFill>
                  <a:srgbClr val="484848"/>
                </a:solidFill>
                <a:effectLst/>
                <a:latin typeface="TT Norms Pro"/>
              </a:rPr>
              <a:t>, промышленный </a:t>
            </a:r>
            <a:r>
              <a:rPr lang="ru-RU" sz="2200" b="0" i="0" dirty="0" err="1">
                <a:solidFill>
                  <a:srgbClr val="484848"/>
                </a:solidFill>
                <a:effectLst/>
                <a:latin typeface="TT Norms Pro"/>
              </a:rPr>
              <a:t>IoT</a:t>
            </a:r>
            <a:r>
              <a:rPr lang="ru-RU" sz="2200" b="0" i="0" dirty="0">
                <a:solidFill>
                  <a:srgbClr val="484848"/>
                </a:solidFill>
                <a:effectLst/>
                <a:latin typeface="TT Norms Pro"/>
              </a:rPr>
              <a:t>. Их нужно настроить под потребности компании, но не надо строить с нуля. Это позволяет экономить время разработчиков — например, им не нужно возиться с разработкой базы данных, можно просто загрузить в нее информацию и работать.</a:t>
            </a:r>
          </a:p>
          <a:p>
            <a:pPr algn="l"/>
            <a:r>
              <a:rPr lang="ru-RU" sz="2200" b="0" i="0" dirty="0">
                <a:solidFill>
                  <a:srgbClr val="484848"/>
                </a:solidFill>
                <a:effectLst/>
                <a:latin typeface="TT Norms Pro"/>
              </a:rPr>
              <a:t>При этом у вас нет доступа к операционной системе, настройкам виртуальных серверов, которые лежат в основе </a:t>
            </a:r>
            <a:r>
              <a:rPr lang="ru-RU" sz="2200" b="0" i="0" dirty="0" err="1">
                <a:solidFill>
                  <a:srgbClr val="484848"/>
                </a:solidFill>
                <a:effectLst/>
                <a:latin typeface="TT Norms Pro"/>
              </a:rPr>
              <a:t>PaaS</a:t>
            </a:r>
            <a:r>
              <a:rPr lang="ru-RU" sz="2200" b="0" i="0" dirty="0">
                <a:solidFill>
                  <a:srgbClr val="484848"/>
                </a:solidFill>
                <a:effectLst/>
                <a:latin typeface="TT Norms Pro"/>
              </a:rPr>
              <a:t>, а также к низкоуровневым настройкам самой платформы. Провайдер берет на себя их оптимальную конфигурацию и снимает с вас необходимость следить за настройками, обновлениями, масштабированием и безопасностью. Вы получаете доступ только к интерфейсам самой платформы.</a:t>
            </a:r>
          </a:p>
        </p:txBody>
      </p:sp>
    </p:spTree>
    <p:extLst>
      <p:ext uri="{BB962C8B-B14F-4D97-AF65-F5344CB8AC3E}">
        <p14:creationId xmlns:p14="http://schemas.microsoft.com/office/powerpoint/2010/main" val="348808747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D94805-D18C-409A-AC45-54FE9FF71723}"/>
              </a:ext>
            </a:extLst>
          </p:cNvPr>
          <p:cNvSpPr txBox="1"/>
          <p:nvPr/>
        </p:nvSpPr>
        <p:spPr>
          <a:xfrm>
            <a:off x="310718" y="0"/>
            <a:ext cx="11185864" cy="6740307"/>
          </a:xfrm>
          <a:prstGeom prst="rect">
            <a:avLst/>
          </a:prstGeom>
          <a:noFill/>
        </p:spPr>
        <p:txBody>
          <a:bodyPr wrap="square">
            <a:spAutoFit/>
          </a:bodyPr>
          <a:lstStyle/>
          <a:p>
            <a:pPr algn="l"/>
            <a:r>
              <a:rPr lang="ru-RU" b="0" i="0" dirty="0">
                <a:solidFill>
                  <a:srgbClr val="484848"/>
                </a:solidFill>
                <a:effectLst/>
                <a:latin typeface="TT Norms Pro"/>
              </a:rPr>
              <a:t>Вот несколько </a:t>
            </a:r>
            <a:r>
              <a:rPr lang="ru-RU" b="1" i="0" dirty="0">
                <a:solidFill>
                  <a:srgbClr val="484848"/>
                </a:solidFill>
                <a:effectLst/>
                <a:latin typeface="TT Norms Pro"/>
              </a:rPr>
              <a:t>примеров </a:t>
            </a:r>
            <a:r>
              <a:rPr lang="ru-RU" b="1" i="0" dirty="0" err="1">
                <a:solidFill>
                  <a:srgbClr val="484848"/>
                </a:solidFill>
                <a:effectLst/>
                <a:latin typeface="TT Norms Pro"/>
              </a:rPr>
              <a:t>PaaS</a:t>
            </a:r>
            <a:r>
              <a:rPr lang="ru-RU" b="0" i="0" dirty="0">
                <a:solidFill>
                  <a:srgbClr val="484848"/>
                </a:solidFill>
                <a:effectLst/>
                <a:latin typeface="TT Norms Pro"/>
              </a:rPr>
              <a:t>:</a:t>
            </a:r>
          </a:p>
          <a:p>
            <a:pPr algn="l">
              <a:buFont typeface="+mj-lt"/>
              <a:buAutoNum type="arabicPeriod"/>
            </a:pPr>
            <a:r>
              <a:rPr lang="ru-RU" b="1" i="0" u="none" strike="noStrike" dirty="0">
                <a:solidFill>
                  <a:srgbClr val="484848"/>
                </a:solidFill>
                <a:effectLst/>
                <a:latin typeface="TT Norms Pro"/>
                <a:hlinkClick r:id="rId2"/>
              </a:rPr>
              <a:t>Базы данных</a:t>
            </a:r>
            <a:r>
              <a:rPr lang="ru-RU" b="0" i="0" dirty="0">
                <a:solidFill>
                  <a:srgbClr val="484848"/>
                </a:solidFill>
                <a:effectLst/>
                <a:latin typeface="TT Norms Pro"/>
              </a:rPr>
              <a:t>. В облака можно перенести все или часть баз данных компании. В случае с </a:t>
            </a:r>
            <a:r>
              <a:rPr lang="ru-RU" b="0" i="0" dirty="0" err="1">
                <a:solidFill>
                  <a:srgbClr val="484848"/>
                </a:solidFill>
                <a:effectLst/>
                <a:latin typeface="TT Norms Pro"/>
              </a:rPr>
              <a:t>IaaS</a:t>
            </a:r>
            <a:r>
              <a:rPr lang="ru-RU" b="0" i="0" dirty="0">
                <a:solidFill>
                  <a:srgbClr val="484848"/>
                </a:solidFill>
                <a:effectLst/>
                <a:latin typeface="TT Norms Pro"/>
              </a:rPr>
              <a:t> пользователь получает только пространство на дисках, и должен сам выбрать систему управления базами данных, установить ее и настроить, обеспечить защиту данных и резервное копирование. В </a:t>
            </a:r>
            <a:r>
              <a:rPr lang="ru-RU" b="0" i="0" dirty="0" err="1">
                <a:solidFill>
                  <a:srgbClr val="484848"/>
                </a:solidFill>
                <a:effectLst/>
                <a:latin typeface="TT Norms Pro"/>
              </a:rPr>
              <a:t>PaaS</a:t>
            </a:r>
            <a:r>
              <a:rPr lang="ru-RU" b="0" i="0" dirty="0">
                <a:solidFill>
                  <a:srgbClr val="484848"/>
                </a:solidFill>
                <a:effectLst/>
                <a:latin typeface="TT Norms Pro"/>
              </a:rPr>
              <a:t> СУБД уже установлена, нужно лишь настроить ее для себя и загрузить данные. За работоспособность и резервное копирование отвечает провайдер.</a:t>
            </a:r>
          </a:p>
          <a:p>
            <a:pPr algn="l">
              <a:buFont typeface="+mj-lt"/>
              <a:buAutoNum type="arabicPeriod"/>
            </a:pPr>
            <a:r>
              <a:rPr lang="ru-RU" b="1" i="0" u="none" strike="noStrike" dirty="0">
                <a:solidFill>
                  <a:srgbClr val="484848"/>
                </a:solidFill>
                <a:effectLst/>
                <a:latin typeface="TT Norms Pro"/>
                <a:hlinkClick r:id="rId3"/>
              </a:rPr>
              <a:t>Разработка приложений в контейнерах</a:t>
            </a:r>
            <a:r>
              <a:rPr lang="ru-RU" b="0" i="0" dirty="0">
                <a:solidFill>
                  <a:srgbClr val="484848"/>
                </a:solidFill>
                <a:effectLst/>
                <a:latin typeface="TT Norms Pro"/>
              </a:rPr>
              <a:t>. Это современный стандарт разработки приложений. Суть в том, что все компоненты, которые нужны для запуска приложения, упаковывают в отдельные виртуальные контейнеры. Их можно быстро вызывать, запускать приложения и при необходимости добавлять вычислительные мощности для быстрого масштабирования и устойчивости к высоким нагрузкам.</a:t>
            </a:r>
          </a:p>
          <a:p>
            <a:pPr algn="l">
              <a:buFont typeface="+mj-lt"/>
              <a:buAutoNum type="arabicPeriod"/>
            </a:pPr>
            <a:r>
              <a:rPr lang="ru-RU" b="1" i="0" u="none" strike="noStrike" dirty="0">
                <a:solidFill>
                  <a:srgbClr val="484848"/>
                </a:solidFill>
                <a:effectLst/>
                <a:latin typeface="TT Norms Pro"/>
                <a:hlinkClick r:id="rId4"/>
              </a:rPr>
              <a:t>Аналитика больших данных</a:t>
            </a:r>
            <a:r>
              <a:rPr lang="ru-RU" b="0" i="0" dirty="0">
                <a:solidFill>
                  <a:srgbClr val="484848"/>
                </a:solidFill>
                <a:effectLst/>
                <a:latin typeface="TT Norms Pro"/>
              </a:rPr>
              <a:t>. </a:t>
            </a:r>
            <a:r>
              <a:rPr lang="ru-RU" b="0" i="0" dirty="0" err="1">
                <a:solidFill>
                  <a:srgbClr val="484848"/>
                </a:solidFill>
                <a:effectLst/>
                <a:latin typeface="TT Norms Pro"/>
              </a:rPr>
              <a:t>PaaS</a:t>
            </a:r>
            <a:r>
              <a:rPr lang="ru-RU" b="0" i="0" dirty="0">
                <a:solidFill>
                  <a:srgbClr val="484848"/>
                </a:solidFill>
                <a:effectLst/>
                <a:latin typeface="TT Norms Pro"/>
              </a:rPr>
              <a:t> помогают обрабатывать как исторические большие данные, то есть массивы информации, собранные компанией за какое-то время, так и данные в режиме реального времени. Для этого используют такие инструменты как </a:t>
            </a:r>
            <a:r>
              <a:rPr lang="ru-RU" b="0" i="0" dirty="0" err="1">
                <a:solidFill>
                  <a:srgbClr val="484848"/>
                </a:solidFill>
                <a:effectLst/>
                <a:latin typeface="TT Norms Pro"/>
              </a:rPr>
              <a:t>Apache</a:t>
            </a:r>
            <a:r>
              <a:rPr lang="ru-RU" b="0" i="0" dirty="0">
                <a:solidFill>
                  <a:srgbClr val="484848"/>
                </a:solidFill>
                <a:effectLst/>
                <a:latin typeface="TT Norms Pro"/>
              </a:rPr>
              <a:t> </a:t>
            </a:r>
            <a:r>
              <a:rPr lang="ru-RU" b="0" i="0" dirty="0" err="1">
                <a:solidFill>
                  <a:srgbClr val="484848"/>
                </a:solidFill>
                <a:effectLst/>
                <a:latin typeface="TT Norms Pro"/>
              </a:rPr>
              <a:t>Hadoop</a:t>
            </a:r>
            <a:r>
              <a:rPr lang="ru-RU" b="0" i="0" dirty="0">
                <a:solidFill>
                  <a:srgbClr val="484848"/>
                </a:solidFill>
                <a:effectLst/>
                <a:latin typeface="TT Norms Pro"/>
              </a:rPr>
              <a:t>, </a:t>
            </a:r>
            <a:r>
              <a:rPr lang="ru-RU" b="0" i="0" dirty="0" err="1">
                <a:solidFill>
                  <a:srgbClr val="484848"/>
                </a:solidFill>
                <a:effectLst/>
                <a:latin typeface="TT Norms Pro"/>
              </a:rPr>
              <a:t>Apache</a:t>
            </a:r>
            <a:r>
              <a:rPr lang="ru-RU" b="0" i="0" dirty="0">
                <a:solidFill>
                  <a:srgbClr val="484848"/>
                </a:solidFill>
                <a:effectLst/>
                <a:latin typeface="TT Norms Pro"/>
              </a:rPr>
              <a:t> </a:t>
            </a:r>
            <a:r>
              <a:rPr lang="ru-RU" b="0" i="0" dirty="0" err="1">
                <a:solidFill>
                  <a:srgbClr val="484848"/>
                </a:solidFill>
                <a:effectLst/>
                <a:latin typeface="TT Norms Pro"/>
              </a:rPr>
              <a:t>Spark</a:t>
            </a:r>
            <a:r>
              <a:rPr lang="ru-RU" b="0" i="0" dirty="0">
                <a:solidFill>
                  <a:srgbClr val="484848"/>
                </a:solidFill>
                <a:effectLst/>
                <a:latin typeface="TT Norms Pro"/>
              </a:rPr>
              <a:t>, </a:t>
            </a:r>
            <a:r>
              <a:rPr lang="ru-RU" b="0" i="0" dirty="0" err="1">
                <a:solidFill>
                  <a:srgbClr val="484848"/>
                </a:solidFill>
                <a:effectLst/>
                <a:latin typeface="TT Norms Pro"/>
              </a:rPr>
              <a:t>Apache</a:t>
            </a:r>
            <a:r>
              <a:rPr lang="ru-RU" b="0" i="0" dirty="0">
                <a:solidFill>
                  <a:srgbClr val="484848"/>
                </a:solidFill>
                <a:effectLst/>
                <a:latin typeface="TT Norms Pro"/>
              </a:rPr>
              <a:t> </a:t>
            </a:r>
            <a:r>
              <a:rPr lang="ru-RU" b="0" i="0" dirty="0" err="1">
                <a:solidFill>
                  <a:srgbClr val="484848"/>
                </a:solidFill>
                <a:effectLst/>
                <a:latin typeface="TT Norms Pro"/>
              </a:rPr>
              <a:t>Kafka</a:t>
            </a:r>
            <a:r>
              <a:rPr lang="ru-RU" b="0" i="0" dirty="0">
                <a:solidFill>
                  <a:srgbClr val="484848"/>
                </a:solidFill>
                <a:effectLst/>
                <a:latin typeface="TT Norms Pro"/>
              </a:rPr>
              <a:t> и другие. Они уже установлены и настроены в облаке, вам остается только выбрать нужную конфигурацию.</a:t>
            </a:r>
          </a:p>
          <a:p>
            <a:pPr algn="l">
              <a:buFont typeface="+mj-lt"/>
              <a:buAutoNum type="arabicPeriod"/>
            </a:pPr>
            <a:r>
              <a:rPr lang="ru-RU" b="1" i="0" u="none" strike="noStrike" dirty="0">
                <a:solidFill>
                  <a:srgbClr val="484848"/>
                </a:solidFill>
                <a:effectLst/>
                <a:latin typeface="TT Norms Pro"/>
                <a:hlinkClick r:id="rId5"/>
              </a:rPr>
              <a:t>Машинное обучение</a:t>
            </a:r>
            <a:r>
              <a:rPr lang="ru-RU" b="0" i="0" dirty="0">
                <a:solidFill>
                  <a:srgbClr val="484848"/>
                </a:solidFill>
                <a:effectLst/>
                <a:latin typeface="TT Norms Pro"/>
              </a:rPr>
              <a:t>. Такая платформа как сервис позволяет быстро разрабатывать приложения на основе глубокого обучения под нужды компании: системы компьютерного зрения для распознавания лиц, номеров автомобилей и других объектов, системы </a:t>
            </a:r>
            <a:r>
              <a:rPr lang="ru-RU" b="0" i="0" dirty="0" err="1">
                <a:solidFill>
                  <a:srgbClr val="484848"/>
                </a:solidFill>
                <a:effectLst/>
                <a:latin typeface="TT Norms Pro"/>
              </a:rPr>
              <a:t>аудиоаналитики</a:t>
            </a:r>
            <a:r>
              <a:rPr lang="ru-RU" b="0" i="0" dirty="0">
                <a:solidFill>
                  <a:srgbClr val="484848"/>
                </a:solidFill>
                <a:effectLst/>
                <a:latin typeface="TT Norms Pro"/>
              </a:rPr>
              <a:t>. К примеру, у вас есть большая база данных с фотографиями сотрудников, и вы хотите настроить на объекте </a:t>
            </a:r>
            <a:r>
              <a:rPr lang="ru-RU" b="0" i="0" dirty="0" err="1">
                <a:solidFill>
                  <a:srgbClr val="484848"/>
                </a:solidFill>
                <a:effectLst/>
                <a:latin typeface="TT Norms Pro"/>
              </a:rPr>
              <a:t>безбарьерный</a:t>
            </a:r>
            <a:r>
              <a:rPr lang="ru-RU" b="0" i="0" dirty="0">
                <a:solidFill>
                  <a:srgbClr val="484848"/>
                </a:solidFill>
                <a:effectLst/>
                <a:latin typeface="TT Norms Pro"/>
              </a:rPr>
              <a:t> вход — пропускать сотрудников через турникеты, распознавая их лица. Для этого вы разрабатываете собственное приложение, а потом «учите» нейросеть узнавать сотрудников с помощью </a:t>
            </a:r>
            <a:r>
              <a:rPr lang="ru-RU" b="0" i="0" dirty="0" err="1">
                <a:solidFill>
                  <a:srgbClr val="484848"/>
                </a:solidFill>
                <a:effectLst/>
                <a:latin typeface="TT Norms Pro"/>
              </a:rPr>
              <a:t>PaaS</a:t>
            </a:r>
            <a:r>
              <a:rPr lang="ru-RU" b="0" i="0" dirty="0">
                <a:solidFill>
                  <a:srgbClr val="484848"/>
                </a:solidFill>
                <a:effectLst/>
                <a:latin typeface="TT Norms Pro"/>
              </a:rPr>
              <a:t>, где уже установлены инструменты для распознавания лиц.</a:t>
            </a:r>
          </a:p>
          <a:p>
            <a:pPr algn="l"/>
            <a:endParaRPr lang="en-US" b="0" i="0" dirty="0">
              <a:solidFill>
                <a:srgbClr val="484848"/>
              </a:solidFill>
              <a:effectLst/>
              <a:latin typeface="TT Norms Pro"/>
            </a:endParaRPr>
          </a:p>
          <a:p>
            <a:pPr algn="l"/>
            <a:r>
              <a:rPr lang="ru-RU" b="0" i="0" dirty="0" err="1">
                <a:solidFill>
                  <a:srgbClr val="484848"/>
                </a:solidFill>
                <a:effectLst/>
                <a:latin typeface="TT Norms Pro"/>
              </a:rPr>
              <a:t>PaaS</a:t>
            </a:r>
            <a:r>
              <a:rPr lang="ru-RU" b="0" i="0" dirty="0">
                <a:solidFill>
                  <a:srgbClr val="484848"/>
                </a:solidFill>
                <a:effectLst/>
                <a:latin typeface="TT Norms Pro"/>
              </a:rPr>
              <a:t>-сервисы экономят время на конфигурацию инфраструктуры, нужной компании. Вы можете подключить нужный набор сервисов, главное, убедиться, что у облачного провайдера есть нужные сейчас и в перспективе решения.</a:t>
            </a:r>
          </a:p>
        </p:txBody>
      </p:sp>
    </p:spTree>
    <p:extLst>
      <p:ext uri="{BB962C8B-B14F-4D97-AF65-F5344CB8AC3E}">
        <p14:creationId xmlns:p14="http://schemas.microsoft.com/office/powerpoint/2010/main" val="101237137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D605B1-4C1E-45BB-8512-0CD74A5FECEE}"/>
              </a:ext>
            </a:extLst>
          </p:cNvPr>
          <p:cNvSpPr txBox="1"/>
          <p:nvPr/>
        </p:nvSpPr>
        <p:spPr>
          <a:xfrm>
            <a:off x="754601" y="612844"/>
            <a:ext cx="10741981" cy="4524315"/>
          </a:xfrm>
          <a:prstGeom prst="rect">
            <a:avLst/>
          </a:prstGeom>
          <a:noFill/>
        </p:spPr>
        <p:txBody>
          <a:bodyPr wrap="square">
            <a:spAutoFit/>
          </a:bodyPr>
          <a:lstStyle/>
          <a:p>
            <a:pPr algn="l"/>
            <a:r>
              <a:rPr lang="ru-RU" b="0" i="0" dirty="0">
                <a:solidFill>
                  <a:srgbClr val="000000"/>
                </a:solidFill>
                <a:effectLst/>
                <a:latin typeface="TT Norms Pro"/>
              </a:rPr>
              <a:t>Что такое </a:t>
            </a:r>
            <a:r>
              <a:rPr lang="ru-RU" b="0" i="0" dirty="0" err="1">
                <a:solidFill>
                  <a:srgbClr val="000000"/>
                </a:solidFill>
                <a:effectLst/>
                <a:latin typeface="TT Norms Pro"/>
              </a:rPr>
              <a:t>SaaS</a:t>
            </a:r>
            <a:r>
              <a:rPr lang="ru-RU" b="0" i="0" dirty="0">
                <a:solidFill>
                  <a:srgbClr val="000000"/>
                </a:solidFill>
                <a:effectLst/>
                <a:latin typeface="TT Norms Pro"/>
              </a:rPr>
              <a:t>: облачные сервисы для конкретных прикладных задач</a:t>
            </a:r>
          </a:p>
          <a:p>
            <a:pPr algn="l"/>
            <a:r>
              <a:rPr lang="ru-RU" b="0" i="0" dirty="0" err="1">
                <a:solidFill>
                  <a:srgbClr val="484848"/>
                </a:solidFill>
                <a:effectLst/>
                <a:latin typeface="TT Norms Pro"/>
              </a:rPr>
              <a:t>SaaS</a:t>
            </a:r>
            <a:r>
              <a:rPr lang="ru-RU" b="0" i="0" dirty="0">
                <a:solidFill>
                  <a:srgbClr val="484848"/>
                </a:solidFill>
                <a:effectLst/>
                <a:latin typeface="TT Norms Pro"/>
              </a:rPr>
              <a:t> — это полностью настроенная и готовая к работе программа, выполняющая определенные функции. Единственное отличие технологии </a:t>
            </a:r>
            <a:r>
              <a:rPr lang="ru-RU" b="0" i="0" dirty="0" err="1">
                <a:solidFill>
                  <a:srgbClr val="484848"/>
                </a:solidFill>
                <a:effectLst/>
                <a:latin typeface="TT Norms Pro"/>
              </a:rPr>
              <a:t>SaaS</a:t>
            </a:r>
            <a:r>
              <a:rPr lang="ru-RU" b="0" i="0" dirty="0">
                <a:solidFill>
                  <a:srgbClr val="484848"/>
                </a:solidFill>
                <a:effectLst/>
                <a:latin typeface="TT Norms Pro"/>
              </a:rPr>
              <a:t> от программы на смартфоне или компьютере в том, что сам софт находится в облаке. Доступ к нему идет через интернет, а сама программа работает на мощностях виртуальных серверов, поэтому не нагружает ваш компьютер или смартфон.</a:t>
            </a:r>
          </a:p>
          <a:p>
            <a:pPr algn="l"/>
            <a:r>
              <a:rPr lang="ru-RU" b="1" i="0" dirty="0" err="1">
                <a:solidFill>
                  <a:srgbClr val="484848"/>
                </a:solidFill>
                <a:effectLst/>
                <a:latin typeface="TT Norms Pro"/>
              </a:rPr>
              <a:t>SaaS</a:t>
            </a:r>
            <a:r>
              <a:rPr lang="ru-RU" b="1" i="0" dirty="0">
                <a:solidFill>
                  <a:srgbClr val="484848"/>
                </a:solidFill>
                <a:effectLst/>
                <a:latin typeface="TT Norms Pro"/>
              </a:rPr>
              <a:t> — </a:t>
            </a:r>
            <a:r>
              <a:rPr lang="ru-RU" b="1" i="0" u="none" strike="noStrike" dirty="0">
                <a:solidFill>
                  <a:srgbClr val="484848"/>
                </a:solidFill>
                <a:effectLst/>
                <a:latin typeface="TT Norms Pro"/>
                <a:hlinkClick r:id="rId2"/>
              </a:rPr>
              <a:t>это </a:t>
            </a:r>
            <a:r>
              <a:rPr lang="ru-RU" b="1" i="0" u="none" strike="noStrike" dirty="0" err="1">
                <a:solidFill>
                  <a:srgbClr val="484848"/>
                </a:solidFill>
                <a:effectLst/>
                <a:latin typeface="TT Norms Pro"/>
                <a:hlinkClick r:id="rId2"/>
              </a:rPr>
              <a:t>Software</a:t>
            </a:r>
            <a:r>
              <a:rPr lang="ru-RU" b="1" i="0" u="none" strike="noStrike" dirty="0">
                <a:solidFill>
                  <a:srgbClr val="484848"/>
                </a:solidFill>
                <a:effectLst/>
                <a:latin typeface="TT Norms Pro"/>
                <a:hlinkClick r:id="rId2"/>
              </a:rPr>
              <a:t> </a:t>
            </a:r>
            <a:r>
              <a:rPr lang="ru-RU" b="1" i="0" u="none" strike="noStrike" dirty="0" err="1">
                <a:solidFill>
                  <a:srgbClr val="484848"/>
                </a:solidFill>
                <a:effectLst/>
                <a:latin typeface="TT Norms Pro"/>
                <a:hlinkClick r:id="rId2"/>
              </a:rPr>
              <a:t>as</a:t>
            </a:r>
            <a:r>
              <a:rPr lang="ru-RU" b="1" i="0" u="none" strike="noStrike" dirty="0">
                <a:solidFill>
                  <a:srgbClr val="484848"/>
                </a:solidFill>
                <a:effectLst/>
                <a:latin typeface="TT Norms Pro"/>
                <a:hlinkClick r:id="rId2"/>
              </a:rPr>
              <a:t> a </a:t>
            </a:r>
            <a:r>
              <a:rPr lang="ru-RU" b="1" i="0" u="none" strike="noStrike" dirty="0" err="1">
                <a:solidFill>
                  <a:srgbClr val="484848"/>
                </a:solidFill>
                <a:effectLst/>
                <a:latin typeface="TT Norms Pro"/>
                <a:hlinkClick r:id="rId2"/>
              </a:rPr>
              <a:t>Service</a:t>
            </a:r>
            <a:r>
              <a:rPr lang="ru-RU" b="0" i="0" dirty="0">
                <a:solidFill>
                  <a:srgbClr val="484848"/>
                </a:solidFill>
                <a:effectLst/>
                <a:latin typeface="TT Norms Pro"/>
              </a:rPr>
              <a:t>, программное обеспечение как сервис. </a:t>
            </a:r>
            <a:r>
              <a:rPr lang="ru-RU" b="0" i="0" dirty="0" err="1">
                <a:solidFill>
                  <a:srgbClr val="484848"/>
                </a:solidFill>
                <a:effectLst/>
                <a:latin typeface="TT Norms Pro"/>
              </a:rPr>
              <a:t>IaaS</a:t>
            </a:r>
            <a:r>
              <a:rPr lang="ru-RU" b="0" i="0" dirty="0">
                <a:solidFill>
                  <a:srgbClr val="484848"/>
                </a:solidFill>
                <a:effectLst/>
                <a:latin typeface="TT Norms Pro"/>
              </a:rPr>
              <a:t> и </a:t>
            </a:r>
            <a:r>
              <a:rPr lang="ru-RU" b="0" i="0" dirty="0" err="1">
                <a:solidFill>
                  <a:srgbClr val="484848"/>
                </a:solidFill>
                <a:effectLst/>
                <a:latin typeface="TT Norms Pro"/>
              </a:rPr>
              <a:t>PaaS</a:t>
            </a:r>
            <a:r>
              <a:rPr lang="ru-RU" b="0" i="0" dirty="0">
                <a:solidFill>
                  <a:srgbClr val="484848"/>
                </a:solidFill>
                <a:effectLst/>
                <a:latin typeface="TT Norms Pro"/>
              </a:rPr>
              <a:t> для </a:t>
            </a:r>
            <a:r>
              <a:rPr lang="ru-RU" b="0" i="0" dirty="0" err="1">
                <a:solidFill>
                  <a:srgbClr val="484848"/>
                </a:solidFill>
                <a:effectLst/>
                <a:latin typeface="TT Norms Pro"/>
              </a:rPr>
              <a:t>SaaS</a:t>
            </a:r>
            <a:r>
              <a:rPr lang="ru-RU" b="0" i="0" dirty="0">
                <a:solidFill>
                  <a:srgbClr val="484848"/>
                </a:solidFill>
                <a:effectLst/>
                <a:latin typeface="TT Norms Pro"/>
              </a:rPr>
              <a:t>-сервисов могут выступать как инфраструктура и среды разработки и развертывания: разработчики программного обеспечения используют облачные мощности, чтобы разрабатывать, запускать и хранить </a:t>
            </a:r>
            <a:r>
              <a:rPr lang="ru-RU" b="0" i="0" dirty="0" err="1">
                <a:solidFill>
                  <a:srgbClr val="484848"/>
                </a:solidFill>
                <a:effectLst/>
                <a:latin typeface="TT Norms Pro"/>
              </a:rPr>
              <a:t>SaaS</a:t>
            </a:r>
            <a:r>
              <a:rPr lang="ru-RU" b="0" i="0" dirty="0">
                <a:solidFill>
                  <a:srgbClr val="484848"/>
                </a:solidFill>
                <a:effectLst/>
                <a:latin typeface="TT Norms Pro"/>
              </a:rPr>
              <a:t>-приложения, обеспечивать к ним доступ пользователям.</a:t>
            </a:r>
          </a:p>
          <a:p>
            <a:pPr algn="l"/>
            <a:r>
              <a:rPr lang="ru-RU" b="1" i="0" dirty="0">
                <a:solidFill>
                  <a:srgbClr val="333333"/>
                </a:solidFill>
                <a:effectLst/>
                <a:latin typeface="TT Norms Pro"/>
              </a:rPr>
              <a:t>Примеры </a:t>
            </a:r>
            <a:r>
              <a:rPr lang="ru-RU" b="1" i="0" dirty="0" err="1">
                <a:solidFill>
                  <a:srgbClr val="333333"/>
                </a:solidFill>
                <a:effectLst/>
                <a:latin typeface="TT Norms Pro"/>
              </a:rPr>
              <a:t>SaaS</a:t>
            </a:r>
            <a:r>
              <a:rPr lang="ru-RU" b="0" i="0" dirty="0">
                <a:solidFill>
                  <a:srgbClr val="333333"/>
                </a:solidFill>
                <a:effectLst/>
                <a:latin typeface="TT Norms Pro"/>
              </a:rPr>
              <a:t> — это большинство сервисов в интернете: электронная почта, CRM-системы, планировщики задач, веб-конструкторы для создания сайтов, платформы для ведения блогов. То есть все облачные программы, которые позволяют решать конкретные задачи.</a:t>
            </a:r>
          </a:p>
          <a:p>
            <a:pPr algn="l"/>
            <a:r>
              <a:rPr lang="ru-RU" b="0" i="0" dirty="0">
                <a:solidFill>
                  <a:srgbClr val="484848"/>
                </a:solidFill>
                <a:effectLst/>
                <a:latin typeface="TT Norms Pro"/>
              </a:rPr>
              <a:t>Если у вас есть задача, которая полностью решается платформой </a:t>
            </a:r>
            <a:r>
              <a:rPr lang="ru-RU" b="0" i="0" dirty="0" err="1">
                <a:solidFill>
                  <a:srgbClr val="484848"/>
                </a:solidFill>
                <a:effectLst/>
                <a:latin typeface="TT Norms Pro"/>
              </a:rPr>
              <a:t>SaaS</a:t>
            </a:r>
            <a:r>
              <a:rPr lang="ru-RU" b="0" i="0" dirty="0">
                <a:solidFill>
                  <a:srgbClr val="484848"/>
                </a:solidFill>
                <a:effectLst/>
                <a:latin typeface="TT Norms Pro"/>
              </a:rPr>
              <a:t>, то дешевле и быстрее воспользоваться ей, а не разрабатывать собственное решение.</a:t>
            </a:r>
          </a:p>
          <a:p>
            <a:pPr algn="l"/>
            <a:r>
              <a:rPr lang="ru-RU" b="0" i="0" dirty="0">
                <a:solidFill>
                  <a:srgbClr val="484848"/>
                </a:solidFill>
                <a:effectLst/>
                <a:latin typeface="TT Norms Pro"/>
              </a:rPr>
              <a:t>Так, даже крупная компания вряд ли будет разрабатывать свой почтовый клиент — есть готовые почтовые сервисы, которые можно приобрести по подписке и функционала которых достаточно для работы.</a:t>
            </a:r>
          </a:p>
        </p:txBody>
      </p:sp>
    </p:spTree>
    <p:extLst>
      <p:ext uri="{BB962C8B-B14F-4D97-AF65-F5344CB8AC3E}">
        <p14:creationId xmlns:p14="http://schemas.microsoft.com/office/powerpoint/2010/main" val="3222366145"/>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189A17-189D-4A6B-B98B-1984DA01025A}"/>
              </a:ext>
            </a:extLst>
          </p:cNvPr>
          <p:cNvSpPr txBox="1"/>
          <p:nvPr/>
        </p:nvSpPr>
        <p:spPr>
          <a:xfrm>
            <a:off x="632533" y="323969"/>
            <a:ext cx="11290177" cy="1477328"/>
          </a:xfrm>
          <a:prstGeom prst="rect">
            <a:avLst/>
          </a:prstGeom>
          <a:noFill/>
        </p:spPr>
        <p:txBody>
          <a:bodyPr wrap="square">
            <a:spAutoFit/>
          </a:bodyPr>
          <a:lstStyle/>
          <a:p>
            <a:pPr algn="l"/>
            <a:r>
              <a:rPr lang="ru-RU" b="0" i="0" dirty="0" err="1">
                <a:solidFill>
                  <a:srgbClr val="000000"/>
                </a:solidFill>
                <a:effectLst/>
                <a:latin typeface="TT Norms Pro"/>
              </a:rPr>
              <a:t>IaaS</a:t>
            </a:r>
            <a:r>
              <a:rPr lang="ru-RU" b="0" i="0" dirty="0">
                <a:solidFill>
                  <a:srgbClr val="000000"/>
                </a:solidFill>
                <a:effectLst/>
                <a:latin typeface="TT Norms Pro"/>
              </a:rPr>
              <a:t>, </a:t>
            </a:r>
            <a:r>
              <a:rPr lang="ru-RU" b="0" i="0" dirty="0" err="1">
                <a:solidFill>
                  <a:srgbClr val="000000"/>
                </a:solidFill>
                <a:effectLst/>
                <a:latin typeface="TT Norms Pro"/>
              </a:rPr>
              <a:t>PaaS</a:t>
            </a:r>
            <a:r>
              <a:rPr lang="ru-RU" b="0" i="0" dirty="0">
                <a:solidFill>
                  <a:srgbClr val="000000"/>
                </a:solidFill>
                <a:effectLst/>
                <a:latin typeface="TT Norms Pro"/>
              </a:rPr>
              <a:t> и </a:t>
            </a:r>
            <a:r>
              <a:rPr lang="ru-RU" b="0" i="0" dirty="0" err="1">
                <a:solidFill>
                  <a:srgbClr val="000000"/>
                </a:solidFill>
                <a:effectLst/>
                <a:latin typeface="TT Norms Pro"/>
              </a:rPr>
              <a:t>Saas</a:t>
            </a:r>
            <a:r>
              <a:rPr lang="ru-RU" b="0" i="0" dirty="0">
                <a:solidFill>
                  <a:srgbClr val="000000"/>
                </a:solidFill>
                <a:effectLst/>
                <a:latin typeface="TT Norms Pro"/>
              </a:rPr>
              <a:t> — что это и когда нужны</a:t>
            </a:r>
          </a:p>
          <a:p>
            <a:pPr algn="l"/>
            <a:r>
              <a:rPr lang="ru-RU" b="1" i="0" dirty="0" err="1">
                <a:solidFill>
                  <a:srgbClr val="484848"/>
                </a:solidFill>
                <a:effectLst/>
                <a:latin typeface="TT Norms Pro"/>
              </a:rPr>
              <a:t>IaaS</a:t>
            </a:r>
            <a:r>
              <a:rPr lang="ru-RU" b="0" i="0" dirty="0">
                <a:solidFill>
                  <a:srgbClr val="484848"/>
                </a:solidFill>
                <a:effectLst/>
                <a:latin typeface="TT Norms Pro"/>
              </a:rPr>
              <a:t>. Вычислительные мощности для запуска своих решений и развертывания IT-инфраструктуры компании.</a:t>
            </a:r>
          </a:p>
          <a:p>
            <a:pPr algn="l"/>
            <a:r>
              <a:rPr lang="ru-RU" b="1" i="0" dirty="0" err="1">
                <a:solidFill>
                  <a:srgbClr val="484848"/>
                </a:solidFill>
                <a:effectLst/>
                <a:latin typeface="TT Norms Pro"/>
              </a:rPr>
              <a:t>PaaS</a:t>
            </a:r>
            <a:r>
              <a:rPr lang="ru-RU" b="0" i="0" dirty="0">
                <a:solidFill>
                  <a:srgbClr val="484848"/>
                </a:solidFill>
                <a:effectLst/>
                <a:latin typeface="TT Norms Pro"/>
              </a:rPr>
              <a:t>. Позволяет использовать уже готовые и настроенные платформы для специализированных задач.</a:t>
            </a:r>
          </a:p>
          <a:p>
            <a:pPr algn="l"/>
            <a:r>
              <a:rPr lang="ru-RU" b="1" i="0" dirty="0" err="1">
                <a:solidFill>
                  <a:srgbClr val="484848"/>
                </a:solidFill>
                <a:effectLst/>
                <a:latin typeface="TT Norms Pro"/>
              </a:rPr>
              <a:t>SaaS</a:t>
            </a:r>
            <a:r>
              <a:rPr lang="ru-RU" b="0" i="0" dirty="0">
                <a:solidFill>
                  <a:srgbClr val="484848"/>
                </a:solidFill>
                <a:effectLst/>
                <a:latin typeface="TT Norms Pro"/>
              </a:rPr>
              <a:t>. Модель, когда в облаках размещены готовые сервисы для конкретных прикладных функций — отправки почты, ведения базы клиентов, создания сайта.</a:t>
            </a:r>
          </a:p>
        </p:txBody>
      </p:sp>
    </p:spTree>
    <p:extLst>
      <p:ext uri="{BB962C8B-B14F-4D97-AF65-F5344CB8AC3E}">
        <p14:creationId xmlns:p14="http://schemas.microsoft.com/office/powerpoint/2010/main" val="65077316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14D70A-7115-4BBE-A4F1-168FCE1D3535}"/>
              </a:ext>
            </a:extLst>
          </p:cNvPr>
          <p:cNvSpPr txBox="1"/>
          <p:nvPr/>
        </p:nvSpPr>
        <p:spPr>
          <a:xfrm>
            <a:off x="683580" y="435005"/>
            <a:ext cx="10413507" cy="2585323"/>
          </a:xfrm>
          <a:prstGeom prst="rect">
            <a:avLst/>
          </a:prstGeom>
          <a:noFill/>
        </p:spPr>
        <p:txBody>
          <a:bodyPr wrap="square">
            <a:spAutoFit/>
          </a:bodyPr>
          <a:lstStyle/>
          <a:p>
            <a:pPr algn="ctr"/>
            <a:r>
              <a:rPr lang="ru-RU" b="0" i="0" dirty="0">
                <a:solidFill>
                  <a:srgbClr val="000000"/>
                </a:solidFill>
                <a:effectLst/>
                <a:latin typeface="Arial" panose="020B0604020202020204" pitchFamily="34" charset="0"/>
              </a:rPr>
              <a:t>Виды виртуализации</a:t>
            </a:r>
          </a:p>
          <a:p>
            <a:pPr algn="just"/>
            <a:r>
              <a:rPr lang="ru-RU" b="0" i="0" dirty="0">
                <a:solidFill>
                  <a:srgbClr val="000000"/>
                </a:solidFill>
                <a:effectLst/>
                <a:latin typeface="Arial" panose="020B0604020202020204" pitchFamily="34" charset="0"/>
              </a:rPr>
              <a:t>Классификация виртуализации носит условный характер, её условно можно разделить на две фундаментально различающиеся категории:</a:t>
            </a:r>
          </a:p>
          <a:p>
            <a:pPr algn="just"/>
            <a:r>
              <a:rPr lang="ru-RU" b="0" i="0" dirty="0">
                <a:solidFill>
                  <a:srgbClr val="000000"/>
                </a:solidFill>
                <a:effectLst/>
                <a:latin typeface="Arial" panose="020B0604020202020204" pitchFamily="34" charset="0"/>
              </a:rPr>
              <a:t>‒ </a:t>
            </a:r>
            <a:r>
              <a:rPr lang="ru-RU" b="1" i="0" dirty="0">
                <a:solidFill>
                  <a:srgbClr val="000000"/>
                </a:solidFill>
                <a:effectLst/>
                <a:latin typeface="Arial" panose="020B0604020202020204" pitchFamily="34" charset="0"/>
              </a:rPr>
              <a:t>виртуализация платформ. </a:t>
            </a:r>
            <a:r>
              <a:rPr lang="ru-RU" b="0" i="0" dirty="0">
                <a:solidFill>
                  <a:srgbClr val="000000"/>
                </a:solidFill>
                <a:effectLst/>
                <a:latin typeface="Arial" panose="020B0604020202020204" pitchFamily="34" charset="0"/>
              </a:rPr>
              <a:t>Продуктом этого вида виртуализации являются виртуальные машины </a:t>
            </a:r>
            <a:r>
              <a:rPr lang="ru-RU" b="1" i="0" dirty="0">
                <a:solidFill>
                  <a:srgbClr val="000000"/>
                </a:solidFill>
                <a:effectLst/>
                <a:latin typeface="Arial" panose="020B0604020202020204" pitchFamily="34" charset="0"/>
              </a:rPr>
              <a:t>‒</a:t>
            </a:r>
            <a:r>
              <a:rPr lang="ru-RU" b="0" i="0" dirty="0">
                <a:solidFill>
                  <a:srgbClr val="000000"/>
                </a:solidFill>
                <a:effectLst/>
                <a:latin typeface="Arial" panose="020B0604020202020204" pitchFamily="34" charset="0"/>
              </a:rPr>
              <a:t> некие программные абстракции, запускаемые на платформе реальных аппаратно-программных систем.</a:t>
            </a:r>
          </a:p>
          <a:p>
            <a:pPr algn="just"/>
            <a:r>
              <a:rPr lang="ru-RU" b="0" i="0" dirty="0">
                <a:solidFill>
                  <a:srgbClr val="000000"/>
                </a:solidFill>
                <a:effectLst/>
                <a:latin typeface="Arial" panose="020B0604020202020204" pitchFamily="34" charset="0"/>
              </a:rPr>
              <a:t>‒ </a:t>
            </a:r>
            <a:r>
              <a:rPr lang="ru-RU" b="1" i="0" dirty="0">
                <a:solidFill>
                  <a:srgbClr val="000000"/>
                </a:solidFill>
                <a:effectLst/>
                <a:latin typeface="Arial" panose="020B0604020202020204" pitchFamily="34" charset="0"/>
              </a:rPr>
              <a:t>виртуализация ресурсов. </a:t>
            </a:r>
            <a:r>
              <a:rPr lang="ru-RU" b="0" i="0" dirty="0">
                <a:solidFill>
                  <a:srgbClr val="000000"/>
                </a:solidFill>
                <a:effectLst/>
                <a:latin typeface="Arial" panose="020B0604020202020204" pitchFamily="34" charset="0"/>
              </a:rPr>
              <a:t>Данный вид виртуализации преследует своей целью комбинирование или упрощение представления аппаратных ресурсов для пользователя и получение неких пользовательских абстракций оборудования, пространств имен, сетей и т.п.</a:t>
            </a:r>
          </a:p>
        </p:txBody>
      </p:sp>
      <p:sp>
        <p:nvSpPr>
          <p:cNvPr id="5" name="TextBox 4">
            <a:extLst>
              <a:ext uri="{FF2B5EF4-FFF2-40B4-BE49-F238E27FC236}">
                <a16:creationId xmlns:a16="http://schemas.microsoft.com/office/drawing/2014/main" id="{A0019ED7-41B1-4689-A341-06CB8DEEBD9D}"/>
              </a:ext>
            </a:extLst>
          </p:cNvPr>
          <p:cNvSpPr txBox="1"/>
          <p:nvPr/>
        </p:nvSpPr>
        <p:spPr>
          <a:xfrm>
            <a:off x="683580" y="3020328"/>
            <a:ext cx="9372600" cy="3416320"/>
          </a:xfrm>
          <a:prstGeom prst="rect">
            <a:avLst/>
          </a:prstGeom>
          <a:noFill/>
        </p:spPr>
        <p:txBody>
          <a:bodyPr wrap="square">
            <a:spAutoFit/>
          </a:bodyPr>
          <a:lstStyle/>
          <a:p>
            <a:pPr algn="ctr"/>
            <a:r>
              <a:rPr lang="ru-RU" b="0" i="0" dirty="0">
                <a:solidFill>
                  <a:srgbClr val="000000"/>
                </a:solidFill>
                <a:effectLst/>
                <a:latin typeface="Arial" panose="020B0604020202020204" pitchFamily="34" charset="0"/>
              </a:rPr>
              <a:t>Виртуализация платформ</a:t>
            </a:r>
          </a:p>
          <a:p>
            <a:pPr algn="just"/>
            <a:r>
              <a:rPr lang="ru-RU" b="0" i="0" dirty="0">
                <a:solidFill>
                  <a:srgbClr val="000000"/>
                </a:solidFill>
                <a:effectLst/>
                <a:latin typeface="Arial" panose="020B0604020202020204" pitchFamily="34" charset="0"/>
              </a:rPr>
              <a:t>В зависимости от степени виртуализации аппаратных ресурсов, виртуализацию платформ делят на следующие виды:</a:t>
            </a:r>
          </a:p>
          <a:p>
            <a:pPr algn="just"/>
            <a:r>
              <a:rPr lang="ru-RU" b="0" i="0" dirty="0">
                <a:solidFill>
                  <a:srgbClr val="000000"/>
                </a:solidFill>
                <a:effectLst/>
                <a:latin typeface="Arial" panose="020B0604020202020204" pitchFamily="34" charset="0"/>
              </a:rPr>
              <a:t>− виртуализация серверов;</a:t>
            </a:r>
          </a:p>
          <a:p>
            <a:pPr algn="just"/>
            <a:r>
              <a:rPr lang="ru-RU" b="0" i="0" dirty="0">
                <a:solidFill>
                  <a:srgbClr val="000000"/>
                </a:solidFill>
                <a:effectLst/>
                <a:latin typeface="Arial" panose="020B0604020202020204" pitchFamily="34" charset="0"/>
              </a:rPr>
              <a:t>− виртуализация на уровне ОС;</a:t>
            </a:r>
          </a:p>
          <a:p>
            <a:pPr algn="just"/>
            <a:r>
              <a:rPr lang="ru-RU" b="0" i="0" dirty="0">
                <a:solidFill>
                  <a:srgbClr val="000000"/>
                </a:solidFill>
                <a:effectLst/>
                <a:latin typeface="Arial" panose="020B0604020202020204" pitchFamily="34" charset="0"/>
              </a:rPr>
              <a:t>− виртуализация приложений;</a:t>
            </a:r>
          </a:p>
          <a:p>
            <a:pPr algn="just"/>
            <a:r>
              <a:rPr lang="ru-RU" b="0" i="0" dirty="0">
                <a:solidFill>
                  <a:srgbClr val="000000"/>
                </a:solidFill>
                <a:effectLst/>
                <a:latin typeface="Arial" panose="020B0604020202020204" pitchFamily="34" charset="0"/>
              </a:rPr>
              <a:t>− виртуализация представлений.</a:t>
            </a:r>
          </a:p>
          <a:p>
            <a:pPr algn="just"/>
            <a:r>
              <a:rPr lang="ru-RU" b="0" i="0" dirty="0">
                <a:solidFill>
                  <a:srgbClr val="000000"/>
                </a:solidFill>
                <a:effectLst/>
                <a:latin typeface="Arial" panose="020B0604020202020204" pitchFamily="34" charset="0"/>
              </a:rPr>
              <a:t>Виртуализация серверов сводится к:</a:t>
            </a:r>
          </a:p>
          <a:p>
            <a:pPr algn="just"/>
            <a:r>
              <a:rPr lang="ru-RU" b="0" i="0" dirty="0">
                <a:solidFill>
                  <a:srgbClr val="000000"/>
                </a:solidFill>
                <a:effectLst/>
                <a:latin typeface="Arial" panose="020B0604020202020204" pitchFamily="34" charset="0"/>
              </a:rPr>
              <a:t>− полной эмуляции (симуляции);</a:t>
            </a:r>
          </a:p>
          <a:p>
            <a:pPr algn="just"/>
            <a:r>
              <a:rPr lang="ru-RU" b="0" i="0" dirty="0">
                <a:solidFill>
                  <a:srgbClr val="000000"/>
                </a:solidFill>
                <a:effectLst/>
                <a:latin typeface="Arial" panose="020B0604020202020204" pitchFamily="34" charset="0"/>
              </a:rPr>
              <a:t>− частичной эмуляции (</a:t>
            </a:r>
            <a:r>
              <a:rPr lang="ru-RU" b="0" i="0" dirty="0" err="1">
                <a:solidFill>
                  <a:srgbClr val="000000"/>
                </a:solidFill>
                <a:effectLst/>
                <a:latin typeface="Arial" panose="020B0604020202020204" pitchFamily="34" charset="0"/>
              </a:rPr>
              <a:t>нативной</a:t>
            </a:r>
            <a:r>
              <a:rPr lang="ru-RU" b="0" i="0" dirty="0">
                <a:solidFill>
                  <a:srgbClr val="000000"/>
                </a:solidFill>
                <a:effectLst/>
                <a:latin typeface="Arial" panose="020B0604020202020204" pitchFamily="34" charset="0"/>
              </a:rPr>
              <a:t> или встроенной виртуализации);</a:t>
            </a:r>
          </a:p>
          <a:p>
            <a:pPr algn="just"/>
            <a:r>
              <a:rPr lang="ru-RU" b="0" i="0" dirty="0">
                <a:solidFill>
                  <a:srgbClr val="000000"/>
                </a:solidFill>
                <a:effectLst/>
                <a:latin typeface="Arial" panose="020B0604020202020204" pitchFamily="34" charset="0"/>
              </a:rPr>
              <a:t>− частичной виртуализации;</a:t>
            </a:r>
          </a:p>
          <a:p>
            <a:pPr algn="just"/>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паравиртуализация</a:t>
            </a:r>
            <a:r>
              <a:rPr lang="ru-RU" b="0" i="0" dirty="0">
                <a:solidFill>
                  <a:srgbClr val="000000"/>
                </a:solidFill>
                <a:effectLst/>
                <a:latin typeface="Arial" panose="020B0604020202020204" pitchFamily="34" charset="0"/>
              </a:rPr>
              <a:t>.</a:t>
            </a:r>
          </a:p>
        </p:txBody>
      </p:sp>
    </p:spTree>
    <p:extLst>
      <p:ext uri="{BB962C8B-B14F-4D97-AF65-F5344CB8AC3E}">
        <p14:creationId xmlns:p14="http://schemas.microsoft.com/office/powerpoint/2010/main" val="298962374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181DEB-3185-4CAD-81D1-2C05FCE693F4}"/>
              </a:ext>
            </a:extLst>
          </p:cNvPr>
          <p:cNvSpPr txBox="1"/>
          <p:nvPr/>
        </p:nvSpPr>
        <p:spPr>
          <a:xfrm>
            <a:off x="363985" y="478278"/>
            <a:ext cx="11194741" cy="4247317"/>
          </a:xfrm>
          <a:prstGeom prst="rect">
            <a:avLst/>
          </a:prstGeom>
          <a:noFill/>
        </p:spPr>
        <p:txBody>
          <a:bodyPr wrap="square">
            <a:spAutoFit/>
          </a:bodyPr>
          <a:lstStyle/>
          <a:p>
            <a:pPr algn="just"/>
            <a:r>
              <a:rPr lang="ru-RU" b="1" i="0" dirty="0">
                <a:solidFill>
                  <a:srgbClr val="000000"/>
                </a:solidFill>
                <a:effectLst/>
                <a:latin typeface="Arial" panose="020B0604020202020204" pitchFamily="34" charset="0"/>
              </a:rPr>
              <a:t>Полная эмуляция (симуляция)</a:t>
            </a:r>
            <a:r>
              <a:rPr lang="ru-RU" b="0" i="0" dirty="0">
                <a:solidFill>
                  <a:srgbClr val="000000"/>
                </a:solidFill>
                <a:effectLst/>
                <a:latin typeface="Arial" panose="020B0604020202020204" pitchFamily="34" charset="0"/>
              </a:rPr>
              <a:t>. Этот вид виртуализации построен на основе полной эмуляции всего аппаратного обеспечения определенной платформы. Такой подход позволяет эмулировать различные аппаратные архитектуры. Например, на платформе x86 это позволяет запустить операционную систему, разработанную для процессоров IBM </a:t>
            </a:r>
            <a:r>
              <a:rPr lang="ru-RU" b="0" i="0" dirty="0" err="1">
                <a:solidFill>
                  <a:srgbClr val="000000"/>
                </a:solidFill>
                <a:effectLst/>
                <a:latin typeface="Arial" panose="020B0604020202020204" pitchFamily="34" charset="0"/>
              </a:rPr>
              <a:t>PowerPC</a:t>
            </a:r>
            <a:r>
              <a:rPr lang="ru-RU" b="0" i="0" dirty="0">
                <a:solidFill>
                  <a:srgbClr val="000000"/>
                </a:solidFill>
                <a:effectLst/>
                <a:latin typeface="Arial" panose="020B0604020202020204" pitchFamily="34" charset="0"/>
              </a:rPr>
              <a:t>.</a:t>
            </a:r>
          </a:p>
          <a:p>
            <a:pPr algn="just"/>
            <a:r>
              <a:rPr lang="ru-RU" b="0" i="0" dirty="0">
                <a:solidFill>
                  <a:srgbClr val="000000"/>
                </a:solidFill>
                <a:effectLst/>
                <a:latin typeface="Arial" panose="020B0604020202020204" pitchFamily="34" charset="0"/>
              </a:rPr>
              <a:t>Главным и основным минусом такого подхода является очень низкое быстродействие гостевой системы (в 100—1000 раз меньше, чем физического компьютера), так как происходит полная эмуляция всех инструкций виртуального процессора, а инструкции физического процессора совсем не используются.</a:t>
            </a:r>
          </a:p>
          <a:p>
            <a:pPr algn="just"/>
            <a:r>
              <a:rPr lang="ru-RU" b="0" i="0" dirty="0">
                <a:solidFill>
                  <a:srgbClr val="000000"/>
                </a:solidFill>
                <a:effectLst/>
                <a:latin typeface="Arial" panose="020B0604020202020204" pitchFamily="34" charset="0"/>
              </a:rPr>
              <a:t>Полная эмуляция используется исключительно при разработке системного программного обеспечения и в образовательных целях. Например, при разработке программного обеспечения под процессоры, которые еще не реализованы физически; для низкоуровневой отладки операционных систем, так как симуляция позволяют отслеживать все инструкции виртуального процессора, что нельзя сделать в системах, которые частично или полностью используют реальный процессор.</a:t>
            </a:r>
          </a:p>
          <a:p>
            <a:pPr algn="just"/>
            <a:r>
              <a:rPr lang="ru-RU" b="0" i="0" dirty="0">
                <a:solidFill>
                  <a:srgbClr val="000000"/>
                </a:solidFill>
                <a:effectLst/>
                <a:latin typeface="Arial" panose="020B0604020202020204" pitchFamily="34" charset="0"/>
              </a:rPr>
              <a:t>Программные платформы симуляции: </a:t>
            </a:r>
            <a:r>
              <a:rPr lang="ru-RU" b="0" i="0" dirty="0" err="1">
                <a:solidFill>
                  <a:srgbClr val="000000"/>
                </a:solidFill>
                <a:effectLst/>
                <a:latin typeface="Arial" panose="020B0604020202020204" pitchFamily="34" charset="0"/>
              </a:rPr>
              <a:t>VMware</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Workstation</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VMware</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Server</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VMware</a:t>
            </a:r>
            <a:r>
              <a:rPr lang="ru-RU" b="0" i="0" dirty="0">
                <a:solidFill>
                  <a:srgbClr val="000000"/>
                </a:solidFill>
                <a:effectLst/>
                <a:latin typeface="Arial" panose="020B0604020202020204" pitchFamily="34" charset="0"/>
              </a:rPr>
              <a:t> ESX </a:t>
            </a:r>
            <a:r>
              <a:rPr lang="ru-RU" b="0" i="0" dirty="0" err="1">
                <a:solidFill>
                  <a:srgbClr val="000000"/>
                </a:solidFill>
                <a:effectLst/>
                <a:latin typeface="Arial" panose="020B0604020202020204" pitchFamily="34" charset="0"/>
              </a:rPr>
              <a:t>Server</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Virtual</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Iron</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Microsoft</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Hyper</a:t>
            </a:r>
            <a:r>
              <a:rPr lang="ru-RU" b="0" i="0" dirty="0">
                <a:solidFill>
                  <a:srgbClr val="000000"/>
                </a:solidFill>
                <a:effectLst/>
                <a:latin typeface="Arial" panose="020B0604020202020204" pitchFamily="34" charset="0"/>
              </a:rPr>
              <a:t>-V </a:t>
            </a:r>
            <a:r>
              <a:rPr lang="ru-RU" b="0" i="0" dirty="0" err="1">
                <a:solidFill>
                  <a:srgbClr val="000000"/>
                </a:solidFill>
                <a:effectLst/>
                <a:latin typeface="Arial" panose="020B0604020202020204" pitchFamily="34" charset="0"/>
              </a:rPr>
              <a:t>Server</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Microsoft</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Virtual</a:t>
            </a:r>
            <a:r>
              <a:rPr lang="ru-RU" b="0" i="0" dirty="0">
                <a:solidFill>
                  <a:srgbClr val="000000"/>
                </a:solidFill>
                <a:effectLst/>
                <a:latin typeface="Arial" panose="020B0604020202020204" pitchFamily="34" charset="0"/>
              </a:rPr>
              <a:t> PC, </a:t>
            </a:r>
            <a:r>
              <a:rPr lang="ru-RU" b="0" i="0" dirty="0" err="1">
                <a:solidFill>
                  <a:srgbClr val="000000"/>
                </a:solidFill>
                <a:effectLst/>
                <a:latin typeface="Arial" panose="020B0604020202020204" pitchFamily="34" charset="0"/>
              </a:rPr>
              <a:t>Sun</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VirtualBox</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Parallels</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Desktop</a:t>
            </a:r>
            <a:r>
              <a:rPr lang="ru-RU" b="0" i="0" dirty="0">
                <a:solidFill>
                  <a:srgbClr val="000000"/>
                </a:solidFill>
                <a:effectLst/>
                <a:latin typeface="Arial" panose="020B0604020202020204" pitchFamily="34" charset="0"/>
              </a:rPr>
              <a:t> и другие.</a:t>
            </a:r>
          </a:p>
        </p:txBody>
      </p:sp>
    </p:spTree>
    <p:extLst>
      <p:ext uri="{BB962C8B-B14F-4D97-AF65-F5344CB8AC3E}">
        <p14:creationId xmlns:p14="http://schemas.microsoft.com/office/powerpoint/2010/main" val="310393246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58BA8E-435D-4465-938F-50C18E6F230E}"/>
              </a:ext>
            </a:extLst>
          </p:cNvPr>
          <p:cNvSpPr txBox="1"/>
          <p:nvPr/>
        </p:nvSpPr>
        <p:spPr>
          <a:xfrm>
            <a:off x="514904" y="476447"/>
            <a:ext cx="10795247" cy="5632311"/>
          </a:xfrm>
          <a:prstGeom prst="rect">
            <a:avLst/>
          </a:prstGeom>
          <a:noFill/>
        </p:spPr>
        <p:txBody>
          <a:bodyPr wrap="square">
            <a:spAutoFit/>
          </a:bodyPr>
          <a:lstStyle/>
          <a:p>
            <a:pPr algn="just"/>
            <a:r>
              <a:rPr lang="ru-RU" b="1" i="0" dirty="0">
                <a:solidFill>
                  <a:srgbClr val="000000"/>
                </a:solidFill>
                <a:effectLst/>
                <a:latin typeface="Arial" panose="020B0604020202020204" pitchFamily="34" charset="0"/>
              </a:rPr>
              <a:t>Частичная эмуляция (</a:t>
            </a:r>
            <a:r>
              <a:rPr lang="ru-RU" b="1" i="0" dirty="0" err="1">
                <a:solidFill>
                  <a:srgbClr val="000000"/>
                </a:solidFill>
                <a:effectLst/>
                <a:latin typeface="Arial" panose="020B0604020202020204" pitchFamily="34" charset="0"/>
              </a:rPr>
              <a:t>нативная</a:t>
            </a:r>
            <a:r>
              <a:rPr lang="ru-RU" b="1" i="0" dirty="0">
                <a:solidFill>
                  <a:srgbClr val="000000"/>
                </a:solidFill>
                <a:effectLst/>
                <a:latin typeface="Arial" panose="020B0604020202020204" pitchFamily="34" charset="0"/>
              </a:rPr>
              <a:t> виртуализация) </a:t>
            </a:r>
            <a:r>
              <a:rPr lang="ru-RU" b="0" i="0" dirty="0">
                <a:solidFill>
                  <a:srgbClr val="000000"/>
                </a:solidFill>
                <a:effectLst/>
                <a:latin typeface="Arial" panose="020B0604020202020204" pitchFamily="34" charset="0"/>
              </a:rPr>
              <a:t>базируется на принципе эмуляции только необходимого количества ресурсов, чтобы виртуальная машина могла быть запущена изолировано. Например, при полной эмуляции различных архитектур, гостевая система работает с определенной специфической системой команд процессора, отличной от системы команд процессора </a:t>
            </a:r>
            <a:r>
              <a:rPr lang="ru-RU" b="0" i="0" dirty="0" err="1">
                <a:solidFill>
                  <a:srgbClr val="000000"/>
                </a:solidFill>
                <a:effectLst/>
                <a:latin typeface="Arial" panose="020B0604020202020204" pitchFamily="34" charset="0"/>
              </a:rPr>
              <a:t>хостовой</a:t>
            </a:r>
            <a:r>
              <a:rPr lang="ru-RU" b="0" i="0" dirty="0">
                <a:solidFill>
                  <a:srgbClr val="000000"/>
                </a:solidFill>
                <a:effectLst/>
                <a:latin typeface="Arial" panose="020B0604020202020204" pitchFamily="34" charset="0"/>
              </a:rPr>
              <a:t> системы. Каждую команду процессору гостевой системы нужно транслировать в соответствующую команду </a:t>
            </a:r>
            <a:r>
              <a:rPr lang="ru-RU" b="0" i="0" dirty="0" err="1">
                <a:solidFill>
                  <a:srgbClr val="000000"/>
                </a:solidFill>
                <a:effectLst/>
                <a:latin typeface="Arial" panose="020B0604020202020204" pitchFamily="34" charset="0"/>
              </a:rPr>
              <a:t>хостовой</a:t>
            </a:r>
            <a:r>
              <a:rPr lang="ru-RU" b="0" i="0" dirty="0">
                <a:solidFill>
                  <a:srgbClr val="000000"/>
                </a:solidFill>
                <a:effectLst/>
                <a:latin typeface="Arial" panose="020B0604020202020204" pitchFamily="34" charset="0"/>
              </a:rPr>
              <a:t> системы, что невероятно уменьшает быстродействие. При использовании </a:t>
            </a:r>
            <a:r>
              <a:rPr lang="ru-RU" b="0" i="0" dirty="0" err="1">
                <a:solidFill>
                  <a:srgbClr val="000000"/>
                </a:solidFill>
                <a:effectLst/>
                <a:latin typeface="Arial" panose="020B0604020202020204" pitchFamily="34" charset="0"/>
              </a:rPr>
              <a:t>нативной</a:t>
            </a:r>
            <a:r>
              <a:rPr lang="ru-RU" b="0" i="0" dirty="0">
                <a:solidFill>
                  <a:srgbClr val="000000"/>
                </a:solidFill>
                <a:effectLst/>
                <a:latin typeface="Arial" panose="020B0604020202020204" pitchFamily="34" charset="0"/>
              </a:rPr>
              <a:t> виртуализации никакой трансляции команд не происходит, так как гостевая операционная система разработана под ту же архитектуру, на которой работает </a:t>
            </a:r>
            <a:r>
              <a:rPr lang="ru-RU" b="0" i="0" dirty="0" err="1">
                <a:solidFill>
                  <a:srgbClr val="000000"/>
                </a:solidFill>
                <a:effectLst/>
                <a:latin typeface="Arial" panose="020B0604020202020204" pitchFamily="34" charset="0"/>
              </a:rPr>
              <a:t>хостовая</a:t>
            </a:r>
            <a:r>
              <a:rPr lang="ru-RU" b="0" i="0" dirty="0">
                <a:solidFill>
                  <a:srgbClr val="000000"/>
                </a:solidFill>
                <a:effectLst/>
                <a:latin typeface="Arial" panose="020B0604020202020204" pitchFamily="34" charset="0"/>
              </a:rPr>
              <a:t> система. Это позволяет значительно повысить быстродействие гостевой системы и максимально приблизить его к быстродействию реальной системы.</a:t>
            </a:r>
          </a:p>
          <a:p>
            <a:pPr algn="just"/>
            <a:r>
              <a:rPr lang="ru-RU" b="0" i="0" dirty="0">
                <a:solidFill>
                  <a:srgbClr val="000000"/>
                </a:solidFill>
                <a:effectLst/>
                <a:latin typeface="Arial" panose="020B0604020202020204" pitchFamily="34" charset="0"/>
              </a:rPr>
              <a:t>Для повышения быстродействия </a:t>
            </a:r>
            <a:r>
              <a:rPr lang="ru-RU" b="0" i="0" dirty="0" err="1">
                <a:solidFill>
                  <a:srgbClr val="000000"/>
                </a:solidFill>
                <a:effectLst/>
                <a:latin typeface="Arial" panose="020B0604020202020204" pitchFamily="34" charset="0"/>
              </a:rPr>
              <a:t>нативной</a:t>
            </a:r>
            <a:r>
              <a:rPr lang="ru-RU" b="0" i="0" dirty="0">
                <a:solidFill>
                  <a:srgbClr val="000000"/>
                </a:solidFill>
                <a:effectLst/>
                <a:latin typeface="Arial" panose="020B0604020202020204" pitchFamily="34" charset="0"/>
              </a:rPr>
              <a:t> виртуализации применяется специализированная программная прослойка – </a:t>
            </a:r>
            <a:r>
              <a:rPr lang="ru-RU" b="1" i="0" dirty="0">
                <a:solidFill>
                  <a:srgbClr val="000000"/>
                </a:solidFill>
                <a:effectLst/>
                <a:latin typeface="Arial" panose="020B0604020202020204" pitchFamily="34" charset="0"/>
              </a:rPr>
              <a:t>гипервизор</a:t>
            </a:r>
            <a:r>
              <a:rPr lang="ru-RU" b="0" i="0" dirty="0">
                <a:solidFill>
                  <a:srgbClr val="000000"/>
                </a:solidFill>
                <a:effectLst/>
                <a:latin typeface="Arial" panose="020B0604020202020204" pitchFamily="34" charset="0"/>
              </a:rPr>
              <a:t>. Гипервизор является посредником между гостевой операционной системой и физическим аппаратным обеспечением. Он позволяет гостевой системе напрямую обращаться к аппаратным ресурсам, что и является секретом высокого быстродействия данного вида виртуализации.</a:t>
            </a:r>
          </a:p>
          <a:p>
            <a:pPr algn="just"/>
            <a:r>
              <a:rPr lang="ru-RU" b="0" i="0" dirty="0">
                <a:solidFill>
                  <a:srgbClr val="000000"/>
                </a:solidFill>
                <a:effectLst/>
                <a:latin typeface="Arial" panose="020B0604020202020204" pitchFamily="34" charset="0"/>
              </a:rPr>
              <a:t>Частичная эмуляция является самым распространенным видом виртуализации в наше время. Основным ее недостатком является зависимость виртуальных машин от конкретной аппаратной архитектуры.</a:t>
            </a:r>
          </a:p>
          <a:p>
            <a:pPr algn="just"/>
            <a:r>
              <a:rPr lang="ru-RU" b="0" i="0" dirty="0">
                <a:solidFill>
                  <a:srgbClr val="000000"/>
                </a:solidFill>
                <a:effectLst/>
                <a:latin typeface="Arial" panose="020B0604020202020204" pitchFamily="34" charset="0"/>
              </a:rPr>
              <a:t>Платформы </a:t>
            </a:r>
            <a:r>
              <a:rPr lang="ru-RU" b="0" i="0" dirty="0" err="1">
                <a:solidFill>
                  <a:srgbClr val="000000"/>
                </a:solidFill>
                <a:effectLst/>
                <a:latin typeface="Arial" panose="020B0604020202020204" pitchFamily="34" charset="0"/>
              </a:rPr>
              <a:t>нативной</a:t>
            </a:r>
            <a:r>
              <a:rPr lang="ru-RU" b="0" i="0" dirty="0">
                <a:solidFill>
                  <a:srgbClr val="000000"/>
                </a:solidFill>
                <a:effectLst/>
                <a:latin typeface="Arial" panose="020B0604020202020204" pitchFamily="34" charset="0"/>
              </a:rPr>
              <a:t> виртуализации: </a:t>
            </a:r>
            <a:r>
              <a:rPr lang="ru-RU" b="0" i="0" dirty="0" err="1">
                <a:solidFill>
                  <a:srgbClr val="000000"/>
                </a:solidFill>
                <a:effectLst/>
                <a:latin typeface="Arial" panose="020B0604020202020204" pitchFamily="34" charset="0"/>
              </a:rPr>
              <a:t>VMware</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Workstation</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VMware</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Server</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VMware</a:t>
            </a:r>
            <a:r>
              <a:rPr lang="ru-RU" b="0" i="0" dirty="0">
                <a:solidFill>
                  <a:srgbClr val="000000"/>
                </a:solidFill>
                <a:effectLst/>
                <a:latin typeface="Arial" panose="020B0604020202020204" pitchFamily="34" charset="0"/>
              </a:rPr>
              <a:t> ESX </a:t>
            </a:r>
            <a:r>
              <a:rPr lang="ru-RU" b="0" i="0" dirty="0" err="1">
                <a:solidFill>
                  <a:srgbClr val="000000"/>
                </a:solidFill>
                <a:effectLst/>
                <a:latin typeface="Arial" panose="020B0604020202020204" pitchFamily="34" charset="0"/>
              </a:rPr>
              <a:t>Server</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Virtual</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Iron</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Virtual</a:t>
            </a:r>
            <a:r>
              <a:rPr lang="ru-RU" b="0" i="0" dirty="0">
                <a:solidFill>
                  <a:srgbClr val="000000"/>
                </a:solidFill>
                <a:effectLst/>
                <a:latin typeface="Arial" panose="020B0604020202020204" pitchFamily="34" charset="0"/>
              </a:rPr>
              <a:t> PC, </a:t>
            </a:r>
            <a:r>
              <a:rPr lang="ru-RU" b="0" i="0" dirty="0" err="1">
                <a:solidFill>
                  <a:srgbClr val="000000"/>
                </a:solidFill>
                <a:effectLst/>
                <a:latin typeface="Arial" panose="020B0604020202020204" pitchFamily="34" charset="0"/>
              </a:rPr>
              <a:t>VirtualBox</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Parallels</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Desktop</a:t>
            </a:r>
            <a:r>
              <a:rPr lang="ru-RU" b="0" i="0" dirty="0">
                <a:solidFill>
                  <a:srgbClr val="000000"/>
                </a:solidFill>
                <a:effectLst/>
                <a:latin typeface="Arial" panose="020B0604020202020204" pitchFamily="34" charset="0"/>
              </a:rPr>
              <a:t> и другие.</a:t>
            </a:r>
          </a:p>
        </p:txBody>
      </p:sp>
    </p:spTree>
    <p:extLst>
      <p:ext uri="{BB962C8B-B14F-4D97-AF65-F5344CB8AC3E}">
        <p14:creationId xmlns:p14="http://schemas.microsoft.com/office/powerpoint/2010/main" val="151741826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C92D80-B11B-44E8-BA7C-0E9983A2E4DD}"/>
              </a:ext>
            </a:extLst>
          </p:cNvPr>
          <p:cNvSpPr txBox="1"/>
          <p:nvPr/>
        </p:nvSpPr>
        <p:spPr>
          <a:xfrm>
            <a:off x="630315" y="338065"/>
            <a:ext cx="11043821" cy="3416320"/>
          </a:xfrm>
          <a:prstGeom prst="rect">
            <a:avLst/>
          </a:prstGeom>
          <a:noFill/>
        </p:spPr>
        <p:txBody>
          <a:bodyPr wrap="square">
            <a:spAutoFit/>
          </a:bodyPr>
          <a:lstStyle/>
          <a:p>
            <a:pPr algn="just"/>
            <a:r>
              <a:rPr lang="ru-RU" b="1" i="0" dirty="0">
                <a:solidFill>
                  <a:srgbClr val="000000"/>
                </a:solidFill>
                <a:effectLst/>
                <a:latin typeface="Arial" panose="020B0604020202020204" pitchFamily="34" charset="0"/>
              </a:rPr>
              <a:t>Частичная виртуализация и виртуализация адресного пространства</a:t>
            </a:r>
            <a:endParaRPr lang="ru-RU" b="0" i="0" dirty="0">
              <a:solidFill>
                <a:srgbClr val="000000"/>
              </a:solidFill>
              <a:effectLst/>
              <a:latin typeface="Arial" panose="020B0604020202020204" pitchFamily="34" charset="0"/>
            </a:endParaRPr>
          </a:p>
          <a:p>
            <a:pPr algn="just"/>
            <a:r>
              <a:rPr lang="ru-RU" b="0" i="0" dirty="0">
                <a:solidFill>
                  <a:srgbClr val="000000"/>
                </a:solidFill>
                <a:effectLst/>
                <a:latin typeface="Arial" panose="020B0604020202020204" pitchFamily="34" charset="0"/>
              </a:rPr>
              <a:t>Подход частичной виртуализации заключается в симулировании нескольких экземпляров аппаратного обеспечения (особенно часто используется виртуализация адресного пространства). Это позволяет совместно использовать ресурсы и изолировать процессы, но не позволяет создавать экземпляры гостевых систем. Т.е. при частичной виртуализации виртуальные машины не создаются, а происходит изоляция некоторых ресурсов и процессов на уровне </a:t>
            </a:r>
            <a:r>
              <a:rPr lang="ru-RU" b="0" i="0" dirty="0" err="1">
                <a:solidFill>
                  <a:srgbClr val="000000"/>
                </a:solidFill>
                <a:effectLst/>
                <a:latin typeface="Arial" panose="020B0604020202020204" pitchFamily="34" charset="0"/>
              </a:rPr>
              <a:t>хостовой</a:t>
            </a:r>
            <a:r>
              <a:rPr lang="ru-RU" b="0" i="0" dirty="0">
                <a:solidFill>
                  <a:srgbClr val="000000"/>
                </a:solidFill>
                <a:effectLst/>
                <a:latin typeface="Arial" panose="020B0604020202020204" pitchFamily="34" charset="0"/>
              </a:rPr>
              <a:t> операционной системы. Каждая гостевая система является приложением, запущенным как процесс внутри изолированного адресного пространства.</a:t>
            </a:r>
          </a:p>
          <a:p>
            <a:pPr algn="just"/>
            <a:r>
              <a:rPr lang="ru-RU" b="0" i="0" dirty="0">
                <a:solidFill>
                  <a:srgbClr val="000000"/>
                </a:solidFill>
                <a:effectLst/>
                <a:latin typeface="Arial" panose="020B0604020202020204" pitchFamily="34" charset="0"/>
              </a:rPr>
              <a:t>Недостатком частичной виртуализации является невозможность разделить гостевую и </a:t>
            </a:r>
            <a:r>
              <a:rPr lang="ru-RU" b="0" i="0" dirty="0" err="1">
                <a:solidFill>
                  <a:srgbClr val="000000"/>
                </a:solidFill>
                <a:effectLst/>
                <a:latin typeface="Arial" panose="020B0604020202020204" pitchFamily="34" charset="0"/>
              </a:rPr>
              <a:t>хостовую</a:t>
            </a:r>
            <a:r>
              <a:rPr lang="ru-RU" b="0" i="0" dirty="0">
                <a:solidFill>
                  <a:srgbClr val="000000"/>
                </a:solidFill>
                <a:effectLst/>
                <a:latin typeface="Arial" panose="020B0604020202020204" pitchFamily="34" charset="0"/>
              </a:rPr>
              <a:t> системы, так как они выполняются внутри ядра </a:t>
            </a:r>
            <a:r>
              <a:rPr lang="ru-RU" b="0" i="0" dirty="0" err="1">
                <a:solidFill>
                  <a:srgbClr val="000000"/>
                </a:solidFill>
                <a:effectLst/>
                <a:latin typeface="Arial" panose="020B0604020202020204" pitchFamily="34" charset="0"/>
              </a:rPr>
              <a:t>хостовой</a:t>
            </a:r>
            <a:r>
              <a:rPr lang="ru-RU" b="0" i="0" dirty="0">
                <a:solidFill>
                  <a:srgbClr val="000000"/>
                </a:solidFill>
                <a:effectLst/>
                <a:latin typeface="Arial" panose="020B0604020202020204" pitchFamily="34" charset="0"/>
              </a:rPr>
              <a:t> системы.</a:t>
            </a:r>
          </a:p>
          <a:p>
            <a:pPr algn="just"/>
            <a:r>
              <a:rPr lang="ru-RU" b="0" i="0" dirty="0">
                <a:solidFill>
                  <a:srgbClr val="000000"/>
                </a:solidFill>
                <a:effectLst/>
                <a:latin typeface="Arial" panose="020B0604020202020204" pitchFamily="34" charset="0"/>
              </a:rPr>
              <a:t>Платформы частичной виртуализации: UML (</a:t>
            </a:r>
            <a:r>
              <a:rPr lang="ru-RU" b="0" i="0" dirty="0" err="1">
                <a:solidFill>
                  <a:srgbClr val="000000"/>
                </a:solidFill>
                <a:effectLst/>
                <a:latin typeface="Arial" panose="020B0604020202020204" pitchFamily="34" charset="0"/>
              </a:rPr>
              <a:t>User-mode</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Linux</a:t>
            </a:r>
            <a:r>
              <a:rPr lang="ru-RU" b="0" i="0" dirty="0">
                <a:solidFill>
                  <a:srgbClr val="000000"/>
                </a:solidFill>
                <a:effectLst/>
                <a:latin typeface="Arial" panose="020B0604020202020204" pitchFamily="34" charset="0"/>
              </a:rPr>
              <a:t>), при котором гостевое ядро запускается внутри основного ядра и выполняется в его контексте.</a:t>
            </a:r>
          </a:p>
        </p:txBody>
      </p:sp>
    </p:spTree>
    <p:extLst>
      <p:ext uri="{BB962C8B-B14F-4D97-AF65-F5344CB8AC3E}">
        <p14:creationId xmlns:p14="http://schemas.microsoft.com/office/powerpoint/2010/main" val="343166740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A1CDF2-0590-4450-8A56-1FE55D13B3E6}"/>
              </a:ext>
            </a:extLst>
          </p:cNvPr>
          <p:cNvSpPr txBox="1"/>
          <p:nvPr/>
        </p:nvSpPr>
        <p:spPr>
          <a:xfrm>
            <a:off x="109492" y="117693"/>
            <a:ext cx="11342702" cy="6740307"/>
          </a:xfrm>
          <a:prstGeom prst="rect">
            <a:avLst/>
          </a:prstGeom>
          <a:noFill/>
        </p:spPr>
        <p:txBody>
          <a:bodyPr wrap="square">
            <a:spAutoFit/>
          </a:bodyPr>
          <a:lstStyle/>
          <a:p>
            <a:pPr algn="just"/>
            <a:r>
              <a:rPr lang="ru-RU" b="1" i="0" dirty="0" err="1">
                <a:solidFill>
                  <a:srgbClr val="000000"/>
                </a:solidFill>
                <a:effectLst/>
                <a:latin typeface="Arial" panose="020B0604020202020204" pitchFamily="34" charset="0"/>
              </a:rPr>
              <a:t>Паравиртуализация</a:t>
            </a:r>
            <a:r>
              <a:rPr lang="ru-RU" b="0" i="0" dirty="0">
                <a:solidFill>
                  <a:srgbClr val="000000"/>
                </a:solidFill>
                <a:effectLst/>
                <a:latin typeface="Arial" panose="020B0604020202020204" pitchFamily="34" charset="0"/>
              </a:rPr>
              <a:t>. Этот метод не вынуждает эмулировать аппаратное обеспечение, однако требует от гостевой системы наличия специального программного интерфейса для взаимодействия с </a:t>
            </a:r>
            <a:r>
              <a:rPr lang="ru-RU" b="0" i="0" dirty="0" err="1">
                <a:solidFill>
                  <a:srgbClr val="000000"/>
                </a:solidFill>
                <a:effectLst/>
                <a:latin typeface="Arial" panose="020B0604020202020204" pitchFamily="34" charset="0"/>
              </a:rPr>
              <a:t>хостовой</a:t>
            </a:r>
            <a:r>
              <a:rPr lang="ru-RU" b="0" i="0" dirty="0">
                <a:solidFill>
                  <a:srgbClr val="000000"/>
                </a:solidFill>
                <a:effectLst/>
                <a:latin typeface="Arial" panose="020B0604020202020204" pitchFamily="34" charset="0"/>
              </a:rPr>
              <a:t> системой. Такой подход требует значительной модификации ядра гостевой, так как все взаимодействие ее с аппаратным обеспечением сводится к совершению специальных вызовов (</a:t>
            </a:r>
            <a:r>
              <a:rPr lang="ru-RU" b="0" i="0" dirty="0" err="1">
                <a:solidFill>
                  <a:srgbClr val="000000"/>
                </a:solidFill>
                <a:effectLst/>
                <a:latin typeface="Arial" panose="020B0604020202020204" pitchFamily="34" charset="0"/>
              </a:rPr>
              <a:t>гипервызововов</a:t>
            </a:r>
            <a:r>
              <a:rPr lang="ru-RU" b="0" i="0" dirty="0">
                <a:solidFill>
                  <a:srgbClr val="000000"/>
                </a:solidFill>
                <a:effectLst/>
                <a:latin typeface="Arial" panose="020B0604020202020204" pitchFamily="34" charset="0"/>
              </a:rPr>
              <a:t>) к </a:t>
            </a:r>
            <a:r>
              <a:rPr lang="ru-RU" b="0" i="0" dirty="0" err="1">
                <a:solidFill>
                  <a:srgbClr val="000000"/>
                </a:solidFill>
                <a:effectLst/>
                <a:latin typeface="Arial" panose="020B0604020202020204" pitchFamily="34" charset="0"/>
              </a:rPr>
              <a:t>хостовой</a:t>
            </a:r>
            <a:r>
              <a:rPr lang="ru-RU" b="0" i="0" dirty="0">
                <a:solidFill>
                  <a:srgbClr val="000000"/>
                </a:solidFill>
                <a:effectLst/>
                <a:latin typeface="Arial" panose="020B0604020202020204" pitchFamily="34" charset="0"/>
              </a:rPr>
              <a:t> системе. При этом </a:t>
            </a:r>
            <a:r>
              <a:rPr lang="ru-RU" b="0" i="0" dirty="0" err="1">
                <a:solidFill>
                  <a:srgbClr val="000000"/>
                </a:solidFill>
                <a:effectLst/>
                <a:latin typeface="Arial" panose="020B0604020202020204" pitchFamily="34" charset="0"/>
              </a:rPr>
              <a:t>хостовая</a:t>
            </a:r>
            <a:r>
              <a:rPr lang="ru-RU" b="0" i="0" dirty="0">
                <a:solidFill>
                  <a:srgbClr val="000000"/>
                </a:solidFill>
                <a:effectLst/>
                <a:latin typeface="Arial" panose="020B0604020202020204" pitchFamily="34" charset="0"/>
              </a:rPr>
              <a:t> система должна иметь гипервизор, который принимает и обрабатывает </a:t>
            </a:r>
            <a:r>
              <a:rPr lang="ru-RU" b="0" i="0" dirty="0" err="1">
                <a:solidFill>
                  <a:srgbClr val="000000"/>
                </a:solidFill>
                <a:effectLst/>
                <a:latin typeface="Arial" panose="020B0604020202020204" pitchFamily="34" charset="0"/>
              </a:rPr>
              <a:t>гипервызовы</a:t>
            </a:r>
            <a:r>
              <a:rPr lang="ru-RU" b="0" i="0" dirty="0">
                <a:solidFill>
                  <a:srgbClr val="000000"/>
                </a:solidFill>
                <a:effectLst/>
                <a:latin typeface="Arial" panose="020B0604020202020204" pitchFamily="34" charset="0"/>
              </a:rPr>
              <a:t> из гостевой системы. Быстродействие гостевых систем с </a:t>
            </a:r>
            <a:r>
              <a:rPr lang="ru-RU" b="0" i="0" dirty="0" err="1">
                <a:solidFill>
                  <a:srgbClr val="000000"/>
                </a:solidFill>
                <a:effectLst/>
                <a:latin typeface="Arial" panose="020B0604020202020204" pitchFamily="34" charset="0"/>
              </a:rPr>
              <a:t>паравиртуализацией</a:t>
            </a:r>
            <a:r>
              <a:rPr lang="ru-RU" b="0" i="0" dirty="0">
                <a:solidFill>
                  <a:srgbClr val="000000"/>
                </a:solidFill>
                <a:effectLst/>
                <a:latin typeface="Arial" panose="020B0604020202020204" pitchFamily="34" charset="0"/>
              </a:rPr>
              <a:t> считается максимальным. В отличие от </a:t>
            </a:r>
            <a:r>
              <a:rPr lang="ru-RU" b="0" i="0" dirty="0" err="1">
                <a:solidFill>
                  <a:srgbClr val="000000"/>
                </a:solidFill>
                <a:effectLst/>
                <a:latin typeface="Arial" panose="020B0604020202020204" pitchFamily="34" charset="0"/>
              </a:rPr>
              <a:t>нативной</a:t>
            </a:r>
            <a:r>
              <a:rPr lang="ru-RU" b="0" i="0" dirty="0">
                <a:solidFill>
                  <a:srgbClr val="000000"/>
                </a:solidFill>
                <a:effectLst/>
                <a:latin typeface="Arial" panose="020B0604020202020204" pitchFamily="34" charset="0"/>
              </a:rPr>
              <a:t> виртуализации, в случае </a:t>
            </a:r>
            <a:r>
              <a:rPr lang="ru-RU" b="0" i="0" dirty="0" err="1">
                <a:solidFill>
                  <a:srgbClr val="000000"/>
                </a:solidFill>
                <a:effectLst/>
                <a:latin typeface="Arial" panose="020B0604020202020204" pitchFamily="34" charset="0"/>
              </a:rPr>
              <a:t>паравиртуализации</a:t>
            </a:r>
            <a:r>
              <a:rPr lang="ru-RU" b="0" i="0" dirty="0">
                <a:solidFill>
                  <a:srgbClr val="000000"/>
                </a:solidFill>
                <a:effectLst/>
                <a:latin typeface="Arial" panose="020B0604020202020204" pitchFamily="34" charset="0"/>
              </a:rPr>
              <a:t> нет нужды эмулировать BIOS, процессор, жесткие диски и другие устройства. Это и дает выигрыш в производительности </a:t>
            </a:r>
            <a:r>
              <a:rPr lang="ru-RU" b="0" i="0" dirty="0" err="1">
                <a:solidFill>
                  <a:srgbClr val="000000"/>
                </a:solidFill>
                <a:effectLst/>
                <a:latin typeface="Arial" panose="020B0604020202020204" pitchFamily="34" charset="0"/>
              </a:rPr>
              <a:t>паравиртуализированых</a:t>
            </a:r>
            <a:r>
              <a:rPr lang="ru-RU" b="0" i="0" dirty="0">
                <a:solidFill>
                  <a:srgbClr val="000000"/>
                </a:solidFill>
                <a:effectLst/>
                <a:latin typeface="Arial" panose="020B0604020202020204" pitchFamily="34" charset="0"/>
              </a:rPr>
              <a:t> систем на уровне 5-15% по сравнению с </a:t>
            </a:r>
            <a:r>
              <a:rPr lang="ru-RU" b="0" i="0" dirty="0" err="1">
                <a:solidFill>
                  <a:srgbClr val="000000"/>
                </a:solidFill>
                <a:effectLst/>
                <a:latin typeface="Arial" panose="020B0604020202020204" pitchFamily="34" charset="0"/>
              </a:rPr>
              <a:t>нативными</a:t>
            </a:r>
            <a:r>
              <a:rPr lang="ru-RU" b="0" i="0" dirty="0">
                <a:solidFill>
                  <a:srgbClr val="000000"/>
                </a:solidFill>
                <a:effectLst/>
                <a:latin typeface="Arial" panose="020B0604020202020204" pitchFamily="34" charset="0"/>
              </a:rPr>
              <a:t>. За такой прирост производительности нужно расплачиваться понижением гибкости (не всегда найдется нужная модифицированная операционная система) и безопасности (в следствии близости гостевых систем к аппаратному уровню могут возникать различные коллизии) таких решений.</a:t>
            </a:r>
          </a:p>
          <a:p>
            <a:pPr algn="just"/>
            <a:r>
              <a:rPr lang="ru-RU" b="0" i="0" dirty="0">
                <a:solidFill>
                  <a:srgbClr val="000000"/>
                </a:solidFill>
                <a:effectLst/>
                <a:latin typeface="Arial" panose="020B0604020202020204" pitchFamily="34" charset="0"/>
              </a:rPr>
              <a:t>С ростом популярности виртуализации, появлением в современных процессорах встроенной поддержки технологий виртуализации </a:t>
            </a:r>
            <a:r>
              <a:rPr lang="ru-RU" b="0" i="0" dirty="0" err="1">
                <a:solidFill>
                  <a:srgbClr val="000000"/>
                </a:solidFill>
                <a:effectLst/>
                <a:latin typeface="Arial" panose="020B0604020202020204" pitchFamily="34" charset="0"/>
              </a:rPr>
              <a:t>Intel</a:t>
            </a:r>
            <a:r>
              <a:rPr lang="ru-RU" b="0" i="0" dirty="0">
                <a:solidFill>
                  <a:srgbClr val="000000"/>
                </a:solidFill>
                <a:effectLst/>
                <a:latin typeface="Arial" panose="020B0604020202020204" pitchFamily="34" charset="0"/>
              </a:rPr>
              <a:t> VT-x) и AMD-V, решений для </a:t>
            </a:r>
            <a:r>
              <a:rPr lang="ru-RU" b="0" i="0" dirty="0" err="1">
                <a:solidFill>
                  <a:srgbClr val="000000"/>
                </a:solidFill>
                <a:effectLst/>
                <a:latin typeface="Arial" panose="020B0604020202020204" pitchFamily="34" charset="0"/>
              </a:rPr>
              <a:t>паравиртуализации</a:t>
            </a:r>
            <a:r>
              <a:rPr lang="ru-RU" b="0" i="0" dirty="0">
                <a:solidFill>
                  <a:srgbClr val="000000"/>
                </a:solidFill>
                <a:effectLst/>
                <a:latin typeface="Arial" panose="020B0604020202020204" pitchFamily="34" charset="0"/>
              </a:rPr>
              <a:t> в чистом виде практически не осталось.</a:t>
            </a:r>
          </a:p>
          <a:p>
            <a:pPr algn="just"/>
            <a:r>
              <a:rPr lang="ru-RU" b="0" i="0" dirty="0">
                <a:solidFill>
                  <a:srgbClr val="000000"/>
                </a:solidFill>
                <a:effectLst/>
                <a:latin typeface="Arial" panose="020B0604020202020204" pitchFamily="34" charset="0"/>
              </a:rPr>
              <a:t>Платформы </a:t>
            </a:r>
            <a:r>
              <a:rPr lang="ru-RU" b="0" i="0" dirty="0" err="1">
                <a:solidFill>
                  <a:srgbClr val="000000"/>
                </a:solidFill>
                <a:effectLst/>
                <a:latin typeface="Arial" panose="020B0604020202020204" pitchFamily="34" charset="0"/>
              </a:rPr>
              <a:t>паравиртуализации</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VMware</a:t>
            </a:r>
            <a:r>
              <a:rPr lang="ru-RU" b="0" i="0" dirty="0">
                <a:solidFill>
                  <a:srgbClr val="000000"/>
                </a:solidFill>
                <a:effectLst/>
                <a:latin typeface="Arial" panose="020B0604020202020204" pitchFamily="34" charset="0"/>
              </a:rPr>
              <a:t> ESX </a:t>
            </a:r>
            <a:r>
              <a:rPr lang="ru-RU" b="0" i="0" dirty="0" err="1">
                <a:solidFill>
                  <a:srgbClr val="000000"/>
                </a:solidFill>
                <a:effectLst/>
                <a:latin typeface="Arial" panose="020B0604020202020204" pitchFamily="34" charset="0"/>
              </a:rPr>
              <a:t>Server</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Xen</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Microsoft</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Hyper</a:t>
            </a:r>
            <a:r>
              <a:rPr lang="ru-RU" b="0" i="0" dirty="0">
                <a:solidFill>
                  <a:srgbClr val="000000"/>
                </a:solidFill>
                <a:effectLst/>
                <a:latin typeface="Arial" panose="020B0604020202020204" pitchFamily="34" charset="0"/>
              </a:rPr>
              <a:t>-V. Эти продукты поддерживают </a:t>
            </a:r>
            <a:r>
              <a:rPr lang="ru-RU" b="0" i="0" dirty="0" err="1">
                <a:solidFill>
                  <a:srgbClr val="000000"/>
                </a:solidFill>
                <a:effectLst/>
                <a:latin typeface="Arial" panose="020B0604020202020204" pitchFamily="34" charset="0"/>
              </a:rPr>
              <a:t>паравиртуализацию</a:t>
            </a:r>
            <a:r>
              <a:rPr lang="ru-RU" b="0" i="0" dirty="0">
                <a:solidFill>
                  <a:srgbClr val="000000"/>
                </a:solidFill>
                <a:effectLst/>
                <a:latin typeface="Arial" panose="020B0604020202020204" pitchFamily="34" charset="0"/>
              </a:rPr>
              <a:t>, частичную виртуализацию и их смесь.</a:t>
            </a:r>
          </a:p>
          <a:p>
            <a:pPr algn="just"/>
            <a:r>
              <a:rPr lang="ru-RU" b="0" i="0" dirty="0">
                <a:solidFill>
                  <a:srgbClr val="000000"/>
                </a:solidFill>
                <a:effectLst/>
                <a:latin typeface="Arial" panose="020B0604020202020204" pitchFamily="34" charset="0"/>
              </a:rPr>
              <a:t>− Виртуализация на уровне ядра операционной системы (ОС). Данный метод позволяет в рамках одной ОС выделить ресурсы для выполнения независимых гостевых ОС. Каждая гостевая система имеет изолированную от </a:t>
            </a:r>
            <a:r>
              <a:rPr lang="ru-RU" b="0" i="0" dirty="0" err="1">
                <a:solidFill>
                  <a:srgbClr val="000000"/>
                </a:solidFill>
                <a:effectLst/>
                <a:latin typeface="Arial" panose="020B0604020202020204" pitchFamily="34" charset="0"/>
              </a:rPr>
              <a:t>хостовой</a:t>
            </a:r>
            <a:r>
              <a:rPr lang="ru-RU" b="0" i="0" dirty="0">
                <a:solidFill>
                  <a:srgbClr val="000000"/>
                </a:solidFill>
                <a:effectLst/>
                <a:latin typeface="Arial" panose="020B0604020202020204" pitchFamily="34" charset="0"/>
              </a:rPr>
              <a:t> системы среду выполнения, что обеспечивает достаточную безопасность. Данный метод позволяет разбить физические ресурсы компьютера на независимые разделы (контейнеры или песочницами), средствами операционной системы. Такая виртуализация используется при организации систем для хостинга, когда в рамках одной операционной системы необходимо предоставлять клиентам несколько виртуальных серверов.</a:t>
            </a:r>
          </a:p>
        </p:txBody>
      </p:sp>
    </p:spTree>
    <p:extLst>
      <p:ext uri="{BB962C8B-B14F-4D97-AF65-F5344CB8AC3E}">
        <p14:creationId xmlns:p14="http://schemas.microsoft.com/office/powerpoint/2010/main" val="268218801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D3CCC9-6267-497E-8714-6EC1D3082065}"/>
              </a:ext>
            </a:extLst>
          </p:cNvPr>
          <p:cNvSpPr txBox="1"/>
          <p:nvPr/>
        </p:nvSpPr>
        <p:spPr>
          <a:xfrm>
            <a:off x="195309" y="746359"/>
            <a:ext cx="11159231" cy="4801314"/>
          </a:xfrm>
          <a:prstGeom prst="rect">
            <a:avLst/>
          </a:prstGeom>
          <a:noFill/>
        </p:spPr>
        <p:txBody>
          <a:bodyPr wrap="square">
            <a:spAutoFit/>
          </a:bodyPr>
          <a:lstStyle/>
          <a:p>
            <a:pPr algn="just"/>
            <a:r>
              <a:rPr lang="ru-RU" b="0" i="0" dirty="0">
                <a:solidFill>
                  <a:srgbClr val="000000"/>
                </a:solidFill>
                <a:effectLst/>
                <a:latin typeface="Arial" panose="020B0604020202020204" pitchFamily="34" charset="0"/>
              </a:rPr>
              <a:t>Платформы виртуализации: </a:t>
            </a:r>
            <a:r>
              <a:rPr lang="ru-RU" b="0" i="0" dirty="0" err="1">
                <a:solidFill>
                  <a:srgbClr val="000000"/>
                </a:solidFill>
                <a:effectLst/>
                <a:latin typeface="Arial" panose="020B0604020202020204" pitchFamily="34" charset="0"/>
              </a:rPr>
              <a:t>Linux-VServer</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OpenVZ</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Virtuozzo</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FreeBSD</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Jails</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Solaris</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Containers</a:t>
            </a:r>
            <a:r>
              <a:rPr lang="ru-RU" b="0" i="0" dirty="0">
                <a:solidFill>
                  <a:srgbClr val="000000"/>
                </a:solidFill>
                <a:effectLst/>
                <a:latin typeface="Arial" panose="020B0604020202020204" pitchFamily="34" charset="0"/>
              </a:rPr>
              <a:t>.</a:t>
            </a:r>
          </a:p>
          <a:p>
            <a:pPr algn="just"/>
            <a:r>
              <a:rPr lang="ru-RU" b="0" i="0" dirty="0">
                <a:solidFill>
                  <a:srgbClr val="000000"/>
                </a:solidFill>
                <a:effectLst/>
                <a:latin typeface="Arial" panose="020B0604020202020204" pitchFamily="34" charset="0"/>
              </a:rPr>
              <a:t>− Виртуализация приложений значительно отличается от всех остальных видов. Целевое приложение (а не вся операционная система) помещается в специальный контейнер, которой эмулирует работу операционной системы с данным приложением. Контейнер содержит все необходимые приложению ресурсы: системные файлы, файлы реестра и конфигурационные файлы. При этом в контейнер помещаются исключительно файлы, необходимые для нормальной работы целевого приложения, что делает размеры контейнера минимальными. Использование изолированного контейнера позволяет решать конфликты несовместимости программ между собой или между операционными системами. Например, благодаря виртуализации приложений становится возможным установить и запустить несколько экземпляров одной программы разных версий. </a:t>
            </a:r>
            <a:r>
              <a:rPr lang="ru-RU" b="0" i="0" dirty="0" err="1">
                <a:solidFill>
                  <a:srgbClr val="000000"/>
                </a:solidFill>
                <a:effectLst/>
                <a:latin typeface="Arial" panose="020B0604020202020204" pitchFamily="34" charset="0"/>
              </a:rPr>
              <a:t>Microsoft</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Office</a:t>
            </a:r>
            <a:r>
              <a:rPr lang="ru-RU" b="0" i="0" dirty="0">
                <a:solidFill>
                  <a:srgbClr val="000000"/>
                </a:solidFill>
                <a:effectLst/>
                <a:latin typeface="Arial" panose="020B0604020202020204" pitchFamily="34" charset="0"/>
              </a:rPr>
              <a:t> 2003 и </a:t>
            </a:r>
            <a:r>
              <a:rPr lang="ru-RU" b="0" i="0" dirty="0" err="1">
                <a:solidFill>
                  <a:srgbClr val="000000"/>
                </a:solidFill>
                <a:effectLst/>
                <a:latin typeface="Arial" panose="020B0604020202020204" pitchFamily="34" charset="0"/>
              </a:rPr>
              <a:t>Microsoft</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Office</a:t>
            </a:r>
            <a:r>
              <a:rPr lang="ru-RU" b="0" i="0" dirty="0">
                <a:solidFill>
                  <a:srgbClr val="000000"/>
                </a:solidFill>
                <a:effectLst/>
                <a:latin typeface="Arial" panose="020B0604020202020204" pitchFamily="34" charset="0"/>
              </a:rPr>
              <a:t> 2007 могут одновременно работать без каких-либо конфликтов, </a:t>
            </a:r>
            <a:r>
              <a:rPr lang="ru-RU" b="0" i="0" dirty="0" err="1">
                <a:solidFill>
                  <a:srgbClr val="000000"/>
                </a:solidFill>
                <a:effectLst/>
                <a:latin typeface="Arial" panose="020B0604020202020204" pitchFamily="34" charset="0"/>
              </a:rPr>
              <a:t>Adobe</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Photoshop</a:t>
            </a:r>
            <a:r>
              <a:rPr lang="ru-RU" b="0" i="0" dirty="0">
                <a:solidFill>
                  <a:srgbClr val="000000"/>
                </a:solidFill>
                <a:effectLst/>
                <a:latin typeface="Arial" panose="020B0604020202020204" pitchFamily="34" charset="0"/>
              </a:rPr>
              <a:t> CS2 может работать рядом с </a:t>
            </a:r>
            <a:r>
              <a:rPr lang="ru-RU" b="0" i="0" dirty="0" err="1">
                <a:solidFill>
                  <a:srgbClr val="000000"/>
                </a:solidFill>
                <a:effectLst/>
                <a:latin typeface="Arial" panose="020B0604020202020204" pitchFamily="34" charset="0"/>
              </a:rPr>
              <a:t>Adobe</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Photoshop</a:t>
            </a:r>
            <a:r>
              <a:rPr lang="ru-RU" b="0" i="0" dirty="0">
                <a:solidFill>
                  <a:srgbClr val="000000"/>
                </a:solidFill>
                <a:effectLst/>
                <a:latin typeface="Arial" panose="020B0604020202020204" pitchFamily="34" charset="0"/>
              </a:rPr>
              <a:t> CS4. Данный метод также позволяет запускать программные продукты, предназначенные для более поздних версий операционной системы в более ранних версиях с сохранением полной совместимости. Например, программу для </a:t>
            </a:r>
            <a:r>
              <a:rPr lang="ru-RU" b="0" i="0" dirty="0" err="1">
                <a:solidFill>
                  <a:srgbClr val="000000"/>
                </a:solidFill>
                <a:effectLst/>
                <a:latin typeface="Arial" panose="020B0604020202020204" pitchFamily="34" charset="0"/>
              </a:rPr>
              <a:t>Windows</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Vista</a:t>
            </a:r>
            <a:r>
              <a:rPr lang="ru-RU" b="0" i="0" dirty="0">
                <a:solidFill>
                  <a:srgbClr val="000000"/>
                </a:solidFill>
                <a:effectLst/>
                <a:latin typeface="Arial" panose="020B0604020202020204" pitchFamily="34" charset="0"/>
              </a:rPr>
              <a:t> становится возможным запустить в </a:t>
            </a:r>
            <a:r>
              <a:rPr lang="ru-RU" b="0" i="0" dirty="0" err="1">
                <a:solidFill>
                  <a:srgbClr val="000000"/>
                </a:solidFill>
                <a:effectLst/>
                <a:latin typeface="Arial" panose="020B0604020202020204" pitchFamily="34" charset="0"/>
              </a:rPr>
              <a:t>Windows</a:t>
            </a:r>
            <a:r>
              <a:rPr lang="ru-RU" b="0" i="0" dirty="0">
                <a:solidFill>
                  <a:srgbClr val="000000"/>
                </a:solidFill>
                <a:effectLst/>
                <a:latin typeface="Arial" panose="020B0604020202020204" pitchFamily="34" charset="0"/>
              </a:rPr>
              <a:t> 2000.</a:t>
            </a:r>
          </a:p>
          <a:p>
            <a:pPr algn="just"/>
            <a:r>
              <a:rPr lang="ru-RU" b="0" i="0" dirty="0">
                <a:solidFill>
                  <a:srgbClr val="000000"/>
                </a:solidFill>
                <a:effectLst/>
                <a:latin typeface="Arial" panose="020B0604020202020204" pitchFamily="34" charset="0"/>
              </a:rPr>
              <a:t>Платформы виртуализации приложений: </a:t>
            </a:r>
            <a:r>
              <a:rPr lang="ru-RU" b="0" i="0" dirty="0" err="1">
                <a:solidFill>
                  <a:srgbClr val="000000"/>
                </a:solidFill>
                <a:effectLst/>
                <a:latin typeface="Arial" panose="020B0604020202020204" pitchFamily="34" charset="0"/>
              </a:rPr>
              <a:t>Microsoft</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SoftGrid</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VMware</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ThinApp</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Altiris</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Software</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Virtualization</a:t>
            </a:r>
            <a:r>
              <a:rPr lang="ru-RU" b="0" i="0" dirty="0">
                <a:solidFill>
                  <a:srgbClr val="000000"/>
                </a:solidFill>
                <a:effectLst/>
                <a:latin typeface="Arial" panose="020B0604020202020204" pitchFamily="34" charset="0"/>
              </a:rPr>
              <a:t> </a:t>
            </a:r>
            <a:r>
              <a:rPr lang="ru-RU" b="0" i="0" dirty="0" err="1">
                <a:solidFill>
                  <a:srgbClr val="000000"/>
                </a:solidFill>
                <a:effectLst/>
                <a:latin typeface="Arial" panose="020B0604020202020204" pitchFamily="34" charset="0"/>
              </a:rPr>
              <a:t>Solution</a:t>
            </a:r>
            <a:r>
              <a:rPr lang="ru-RU" b="0" i="0" dirty="0">
                <a:solidFill>
                  <a:srgbClr val="000000"/>
                </a:solidFill>
                <a:effectLst/>
                <a:latin typeface="Arial" panose="020B0604020202020204" pitchFamily="34" charset="0"/>
              </a:rPr>
              <a:t>.</a:t>
            </a:r>
          </a:p>
        </p:txBody>
      </p:sp>
    </p:spTree>
    <p:extLst>
      <p:ext uri="{BB962C8B-B14F-4D97-AF65-F5344CB8AC3E}">
        <p14:creationId xmlns:p14="http://schemas.microsoft.com/office/powerpoint/2010/main" val="29336219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149A88-9197-4D38-B0D9-D926BF8B5BAC}"/>
              </a:ext>
            </a:extLst>
          </p:cNvPr>
          <p:cNvSpPr txBox="1"/>
          <p:nvPr/>
        </p:nvSpPr>
        <p:spPr>
          <a:xfrm>
            <a:off x="363984" y="61066"/>
            <a:ext cx="11203620" cy="5078313"/>
          </a:xfrm>
          <a:prstGeom prst="rect">
            <a:avLst/>
          </a:prstGeom>
          <a:noFill/>
        </p:spPr>
        <p:txBody>
          <a:bodyPr wrap="square">
            <a:spAutoFit/>
          </a:bodyPr>
          <a:lstStyle/>
          <a:p>
            <a:pPr algn="l" fontAlgn="base"/>
            <a:endParaRPr lang="ru-RU" b="1" i="0" cap="all" dirty="0">
              <a:solidFill>
                <a:srgbClr val="3C3B3B"/>
              </a:solidFill>
              <a:effectLst/>
              <a:latin typeface="Segoe UI" panose="020B0502040204020203" pitchFamily="34" charset="0"/>
            </a:endParaRPr>
          </a:p>
          <a:p>
            <a:pPr algn="l" fontAlgn="base"/>
            <a:endParaRPr lang="ru-RU" b="1" cap="all" dirty="0">
              <a:solidFill>
                <a:srgbClr val="3C3B3B"/>
              </a:solidFill>
              <a:latin typeface="Segoe UI" panose="020B0502040204020203" pitchFamily="34" charset="0"/>
            </a:endParaRPr>
          </a:p>
          <a:p>
            <a:pPr algn="l" fontAlgn="base"/>
            <a:r>
              <a:rPr lang="ru-RU" b="1" i="0" cap="all" dirty="0">
                <a:solidFill>
                  <a:srgbClr val="3C3B3B"/>
                </a:solidFill>
                <a:effectLst/>
                <a:latin typeface="Segoe UI" panose="020B0502040204020203" pitchFamily="34" charset="0"/>
              </a:rPr>
              <a:t>КАК РАБОТАЕТ ВИРТУАЛИЗАЦИЯ?</a:t>
            </a:r>
          </a:p>
          <a:p>
            <a:pPr algn="l" fontAlgn="base"/>
            <a:endParaRPr lang="ru-RU" b="1" cap="all" dirty="0">
              <a:solidFill>
                <a:srgbClr val="3C3B3B"/>
              </a:solidFill>
              <a:latin typeface="Segoe UI" panose="020B0502040204020203" pitchFamily="34" charset="0"/>
            </a:endParaRPr>
          </a:p>
          <a:p>
            <a:pPr algn="l" fontAlgn="base"/>
            <a:endParaRPr lang="ru-RU" b="1" i="0" cap="all" dirty="0">
              <a:solidFill>
                <a:srgbClr val="3C3B3B"/>
              </a:solidFill>
              <a:effectLst/>
              <a:latin typeface="Segoe UI" panose="020B0502040204020203" pitchFamily="34" charset="0"/>
            </a:endParaRPr>
          </a:p>
          <a:p>
            <a:pPr algn="l" fontAlgn="base"/>
            <a:r>
              <a:rPr lang="ru-RU" b="0" i="0" dirty="0">
                <a:solidFill>
                  <a:srgbClr val="646464"/>
                </a:solidFill>
                <a:effectLst/>
                <a:latin typeface="Segoe UI" panose="020B0502040204020203" pitchFamily="34" charset="0"/>
              </a:rPr>
              <a:t>В </a:t>
            </a:r>
            <a:r>
              <a:rPr lang="ru-RU" b="0" i="0" dirty="0" err="1">
                <a:solidFill>
                  <a:srgbClr val="646464"/>
                </a:solidFill>
                <a:effectLst/>
                <a:latin typeface="Segoe UI" panose="020B0502040204020203" pitchFamily="34" charset="0"/>
              </a:rPr>
              <a:t>невиртуальных</a:t>
            </a:r>
            <a:r>
              <a:rPr lang="ru-RU" b="0" i="0" dirty="0">
                <a:solidFill>
                  <a:srgbClr val="646464"/>
                </a:solidFill>
                <a:effectLst/>
                <a:latin typeface="Segoe UI" panose="020B0502040204020203" pitchFamily="34" charset="0"/>
              </a:rPr>
              <a:t> условиях, архитектуры х86 строго контролируют, какие процессы могут работать в каждом из четырех тщательно определенных уровней привилегий (начиная с Кольца 0 (</a:t>
            </a:r>
            <a:r>
              <a:rPr lang="ru-RU" b="0" i="0" dirty="0" err="1">
                <a:solidFill>
                  <a:srgbClr val="646464"/>
                </a:solidFill>
                <a:effectLst/>
                <a:latin typeface="Segoe UI" panose="020B0502040204020203" pitchFamily="34" charset="0"/>
              </a:rPr>
              <a:t>Ring</a:t>
            </a:r>
            <a:r>
              <a:rPr lang="ru-RU" b="0" i="0" dirty="0">
                <a:solidFill>
                  <a:srgbClr val="646464"/>
                </a:solidFill>
                <a:effectLst/>
                <a:latin typeface="Segoe UI" panose="020B0502040204020203" pitchFamily="34" charset="0"/>
              </a:rPr>
              <a:t> 0) по Кольцо 3).</a:t>
            </a:r>
          </a:p>
          <a:p>
            <a:pPr algn="l" fontAlgn="base"/>
            <a:r>
              <a:rPr lang="ru-RU" b="0" i="0" dirty="0">
                <a:solidFill>
                  <a:srgbClr val="646464"/>
                </a:solidFill>
                <a:effectLst/>
                <a:latin typeface="Segoe UI" panose="020B0502040204020203" pitchFamily="34" charset="0"/>
              </a:rPr>
              <a:t>Как правило, только ядро операционной системы хоста имеет какой-либо шанс получить доступ к инструкциям, хранящимся в кольце под номером 0. Однако, поскольку вы не можете предоставить нескольким виртуальным машинам, которые работают на одном физическом компьютере, равный доступ к кольцу 0, не вызывая больших проблем, необходим диспетчер виртуальных машин (или «гипервизор»), который бы эффективно перенаправлял запросы на такие ресурсы, как память и хранилище, на </a:t>
            </a:r>
            <a:r>
              <a:rPr lang="ru-RU" b="0" i="0" dirty="0" err="1">
                <a:solidFill>
                  <a:srgbClr val="646464"/>
                </a:solidFill>
                <a:effectLst/>
                <a:latin typeface="Segoe UI" panose="020B0502040204020203" pitchFamily="34" charset="0"/>
              </a:rPr>
              <a:t>виртуализированные</a:t>
            </a:r>
            <a:r>
              <a:rPr lang="ru-RU" b="0" i="0" dirty="0">
                <a:solidFill>
                  <a:srgbClr val="646464"/>
                </a:solidFill>
                <a:effectLst/>
                <a:latin typeface="Segoe UI" panose="020B0502040204020203" pitchFamily="34" charset="0"/>
              </a:rPr>
              <a:t> системы, эквивалентные им.</a:t>
            </a:r>
          </a:p>
          <a:p>
            <a:pPr algn="l" fontAlgn="base"/>
            <a:r>
              <a:rPr lang="ru-RU" b="0" i="0" dirty="0">
                <a:solidFill>
                  <a:srgbClr val="646464"/>
                </a:solidFill>
                <a:effectLst/>
                <a:latin typeface="Segoe UI" panose="020B0502040204020203" pitchFamily="34" charset="0"/>
              </a:rPr>
              <a:t>При работе в аппаратной среде без виртуализации SVM или VT-x все это выполняется с помощью процесса, известного как ловушка, эмуляция и двоичная трансляция. На </a:t>
            </a:r>
            <a:r>
              <a:rPr lang="ru-RU" b="0" i="0" dirty="0" err="1">
                <a:solidFill>
                  <a:srgbClr val="646464"/>
                </a:solidFill>
                <a:effectLst/>
                <a:latin typeface="Segoe UI" panose="020B0502040204020203" pitchFamily="34" charset="0"/>
              </a:rPr>
              <a:t>виртуализированном</a:t>
            </a:r>
            <a:r>
              <a:rPr lang="ru-RU" b="0" i="0" dirty="0">
                <a:solidFill>
                  <a:srgbClr val="646464"/>
                </a:solidFill>
                <a:effectLst/>
                <a:latin typeface="Segoe UI" panose="020B0502040204020203" pitchFamily="34" charset="0"/>
              </a:rPr>
              <a:t> оборудовании такие запросы, как правило, перехватываются гипервизором, адаптируются к виртуальной среде и возвращаются в виртуальную машину.</a:t>
            </a:r>
          </a:p>
        </p:txBody>
      </p:sp>
    </p:spTree>
    <p:extLst>
      <p:ext uri="{BB962C8B-B14F-4D97-AF65-F5344CB8AC3E}">
        <p14:creationId xmlns:p14="http://schemas.microsoft.com/office/powerpoint/2010/main" val="421875981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Кings of privilege">
            <a:extLst>
              <a:ext uri="{FF2B5EF4-FFF2-40B4-BE49-F238E27FC236}">
                <a16:creationId xmlns:a16="http://schemas.microsoft.com/office/drawing/2014/main" id="{976222B7-780F-4F76-866F-466FE70A1E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6838" y="781050"/>
            <a:ext cx="9458325" cy="529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463597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32313A7-A41A-4E10-B266-40D5C597A62E}"/>
              </a:ext>
            </a:extLst>
          </p:cNvPr>
          <p:cNvSpPr txBox="1"/>
          <p:nvPr/>
        </p:nvSpPr>
        <p:spPr>
          <a:xfrm>
            <a:off x="365464" y="460482"/>
            <a:ext cx="11282039" cy="5078313"/>
          </a:xfrm>
          <a:prstGeom prst="rect">
            <a:avLst/>
          </a:prstGeom>
          <a:noFill/>
        </p:spPr>
        <p:txBody>
          <a:bodyPr wrap="square">
            <a:spAutoFit/>
          </a:bodyPr>
          <a:lstStyle/>
          <a:p>
            <a:pPr algn="l" fontAlgn="base"/>
            <a:r>
              <a:rPr lang="ru-RU" b="0" i="0" dirty="0">
                <a:solidFill>
                  <a:srgbClr val="646464"/>
                </a:solidFill>
                <a:effectLst/>
                <a:latin typeface="Segoe UI" panose="020B0502040204020203" pitchFamily="34" charset="0"/>
              </a:rPr>
              <a:t>Простое добавление нового программного уровня для обеспечения такого уровня организации взаимодействия приведет к значительной задержке практически во всех аспектах производительности системы. Одним из успешных решений было решение ввести новый набор инструкций в ЦП, которые создают, так называемое, «кольцо 1», которое действует как кольцо 0 и позволяет гостевой ОС работать без какого-либо влияния на другие несвязанные операции.</a:t>
            </a:r>
          </a:p>
          <a:p>
            <a:pPr algn="l" fontAlgn="base"/>
            <a:r>
              <a:rPr lang="ru-RU" b="0" i="0" dirty="0">
                <a:solidFill>
                  <a:srgbClr val="646464"/>
                </a:solidFill>
                <a:effectLst/>
                <a:latin typeface="Segoe UI" panose="020B0502040204020203" pitchFamily="34" charset="0"/>
              </a:rPr>
              <a:t>На самом деле, при правильной реализации виртуализация позволяет большинству программных кодов работать как обычно, без каких-либо перехватов.</a:t>
            </a:r>
          </a:p>
          <a:p>
            <a:pPr algn="l" fontAlgn="base"/>
            <a:r>
              <a:rPr lang="ru-RU" b="0" i="0" dirty="0">
                <a:solidFill>
                  <a:srgbClr val="646464"/>
                </a:solidFill>
                <a:effectLst/>
                <a:latin typeface="Segoe UI" panose="020B0502040204020203" pitchFamily="34" charset="0"/>
              </a:rPr>
              <a:t>Несмотря на то, что эмуляция часто играет роль поддержки при развертывании виртуализации, она все же работает несколько иначе. В то время как виртуализация стремится разделить существующие аппаратные ресурсы между несколькими пользователями, эмуляция ставит перед собой цель заставить одну конкретную аппаратную/программную среду имитировать ту, которой на самом деле не существует, чтобы у пользователей была возможность запускать процессы, которые изначально было невозможно запустить. Для этого требуется программный код, который имитирует желаемую исходную аппаратную среду, чтобы обмануть ваше программное обеспечение, заставив его думать, что оно на самом деле работает где-то еще.</a:t>
            </a:r>
          </a:p>
          <a:p>
            <a:pPr algn="l" fontAlgn="base"/>
            <a:r>
              <a:rPr lang="ru-RU" b="0" i="0" dirty="0">
                <a:solidFill>
                  <a:srgbClr val="646464"/>
                </a:solidFill>
                <a:effectLst/>
                <a:latin typeface="Segoe UI" panose="020B0502040204020203" pitchFamily="34" charset="0"/>
              </a:rPr>
              <a:t>Эмуляция может быть относительно простой в реализации, но она почти всегда несет за собой значительные потери производительности.</a:t>
            </a:r>
          </a:p>
          <a:p>
            <a:pPr algn="l" fontAlgn="base"/>
            <a:r>
              <a:rPr lang="ru-RU" b="0" i="0" dirty="0">
                <a:solidFill>
                  <a:srgbClr val="646464"/>
                </a:solidFill>
                <a:effectLst/>
                <a:latin typeface="Segoe UI" panose="020B0502040204020203" pitchFamily="34" charset="0"/>
              </a:rPr>
              <a:t>Согласно сложившимся представлениям, существует два класса гипервизоров: </a:t>
            </a:r>
            <a:r>
              <a:rPr lang="ru-RU" b="1" i="0" dirty="0">
                <a:solidFill>
                  <a:srgbClr val="3C3B3B"/>
                </a:solidFill>
                <a:effectLst/>
                <a:latin typeface="inherit"/>
              </a:rPr>
              <a:t>Type-1</a:t>
            </a:r>
            <a:r>
              <a:rPr lang="ru-RU" b="0" i="0" dirty="0">
                <a:solidFill>
                  <a:srgbClr val="646464"/>
                </a:solidFill>
                <a:effectLst/>
                <a:latin typeface="Segoe UI" panose="020B0502040204020203" pitchFamily="34" charset="0"/>
              </a:rPr>
              <a:t> и </a:t>
            </a:r>
            <a:r>
              <a:rPr lang="ru-RU" b="1" i="0" dirty="0">
                <a:solidFill>
                  <a:srgbClr val="3C3B3B"/>
                </a:solidFill>
                <a:effectLst/>
                <a:latin typeface="inherit"/>
              </a:rPr>
              <a:t>Type-2</a:t>
            </a:r>
            <a:r>
              <a:rPr lang="ru-RU" b="0" i="0" dirty="0">
                <a:solidFill>
                  <a:srgbClr val="646464"/>
                </a:solidFill>
                <a:effectLst/>
                <a:latin typeface="Segoe UI" panose="020B0502040204020203" pitchFamily="34" charset="0"/>
              </a:rPr>
              <a:t>.</a:t>
            </a:r>
          </a:p>
        </p:txBody>
      </p:sp>
    </p:spTree>
    <p:extLst>
      <p:ext uri="{BB962C8B-B14F-4D97-AF65-F5344CB8AC3E}">
        <p14:creationId xmlns:p14="http://schemas.microsoft.com/office/powerpoint/2010/main" val="268366599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undefined">
            <a:extLst>
              <a:ext uri="{FF2B5EF4-FFF2-40B4-BE49-F238E27FC236}">
                <a16:creationId xmlns:a16="http://schemas.microsoft.com/office/drawing/2014/main" id="{2A4DDE5A-8A21-4991-AA70-3D7E7C5B6D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3462" y="745723"/>
            <a:ext cx="8127632" cy="58548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770762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1216F7-E2E8-405C-9DFB-96D024CF6B51}"/>
              </a:ext>
            </a:extLst>
          </p:cNvPr>
          <p:cNvSpPr txBox="1"/>
          <p:nvPr/>
        </p:nvSpPr>
        <p:spPr>
          <a:xfrm>
            <a:off x="168676" y="289679"/>
            <a:ext cx="11265763" cy="3416320"/>
          </a:xfrm>
          <a:prstGeom prst="rect">
            <a:avLst/>
          </a:prstGeom>
          <a:noFill/>
        </p:spPr>
        <p:txBody>
          <a:bodyPr wrap="square">
            <a:spAutoFit/>
          </a:bodyPr>
          <a:lstStyle/>
          <a:p>
            <a:pPr algn="l"/>
            <a:r>
              <a:rPr lang="ru-RU" b="0" i="0" dirty="0">
                <a:solidFill>
                  <a:srgbClr val="202122"/>
                </a:solidFill>
                <a:effectLst/>
                <a:latin typeface="Arial" panose="020B0604020202020204" pitchFamily="34" charset="0"/>
              </a:rPr>
              <a:t>Термином </a:t>
            </a:r>
            <a:r>
              <a:rPr lang="ru-RU" b="1" i="0" dirty="0">
                <a:solidFill>
                  <a:srgbClr val="202122"/>
                </a:solidFill>
                <a:effectLst/>
                <a:latin typeface="Arial" panose="020B0604020202020204" pitchFamily="34" charset="0"/>
              </a:rPr>
              <a:t>режим супервизора</a:t>
            </a:r>
            <a:r>
              <a:rPr lang="ru-RU" b="0" i="0" dirty="0">
                <a:solidFill>
                  <a:srgbClr val="202122"/>
                </a:solidFill>
                <a:effectLst/>
                <a:latin typeface="Arial" panose="020B0604020202020204" pitchFamily="34" charset="0"/>
              </a:rPr>
              <a:t> (</a:t>
            </a:r>
            <a:r>
              <a:rPr lang="ru-RU" b="0" i="0" dirty="0" err="1">
                <a:solidFill>
                  <a:srgbClr val="202122"/>
                </a:solidFill>
                <a:effectLst/>
                <a:latin typeface="Arial" panose="020B0604020202020204" pitchFamily="34" charset="0"/>
              </a:rPr>
              <a:t>Supervisor</a:t>
            </a:r>
            <a:r>
              <a:rPr lang="ru-RU" b="0" i="0" dirty="0">
                <a:solidFill>
                  <a:srgbClr val="202122"/>
                </a:solidFill>
                <a:effectLst/>
                <a:latin typeface="Arial" panose="020B0604020202020204" pitchFamily="34" charset="0"/>
              </a:rPr>
              <a:t> </a:t>
            </a:r>
            <a:r>
              <a:rPr lang="ru-RU" b="0" i="0" dirty="0" err="1">
                <a:solidFill>
                  <a:srgbClr val="202122"/>
                </a:solidFill>
                <a:effectLst/>
                <a:latin typeface="Arial" panose="020B0604020202020204" pitchFamily="34" charset="0"/>
              </a:rPr>
              <a:t>mode</a:t>
            </a:r>
            <a:r>
              <a:rPr lang="ru-RU" b="0" i="0" dirty="0">
                <a:solidFill>
                  <a:srgbClr val="202122"/>
                </a:solidFill>
                <a:effectLst/>
                <a:latin typeface="Arial" panose="020B0604020202020204" pitchFamily="34" charset="0"/>
              </a:rPr>
              <a:t>) разработчики и производители процессоров, как правило, называют наиболее привилегированный режим работы процессора. Чаще всего этот режим используется для выполнения кода ядра операционной системы. Обычно этот режим по функциональности соответствует 0-му кольцу защиты (</a:t>
            </a:r>
            <a:r>
              <a:rPr lang="ru-RU" b="0" i="0" dirty="0" err="1">
                <a:solidFill>
                  <a:srgbClr val="202122"/>
                </a:solidFill>
                <a:effectLst/>
                <a:latin typeface="Arial" panose="020B0604020202020204" pitchFamily="34" charset="0"/>
              </a:rPr>
              <a:t>Ring</a:t>
            </a:r>
            <a:r>
              <a:rPr lang="ru-RU" b="0" i="0" dirty="0">
                <a:solidFill>
                  <a:srgbClr val="202122"/>
                </a:solidFill>
                <a:effectLst/>
                <a:latin typeface="Arial" panose="020B0604020202020204" pitchFamily="34" charset="0"/>
              </a:rPr>
              <a:t> 0) в x86-процессорах, то есть предоставляет неограниченный доступ ко всем возможностям процессора, работе с периферией и так далее. Код, работающий в данном режиме, как правило, занимается управлением доступными аппаратными ресурсами, разделением их использования между отдельными задачами (процессами) и так далее, что и привело к такому названию режима.</a:t>
            </a:r>
          </a:p>
          <a:p>
            <a:pPr algn="l"/>
            <a:r>
              <a:rPr lang="ru-RU" b="0" i="0" dirty="0">
                <a:solidFill>
                  <a:srgbClr val="202122"/>
                </a:solidFill>
                <a:effectLst/>
                <a:latin typeface="Arial" panose="020B0604020202020204" pitchFamily="34" charset="0"/>
              </a:rPr>
              <a:t>Некоторые фирмы-разработчики и производители процессоров, например ARM, не используют классификацию режимов работы процессора в виде колец защиты. Тем не менее, у большинства современных процессоров (кроме простейших), как правило, присутствует несколько режимов работы, отличающихся друг от друга доступными в данном режиме привилегиями.</a:t>
            </a:r>
          </a:p>
        </p:txBody>
      </p:sp>
    </p:spTree>
    <p:extLst>
      <p:ext uri="{BB962C8B-B14F-4D97-AF65-F5344CB8AC3E}">
        <p14:creationId xmlns:p14="http://schemas.microsoft.com/office/powerpoint/2010/main" val="1199373432"/>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9C191F-5914-426F-A6BB-3449740DCE7B}"/>
              </a:ext>
            </a:extLst>
          </p:cNvPr>
          <p:cNvSpPr txBox="1"/>
          <p:nvPr/>
        </p:nvSpPr>
        <p:spPr>
          <a:xfrm>
            <a:off x="230819" y="503120"/>
            <a:ext cx="11709648" cy="6186309"/>
          </a:xfrm>
          <a:prstGeom prst="rect">
            <a:avLst/>
          </a:prstGeom>
          <a:noFill/>
        </p:spPr>
        <p:txBody>
          <a:bodyPr wrap="square">
            <a:spAutoFit/>
          </a:bodyPr>
          <a:lstStyle/>
          <a:p>
            <a:pPr algn="l"/>
            <a:r>
              <a:rPr lang="ru-RU" b="0" i="0" dirty="0">
                <a:solidFill>
                  <a:srgbClr val="202122"/>
                </a:solidFill>
                <a:effectLst/>
                <a:latin typeface="Arial" panose="020B0604020202020204" pitchFamily="34" charset="0"/>
              </a:rPr>
              <a:t>Некоторые современные процессоры могут предоставлять дополнительный режим работы, известный как </a:t>
            </a:r>
            <a:r>
              <a:rPr lang="ru-RU" b="1" i="0" dirty="0">
                <a:solidFill>
                  <a:srgbClr val="202122"/>
                </a:solidFill>
                <a:effectLst/>
                <a:latin typeface="Arial" panose="020B0604020202020204" pitchFamily="34" charset="0"/>
              </a:rPr>
              <a:t>режим гипервизора</a:t>
            </a:r>
            <a:r>
              <a:rPr lang="ru-RU" b="0" i="0" dirty="0">
                <a:solidFill>
                  <a:srgbClr val="202122"/>
                </a:solidFill>
                <a:effectLst/>
                <a:latin typeface="Arial" panose="020B0604020202020204" pitchFamily="34" charset="0"/>
              </a:rPr>
              <a:t> (</a:t>
            </a:r>
            <a:r>
              <a:rPr lang="ru-RU" b="0" i="0" dirty="0" err="1">
                <a:solidFill>
                  <a:srgbClr val="202122"/>
                </a:solidFill>
                <a:effectLst/>
                <a:latin typeface="Arial" panose="020B0604020202020204" pitchFamily="34" charset="0"/>
              </a:rPr>
              <a:t>Hypervisor</a:t>
            </a:r>
            <a:r>
              <a:rPr lang="ru-RU" b="0" i="0" dirty="0">
                <a:solidFill>
                  <a:srgbClr val="202122"/>
                </a:solidFill>
                <a:effectLst/>
                <a:latin typeface="Arial" panose="020B0604020202020204" pitchFamily="34" charset="0"/>
              </a:rPr>
              <a:t> </a:t>
            </a:r>
            <a:r>
              <a:rPr lang="ru-RU" b="0" i="0" dirty="0" err="1">
                <a:solidFill>
                  <a:srgbClr val="202122"/>
                </a:solidFill>
                <a:effectLst/>
                <a:latin typeface="Arial" panose="020B0604020202020204" pitchFamily="34" charset="0"/>
              </a:rPr>
              <a:t>mode</a:t>
            </a:r>
            <a:r>
              <a:rPr lang="ru-RU" b="0" i="0" dirty="0">
                <a:solidFill>
                  <a:srgbClr val="202122"/>
                </a:solidFill>
                <a:effectLst/>
                <a:latin typeface="Arial" panose="020B0604020202020204" pitchFamily="34" charset="0"/>
              </a:rPr>
              <a:t>). Как правило, данный режим реализуется с целью поддержки технологий виртуализации на уровне аппаратного обеспечения. Это позволяет достигнуть не только одновременного выполнения нескольких задач, но и одновременного выполнения нескольких операционных систем на одном процессоре без существенных потерь производительности и без изменения самих операционных систем. Как правило, при использовании данного режима полный доступ ко всем ресурсам возможен именно из режима гипервизора. В таком случае режим супервизора уже не является максимально привилегированным и ограничивает многие привилегированные операции. При выполнении привилегированных операций операционными системами в режиме супервизора управление передается специальной программе — </a:t>
            </a:r>
            <a:r>
              <a:rPr lang="ru-RU" b="0" i="0" u="none" strike="noStrike" dirty="0">
                <a:solidFill>
                  <a:srgbClr val="0645AD"/>
                </a:solidFill>
                <a:effectLst/>
                <a:latin typeface="Arial" panose="020B0604020202020204" pitchFamily="34" charset="0"/>
                <a:hlinkClick r:id="rId2" tooltip="Гипервизор"/>
              </a:rPr>
              <a:t>гипервизору</a:t>
            </a:r>
            <a:r>
              <a:rPr lang="ru-RU" b="0" i="0" dirty="0">
                <a:solidFill>
                  <a:srgbClr val="202122"/>
                </a:solidFill>
                <a:effectLst/>
                <a:latin typeface="Arial" panose="020B0604020202020204" pitchFamily="34" charset="0"/>
              </a:rPr>
              <a:t>. Гипервизор осуществляет арбитраж использования имеющихся аппаратных ресурсов несколькими операционными системами аналогично тому, как сами операционные системы осуществляют распределение ресурсов между несколькими задачами. По сути, гипервизор обычно является небольшим ядром, которое управляет распределением ресурсов между несколькими операционными системами и работает уровнем ниже, чем сами операционные системы. В силу этого в терминологии x86 данный режим часто условно называют кольцом −1 (</a:t>
            </a:r>
            <a:r>
              <a:rPr lang="ru-RU" b="0" i="0" dirty="0" err="1">
                <a:solidFill>
                  <a:srgbClr val="202122"/>
                </a:solidFill>
                <a:effectLst/>
                <a:latin typeface="Arial" panose="020B0604020202020204" pitchFamily="34" charset="0"/>
              </a:rPr>
              <a:t>Ring</a:t>
            </a:r>
            <a:r>
              <a:rPr lang="ru-RU" b="0" i="0" dirty="0">
                <a:solidFill>
                  <a:srgbClr val="202122"/>
                </a:solidFill>
                <a:effectLst/>
                <a:latin typeface="Arial" panose="020B0604020202020204" pitchFamily="34" charset="0"/>
              </a:rPr>
              <a:t> −1).</a:t>
            </a:r>
          </a:p>
          <a:p>
            <a:pPr algn="l"/>
            <a:endParaRPr lang="ru-RU" dirty="0">
              <a:solidFill>
                <a:srgbClr val="202122"/>
              </a:solidFill>
              <a:latin typeface="Arial" panose="020B0604020202020204" pitchFamily="34" charset="0"/>
            </a:endParaRPr>
          </a:p>
          <a:p>
            <a:pPr algn="l"/>
            <a:r>
              <a:rPr lang="ru-RU" b="0" i="0" dirty="0">
                <a:solidFill>
                  <a:srgbClr val="202122"/>
                </a:solidFill>
                <a:effectLst/>
                <a:latin typeface="Arial" panose="020B0604020202020204" pitchFamily="34" charset="0"/>
              </a:rPr>
              <a:t>Режим системного управления (</a:t>
            </a:r>
            <a:r>
              <a:rPr lang="ru-RU" b="0" i="0" dirty="0" err="1">
                <a:solidFill>
                  <a:srgbClr val="202122"/>
                </a:solidFill>
                <a:effectLst/>
                <a:latin typeface="Arial" panose="020B0604020202020204" pitchFamily="34" charset="0"/>
              </a:rPr>
              <a:t>System</a:t>
            </a:r>
            <a:r>
              <a:rPr lang="ru-RU" b="0" i="0" dirty="0">
                <a:solidFill>
                  <a:srgbClr val="202122"/>
                </a:solidFill>
                <a:effectLst/>
                <a:latin typeface="Arial" panose="020B0604020202020204" pitchFamily="34" charset="0"/>
              </a:rPr>
              <a:t> </a:t>
            </a:r>
            <a:r>
              <a:rPr lang="ru-RU" b="0" i="0" dirty="0" err="1">
                <a:solidFill>
                  <a:srgbClr val="202122"/>
                </a:solidFill>
                <a:effectLst/>
                <a:latin typeface="Arial" panose="020B0604020202020204" pitchFamily="34" charset="0"/>
              </a:rPr>
              <a:t>Management</a:t>
            </a:r>
            <a:r>
              <a:rPr lang="ru-RU" b="0" i="0" dirty="0">
                <a:solidFill>
                  <a:srgbClr val="202122"/>
                </a:solidFill>
                <a:effectLst/>
                <a:latin typeface="Arial" panose="020B0604020202020204" pitchFamily="34" charset="0"/>
              </a:rPr>
              <a:t> </a:t>
            </a:r>
            <a:r>
              <a:rPr lang="ru-RU" b="0" i="0" dirty="0" err="1">
                <a:solidFill>
                  <a:srgbClr val="202122"/>
                </a:solidFill>
                <a:effectLst/>
                <a:latin typeface="Arial" panose="020B0604020202020204" pitchFamily="34" charset="0"/>
              </a:rPr>
              <a:t>Mode</a:t>
            </a:r>
            <a:r>
              <a:rPr lang="ru-RU" b="0" i="0" dirty="0">
                <a:solidFill>
                  <a:srgbClr val="202122"/>
                </a:solidFill>
                <a:effectLst/>
                <a:latin typeface="Arial" panose="020B0604020202020204" pitchFamily="34" charset="0"/>
              </a:rPr>
              <a:t>) — самый привилегированный режим выполнения на процессорах архитектуры </a:t>
            </a:r>
            <a:r>
              <a:rPr lang="ru-RU" b="0" i="0" u="none" strike="noStrike" dirty="0">
                <a:solidFill>
                  <a:srgbClr val="0645AD"/>
                </a:solidFill>
                <a:effectLst/>
                <a:latin typeface="Arial" panose="020B0604020202020204" pitchFamily="34" charset="0"/>
                <a:hlinkClick r:id="rId3" tooltip="X86"/>
              </a:rPr>
              <a:t>x86</a:t>
            </a:r>
            <a:r>
              <a:rPr lang="ru-RU" b="0" i="0" dirty="0">
                <a:solidFill>
                  <a:srgbClr val="202122"/>
                </a:solidFill>
                <a:effectLst/>
                <a:latin typeface="Arial" panose="020B0604020202020204" pitchFamily="34" charset="0"/>
              </a:rPr>
              <a:t>/</a:t>
            </a:r>
            <a:r>
              <a:rPr lang="ru-RU" b="0" i="0" u="none" strike="noStrike" dirty="0">
                <a:solidFill>
                  <a:srgbClr val="0645AD"/>
                </a:solidFill>
                <a:effectLst/>
                <a:latin typeface="Arial" panose="020B0604020202020204" pitchFamily="34" charset="0"/>
                <a:hlinkClick r:id="rId4" tooltip="X86-64"/>
              </a:rPr>
              <a:t>x86-64</a:t>
            </a:r>
            <a:r>
              <a:rPr lang="ru-RU" b="0" i="0" u="none" strike="noStrike" baseline="30000" dirty="0">
                <a:solidFill>
                  <a:srgbClr val="0645AD"/>
                </a:solidFill>
                <a:effectLst/>
                <a:latin typeface="Arial" panose="020B0604020202020204" pitchFamily="34" charset="0"/>
                <a:hlinkClick r:id="rId5"/>
              </a:rPr>
              <a:t>[1]</a:t>
            </a:r>
            <a:r>
              <a:rPr lang="ru-RU" b="0" i="0" dirty="0">
                <a:solidFill>
                  <a:srgbClr val="202122"/>
                </a:solidFill>
                <a:effectLst/>
                <a:latin typeface="Arial" panose="020B0604020202020204" pitchFamily="34" charset="0"/>
              </a:rPr>
              <a:t> (впервые появился в </a:t>
            </a:r>
            <a:r>
              <a:rPr lang="ru-RU" b="0" i="0" u="none" strike="noStrike" dirty="0">
                <a:solidFill>
                  <a:srgbClr val="0645AD"/>
                </a:solidFill>
                <a:effectLst/>
                <a:latin typeface="Arial" panose="020B0604020202020204" pitchFamily="34" charset="0"/>
                <a:hlinkClick r:id="rId6" tooltip="Список микропроцессоров Intel"/>
              </a:rPr>
              <a:t>386SL</a:t>
            </a:r>
            <a:r>
              <a:rPr lang="ru-RU" b="0" i="0" dirty="0">
                <a:solidFill>
                  <a:srgbClr val="202122"/>
                </a:solidFill>
                <a:effectLst/>
                <a:latin typeface="Arial" panose="020B0604020202020204" pitchFamily="34" charset="0"/>
              </a:rPr>
              <a:t>). Режим SMM (условно называемый «Кольцо -2») более привилегированный, чем «Кольцо 0» и аппаратный гипервизор (</a:t>
            </a:r>
            <a:r>
              <a:rPr lang="ru-RU" b="0" i="0" u="none" strike="noStrike" dirty="0">
                <a:solidFill>
                  <a:srgbClr val="0645AD"/>
                </a:solidFill>
                <a:effectLst/>
                <a:latin typeface="Arial" panose="020B0604020202020204" pitchFamily="34" charset="0"/>
                <a:hlinkClick r:id="rId7" tooltip="Аппаратная виртуализация"/>
              </a:rPr>
              <a:t>VT/AMD-v</a:t>
            </a:r>
            <a:r>
              <a:rPr lang="ru-RU" b="0" i="0" dirty="0">
                <a:solidFill>
                  <a:srgbClr val="202122"/>
                </a:solidFill>
                <a:effectLst/>
                <a:latin typeface="Arial" panose="020B0604020202020204" pitchFamily="34" charset="0"/>
              </a:rPr>
              <a:t>) «Кольцо -1». В этом режиме приостанавливается нормальное выполнение кода, и начинается выполнение специального кода из системного ОЗУ (SMRAM), недоступного в других режимах. Этот код получает доступ ко всей системной памяти, включая ядро и память гипервизора.</a:t>
            </a:r>
            <a:endParaRPr lang="ru-RU" b="1" i="0" dirty="0">
              <a:solidFill>
                <a:srgbClr val="202122"/>
              </a:solidFill>
              <a:effectLst/>
              <a:latin typeface="Arial" panose="020B0604020202020204" pitchFamily="34" charset="0"/>
            </a:endParaRPr>
          </a:p>
        </p:txBody>
      </p:sp>
    </p:spTree>
    <p:extLst>
      <p:ext uri="{BB962C8B-B14F-4D97-AF65-F5344CB8AC3E}">
        <p14:creationId xmlns:p14="http://schemas.microsoft.com/office/powerpoint/2010/main" val="2300976900"/>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C8B591-99AD-44CD-A198-EF96A10AF676}"/>
              </a:ext>
            </a:extLst>
          </p:cNvPr>
          <p:cNvSpPr txBox="1"/>
          <p:nvPr/>
        </p:nvSpPr>
        <p:spPr>
          <a:xfrm>
            <a:off x="301840" y="208482"/>
            <a:ext cx="11709647" cy="2585323"/>
          </a:xfrm>
          <a:prstGeom prst="rect">
            <a:avLst/>
          </a:prstGeom>
          <a:noFill/>
        </p:spPr>
        <p:txBody>
          <a:bodyPr wrap="square">
            <a:spAutoFit/>
          </a:bodyPr>
          <a:lstStyle/>
          <a:p>
            <a:pPr algn="l" fontAlgn="base">
              <a:buFont typeface="Arial" panose="020B0604020202020204" pitchFamily="34" charset="0"/>
              <a:buChar char="•"/>
            </a:pPr>
            <a:r>
              <a:rPr lang="ru-RU" b="1" i="0" dirty="0" err="1">
                <a:solidFill>
                  <a:srgbClr val="3C3B3B"/>
                </a:solidFill>
                <a:effectLst/>
                <a:latin typeface="inherit"/>
              </a:rPr>
              <a:t>Bare-metal</a:t>
            </a:r>
            <a:r>
              <a:rPr lang="ru-RU" b="1" i="0" dirty="0">
                <a:solidFill>
                  <a:srgbClr val="3C3B3B"/>
                </a:solidFill>
                <a:effectLst/>
                <a:latin typeface="inherit"/>
              </a:rPr>
              <a:t> гипервизоры (исполняемые на «голом железе») (Type-1),</a:t>
            </a:r>
            <a:r>
              <a:rPr lang="ru-RU" b="0" i="0" dirty="0">
                <a:solidFill>
                  <a:srgbClr val="646464"/>
                </a:solidFill>
                <a:effectLst/>
                <a:latin typeface="Segoe UI" panose="020B0502040204020203" pitchFamily="34" charset="0"/>
              </a:rPr>
              <a:t> загружаются как операционная система машины и – иногда через основную привилегированную виртуальную машину – сохраняют полный контроль над аппаратным обеспечением хоста, запуская каждую гостевую ОС как системный процесс. </a:t>
            </a:r>
            <a:r>
              <a:rPr lang="ru-RU" b="0" i="0" dirty="0" err="1">
                <a:solidFill>
                  <a:srgbClr val="646464"/>
                </a:solidFill>
                <a:effectLst/>
                <a:latin typeface="Segoe UI" panose="020B0502040204020203" pitchFamily="34" charset="0"/>
              </a:rPr>
              <a:t>XenServer</a:t>
            </a:r>
            <a:r>
              <a:rPr lang="ru-RU" b="0" i="0" dirty="0">
                <a:solidFill>
                  <a:srgbClr val="646464"/>
                </a:solidFill>
                <a:effectLst/>
                <a:latin typeface="Segoe UI" panose="020B0502040204020203" pitchFamily="34" charset="0"/>
              </a:rPr>
              <a:t> и </a:t>
            </a:r>
            <a:r>
              <a:rPr lang="ru-RU" b="0" i="0" dirty="0" err="1">
                <a:solidFill>
                  <a:srgbClr val="646464"/>
                </a:solidFill>
                <a:effectLst/>
                <a:latin typeface="Segoe UI" panose="020B0502040204020203" pitchFamily="34" charset="0"/>
              </a:rPr>
              <a:t>VMWare</a:t>
            </a:r>
            <a:r>
              <a:rPr lang="ru-RU" b="0" i="0" dirty="0">
                <a:solidFill>
                  <a:srgbClr val="646464"/>
                </a:solidFill>
                <a:effectLst/>
                <a:latin typeface="Segoe UI" panose="020B0502040204020203" pitchFamily="34" charset="0"/>
              </a:rPr>
              <a:t> </a:t>
            </a:r>
            <a:r>
              <a:rPr lang="ru-RU" b="0" i="0" dirty="0" err="1">
                <a:solidFill>
                  <a:srgbClr val="646464"/>
                </a:solidFill>
                <a:effectLst/>
                <a:latin typeface="Segoe UI" panose="020B0502040204020203" pitchFamily="34" charset="0"/>
              </a:rPr>
              <a:t>ESXi</a:t>
            </a:r>
            <a:r>
              <a:rPr lang="ru-RU" b="0" i="0" dirty="0">
                <a:solidFill>
                  <a:srgbClr val="646464"/>
                </a:solidFill>
                <a:effectLst/>
                <a:latin typeface="Segoe UI" panose="020B0502040204020203" pitchFamily="34" charset="0"/>
              </a:rPr>
              <a:t> – яркие примеры современных гипервизоров Type-1. В последнее время использование термина «гипервизор» распространилось на все технологии виртуализации хостов, хотя раньше оно использовалось только для описания систем Type-1. Первоначально более общим термином, охватывающим все типы систем, был «Мониторы виртуальных машин». То, в какой степени люди используют термин «мониторы виртуальных машин» все это время, наводит меня на мысль, что они подразумевают «гипервизор» во всех его интерпретациях.</a:t>
            </a:r>
          </a:p>
        </p:txBody>
      </p:sp>
    </p:spTree>
    <p:extLst>
      <p:ext uri="{BB962C8B-B14F-4D97-AF65-F5344CB8AC3E}">
        <p14:creationId xmlns:p14="http://schemas.microsoft.com/office/powerpoint/2010/main" val="122122056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Архитектура гипервизора (Тип-1)">
            <a:extLst>
              <a:ext uri="{FF2B5EF4-FFF2-40B4-BE49-F238E27FC236}">
                <a16:creationId xmlns:a16="http://schemas.microsoft.com/office/drawing/2014/main" id="{59324453-582E-4E75-814F-0CAE755CA4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8288" y="876300"/>
            <a:ext cx="9115425" cy="510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59145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E80459-1673-4311-9D4D-D0BF5C3C3609}"/>
              </a:ext>
            </a:extLst>
          </p:cNvPr>
          <p:cNvSpPr txBox="1"/>
          <p:nvPr/>
        </p:nvSpPr>
        <p:spPr>
          <a:xfrm>
            <a:off x="408374" y="196140"/>
            <a:ext cx="11668217" cy="1200329"/>
          </a:xfrm>
          <a:prstGeom prst="rect">
            <a:avLst/>
          </a:prstGeom>
          <a:noFill/>
        </p:spPr>
        <p:txBody>
          <a:bodyPr wrap="square">
            <a:spAutoFit/>
          </a:bodyPr>
          <a:lstStyle/>
          <a:p>
            <a:pPr algn="l" fontAlgn="base">
              <a:buFont typeface="Arial" panose="020B0604020202020204" pitchFamily="34" charset="0"/>
              <a:buChar char="•"/>
            </a:pPr>
            <a:r>
              <a:rPr lang="ru-RU" b="1" i="0" dirty="0">
                <a:solidFill>
                  <a:srgbClr val="3C3B3B"/>
                </a:solidFill>
                <a:effectLst/>
                <a:latin typeface="inherit"/>
              </a:rPr>
              <a:t>Гипервизоры, размещенные на виртуальном узле (Type-2)</a:t>
            </a:r>
            <a:r>
              <a:rPr lang="ru-RU" b="0" i="0" dirty="0">
                <a:solidFill>
                  <a:srgbClr val="646464"/>
                </a:solidFill>
                <a:effectLst/>
                <a:latin typeface="Segoe UI" panose="020B0502040204020203" pitchFamily="34" charset="0"/>
              </a:rPr>
              <a:t> сами по себе являются просто процессами, работающими поверх обычного стека операционной системы. Гипервизоры Type-2 (включая </a:t>
            </a:r>
            <a:r>
              <a:rPr lang="ru-RU" b="0" i="0" dirty="0" err="1">
                <a:solidFill>
                  <a:srgbClr val="646464"/>
                </a:solidFill>
                <a:effectLst/>
                <a:latin typeface="Segoe UI" panose="020B0502040204020203" pitchFamily="34" charset="0"/>
              </a:rPr>
              <a:t>VirtualBox</a:t>
            </a:r>
            <a:r>
              <a:rPr lang="ru-RU" b="0" i="0" dirty="0">
                <a:solidFill>
                  <a:srgbClr val="646464"/>
                </a:solidFill>
                <a:effectLst/>
                <a:latin typeface="Segoe UI" panose="020B0502040204020203" pitchFamily="34" charset="0"/>
              </a:rPr>
              <a:t> и, в некотором роде, KVM) отделяют системные ресурсы хоста для гостевых операционных систем, создавая иллюзию частной аппаратной среды.</a:t>
            </a:r>
          </a:p>
        </p:txBody>
      </p:sp>
      <p:pic>
        <p:nvPicPr>
          <p:cNvPr id="4098" name="Picture 2" descr="Архитектура гипервизора (Тип-2)">
            <a:extLst>
              <a:ext uri="{FF2B5EF4-FFF2-40B4-BE49-F238E27FC236}">
                <a16:creationId xmlns:a16="http://schemas.microsoft.com/office/drawing/2014/main" id="{586CB267-22A5-4791-942A-CE84E0E8C9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5190" y="1751260"/>
            <a:ext cx="8582025" cy="4829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858394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3D9C4E-0613-4884-9506-AF80BCC9ACCE}"/>
              </a:ext>
            </a:extLst>
          </p:cNvPr>
          <p:cNvSpPr txBox="1"/>
          <p:nvPr/>
        </p:nvSpPr>
        <p:spPr>
          <a:xfrm>
            <a:off x="127247" y="273974"/>
            <a:ext cx="12064753" cy="6463308"/>
          </a:xfrm>
          <a:prstGeom prst="rect">
            <a:avLst/>
          </a:prstGeom>
          <a:noFill/>
        </p:spPr>
        <p:txBody>
          <a:bodyPr wrap="square">
            <a:spAutoFit/>
          </a:bodyPr>
          <a:lstStyle/>
          <a:p>
            <a:pPr algn="l" fontAlgn="base"/>
            <a:r>
              <a:rPr lang="ru-RU" b="1" i="0" cap="all" dirty="0">
                <a:solidFill>
                  <a:srgbClr val="3C3B3B"/>
                </a:solidFill>
                <a:effectLst/>
                <a:latin typeface="Segoe UI" panose="020B0502040204020203" pitchFamily="34" charset="0"/>
              </a:rPr>
              <a:t>ВИРТУАЛИЗАЦИЯ: ПАРАВИРТУАЛИЗАЦИЯ ИЛИ АППАРАТНАЯ ВИРТУАЛИЗАЦИЯ</a:t>
            </a:r>
          </a:p>
          <a:p>
            <a:pPr algn="l" fontAlgn="base"/>
            <a:r>
              <a:rPr lang="ru-RU" b="0" i="0" dirty="0">
                <a:solidFill>
                  <a:srgbClr val="646464"/>
                </a:solidFill>
                <a:effectLst/>
                <a:latin typeface="Segoe UI" panose="020B0502040204020203" pitchFamily="34" charset="0"/>
              </a:rPr>
              <a:t>Виртуальные машины полностью </a:t>
            </a:r>
            <a:r>
              <a:rPr lang="ru-RU" b="0" i="0" dirty="0" err="1">
                <a:solidFill>
                  <a:srgbClr val="646464"/>
                </a:solidFill>
                <a:effectLst/>
                <a:latin typeface="Segoe UI" panose="020B0502040204020203" pitchFamily="34" charset="0"/>
              </a:rPr>
              <a:t>виртуализированы</a:t>
            </a:r>
            <a:r>
              <a:rPr lang="ru-RU" b="0" i="0" dirty="0">
                <a:solidFill>
                  <a:srgbClr val="646464"/>
                </a:solidFill>
                <a:effectLst/>
                <a:latin typeface="Segoe UI" panose="020B0502040204020203" pitchFamily="34" charset="0"/>
              </a:rPr>
              <a:t>. Иными словами, они думают, что они обычные развертывания операционной системы, которые живут собственной счастливой жизнью на собственном оборудовании. Поскольку им не нужно взаимодействовать со своей средой как-то иначе, чем с автономной ОС, то они могут работать с готовыми </a:t>
            </a:r>
            <a:r>
              <a:rPr lang="ru-RU" b="0" i="0" dirty="0" err="1">
                <a:solidFill>
                  <a:srgbClr val="646464"/>
                </a:solidFill>
                <a:effectLst/>
                <a:latin typeface="Segoe UI" panose="020B0502040204020203" pitchFamily="34" charset="0"/>
              </a:rPr>
              <a:t>немодифицированными</a:t>
            </a:r>
            <a:r>
              <a:rPr lang="ru-RU" b="0" i="0" dirty="0">
                <a:solidFill>
                  <a:srgbClr val="646464"/>
                </a:solidFill>
                <a:effectLst/>
                <a:latin typeface="Segoe UI" panose="020B0502040204020203" pitchFamily="34" charset="0"/>
              </a:rPr>
              <a:t> программными стеками. Однако раньше за такое сходство приходилось платить, потому что преобразование аппаратных сигналов через уровень эмуляции занимало дополнительное время и циклы.</a:t>
            </a:r>
          </a:p>
          <a:p>
            <a:pPr algn="l" fontAlgn="base"/>
            <a:r>
              <a:rPr lang="ru-RU" b="0" i="0" dirty="0">
                <a:solidFill>
                  <a:srgbClr val="646464"/>
                </a:solidFill>
                <a:effectLst/>
                <a:latin typeface="Segoe UI" panose="020B0502040204020203" pitchFamily="34" charset="0"/>
              </a:rPr>
              <a:t>В случае с </a:t>
            </a:r>
            <a:r>
              <a:rPr lang="ru-RU" b="0" i="0" dirty="0" err="1">
                <a:solidFill>
                  <a:srgbClr val="646464"/>
                </a:solidFill>
                <a:effectLst/>
                <a:latin typeface="Segoe UI" panose="020B0502040204020203" pitchFamily="34" charset="0"/>
              </a:rPr>
              <a:t>паравиртуализацией</a:t>
            </a:r>
            <a:r>
              <a:rPr lang="ru-RU" b="0" i="0" dirty="0">
                <a:solidFill>
                  <a:srgbClr val="646464"/>
                </a:solidFill>
                <a:effectLst/>
                <a:latin typeface="Segoe UI" panose="020B0502040204020203" pitchFamily="34" charset="0"/>
              </a:rPr>
              <a:t> (PV – </a:t>
            </a:r>
            <a:r>
              <a:rPr lang="ru-RU" b="0" i="0" dirty="0" err="1">
                <a:solidFill>
                  <a:srgbClr val="646464"/>
                </a:solidFill>
                <a:effectLst/>
                <a:latin typeface="Segoe UI" panose="020B0502040204020203" pitchFamily="34" charset="0"/>
              </a:rPr>
              <a:t>Paravirtualization</a:t>
            </a:r>
            <a:r>
              <a:rPr lang="ru-RU" b="0" i="0" dirty="0">
                <a:solidFill>
                  <a:srgbClr val="646464"/>
                </a:solidFill>
                <a:effectLst/>
                <a:latin typeface="Segoe UI" panose="020B0502040204020203" pitchFamily="34" charset="0"/>
              </a:rPr>
              <a:t>) </a:t>
            </a:r>
            <a:r>
              <a:rPr lang="ru-RU" b="0" i="0" dirty="0" err="1">
                <a:solidFill>
                  <a:srgbClr val="646464"/>
                </a:solidFill>
                <a:effectLst/>
                <a:latin typeface="Segoe UI" panose="020B0502040204020203" pitchFamily="34" charset="0"/>
              </a:rPr>
              <a:t>паравиртуальные</a:t>
            </a:r>
            <a:r>
              <a:rPr lang="ru-RU" b="0" i="0" dirty="0">
                <a:solidFill>
                  <a:srgbClr val="646464"/>
                </a:solidFill>
                <a:effectLst/>
                <a:latin typeface="Segoe UI" panose="020B0502040204020203" pitchFamily="34" charset="0"/>
              </a:rPr>
              <a:t> гости хотя бы частично осведомлены о своей виртуальной среде, в том числе и том, что они используют аппаратные ресурсы совместно с другими виртуальными машинами. Эта осведомленность означает, что хостам PV не нужно эмулировать хранилище и сетевое оборудование, и делает доступными эффективные драйверы ввода-вывода. На первых порах это позволяло гипервизорам PV достигать более высокой производительности для операций, требующих подключения к аппаратным компонентам.</a:t>
            </a:r>
          </a:p>
          <a:p>
            <a:pPr algn="l" fontAlgn="base"/>
            <a:r>
              <a:rPr lang="ru-RU" b="0" i="0" dirty="0">
                <a:solidFill>
                  <a:srgbClr val="646464"/>
                </a:solidFill>
                <a:effectLst/>
                <a:latin typeface="Segoe UI" panose="020B0502040204020203" pitchFamily="34" charset="0"/>
              </a:rPr>
              <a:t>Тем не менее, для того, чтобы предоставить гостевой доступ к виртуальному кольцу 0 (т.е. кольцу -1), современные аппаратные платформы – и, в частности, архитектура </a:t>
            </a:r>
            <a:r>
              <a:rPr lang="ru-RU" b="0" i="0" dirty="0" err="1">
                <a:solidFill>
                  <a:srgbClr val="646464"/>
                </a:solidFill>
                <a:effectLst/>
                <a:latin typeface="Segoe UI" panose="020B0502040204020203" pitchFamily="34" charset="0"/>
              </a:rPr>
              <a:t>Intel</a:t>
            </a:r>
            <a:r>
              <a:rPr lang="ru-RU" b="0" i="0" dirty="0">
                <a:solidFill>
                  <a:srgbClr val="646464"/>
                </a:solidFill>
                <a:effectLst/>
                <a:latin typeface="Segoe UI" panose="020B0502040204020203" pitchFamily="34" charset="0"/>
              </a:rPr>
              <a:t> </a:t>
            </a:r>
            <a:r>
              <a:rPr lang="ru-RU" b="0" i="0" dirty="0" err="1">
                <a:solidFill>
                  <a:srgbClr val="646464"/>
                </a:solidFill>
                <a:effectLst/>
                <a:latin typeface="Segoe UI" panose="020B0502040204020203" pitchFamily="34" charset="0"/>
              </a:rPr>
              <a:t>Ivy</a:t>
            </a:r>
            <a:r>
              <a:rPr lang="ru-RU" b="0" i="0" dirty="0">
                <a:solidFill>
                  <a:srgbClr val="646464"/>
                </a:solidFill>
                <a:effectLst/>
                <a:latin typeface="Segoe UI" panose="020B0502040204020203" pitchFamily="34" charset="0"/>
              </a:rPr>
              <a:t> </a:t>
            </a:r>
            <a:r>
              <a:rPr lang="ru-RU" b="0" i="0" dirty="0" err="1">
                <a:solidFill>
                  <a:srgbClr val="646464"/>
                </a:solidFill>
                <a:effectLst/>
                <a:latin typeface="Segoe UI" panose="020B0502040204020203" pitchFamily="34" charset="0"/>
              </a:rPr>
              <a:t>Bridge</a:t>
            </a:r>
            <a:r>
              <a:rPr lang="ru-RU" b="0" i="0" dirty="0">
                <a:solidFill>
                  <a:srgbClr val="646464"/>
                </a:solidFill>
                <a:effectLst/>
                <a:latin typeface="Segoe UI" panose="020B0502040204020203" pitchFamily="34" charset="0"/>
              </a:rPr>
              <a:t> – представили новую библиотеку наборов инструкций ЦП, которая позволила аппаратной виртуализации (HVM – </a:t>
            </a:r>
            <a:r>
              <a:rPr lang="ru-RU" b="0" i="0" dirty="0" err="1">
                <a:solidFill>
                  <a:srgbClr val="646464"/>
                </a:solidFill>
                <a:effectLst/>
                <a:latin typeface="Segoe UI" panose="020B0502040204020203" pitchFamily="34" charset="0"/>
              </a:rPr>
              <a:t>Hardware</a:t>
            </a:r>
            <a:r>
              <a:rPr lang="ru-RU" b="0" i="0" dirty="0">
                <a:solidFill>
                  <a:srgbClr val="646464"/>
                </a:solidFill>
                <a:effectLst/>
                <a:latin typeface="Segoe UI" panose="020B0502040204020203" pitchFamily="34" charset="0"/>
              </a:rPr>
              <a:t> </a:t>
            </a:r>
            <a:r>
              <a:rPr lang="ru-RU" b="0" i="0" dirty="0" err="1">
                <a:solidFill>
                  <a:srgbClr val="646464"/>
                </a:solidFill>
                <a:effectLst/>
                <a:latin typeface="Segoe UI" panose="020B0502040204020203" pitchFamily="34" charset="0"/>
              </a:rPr>
              <a:t>Virtual</a:t>
            </a:r>
            <a:r>
              <a:rPr lang="ru-RU" b="0" i="0" dirty="0">
                <a:solidFill>
                  <a:srgbClr val="646464"/>
                </a:solidFill>
                <a:effectLst/>
                <a:latin typeface="Segoe UI" panose="020B0502040204020203" pitchFamily="34" charset="0"/>
              </a:rPr>
              <a:t> </a:t>
            </a:r>
            <a:r>
              <a:rPr lang="ru-RU" b="0" i="0" dirty="0" err="1">
                <a:solidFill>
                  <a:srgbClr val="646464"/>
                </a:solidFill>
                <a:effectLst/>
                <a:latin typeface="Segoe UI" panose="020B0502040204020203" pitchFamily="34" charset="0"/>
              </a:rPr>
              <a:t>Machine</a:t>
            </a:r>
            <a:r>
              <a:rPr lang="ru-RU" b="0" i="0" dirty="0">
                <a:solidFill>
                  <a:srgbClr val="646464"/>
                </a:solidFill>
                <a:effectLst/>
                <a:latin typeface="Segoe UI" panose="020B0502040204020203" pitchFamily="34" charset="0"/>
              </a:rPr>
              <a:t>) обойти узкое место, связанное с ловушкой и эмуляцией, и в полной мере воспользоваться преимуществами аппаратных расширений и </a:t>
            </a:r>
            <a:r>
              <a:rPr lang="ru-RU" b="0" i="0" dirty="0" err="1">
                <a:solidFill>
                  <a:srgbClr val="646464"/>
                </a:solidFill>
                <a:effectLst/>
                <a:latin typeface="Segoe UI" panose="020B0502040204020203" pitchFamily="34" charset="0"/>
              </a:rPr>
              <a:t>немодифицированных</a:t>
            </a:r>
            <a:r>
              <a:rPr lang="ru-RU" b="0" i="0" dirty="0">
                <a:solidFill>
                  <a:srgbClr val="646464"/>
                </a:solidFill>
                <a:effectLst/>
                <a:latin typeface="Segoe UI" panose="020B0502040204020203" pitchFamily="34" charset="0"/>
              </a:rPr>
              <a:t> операций ядра программного обеспечения.</a:t>
            </a:r>
          </a:p>
          <a:p>
            <a:pPr algn="l" fontAlgn="base"/>
            <a:r>
              <a:rPr lang="ru-RU" b="0" i="0" dirty="0">
                <a:solidFill>
                  <a:srgbClr val="646464"/>
                </a:solidFill>
                <a:effectLst/>
                <a:latin typeface="Segoe UI" panose="020B0502040204020203" pitchFamily="34" charset="0"/>
              </a:rPr>
              <a:t>Также значительно повысить производительность виртуализации может последняя технология </a:t>
            </a:r>
            <a:r>
              <a:rPr lang="ru-RU" b="0" i="0" dirty="0" err="1">
                <a:solidFill>
                  <a:srgbClr val="646464"/>
                </a:solidFill>
                <a:effectLst/>
                <a:latin typeface="Segoe UI" panose="020B0502040204020203" pitchFamily="34" charset="0"/>
              </a:rPr>
              <a:t>Intel</a:t>
            </a:r>
            <a:r>
              <a:rPr lang="ru-RU" b="0" i="0" dirty="0">
                <a:solidFill>
                  <a:srgbClr val="646464"/>
                </a:solidFill>
                <a:effectLst/>
                <a:latin typeface="Segoe UI" panose="020B0502040204020203" pitchFamily="34" charset="0"/>
              </a:rPr>
              <a:t> – таблицы расширенных страниц (EPT – </a:t>
            </a:r>
            <a:r>
              <a:rPr lang="ru-RU" b="0" i="0" dirty="0" err="1">
                <a:solidFill>
                  <a:srgbClr val="646464"/>
                </a:solidFill>
                <a:effectLst/>
                <a:latin typeface="Segoe UI" panose="020B0502040204020203" pitchFamily="34" charset="0"/>
              </a:rPr>
              <a:t>Extended</a:t>
            </a:r>
            <a:r>
              <a:rPr lang="ru-RU" b="0" i="0" dirty="0">
                <a:solidFill>
                  <a:srgbClr val="646464"/>
                </a:solidFill>
                <a:effectLst/>
                <a:latin typeface="Segoe UI" panose="020B0502040204020203" pitchFamily="34" charset="0"/>
              </a:rPr>
              <a:t> </a:t>
            </a:r>
            <a:r>
              <a:rPr lang="ru-RU" b="0" i="0" dirty="0" err="1">
                <a:solidFill>
                  <a:srgbClr val="646464"/>
                </a:solidFill>
                <a:effectLst/>
                <a:latin typeface="Segoe UI" panose="020B0502040204020203" pitchFamily="34" charset="0"/>
              </a:rPr>
              <a:t>Page</a:t>
            </a:r>
            <a:r>
              <a:rPr lang="ru-RU" b="0" i="0" dirty="0">
                <a:solidFill>
                  <a:srgbClr val="646464"/>
                </a:solidFill>
                <a:effectLst/>
                <a:latin typeface="Segoe UI" panose="020B0502040204020203" pitchFamily="34" charset="0"/>
              </a:rPr>
              <a:t> </a:t>
            </a:r>
            <a:r>
              <a:rPr lang="ru-RU" b="0" i="0" dirty="0" err="1">
                <a:solidFill>
                  <a:srgbClr val="646464"/>
                </a:solidFill>
                <a:effectLst/>
                <a:latin typeface="Segoe UI" panose="020B0502040204020203" pitchFamily="34" charset="0"/>
              </a:rPr>
              <a:t>Tables</a:t>
            </a:r>
            <a:r>
              <a:rPr lang="ru-RU" b="0" i="0" dirty="0">
                <a:solidFill>
                  <a:srgbClr val="646464"/>
                </a:solidFill>
                <a:effectLst/>
                <a:latin typeface="Segoe UI" panose="020B0502040204020203" pitchFamily="34" charset="0"/>
              </a:rPr>
              <a:t>).</a:t>
            </a:r>
          </a:p>
          <a:p>
            <a:pPr algn="l" fontAlgn="base"/>
            <a:r>
              <a:rPr lang="ru-RU" b="0" i="0" dirty="0">
                <a:solidFill>
                  <a:srgbClr val="646464"/>
                </a:solidFill>
                <a:effectLst/>
                <a:latin typeface="Segoe UI" panose="020B0502040204020203" pitchFamily="34" charset="0"/>
              </a:rPr>
              <a:t>В связи с этим, в большинстве случаев можно обнаружить, что HVM обеспечивает более высокую производительность, переносимость и совместимость.</a:t>
            </a:r>
          </a:p>
        </p:txBody>
      </p:sp>
    </p:spTree>
    <p:extLst>
      <p:ext uri="{BB962C8B-B14F-4D97-AF65-F5344CB8AC3E}">
        <p14:creationId xmlns:p14="http://schemas.microsoft.com/office/powerpoint/2010/main" val="278245521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0EF4A1-502F-47C1-AD31-E8FEB4EED1D0}"/>
              </a:ext>
            </a:extLst>
          </p:cNvPr>
          <p:cNvSpPr txBox="1"/>
          <p:nvPr/>
        </p:nvSpPr>
        <p:spPr>
          <a:xfrm>
            <a:off x="301841" y="85946"/>
            <a:ext cx="11168109" cy="3416320"/>
          </a:xfrm>
          <a:prstGeom prst="rect">
            <a:avLst/>
          </a:prstGeom>
          <a:noFill/>
        </p:spPr>
        <p:txBody>
          <a:bodyPr wrap="square">
            <a:spAutoFit/>
          </a:bodyPr>
          <a:lstStyle/>
          <a:p>
            <a:pPr algn="l" fontAlgn="base"/>
            <a:r>
              <a:rPr lang="ru-RU" b="1" i="0" cap="all" dirty="0">
                <a:solidFill>
                  <a:srgbClr val="3C3B3B"/>
                </a:solidFill>
                <a:effectLst/>
                <a:latin typeface="Segoe UI" panose="020B0502040204020203" pitchFamily="34" charset="0"/>
              </a:rPr>
              <a:t>КОНТЕЙНЕРНАЯ ВИРТУАЛИЗАЦИЯ</a:t>
            </a:r>
          </a:p>
          <a:p>
            <a:pPr algn="l" fontAlgn="base"/>
            <a:r>
              <a:rPr lang="ru-RU" b="0" i="0" dirty="0">
                <a:solidFill>
                  <a:srgbClr val="646464"/>
                </a:solidFill>
                <a:effectLst/>
                <a:latin typeface="Segoe UI" panose="020B0502040204020203" pitchFamily="34" charset="0"/>
              </a:rPr>
              <a:t>Как мы уже видели ранее, виртуальная машина гипервизора – это полноценная операционная система, чья связь с аппаратными ресурсами «основополагающей четверки» полностью </a:t>
            </a:r>
            <a:r>
              <a:rPr lang="ru-RU" b="0" i="0" dirty="0" err="1">
                <a:solidFill>
                  <a:srgbClr val="646464"/>
                </a:solidFill>
                <a:effectLst/>
                <a:latin typeface="Segoe UI" panose="020B0502040204020203" pitchFamily="34" charset="0"/>
              </a:rPr>
              <a:t>виртуализирована</a:t>
            </a:r>
            <a:r>
              <a:rPr lang="ru-RU" b="0" i="0" dirty="0">
                <a:solidFill>
                  <a:srgbClr val="646464"/>
                </a:solidFill>
                <a:effectLst/>
                <a:latin typeface="Segoe UI" panose="020B0502040204020203" pitchFamily="34" charset="0"/>
              </a:rPr>
              <a:t> – она думает, что работает на собственном компьютере.</a:t>
            </a:r>
          </a:p>
          <a:p>
            <a:pPr algn="l" fontAlgn="base"/>
            <a:r>
              <a:rPr lang="ru-RU" b="0" i="0" dirty="0">
                <a:solidFill>
                  <a:srgbClr val="646464"/>
                </a:solidFill>
                <a:effectLst/>
                <a:latin typeface="Segoe UI" panose="020B0502040204020203" pitchFamily="34" charset="0"/>
              </a:rPr>
              <a:t>Гипервизор устанавливает виртуальную машину из того же ISO-образа, который вы загружаете и используете для установки операционной системы непосредственно на пустой физический жесткий диск.</a:t>
            </a:r>
          </a:p>
          <a:p>
            <a:pPr algn="l" fontAlgn="base"/>
            <a:r>
              <a:rPr lang="ru-RU" b="0" i="0" dirty="0">
                <a:solidFill>
                  <a:srgbClr val="646464"/>
                </a:solidFill>
                <a:effectLst/>
                <a:latin typeface="Segoe UI" panose="020B0502040204020203" pitchFamily="34" charset="0"/>
              </a:rPr>
              <a:t>Контейнер в свою очередь фактически представляет собой приложение, запускаемое из </a:t>
            </a:r>
            <a:r>
              <a:rPr lang="ru-RU" b="0" i="0" dirty="0" err="1">
                <a:solidFill>
                  <a:srgbClr val="646464"/>
                </a:solidFill>
                <a:effectLst/>
                <a:latin typeface="Segoe UI" panose="020B0502040204020203" pitchFamily="34" charset="0"/>
              </a:rPr>
              <a:t>скриптообразного</a:t>
            </a:r>
            <a:r>
              <a:rPr lang="ru-RU" b="0" i="0" dirty="0">
                <a:solidFill>
                  <a:srgbClr val="646464"/>
                </a:solidFill>
                <a:effectLst/>
                <a:latin typeface="Segoe UI" panose="020B0502040204020203" pitchFamily="34" charset="0"/>
              </a:rPr>
              <a:t> шаблона, которое считает себя операционной системой. В контейнерных технологиях, таких как LXC и </a:t>
            </a:r>
            <a:r>
              <a:rPr lang="ru-RU" b="0" i="0" u="none" strike="noStrike" dirty="0" err="1">
                <a:solidFill>
                  <a:srgbClr val="646464"/>
                </a:solidFill>
                <a:effectLst/>
                <a:latin typeface="Segoe UI" panose="020B0502040204020203" pitchFamily="34" charset="0"/>
                <a:hlinkClick r:id="rId2"/>
              </a:rPr>
              <a:t>Docker</a:t>
            </a:r>
            <a:r>
              <a:rPr lang="ru-RU" b="0" i="0" dirty="0">
                <a:solidFill>
                  <a:srgbClr val="646464"/>
                </a:solidFill>
                <a:effectLst/>
                <a:latin typeface="Segoe UI" panose="020B0502040204020203" pitchFamily="34" charset="0"/>
              </a:rPr>
              <a:t>, контейнеры – это не что иное, как программные и ресурсные (файлы, процессы, пользователи) средства, которые зависят от ядра хоста и представления аппаратных ресурсов «основополагающей четверки» (т.е. ЦП, ОЗУ, сеть и хранилище) для всего, то они делают.</a:t>
            </a:r>
          </a:p>
        </p:txBody>
      </p:sp>
    </p:spTree>
    <p:extLst>
      <p:ext uri="{BB962C8B-B14F-4D97-AF65-F5344CB8AC3E}">
        <p14:creationId xmlns:p14="http://schemas.microsoft.com/office/powerpoint/2010/main" val="444923174"/>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Архитектура контейнера">
            <a:extLst>
              <a:ext uri="{FF2B5EF4-FFF2-40B4-BE49-F238E27FC236}">
                <a16:creationId xmlns:a16="http://schemas.microsoft.com/office/drawing/2014/main" id="{48F5430A-E939-40C1-A0C6-B3DCD7EDAF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1163" y="976313"/>
            <a:ext cx="8829675" cy="4905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95031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6735</TotalTime>
  <Words>22908</Words>
  <Application>Microsoft Office PowerPoint</Application>
  <PresentationFormat>Широкоэкранный</PresentationFormat>
  <Paragraphs>1052</Paragraphs>
  <Slides>212</Slides>
  <Notes>0</Notes>
  <HiddenSlides>0</HiddenSlides>
  <MMClips>0</MMClips>
  <ScaleCrop>false</ScaleCrop>
  <HeadingPairs>
    <vt:vector size="6" baseType="variant">
      <vt:variant>
        <vt:lpstr>Использованные шрифты</vt:lpstr>
      </vt:variant>
      <vt:variant>
        <vt:i4>21</vt:i4>
      </vt:variant>
      <vt:variant>
        <vt:lpstr>Тема</vt:lpstr>
      </vt:variant>
      <vt:variant>
        <vt:i4>1</vt:i4>
      </vt:variant>
      <vt:variant>
        <vt:lpstr>Заголовки слайдов</vt:lpstr>
      </vt:variant>
      <vt:variant>
        <vt:i4>212</vt:i4>
      </vt:variant>
    </vt:vector>
  </HeadingPairs>
  <TitlesOfParts>
    <vt:vector size="234" baseType="lpstr">
      <vt:lpstr>Arial</vt:lpstr>
      <vt:lpstr>Arial</vt:lpstr>
      <vt:lpstr>Arial Narrow</vt:lpstr>
      <vt:lpstr>Calibri</vt:lpstr>
      <vt:lpstr>Calibri Light</vt:lpstr>
      <vt:lpstr>Consolas</vt:lpstr>
      <vt:lpstr>georgia</vt:lpstr>
      <vt:lpstr>georgia</vt:lpstr>
      <vt:lpstr>georgia, serif</vt:lpstr>
      <vt:lpstr>inherit</vt:lpstr>
      <vt:lpstr>Merriweather</vt:lpstr>
      <vt:lpstr>Roboto Slab</vt:lpstr>
      <vt:lpstr>Segoe UI</vt:lpstr>
      <vt:lpstr>SymbolMT</vt:lpstr>
      <vt:lpstr>Times New Roman</vt:lpstr>
      <vt:lpstr>TimesNewRomanPS-BoldItalicMT</vt:lpstr>
      <vt:lpstr>TimesNewRomanPS-BoldMT</vt:lpstr>
      <vt:lpstr>TimesNewRomanPS-ItalicMT</vt:lpstr>
      <vt:lpstr>TimesNewRomanPSMT</vt:lpstr>
      <vt:lpstr>TT Norms Pro</vt:lpstr>
      <vt:lpstr>Verdana</vt:lpstr>
      <vt:lpstr>Тема Office</vt:lpstr>
      <vt:lpstr>Технологии разработки и тестирования программного обеспечения</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Процессы тестирования и разработки ПО</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 Интегрированная среда разработки - Integrated development environment (IDE) Основные компоненты IDE</vt:lpstr>
      <vt:lpstr>Презентация PowerPoint</vt:lpstr>
      <vt:lpstr>Презентация PowerPoint</vt:lpstr>
      <vt:lpstr>Презентация PowerPoint</vt:lpstr>
      <vt:lpstr>Презентация PowerPoint</vt:lpstr>
      <vt:lpstr>Логическая структура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Секции Git-проекта</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УРОВНИ ТЕСТИРОВАНИЯ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Технологии разработки и тестирования программного обеспечения</dc:title>
  <dc:creator>Yury Smirnou</dc:creator>
  <cp:lastModifiedBy>Yury Smirnou</cp:lastModifiedBy>
  <cp:revision>101</cp:revision>
  <dcterms:created xsi:type="dcterms:W3CDTF">2022-09-05T08:27:34Z</dcterms:created>
  <dcterms:modified xsi:type="dcterms:W3CDTF">2023-11-27T14:11:02Z</dcterms:modified>
</cp:coreProperties>
</file>