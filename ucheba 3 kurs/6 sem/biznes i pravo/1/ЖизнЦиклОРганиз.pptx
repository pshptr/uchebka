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13"/>
  </p:notesMasterIdLst>
  <p:sldIdLst>
    <p:sldId id="258" r:id="rId3"/>
    <p:sldId id="274" r:id="rId4"/>
    <p:sldId id="277" r:id="rId5"/>
    <p:sldId id="268" r:id="rId6"/>
    <p:sldId id="263" r:id="rId7"/>
    <p:sldId id="303" r:id="rId8"/>
    <p:sldId id="275" r:id="rId9"/>
    <p:sldId id="276" r:id="rId10"/>
    <p:sldId id="260" r:id="rId11"/>
    <p:sldId id="3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20F5A1-4513-4332-AA71-045A6A7BCE03}">
          <p14:sldIdLst>
            <p14:sldId id="258"/>
            <p14:sldId id="274"/>
            <p14:sldId id="277"/>
            <p14:sldId id="268"/>
            <p14:sldId id="263"/>
            <p14:sldId id="303"/>
          </p14:sldIdLst>
        </p14:section>
        <p14:section name="TimeLine" id="{6E5B4B3F-92D4-476B-9C41-E1990DD46AA5}">
          <p14:sldIdLst>
            <p14:sldId id="275"/>
            <p14:sldId id="276"/>
          </p14:sldIdLst>
        </p14:section>
        <p14:section name="Team" id="{DF55028D-641F-42E7-8BD1-7EDCC5891769}">
          <p14:sldIdLst>
            <p14:sldId id="260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F"/>
    <a:srgbClr val="FFFFFF"/>
    <a:srgbClr val="0056FC"/>
    <a:srgbClr val="0669FB"/>
    <a:srgbClr val="1983F5"/>
    <a:srgbClr val="52B8D1"/>
    <a:srgbClr val="66CF9E"/>
    <a:srgbClr val="AD329E"/>
    <a:srgbClr val="039BDF"/>
    <a:srgbClr val="ED1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4" autoAdjust="0"/>
    <p:restoredTop sz="94715"/>
  </p:normalViewPr>
  <p:slideViewPr>
    <p:cSldViewPr snapToGrid="0" showGuides="1">
      <p:cViewPr>
        <p:scale>
          <a:sx n="50" d="100"/>
          <a:sy n="50" d="100"/>
        </p:scale>
        <p:origin x="2016" y="1712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F834F-76F6-46C3-88EB-019D4215A18A}" type="datetimeFigureOut">
              <a:rPr lang="en-US" smtClean="0"/>
              <a:t>3/18/24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3567C-B9E0-4979-A31A-8B1E36BEC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4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32D030-31C0-4D7E-A65B-AC5D90755872}"/>
              </a:ext>
            </a:extLst>
          </p:cNvPr>
          <p:cNvSpPr/>
          <p:nvPr userDrawn="1"/>
        </p:nvSpPr>
        <p:spPr>
          <a:xfrm>
            <a:off x="2395109" y="4387820"/>
            <a:ext cx="6800578" cy="2470181"/>
          </a:xfrm>
          <a:custGeom>
            <a:avLst/>
            <a:gdLst>
              <a:gd name="connsiteX0" fmla="*/ 3758495 w 6800578"/>
              <a:gd name="connsiteY0" fmla="*/ 0 h 2470181"/>
              <a:gd name="connsiteX1" fmla="*/ 5957781 w 6800578"/>
              <a:gd name="connsiteY1" fmla="*/ 910974 h 2470181"/>
              <a:gd name="connsiteX2" fmla="*/ 6740649 w 6800578"/>
              <a:gd name="connsiteY2" fmla="*/ 2224727 h 2470181"/>
              <a:gd name="connsiteX3" fmla="*/ 6800578 w 6800578"/>
              <a:gd name="connsiteY3" fmla="*/ 2470181 h 2470181"/>
              <a:gd name="connsiteX4" fmla="*/ 0 w 6800578"/>
              <a:gd name="connsiteY4" fmla="*/ 2470181 h 2470181"/>
              <a:gd name="connsiteX5" fmla="*/ 1559208 w 6800578"/>
              <a:gd name="connsiteY5" fmla="*/ 910974 h 2470181"/>
              <a:gd name="connsiteX6" fmla="*/ 3758495 w 6800578"/>
              <a:gd name="connsiteY6" fmla="*/ 0 h 247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00578" h="2470181">
                <a:moveTo>
                  <a:pt x="3758495" y="0"/>
                </a:moveTo>
                <a:cubicBezTo>
                  <a:pt x="4554479" y="0"/>
                  <a:pt x="5350464" y="303658"/>
                  <a:pt x="5957781" y="910974"/>
                </a:cubicBezTo>
                <a:cubicBezTo>
                  <a:pt x="6337353" y="1290547"/>
                  <a:pt x="6598309" y="1743818"/>
                  <a:pt x="6740649" y="2224727"/>
                </a:cubicBezTo>
                <a:lnTo>
                  <a:pt x="6800578" y="2470181"/>
                </a:lnTo>
                <a:lnTo>
                  <a:pt x="0" y="2470181"/>
                </a:lnTo>
                <a:lnTo>
                  <a:pt x="1559208" y="910974"/>
                </a:lnTo>
                <a:cubicBezTo>
                  <a:pt x="2166524" y="303658"/>
                  <a:pt x="2962509" y="0"/>
                  <a:pt x="375849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29358E-49A2-4E97-A5F1-2A1A1FDDB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468559"/>
            <a:ext cx="10134601" cy="1758109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612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219 0.37153 L -6.25E-7 2.59259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9" y="-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F3A2-367D-49A0-B746-5038CF8F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808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F3A2-367D-49A0-B746-5038CF8F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B5CFFB-1C1D-4062-B82C-9B62D0B118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17453" y="1562100"/>
            <a:ext cx="3087757" cy="5295900"/>
          </a:xfrm>
          <a:custGeom>
            <a:avLst/>
            <a:gdLst>
              <a:gd name="connsiteX0" fmla="*/ 224974 w 3087757"/>
              <a:gd name="connsiteY0" fmla="*/ 0 h 5295900"/>
              <a:gd name="connsiteX1" fmla="*/ 3087757 w 3087757"/>
              <a:gd name="connsiteY1" fmla="*/ 0 h 5295900"/>
              <a:gd name="connsiteX2" fmla="*/ 3087757 w 3087757"/>
              <a:gd name="connsiteY2" fmla="*/ 5295900 h 5295900"/>
              <a:gd name="connsiteX3" fmla="*/ 0 w 3087757"/>
              <a:gd name="connsiteY3" fmla="*/ 5295900 h 5295900"/>
              <a:gd name="connsiteX4" fmla="*/ 0 w 3087757"/>
              <a:gd name="connsiteY4" fmla="*/ 224974 h 5295900"/>
              <a:gd name="connsiteX5" fmla="*/ 224974 w 3087757"/>
              <a:gd name="connsiteY5" fmla="*/ 0 h 529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87757" h="5295900">
                <a:moveTo>
                  <a:pt x="224974" y="0"/>
                </a:moveTo>
                <a:lnTo>
                  <a:pt x="3087757" y="0"/>
                </a:lnTo>
                <a:lnTo>
                  <a:pt x="3087757" y="5295900"/>
                </a:lnTo>
                <a:lnTo>
                  <a:pt x="0" y="5295900"/>
                </a:lnTo>
                <a:lnTo>
                  <a:pt x="0" y="224974"/>
                </a:lnTo>
                <a:cubicBezTo>
                  <a:pt x="0" y="100724"/>
                  <a:pt x="100724" y="0"/>
                  <a:pt x="22497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wrap="square" anchor="ctr">
            <a:no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2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4EE4-DEA0-40ED-9EBF-6FB50F61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97484E3-B20B-4569-B14E-8E995BF4BE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1892" y="1795565"/>
            <a:ext cx="1408079" cy="1399971"/>
          </a:xfrm>
          <a:prstGeom prst="roundRect">
            <a:avLst>
              <a:gd name="adj" fmla="val 10413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0EEE8106-DD7C-44B6-81A2-00EFCB8360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56735" y="1795565"/>
            <a:ext cx="1408079" cy="1399971"/>
          </a:xfrm>
          <a:prstGeom prst="roundRect">
            <a:avLst>
              <a:gd name="adj" fmla="val 10413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9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4EE4-DEA0-40ED-9EBF-6FB50F61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97484E3-B20B-4569-B14E-8E995BF4BE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1892" y="1795565"/>
            <a:ext cx="1408079" cy="1399971"/>
          </a:xfrm>
          <a:prstGeom prst="roundRect">
            <a:avLst>
              <a:gd name="adj" fmla="val 10413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0EEE8106-DD7C-44B6-81A2-00EFCB8360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56735" y="1795565"/>
            <a:ext cx="1408079" cy="1399971"/>
          </a:xfrm>
          <a:prstGeom prst="roundRect">
            <a:avLst>
              <a:gd name="adj" fmla="val 10413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  <a:effectLst/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13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3D90-0CE4-49F6-B493-9AD83267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533400"/>
            <a:ext cx="3781584" cy="154724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7A3B7430-24BB-4190-A1C2-AD10B3DC9E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699" y="2080647"/>
            <a:ext cx="1828800" cy="1828800"/>
          </a:xfrm>
          <a:prstGeom prst="roundRect">
            <a:avLst>
              <a:gd name="adj" fmla="val 13701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58F65F93-E388-4E93-90D9-3548F1552F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81485" y="2080647"/>
            <a:ext cx="1828800" cy="2601132"/>
          </a:xfrm>
          <a:prstGeom prst="roundRect">
            <a:avLst>
              <a:gd name="adj" fmla="val 14125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FABAE3D-61F4-46A0-8222-345BCB7D6C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34271" y="2080647"/>
            <a:ext cx="2606040" cy="2601132"/>
          </a:xfrm>
          <a:prstGeom prst="roundRect">
            <a:avLst>
              <a:gd name="adj" fmla="val 10858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B6FD721E-420B-418A-8AB8-3DC9B9FFD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4297" y="2080647"/>
            <a:ext cx="1322522" cy="1322522"/>
          </a:xfrm>
          <a:prstGeom prst="roundRect">
            <a:avLst>
              <a:gd name="adj" fmla="val 20476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7EAB9196-7EBB-434E-A616-F8FDD716285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10805" y="2080647"/>
            <a:ext cx="2052494" cy="2601132"/>
          </a:xfrm>
          <a:prstGeom prst="roundRect">
            <a:avLst>
              <a:gd name="adj" fmla="val 13835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82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title with right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F3A2-367D-49A0-B746-5038CF8F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0D0011C-CA70-416B-8E56-543BC1F6B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04242" y="0"/>
            <a:ext cx="3087757" cy="68580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  <p:txBody>
          <a:bodyPr wrap="square" anchor="ctr">
            <a:noAutofit/>
          </a:bodyPr>
          <a:lstStyle>
            <a:lvl1pPr algn="ctr"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9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73F36-8DCF-44D1-AAC1-8C35AB78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33400"/>
            <a:ext cx="10134601" cy="10286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D7FFB-2B49-4290-BE12-0770B59C3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99" y="1562100"/>
            <a:ext cx="10134601" cy="47243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AA74D3-E2FB-432A-B0D7-30229C880941}"/>
              </a:ext>
            </a:extLst>
          </p:cNvPr>
          <p:cNvCxnSpPr>
            <a:cxnSpLocks/>
          </p:cNvCxnSpPr>
          <p:nvPr userDrawn="1"/>
        </p:nvCxnSpPr>
        <p:spPr>
          <a:xfrm>
            <a:off x="1042347" y="22747"/>
            <a:ext cx="1565841" cy="0"/>
          </a:xfrm>
          <a:prstGeom prst="line">
            <a:avLst/>
          </a:prstGeom>
          <a:ln w="508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4119B5-58B1-4925-9E4F-6F6870001A19}"/>
              </a:ext>
            </a:extLst>
          </p:cNvPr>
          <p:cNvSpPr/>
          <p:nvPr userDrawn="1"/>
        </p:nvSpPr>
        <p:spPr>
          <a:xfrm>
            <a:off x="796567" y="-351367"/>
            <a:ext cx="2057399" cy="225535"/>
          </a:xfrm>
          <a:prstGeom prst="rect">
            <a:avLst/>
          </a:prstGeom>
          <a:ln>
            <a:noFill/>
          </a:ln>
          <a:effectLst>
            <a:outerShdw blurRad="508000" dist="3810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8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62" r:id="rId3"/>
    <p:sldLayoutId id="2147483653" r:id="rId4"/>
    <p:sldLayoutId id="2147483714" r:id="rId5"/>
    <p:sldLayoutId id="2147483661" r:id="rId6"/>
    <p:sldLayoutId id="2147483681" r:id="rId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16667E-7 2.22222E-6 L 4.16667E-7 -0.0532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6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7" grpId="1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" userDrawn="1">
          <p15:clr>
            <a:srgbClr val="F26B43"/>
          </p15:clr>
        </p15:guide>
        <p15:guide id="2" pos="648" userDrawn="1">
          <p15:clr>
            <a:srgbClr val="F26B43"/>
          </p15:clr>
        </p15:guide>
        <p15:guide id="3" pos="7032" userDrawn="1">
          <p15:clr>
            <a:srgbClr val="F26B43"/>
          </p15:clr>
        </p15:guide>
        <p15:guide id="4" orient="horz" pos="3960" userDrawn="1">
          <p15:clr>
            <a:srgbClr val="F26B43"/>
          </p15:clr>
        </p15:guide>
        <p15:guide id="5" orient="horz" pos="9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73F36-8DCF-44D1-AAC1-8C35AB78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33400"/>
            <a:ext cx="10134601" cy="10286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D7FFB-2B49-4290-BE12-0770B59C3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99" y="1562100"/>
            <a:ext cx="10134601" cy="47243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AA74D3-E2FB-432A-B0D7-30229C880941}"/>
              </a:ext>
            </a:extLst>
          </p:cNvPr>
          <p:cNvCxnSpPr>
            <a:cxnSpLocks/>
          </p:cNvCxnSpPr>
          <p:nvPr userDrawn="1"/>
        </p:nvCxnSpPr>
        <p:spPr>
          <a:xfrm>
            <a:off x="5313080" y="22747"/>
            <a:ext cx="1565841" cy="0"/>
          </a:xfrm>
          <a:prstGeom prst="line">
            <a:avLst/>
          </a:prstGeom>
          <a:ln w="508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4119B5-58B1-4925-9E4F-6F6870001A19}"/>
              </a:ext>
            </a:extLst>
          </p:cNvPr>
          <p:cNvSpPr/>
          <p:nvPr userDrawn="1"/>
        </p:nvSpPr>
        <p:spPr>
          <a:xfrm>
            <a:off x="5067300" y="-351367"/>
            <a:ext cx="2057399" cy="225535"/>
          </a:xfrm>
          <a:prstGeom prst="rect">
            <a:avLst/>
          </a:prstGeom>
          <a:ln>
            <a:noFill/>
          </a:ln>
          <a:effectLst>
            <a:outerShdw blurRad="508000" dist="381000" dir="540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19077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accel="50000" decel="50000" autoRev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2.22222E-6 L 0 -0.0532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6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7" grpId="1" animBg="1"/>
    </p:bld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">
          <p15:clr>
            <a:srgbClr val="F26B43"/>
          </p15:clr>
        </p15:guide>
        <p15:guide id="2" pos="648">
          <p15:clr>
            <a:srgbClr val="F26B43"/>
          </p15:clr>
        </p15:guide>
        <p15:guide id="3" pos="7032">
          <p15:clr>
            <a:srgbClr val="F26B43"/>
          </p15:clr>
        </p15:guide>
        <p15:guide id="4" orient="horz" pos="3960">
          <p15:clr>
            <a:srgbClr val="F26B43"/>
          </p15:clr>
        </p15:guide>
        <p15:guide id="5" orient="horz" pos="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14D11B6-97AE-43D3-A4C1-9FCF7593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ru-RU" dirty="0"/>
              <a:t>Определение </a:t>
            </a:r>
            <a:r>
              <a:rPr lang="ru-RU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0" scaled="0"/>
                </a:gradFill>
              </a:rPr>
              <a:t>жизненного цикла организации</a:t>
            </a:r>
            <a:r>
              <a:rPr lang="en-US" dirty="0">
                <a:gradFill flip="none" rotWithShape="1"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0" scaled="0"/>
                  <a:tileRect/>
                </a:gra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70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09CDDE1-9687-E53D-96D9-2777F2471A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780" y="2080419"/>
            <a:ext cx="1828800" cy="1828800"/>
          </a:xfr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36CDF67-259F-C0B2-88C7-6846C205531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5" r="14835"/>
          <a:stretch>
            <a:fillRect/>
          </a:stretch>
        </p:blipFill>
        <p:spPr>
          <a:xfrm>
            <a:off x="2622670" y="2080419"/>
            <a:ext cx="1828800" cy="2601132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16F461A-C6E2-5D3A-F0DB-7D1E61A040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" b="122"/>
          <a:stretch>
            <a:fillRect/>
          </a:stretch>
        </p:blipFill>
        <p:spPr>
          <a:xfrm>
            <a:off x="4584704" y="2080419"/>
            <a:ext cx="2606040" cy="2601132"/>
          </a:xfrm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A14431BA-9796-A9B4-14F6-4E6E47B8BD4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6" r="10586"/>
          <a:stretch>
            <a:fillRect/>
          </a:stretch>
        </p:blipFill>
        <p:spPr>
          <a:xfrm>
            <a:off x="7331915" y="1693863"/>
            <a:ext cx="2051050" cy="2601912"/>
          </a:xfr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656CE9F-809D-445E-BE47-6EA42012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33400"/>
            <a:ext cx="6169981" cy="1547247"/>
          </a:xfrm>
        </p:spPr>
        <p:txBody>
          <a:bodyPr>
            <a:normAutofit/>
          </a:bodyPr>
          <a:lstStyle/>
          <a:p>
            <a:r>
              <a:rPr lang="ru-RU" dirty="0"/>
              <a:t>Прежде</a:t>
            </a:r>
            <a:r>
              <a:rPr lang="en-US" dirty="0"/>
              <a:t> </a:t>
            </a:r>
            <a:r>
              <a:rPr lang="ru-RU" dirty="0"/>
              <a:t>чем</a:t>
            </a:r>
            <a:r>
              <a:rPr lang="en-US" dirty="0"/>
              <a:t> </a:t>
            </a:r>
            <a:r>
              <a:rPr lang="ru-RU" dirty="0"/>
              <a:t>мы</a:t>
            </a:r>
            <a:r>
              <a:rPr lang="en-US" dirty="0"/>
              <a:t> </a:t>
            </a:r>
            <a:r>
              <a:rPr lang="ru-RU" dirty="0"/>
              <a:t>погрузимся</a:t>
            </a:r>
            <a:r>
              <a:rPr lang="en-US" dirty="0"/>
              <a:t> </a:t>
            </a:r>
            <a:r>
              <a:rPr lang="ru-RU" dirty="0"/>
              <a:t>в</a:t>
            </a:r>
            <a:r>
              <a:rPr lang="en-US" dirty="0"/>
              <a:t> </a:t>
            </a:r>
            <a:r>
              <a:rPr lang="ru-RU" dirty="0"/>
              <a:t>детали</a:t>
            </a:r>
            <a:r>
              <a:rPr lang="en-US" dirty="0"/>
              <a:t> </a:t>
            </a:r>
            <a:r>
              <a:rPr lang="ru-RU" dirty="0"/>
              <a:t>давайте разберемся </a:t>
            </a:r>
            <a:r>
              <a:rPr lang="en-US" dirty="0"/>
              <a:t> </a:t>
            </a:r>
            <a:r>
              <a:rPr lang="ru-RU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0" scaled="0"/>
                </a:gradFill>
              </a:rPr>
              <a:t>что такое</a:t>
            </a:r>
            <a:r>
              <a:rPr lang="en-US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0" scaled="0"/>
                </a:gradFill>
              </a:rPr>
              <a:t> </a:t>
            </a:r>
            <a:r>
              <a:rPr lang="ru-RU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0" scaled="0"/>
                </a:gradFill>
              </a:rPr>
              <a:t>жизненный цикл организации</a:t>
            </a:r>
            <a:endParaRPr lang="en-US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0" scaled="0"/>
              </a:gradFill>
            </a:endParaRPr>
          </a:p>
        </p:txBody>
      </p:sp>
      <p:pic>
        <p:nvPicPr>
          <p:cNvPr id="35" name="Picture Placeholder 32">
            <a:extLst>
              <a:ext uri="{FF2B5EF4-FFF2-40B4-BE49-F238E27FC236}">
                <a16:creationId xmlns:a16="http://schemas.microsoft.com/office/drawing/2014/main" id="{7BB483AC-5E11-A314-A561-9540213262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6" r="10586"/>
          <a:stretch/>
        </p:blipFill>
        <p:spPr>
          <a:xfrm>
            <a:off x="9524136" y="1693863"/>
            <a:ext cx="2051050" cy="2601912"/>
          </a:xfrm>
          <a:prstGeom prst="roundRect">
            <a:avLst>
              <a:gd name="adj" fmla="val 13835"/>
            </a:avLst>
          </a:prstGeom>
          <a:gradFill>
            <a:gsLst>
              <a:gs pos="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75000"/>
                  <a:lumOff val="25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196323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st background 2">
            <a:extLst>
              <a:ext uri="{FF2B5EF4-FFF2-40B4-BE49-F238E27FC236}">
                <a16:creationId xmlns:a16="http://schemas.microsoft.com/office/drawing/2014/main" id="{87FB330D-CB50-4FA0-A802-8B772AA9DFCA}"/>
              </a:ext>
            </a:extLst>
          </p:cNvPr>
          <p:cNvSpPr/>
          <p:nvPr/>
        </p:nvSpPr>
        <p:spPr>
          <a:xfrm>
            <a:off x="1028701" y="2600381"/>
            <a:ext cx="7254024" cy="829075"/>
          </a:xfrm>
          <a:prstGeom prst="roundRect">
            <a:avLst>
              <a:gd name="adj" fmla="val 2782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800" dirty="0">
                <a:solidFill>
                  <a:schemeClr val="tx1"/>
                </a:solidFill>
              </a:rPr>
              <a:t>2</a:t>
            </a:r>
            <a:endParaRPr lang="en-US" sz="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C6535DB-FD1E-4777-A6A2-3D25E127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изучения жизненного цикла для спешного правления организацией</a:t>
            </a:r>
            <a:endParaRPr lang="en-US" dirty="0"/>
          </a:p>
        </p:txBody>
      </p:sp>
      <p:sp>
        <p:nvSpPr>
          <p:cNvPr id="5" name="List background 1">
            <a:extLst>
              <a:ext uri="{FF2B5EF4-FFF2-40B4-BE49-F238E27FC236}">
                <a16:creationId xmlns:a16="http://schemas.microsoft.com/office/drawing/2014/main" id="{AA734A86-B290-4EEE-8523-52B15F386F84}"/>
              </a:ext>
            </a:extLst>
          </p:cNvPr>
          <p:cNvSpPr/>
          <p:nvPr/>
        </p:nvSpPr>
        <p:spPr>
          <a:xfrm>
            <a:off x="1028701" y="1562102"/>
            <a:ext cx="7254024" cy="829075"/>
          </a:xfrm>
          <a:prstGeom prst="roundRect">
            <a:avLst>
              <a:gd name="adj" fmla="val 2782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Promoted background">
            <a:extLst>
              <a:ext uri="{FF2B5EF4-FFF2-40B4-BE49-F238E27FC236}">
                <a16:creationId xmlns:a16="http://schemas.microsoft.com/office/drawing/2014/main" id="{CCB43699-613F-48DB-83C5-8A7753A3F6A3}"/>
              </a:ext>
            </a:extLst>
          </p:cNvPr>
          <p:cNvSpPr/>
          <p:nvPr/>
        </p:nvSpPr>
        <p:spPr>
          <a:xfrm>
            <a:off x="6096000" y="1562102"/>
            <a:ext cx="2186724" cy="829075"/>
          </a:xfrm>
          <a:prstGeom prst="roundRect">
            <a:avLst>
              <a:gd name="adj" fmla="val 27824"/>
            </a:avLst>
          </a:prstGeom>
          <a:solidFill>
            <a:schemeClr val="accent1"/>
          </a:solidFill>
          <a:ln>
            <a:noFill/>
          </a:ln>
          <a:effectLst>
            <a:outerShdw blurRad="508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Изменения и трудности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9" name="TextBox">
            <a:extLst>
              <a:ext uri="{FF2B5EF4-FFF2-40B4-BE49-F238E27FC236}">
                <a16:creationId xmlns:a16="http://schemas.microsoft.com/office/drawing/2014/main" id="{67D17A3C-A55D-4884-9416-D55E15191346}"/>
              </a:ext>
            </a:extLst>
          </p:cNvPr>
          <p:cNvSpPr txBox="1"/>
          <p:nvPr/>
        </p:nvSpPr>
        <p:spPr>
          <a:xfrm>
            <a:off x="3967646" y="1771306"/>
            <a:ext cx="923330" cy="3807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800" dirty="0"/>
              <a:t>	</a:t>
            </a:r>
            <a:endParaRPr lang="en-US" sz="800" dirty="0">
              <a:latin typeface="+mj-lt"/>
            </a:endParaRPr>
          </a:p>
          <a:p>
            <a:pPr>
              <a:lnSpc>
                <a:spcPct val="130000"/>
              </a:lnSpc>
            </a:pPr>
            <a:endParaRPr lang="en-US" sz="1200" dirty="0">
              <a:latin typeface="+mj-lt"/>
            </a:endParaRPr>
          </a:p>
        </p:txBody>
      </p:sp>
      <p:sp>
        <p:nvSpPr>
          <p:cNvPr id="10" name="TextBox">
            <a:extLst>
              <a:ext uri="{FF2B5EF4-FFF2-40B4-BE49-F238E27FC236}">
                <a16:creationId xmlns:a16="http://schemas.microsoft.com/office/drawing/2014/main" id="{C7469F05-B232-4785-BE59-1DC099EF9F85}"/>
              </a:ext>
            </a:extLst>
          </p:cNvPr>
          <p:cNvSpPr txBox="1"/>
          <p:nvPr/>
        </p:nvSpPr>
        <p:spPr>
          <a:xfrm>
            <a:off x="5010835" y="1771306"/>
            <a:ext cx="923330" cy="147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800" dirty="0"/>
              <a:t>	</a:t>
            </a:r>
            <a:endParaRPr lang="en-US" sz="800" dirty="0">
              <a:latin typeface="+mj-lt"/>
            </a:endParaRPr>
          </a:p>
        </p:txBody>
      </p:sp>
      <p:sp>
        <p:nvSpPr>
          <p:cNvPr id="16" name="List background 3">
            <a:extLst>
              <a:ext uri="{FF2B5EF4-FFF2-40B4-BE49-F238E27FC236}">
                <a16:creationId xmlns:a16="http://schemas.microsoft.com/office/drawing/2014/main" id="{A68E9E28-B7BB-4617-9905-3D7C09CED784}"/>
              </a:ext>
            </a:extLst>
          </p:cNvPr>
          <p:cNvSpPr/>
          <p:nvPr/>
        </p:nvSpPr>
        <p:spPr>
          <a:xfrm>
            <a:off x="1028701" y="3638660"/>
            <a:ext cx="7254024" cy="829075"/>
          </a:xfrm>
          <a:prstGeom prst="roundRect">
            <a:avLst>
              <a:gd name="adj" fmla="val 2782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800" dirty="0">
                <a:solidFill>
                  <a:schemeClr val="tx1">
                    <a:alpha val="70000"/>
                  </a:schemeClr>
                </a:solidFill>
              </a:rPr>
              <a:t>3</a:t>
            </a:r>
            <a:endParaRPr lang="en-US" sz="800" dirty="0">
              <a:solidFill>
                <a:schemeClr val="tx1">
                  <a:alpha val="70000"/>
                </a:schemeClr>
              </a:solidFill>
              <a:latin typeface="+mj-lt"/>
            </a:endParaRPr>
          </a:p>
        </p:txBody>
      </p:sp>
      <p:sp>
        <p:nvSpPr>
          <p:cNvPr id="20" name="List background 4">
            <a:extLst>
              <a:ext uri="{FF2B5EF4-FFF2-40B4-BE49-F238E27FC236}">
                <a16:creationId xmlns:a16="http://schemas.microsoft.com/office/drawing/2014/main" id="{A36C7106-9ACE-48B9-B7E6-F728A5507530}"/>
              </a:ext>
            </a:extLst>
          </p:cNvPr>
          <p:cNvSpPr/>
          <p:nvPr/>
        </p:nvSpPr>
        <p:spPr>
          <a:xfrm>
            <a:off x="1028701" y="4676939"/>
            <a:ext cx="7254024" cy="829075"/>
          </a:xfrm>
          <a:prstGeom prst="roundRect">
            <a:avLst>
              <a:gd name="adj" fmla="val 2782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800" dirty="0">
                <a:solidFill>
                  <a:schemeClr val="tx1">
                    <a:alpha val="70000"/>
                  </a:schemeClr>
                </a:solidFill>
              </a:rPr>
              <a:t>4</a:t>
            </a:r>
            <a:endParaRPr lang="en-US" sz="800" dirty="0">
              <a:solidFill>
                <a:schemeClr val="tx1">
                  <a:alpha val="70000"/>
                </a:schemeClr>
              </a:solidFill>
              <a:latin typeface="+mj-lt"/>
            </a:endParaRPr>
          </a:p>
        </p:txBody>
      </p:sp>
      <p:sp>
        <p:nvSpPr>
          <p:cNvPr id="49" name="TextBox">
            <a:extLst>
              <a:ext uri="{FF2B5EF4-FFF2-40B4-BE49-F238E27FC236}">
                <a16:creationId xmlns:a16="http://schemas.microsoft.com/office/drawing/2014/main" id="{0308BEA2-9258-4812-B359-AD455194DD9B}"/>
              </a:ext>
            </a:extLst>
          </p:cNvPr>
          <p:cNvSpPr txBox="1"/>
          <p:nvPr/>
        </p:nvSpPr>
        <p:spPr>
          <a:xfrm>
            <a:off x="6345137" y="2809585"/>
            <a:ext cx="923330" cy="3763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800" dirty="0"/>
              <a:t>Difference	</a:t>
            </a:r>
            <a:endParaRPr lang="en-US" sz="800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accent2"/>
                </a:solidFill>
                <a:latin typeface="+mj-lt"/>
              </a:rPr>
              <a:t>$131.000</a:t>
            </a:r>
          </a:p>
        </p:txBody>
      </p:sp>
      <p:sp>
        <p:nvSpPr>
          <p:cNvPr id="50" name="TextBox">
            <a:extLst>
              <a:ext uri="{FF2B5EF4-FFF2-40B4-BE49-F238E27FC236}">
                <a16:creationId xmlns:a16="http://schemas.microsoft.com/office/drawing/2014/main" id="{11D8C43B-517D-4B2B-A6C8-4665546452A9}"/>
              </a:ext>
            </a:extLst>
          </p:cNvPr>
          <p:cNvSpPr txBox="1"/>
          <p:nvPr/>
        </p:nvSpPr>
        <p:spPr>
          <a:xfrm>
            <a:off x="6345137" y="3847864"/>
            <a:ext cx="923330" cy="3763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800" dirty="0"/>
              <a:t>Difference 	</a:t>
            </a:r>
            <a:endParaRPr lang="en-US" sz="800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accent3"/>
                </a:solidFill>
                <a:latin typeface="+mj-lt"/>
              </a:rPr>
              <a:t>$156.000</a:t>
            </a:r>
          </a:p>
        </p:txBody>
      </p:sp>
      <p:sp>
        <p:nvSpPr>
          <p:cNvPr id="51" name="TextBox">
            <a:extLst>
              <a:ext uri="{FF2B5EF4-FFF2-40B4-BE49-F238E27FC236}">
                <a16:creationId xmlns:a16="http://schemas.microsoft.com/office/drawing/2014/main" id="{D1541613-1DD1-45A1-BC12-62D7529D1AAE}"/>
              </a:ext>
            </a:extLst>
          </p:cNvPr>
          <p:cNvSpPr txBox="1"/>
          <p:nvPr/>
        </p:nvSpPr>
        <p:spPr>
          <a:xfrm>
            <a:off x="6345137" y="4886143"/>
            <a:ext cx="923330" cy="3763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800" dirty="0"/>
              <a:t>Difference 	</a:t>
            </a:r>
            <a:endParaRPr lang="en-US" sz="800" dirty="0">
              <a:latin typeface="+mj-lt"/>
            </a:endParaRP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accent5"/>
                </a:solidFill>
                <a:latin typeface="+mj-lt"/>
              </a:rPr>
              <a:t>$53.000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EB10900-59C7-1B8B-4496-FFF7FC4EB85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8" r="20848"/>
          <a:stretch>
            <a:fillRect/>
          </a:stretch>
        </p:blipFill>
        <p:spPr>
          <a:xfrm>
            <a:off x="9104313" y="1576235"/>
            <a:ext cx="3087687" cy="5295900"/>
          </a:xfrm>
        </p:spPr>
      </p:pic>
      <p:sp>
        <p:nvSpPr>
          <p:cNvPr id="3" name="Promoted background">
            <a:extLst>
              <a:ext uri="{FF2B5EF4-FFF2-40B4-BE49-F238E27FC236}">
                <a16:creationId xmlns:a16="http://schemas.microsoft.com/office/drawing/2014/main" id="{E65CEDF8-8970-536D-259C-2BB1C155CB95}"/>
              </a:ext>
            </a:extLst>
          </p:cNvPr>
          <p:cNvSpPr/>
          <p:nvPr/>
        </p:nvSpPr>
        <p:spPr>
          <a:xfrm>
            <a:off x="6096000" y="2583207"/>
            <a:ext cx="2186724" cy="829075"/>
          </a:xfrm>
          <a:prstGeom prst="roundRect">
            <a:avLst>
              <a:gd name="adj" fmla="val 27824"/>
            </a:avLst>
          </a:prstGeom>
          <a:solidFill>
            <a:schemeClr val="accent1"/>
          </a:solidFill>
          <a:ln>
            <a:noFill/>
          </a:ln>
          <a:effectLst>
            <a:outerShdw blurRad="508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Планы развития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" name="Promoted background">
            <a:extLst>
              <a:ext uri="{FF2B5EF4-FFF2-40B4-BE49-F238E27FC236}">
                <a16:creationId xmlns:a16="http://schemas.microsoft.com/office/drawing/2014/main" id="{F91907D0-FB07-7785-6DD8-F517E822233E}"/>
              </a:ext>
            </a:extLst>
          </p:cNvPr>
          <p:cNvSpPr/>
          <p:nvPr/>
        </p:nvSpPr>
        <p:spPr>
          <a:xfrm>
            <a:off x="6096000" y="3621486"/>
            <a:ext cx="2186724" cy="829075"/>
          </a:xfrm>
          <a:prstGeom prst="roundRect">
            <a:avLst>
              <a:gd name="adj" fmla="val 27824"/>
            </a:avLst>
          </a:prstGeom>
          <a:solidFill>
            <a:schemeClr val="accent1"/>
          </a:solidFill>
          <a:ln>
            <a:noFill/>
          </a:ln>
          <a:effectLst>
            <a:outerShdw blurRad="508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Расход ресурсов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" name="Promoted background">
            <a:extLst>
              <a:ext uri="{FF2B5EF4-FFF2-40B4-BE49-F238E27FC236}">
                <a16:creationId xmlns:a16="http://schemas.microsoft.com/office/drawing/2014/main" id="{CFFF7BC3-572E-9C02-A228-89239246A9B7}"/>
              </a:ext>
            </a:extLst>
          </p:cNvPr>
          <p:cNvSpPr/>
          <p:nvPr/>
        </p:nvSpPr>
        <p:spPr>
          <a:xfrm>
            <a:off x="6096000" y="4683085"/>
            <a:ext cx="2186724" cy="829075"/>
          </a:xfrm>
          <a:prstGeom prst="roundRect">
            <a:avLst>
              <a:gd name="adj" fmla="val 27824"/>
            </a:avLst>
          </a:prstGeom>
          <a:solidFill>
            <a:schemeClr val="accent1"/>
          </a:solidFill>
          <a:ln>
            <a:noFill/>
          </a:ln>
          <a:effectLst>
            <a:outerShdw blurRad="508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bIns="45720" numCol="1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Конкурентоспособность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036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6041 L -8.33333E-7 -4.44444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39 -0.02986 L 0.00026 0.00278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62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8.33333E-7 -0.02986 L -8.33333E-7 0.0007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8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8.33333E-7 -0.02986 L -8.33333E-7 0.0007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8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5" grpId="0" animBg="1"/>
      <p:bldP spid="5" grpId="1" animBg="1"/>
      <p:bldP spid="7" grpId="0" animBg="1"/>
      <p:bldP spid="7" grpId="1" animBg="1"/>
      <p:bldP spid="9" grpId="0"/>
      <p:bldP spid="10" grpId="0"/>
      <p:bldP spid="16" grpId="0" animBg="1"/>
      <p:bldP spid="16" grpId="1" animBg="1"/>
      <p:bldP spid="20" grpId="0" animBg="1"/>
      <p:bldP spid="20" grpId="1" animBg="1"/>
      <p:bldP spid="49" grpId="0"/>
      <p:bldP spid="50" grpId="0"/>
      <p:bldP spid="51" grpId="0"/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6E3F5C-CAF0-4C90-B710-0B6CCAA9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все начинается</a:t>
            </a:r>
            <a:endParaRPr lang="en-US" dirty="0"/>
          </a:p>
        </p:txBody>
      </p:sp>
      <p:sp>
        <p:nvSpPr>
          <p:cNvPr id="10" name="Line shape">
            <a:extLst>
              <a:ext uri="{FF2B5EF4-FFF2-40B4-BE49-F238E27FC236}">
                <a16:creationId xmlns:a16="http://schemas.microsoft.com/office/drawing/2014/main" id="{4941F288-F0B5-46E8-8042-357B8C05E3B0}"/>
              </a:ext>
            </a:extLst>
          </p:cNvPr>
          <p:cNvSpPr/>
          <p:nvPr/>
        </p:nvSpPr>
        <p:spPr>
          <a:xfrm>
            <a:off x="10554366" y="2222411"/>
            <a:ext cx="1924787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1" name="Line shape">
            <a:extLst>
              <a:ext uri="{FF2B5EF4-FFF2-40B4-BE49-F238E27FC236}">
                <a16:creationId xmlns:a16="http://schemas.microsoft.com/office/drawing/2014/main" id="{9C69837C-C7F0-4A82-BD37-35CA8762FE9F}"/>
              </a:ext>
            </a:extLst>
          </p:cNvPr>
          <p:cNvSpPr/>
          <p:nvPr/>
        </p:nvSpPr>
        <p:spPr>
          <a:xfrm>
            <a:off x="-341697" y="2222411"/>
            <a:ext cx="2292283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Fill shape">
            <a:extLst>
              <a:ext uri="{FF2B5EF4-FFF2-40B4-BE49-F238E27FC236}">
                <a16:creationId xmlns:a16="http://schemas.microsoft.com/office/drawing/2014/main" id="{2AC95723-E84E-42B2-8365-2DD30BF08E5F}"/>
              </a:ext>
            </a:extLst>
          </p:cNvPr>
          <p:cNvSpPr/>
          <p:nvPr/>
        </p:nvSpPr>
        <p:spPr>
          <a:xfrm>
            <a:off x="5822351" y="2920596"/>
            <a:ext cx="1931067" cy="5824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Поиск инвестиций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Fill shape">
            <a:extLst>
              <a:ext uri="{FF2B5EF4-FFF2-40B4-BE49-F238E27FC236}">
                <a16:creationId xmlns:a16="http://schemas.microsoft.com/office/drawing/2014/main" id="{9BC2F16C-3975-4936-85DC-1FF6B403AD0C}"/>
              </a:ext>
            </a:extLst>
          </p:cNvPr>
          <p:cNvSpPr/>
          <p:nvPr/>
        </p:nvSpPr>
        <p:spPr>
          <a:xfrm>
            <a:off x="3354672" y="3618781"/>
            <a:ext cx="1738564" cy="5824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Выход на рынок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Line shape">
            <a:extLst>
              <a:ext uri="{FF2B5EF4-FFF2-40B4-BE49-F238E27FC236}">
                <a16:creationId xmlns:a16="http://schemas.microsoft.com/office/drawing/2014/main" id="{27C4DC7C-B6F4-4BAA-9211-3DF234C04F16}"/>
              </a:ext>
            </a:extLst>
          </p:cNvPr>
          <p:cNvSpPr/>
          <p:nvPr/>
        </p:nvSpPr>
        <p:spPr>
          <a:xfrm>
            <a:off x="9800654" y="3618780"/>
            <a:ext cx="2678499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1" name="Line shape">
            <a:extLst>
              <a:ext uri="{FF2B5EF4-FFF2-40B4-BE49-F238E27FC236}">
                <a16:creationId xmlns:a16="http://schemas.microsoft.com/office/drawing/2014/main" id="{6C4740FA-95B5-4037-A60C-704838FA41E8}"/>
              </a:ext>
            </a:extLst>
          </p:cNvPr>
          <p:cNvSpPr/>
          <p:nvPr/>
        </p:nvSpPr>
        <p:spPr>
          <a:xfrm>
            <a:off x="-341697" y="3618780"/>
            <a:ext cx="2182529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2" name="Fill Shape">
            <a:extLst>
              <a:ext uri="{FF2B5EF4-FFF2-40B4-BE49-F238E27FC236}">
                <a16:creationId xmlns:a16="http://schemas.microsoft.com/office/drawing/2014/main" id="{983092AF-2099-489E-AA82-E1ED99AF2A3C}"/>
              </a:ext>
            </a:extLst>
          </p:cNvPr>
          <p:cNvSpPr/>
          <p:nvPr/>
        </p:nvSpPr>
        <p:spPr>
          <a:xfrm>
            <a:off x="4451684" y="2920596"/>
            <a:ext cx="1258769" cy="5824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Регистрация компании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Line shape">
            <a:extLst>
              <a:ext uri="{FF2B5EF4-FFF2-40B4-BE49-F238E27FC236}">
                <a16:creationId xmlns:a16="http://schemas.microsoft.com/office/drawing/2014/main" id="{E55A01A1-AB67-4066-9625-A37889396126}"/>
              </a:ext>
            </a:extLst>
          </p:cNvPr>
          <p:cNvSpPr/>
          <p:nvPr/>
        </p:nvSpPr>
        <p:spPr>
          <a:xfrm>
            <a:off x="7865316" y="2920596"/>
            <a:ext cx="4613837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4" name="Line shape">
            <a:extLst>
              <a:ext uri="{FF2B5EF4-FFF2-40B4-BE49-F238E27FC236}">
                <a16:creationId xmlns:a16="http://schemas.microsoft.com/office/drawing/2014/main" id="{6B699BC3-DABA-44D2-A200-1F0DCD319EDC}"/>
              </a:ext>
            </a:extLst>
          </p:cNvPr>
          <p:cNvSpPr/>
          <p:nvPr/>
        </p:nvSpPr>
        <p:spPr>
          <a:xfrm>
            <a:off x="-341697" y="2920596"/>
            <a:ext cx="4681482" cy="582435"/>
          </a:xfrm>
          <a:prstGeom prst="roundRect">
            <a:avLst>
              <a:gd name="adj" fmla="val 50000"/>
            </a:avLst>
          </a:prstGeom>
          <a:noFill/>
          <a:ln w="6350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Blue shape">
            <a:extLst>
              <a:ext uri="{FF2B5EF4-FFF2-40B4-BE49-F238E27FC236}">
                <a16:creationId xmlns:a16="http://schemas.microsoft.com/office/drawing/2014/main" id="{A2C630C0-B7C8-4887-87A9-A89A2AF8186E}"/>
              </a:ext>
            </a:extLst>
          </p:cNvPr>
          <p:cNvSpPr/>
          <p:nvPr/>
        </p:nvSpPr>
        <p:spPr>
          <a:xfrm>
            <a:off x="3869623" y="2222411"/>
            <a:ext cx="1738563" cy="5824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Разработка идеи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5" name="Blue shape">
            <a:extLst>
              <a:ext uri="{FF2B5EF4-FFF2-40B4-BE49-F238E27FC236}">
                <a16:creationId xmlns:a16="http://schemas.microsoft.com/office/drawing/2014/main" id="{CC18A378-0260-4944-9ADF-F136C2BAF7E8}"/>
              </a:ext>
            </a:extLst>
          </p:cNvPr>
          <p:cNvSpPr/>
          <p:nvPr/>
        </p:nvSpPr>
        <p:spPr>
          <a:xfrm>
            <a:off x="1950586" y="3620240"/>
            <a:ext cx="1294332" cy="5824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381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+mj-lt"/>
              </a:rPr>
              <a:t>Набор сотрудников</a:t>
            </a:r>
            <a:endParaRPr lang="en-US" sz="1200" dirty="0">
              <a:solidFill>
                <a:srgbClr val="FFFFFF"/>
              </a:solidFill>
              <a:latin typeface="+mj-lt"/>
            </a:endParaRPr>
          </a:p>
        </p:txBody>
      </p:sp>
      <p:grpSp>
        <p:nvGrpSpPr>
          <p:cNvPr id="28" name="Dot shape">
            <a:extLst>
              <a:ext uri="{FF2B5EF4-FFF2-40B4-BE49-F238E27FC236}">
                <a16:creationId xmlns:a16="http://schemas.microsoft.com/office/drawing/2014/main" id="{E24555B1-1C0C-4C04-861A-E0E5E4302BD2}"/>
              </a:ext>
            </a:extLst>
          </p:cNvPr>
          <p:cNvGrpSpPr/>
          <p:nvPr/>
        </p:nvGrpSpPr>
        <p:grpSpPr>
          <a:xfrm flipH="1">
            <a:off x="1028700" y="2190407"/>
            <a:ext cx="369904" cy="64008"/>
            <a:chOff x="1773521" y="4054733"/>
            <a:chExt cx="369904" cy="6400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872159-45CE-44DC-9656-8600CD8DFEE0}"/>
                </a:ext>
              </a:extLst>
            </p:cNvPr>
            <p:cNvSpPr/>
            <p:nvPr/>
          </p:nvSpPr>
          <p:spPr>
            <a:xfrm>
              <a:off x="1773521" y="4054733"/>
              <a:ext cx="337900" cy="6400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625DE7-9EA6-4B46-B851-A18E0A45C826}"/>
                </a:ext>
              </a:extLst>
            </p:cNvPr>
            <p:cNvSpPr/>
            <p:nvPr/>
          </p:nvSpPr>
          <p:spPr>
            <a:xfrm>
              <a:off x="2079417" y="4054733"/>
              <a:ext cx="64008" cy="64008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Dot shape">
            <a:extLst>
              <a:ext uri="{FF2B5EF4-FFF2-40B4-BE49-F238E27FC236}">
                <a16:creationId xmlns:a16="http://schemas.microsoft.com/office/drawing/2014/main" id="{57818F2C-0424-41BB-9F5E-57A8959E895F}"/>
              </a:ext>
            </a:extLst>
          </p:cNvPr>
          <p:cNvGrpSpPr/>
          <p:nvPr/>
        </p:nvGrpSpPr>
        <p:grpSpPr>
          <a:xfrm>
            <a:off x="3030085" y="3471027"/>
            <a:ext cx="369904" cy="64008"/>
            <a:chOff x="1773521" y="4054733"/>
            <a:chExt cx="369904" cy="6400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9A1BC18-522D-4E8C-8FA4-92F8B1D6DEB5}"/>
                </a:ext>
              </a:extLst>
            </p:cNvPr>
            <p:cNvSpPr/>
            <p:nvPr/>
          </p:nvSpPr>
          <p:spPr>
            <a:xfrm>
              <a:off x="1773521" y="4054733"/>
              <a:ext cx="337900" cy="6400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AD4D87D-CA9D-4310-ADCC-98F4C7185B24}"/>
                </a:ext>
              </a:extLst>
            </p:cNvPr>
            <p:cNvSpPr/>
            <p:nvPr/>
          </p:nvSpPr>
          <p:spPr>
            <a:xfrm>
              <a:off x="2079417" y="4054733"/>
              <a:ext cx="64008" cy="64008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Dot shape">
            <a:extLst>
              <a:ext uri="{FF2B5EF4-FFF2-40B4-BE49-F238E27FC236}">
                <a16:creationId xmlns:a16="http://schemas.microsoft.com/office/drawing/2014/main" id="{08FAA63B-10CE-4E99-9C6A-AC552BC12595}"/>
              </a:ext>
            </a:extLst>
          </p:cNvPr>
          <p:cNvGrpSpPr/>
          <p:nvPr/>
        </p:nvGrpSpPr>
        <p:grpSpPr>
          <a:xfrm>
            <a:off x="11129619" y="2888591"/>
            <a:ext cx="369904" cy="64008"/>
            <a:chOff x="1773521" y="4054733"/>
            <a:chExt cx="369904" cy="6400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D12C1F-D95B-4253-92C4-0A46990EB28C}"/>
                </a:ext>
              </a:extLst>
            </p:cNvPr>
            <p:cNvSpPr/>
            <p:nvPr/>
          </p:nvSpPr>
          <p:spPr>
            <a:xfrm>
              <a:off x="1773521" y="4054733"/>
              <a:ext cx="337900" cy="6400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2809950-93AE-4AAA-88BF-7E4BC3F2AD2B}"/>
                </a:ext>
              </a:extLst>
            </p:cNvPr>
            <p:cNvSpPr/>
            <p:nvPr/>
          </p:nvSpPr>
          <p:spPr>
            <a:xfrm>
              <a:off x="2079417" y="4054733"/>
              <a:ext cx="64008" cy="64008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Dot shape">
            <a:extLst>
              <a:ext uri="{FF2B5EF4-FFF2-40B4-BE49-F238E27FC236}">
                <a16:creationId xmlns:a16="http://schemas.microsoft.com/office/drawing/2014/main" id="{E3CA122A-1519-4566-9138-D96A3DA33097}"/>
              </a:ext>
            </a:extLst>
          </p:cNvPr>
          <p:cNvGrpSpPr/>
          <p:nvPr/>
        </p:nvGrpSpPr>
        <p:grpSpPr>
          <a:xfrm>
            <a:off x="9800654" y="3618779"/>
            <a:ext cx="582434" cy="582434"/>
            <a:chOff x="9800654" y="3874465"/>
            <a:chExt cx="582434" cy="582434"/>
          </a:xfrm>
        </p:grpSpPr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26AA8E4A-600F-4641-9D91-2B1CBF297CA5}"/>
                </a:ext>
              </a:extLst>
            </p:cNvPr>
            <p:cNvSpPr/>
            <p:nvPr/>
          </p:nvSpPr>
          <p:spPr>
            <a:xfrm rot="10800000">
              <a:off x="9800654" y="3874465"/>
              <a:ext cx="582434" cy="582434"/>
            </a:xfrm>
            <a:prstGeom prst="arc">
              <a:avLst>
                <a:gd name="adj1" fmla="val 16200000"/>
                <a:gd name="adj2" fmla="val 2779162"/>
              </a:avLst>
            </a:prstGeom>
            <a:ln w="50800" cap="rnd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7AC5640-C74B-4357-AFDF-58C47A259CB8}"/>
                </a:ext>
              </a:extLst>
            </p:cNvPr>
            <p:cNvSpPr/>
            <p:nvPr/>
          </p:nvSpPr>
          <p:spPr>
            <a:xfrm flipH="1">
              <a:off x="9868106" y="3916864"/>
              <a:ext cx="64008" cy="64008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453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03437 -4.07407E-6 L -0.00026 -4.07407E-6 " pathEditMode="relative" rAng="0" ptsTypes="AA">
                                      <p:cBhvr>
                                        <p:cTn id="53" dur="4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2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3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-0.17409 1.85185E-6 L -0.00039 1.85185E-6 " pathEditMode="relative" rAng="0" ptsTypes="AA">
                                      <p:cBhvr>
                                        <p:cTn id="58" dur="5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85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3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-0.24583 4.07407E-6 L -4.79167E-6 4.07407E-6 " pathEditMode="relative" rAng="0" ptsTypes="AA">
                                      <p:cBhvr>
                                        <p:cTn id="63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92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5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x background">
            <a:extLst>
              <a:ext uri="{FF2B5EF4-FFF2-40B4-BE49-F238E27FC236}">
                <a16:creationId xmlns:a16="http://schemas.microsoft.com/office/drawing/2014/main" id="{359945A0-B038-4B7A-B6A2-4BF7016C35D9}"/>
              </a:ext>
            </a:extLst>
          </p:cNvPr>
          <p:cNvSpPr/>
          <p:nvPr/>
        </p:nvSpPr>
        <p:spPr>
          <a:xfrm>
            <a:off x="1028699" y="1562101"/>
            <a:ext cx="2411837" cy="3276118"/>
          </a:xfrm>
          <a:prstGeom prst="roundRect">
            <a:avLst>
              <a:gd name="adj" fmla="val 11546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>
              <a:lnSpc>
                <a:spcPct val="200000"/>
              </a:lnSpc>
              <a:spcBef>
                <a:spcPts val="1800"/>
              </a:spcBef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Растет клиентская база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Box background">
            <a:extLst>
              <a:ext uri="{FF2B5EF4-FFF2-40B4-BE49-F238E27FC236}">
                <a16:creationId xmlns:a16="http://schemas.microsoft.com/office/drawing/2014/main" id="{53C22B51-C2AE-45C0-A2F6-CA42A5E42385}"/>
              </a:ext>
            </a:extLst>
          </p:cNvPr>
          <p:cNvSpPr/>
          <p:nvPr/>
        </p:nvSpPr>
        <p:spPr>
          <a:xfrm>
            <a:off x="3602954" y="1562101"/>
            <a:ext cx="2411837" cy="3862568"/>
          </a:xfrm>
          <a:prstGeom prst="roundRect">
            <a:avLst>
              <a:gd name="adj" fmla="val 11546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>
              <a:lnSpc>
                <a:spcPct val="200000"/>
              </a:lnSpc>
              <a:spcBef>
                <a:spcPts val="1800"/>
              </a:spcBef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Команда увеличивается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Box background">
            <a:extLst>
              <a:ext uri="{FF2B5EF4-FFF2-40B4-BE49-F238E27FC236}">
                <a16:creationId xmlns:a16="http://schemas.microsoft.com/office/drawing/2014/main" id="{73B165B6-4037-4886-9B8C-2733CAB703FB}"/>
              </a:ext>
            </a:extLst>
          </p:cNvPr>
          <p:cNvSpPr/>
          <p:nvPr/>
        </p:nvSpPr>
        <p:spPr>
          <a:xfrm>
            <a:off x="6177209" y="1562101"/>
            <a:ext cx="2411837" cy="3862567"/>
          </a:xfrm>
          <a:prstGeom prst="roundRect">
            <a:avLst>
              <a:gd name="adj" fmla="val 11546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>
              <a:lnSpc>
                <a:spcPct val="200000"/>
              </a:lnSpc>
              <a:spcBef>
                <a:spcPts val="1800"/>
              </a:spcBef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Компания осваивает новые рынки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Box background">
            <a:extLst>
              <a:ext uri="{FF2B5EF4-FFF2-40B4-BE49-F238E27FC236}">
                <a16:creationId xmlns:a16="http://schemas.microsoft.com/office/drawing/2014/main" id="{7AD74CB7-45D5-46EB-87DE-E3104F1883C5}"/>
              </a:ext>
            </a:extLst>
          </p:cNvPr>
          <p:cNvSpPr/>
          <p:nvPr/>
        </p:nvSpPr>
        <p:spPr>
          <a:xfrm>
            <a:off x="8751463" y="1562101"/>
            <a:ext cx="2411837" cy="2979033"/>
          </a:xfrm>
          <a:prstGeom prst="roundRect">
            <a:avLst>
              <a:gd name="adj" fmla="val 11546"/>
            </a:avLst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0" rtlCol="0" anchor="t"/>
          <a:lstStyle/>
          <a:p>
            <a:pPr>
              <a:lnSpc>
                <a:spcPct val="200000"/>
              </a:lnSpc>
              <a:spcBef>
                <a:spcPts val="1800"/>
              </a:spcBef>
            </a:pPr>
            <a:r>
              <a:rPr lang="ru-RU" sz="1200" dirty="0">
                <a:solidFill>
                  <a:schemeClr val="tx1"/>
                </a:solidFill>
                <a:latin typeface="+mj-lt"/>
              </a:rPr>
              <a:t>Доходы компании растут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F2EFC3-AAEA-4B52-8DAB-7CDB7ED5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Период стремительного развития</a:t>
            </a:r>
            <a:endParaRPr lang="en-US" dirty="0"/>
          </a:p>
        </p:txBody>
      </p:sp>
      <p:sp>
        <p:nvSpPr>
          <p:cNvPr id="4" name="Number">
            <a:extLst>
              <a:ext uri="{FF2B5EF4-FFF2-40B4-BE49-F238E27FC236}">
                <a16:creationId xmlns:a16="http://schemas.microsoft.com/office/drawing/2014/main" id="{E1B3E46C-DD72-40DE-85FD-1EA1FB474A96}"/>
              </a:ext>
            </a:extLst>
          </p:cNvPr>
          <p:cNvSpPr txBox="1"/>
          <p:nvPr/>
        </p:nvSpPr>
        <p:spPr>
          <a:xfrm>
            <a:off x="3037959" y="1728487"/>
            <a:ext cx="238848" cy="2698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tx1">
                    <a:alpha val="20000"/>
                  </a:schemeClr>
                </a:solidFill>
                <a:latin typeface="+mj-lt"/>
              </a:rPr>
              <a:t>01</a:t>
            </a:r>
          </a:p>
        </p:txBody>
      </p:sp>
      <p:sp>
        <p:nvSpPr>
          <p:cNvPr id="12" name="Number">
            <a:extLst>
              <a:ext uri="{FF2B5EF4-FFF2-40B4-BE49-F238E27FC236}">
                <a16:creationId xmlns:a16="http://schemas.microsoft.com/office/drawing/2014/main" id="{D426931A-1B8C-4555-A966-812AC8666F43}"/>
              </a:ext>
            </a:extLst>
          </p:cNvPr>
          <p:cNvSpPr txBox="1"/>
          <p:nvPr/>
        </p:nvSpPr>
        <p:spPr>
          <a:xfrm>
            <a:off x="5608871" y="1728487"/>
            <a:ext cx="270908" cy="2698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tx1">
                    <a:alpha val="20000"/>
                  </a:schemeClr>
                </a:solidFill>
                <a:latin typeface="+mj-lt"/>
              </a:rPr>
              <a:t>02</a:t>
            </a:r>
          </a:p>
        </p:txBody>
      </p:sp>
      <p:sp>
        <p:nvSpPr>
          <p:cNvPr id="13" name="Number">
            <a:extLst>
              <a:ext uri="{FF2B5EF4-FFF2-40B4-BE49-F238E27FC236}">
                <a16:creationId xmlns:a16="http://schemas.microsoft.com/office/drawing/2014/main" id="{DB31B0D0-127B-4EBC-9190-9A796D1A2E3E}"/>
              </a:ext>
            </a:extLst>
          </p:cNvPr>
          <p:cNvSpPr txBox="1"/>
          <p:nvPr/>
        </p:nvSpPr>
        <p:spPr>
          <a:xfrm>
            <a:off x="8182309" y="1728487"/>
            <a:ext cx="275717" cy="2698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tx1">
                    <a:alpha val="20000"/>
                  </a:schemeClr>
                </a:solidFill>
                <a:latin typeface="+mj-lt"/>
              </a:rPr>
              <a:t>03</a:t>
            </a:r>
          </a:p>
        </p:txBody>
      </p:sp>
      <p:sp>
        <p:nvSpPr>
          <p:cNvPr id="14" name="Number">
            <a:extLst>
              <a:ext uri="{FF2B5EF4-FFF2-40B4-BE49-F238E27FC236}">
                <a16:creationId xmlns:a16="http://schemas.microsoft.com/office/drawing/2014/main" id="{60599263-738D-4012-AE70-0177C9C73883}"/>
              </a:ext>
            </a:extLst>
          </p:cNvPr>
          <p:cNvSpPr txBox="1"/>
          <p:nvPr/>
        </p:nvSpPr>
        <p:spPr>
          <a:xfrm>
            <a:off x="10759605" y="1728487"/>
            <a:ext cx="280526" cy="2698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tx1">
                    <a:alpha val="20000"/>
                  </a:schemeClr>
                </a:solidFill>
                <a:latin typeface="+mj-lt"/>
              </a:rPr>
              <a:t>04</a:t>
            </a:r>
          </a:p>
        </p:txBody>
      </p:sp>
      <p:grpSp>
        <p:nvGrpSpPr>
          <p:cNvPr id="15" name="Icon">
            <a:extLst>
              <a:ext uri="{FF2B5EF4-FFF2-40B4-BE49-F238E27FC236}">
                <a16:creationId xmlns:a16="http://schemas.microsoft.com/office/drawing/2014/main" id="{3594372B-7029-48D8-B2F9-CEE511A592E5}"/>
              </a:ext>
            </a:extLst>
          </p:cNvPr>
          <p:cNvGrpSpPr/>
          <p:nvPr/>
        </p:nvGrpSpPr>
        <p:grpSpPr>
          <a:xfrm>
            <a:off x="1223163" y="1788731"/>
            <a:ext cx="265939" cy="265939"/>
            <a:chOff x="3222625" y="2233613"/>
            <a:chExt cx="549275" cy="549275"/>
          </a:xfrm>
          <a:solidFill>
            <a:schemeClr val="accent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EB7F0C5-42D6-4F4B-87A1-464482DC43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22625" y="2233613"/>
              <a:ext cx="549275" cy="549275"/>
            </a:xfrm>
            <a:custGeom>
              <a:avLst/>
              <a:gdLst>
                <a:gd name="T0" fmla="*/ 102 w 2048"/>
                <a:gd name="T1" fmla="*/ 0 h 2048"/>
                <a:gd name="T2" fmla="*/ 0 w 2048"/>
                <a:gd name="T3" fmla="*/ 1468 h 2048"/>
                <a:gd name="T4" fmla="*/ 325 w 2048"/>
                <a:gd name="T5" fmla="*/ 1570 h 2048"/>
                <a:gd name="T6" fmla="*/ 1723 w 2048"/>
                <a:gd name="T7" fmla="*/ 1570 h 2048"/>
                <a:gd name="T8" fmla="*/ 2048 w 2048"/>
                <a:gd name="T9" fmla="*/ 1468 h 2048"/>
                <a:gd name="T10" fmla="*/ 1946 w 2048"/>
                <a:gd name="T11" fmla="*/ 0 h 2048"/>
                <a:gd name="T12" fmla="*/ 1946 w 2048"/>
                <a:gd name="T13" fmla="*/ 68 h 2048"/>
                <a:gd name="T14" fmla="*/ 1980 w 2048"/>
                <a:gd name="T15" fmla="*/ 273 h 2048"/>
                <a:gd name="T16" fmla="*/ 68 w 2048"/>
                <a:gd name="T17" fmla="*/ 102 h 2048"/>
                <a:gd name="T18" fmla="*/ 615 w 2048"/>
                <a:gd name="T19" fmla="*/ 1331 h 2048"/>
                <a:gd name="T20" fmla="*/ 452 w 2048"/>
                <a:gd name="T21" fmla="*/ 1668 h 2048"/>
                <a:gd name="T22" fmla="*/ 615 w 2048"/>
                <a:gd name="T23" fmla="*/ 1331 h 2048"/>
                <a:gd name="T24" fmla="*/ 1323 w 2048"/>
                <a:gd name="T25" fmla="*/ 974 h 2048"/>
                <a:gd name="T26" fmla="*/ 1058 w 2048"/>
                <a:gd name="T27" fmla="*/ 1263 h 2048"/>
                <a:gd name="T28" fmla="*/ 1058 w 2048"/>
                <a:gd name="T29" fmla="*/ 921 h 2048"/>
                <a:gd name="T30" fmla="*/ 1302 w 2048"/>
                <a:gd name="T31" fmla="*/ 907 h 2048"/>
                <a:gd name="T32" fmla="*/ 990 w 2048"/>
                <a:gd name="T33" fmla="*/ 618 h 2048"/>
                <a:gd name="T34" fmla="*/ 746 w 2048"/>
                <a:gd name="T35" fmla="*/ 907 h 2048"/>
                <a:gd name="T36" fmla="*/ 990 w 2048"/>
                <a:gd name="T37" fmla="*/ 989 h 2048"/>
                <a:gd name="T38" fmla="*/ 684 w 2048"/>
                <a:gd name="T39" fmla="*/ 1263 h 2048"/>
                <a:gd name="T40" fmla="*/ 990 w 2048"/>
                <a:gd name="T41" fmla="*/ 989 h 2048"/>
                <a:gd name="T42" fmla="*/ 990 w 2048"/>
                <a:gd name="T43" fmla="*/ 1331 h 2048"/>
                <a:gd name="T44" fmla="*/ 725 w 2048"/>
                <a:gd name="T45" fmla="*/ 1621 h 2048"/>
                <a:gd name="T46" fmla="*/ 990 w 2048"/>
                <a:gd name="T47" fmla="*/ 1673 h 2048"/>
                <a:gd name="T48" fmla="*/ 746 w 2048"/>
                <a:gd name="T49" fmla="*/ 1687 h 2048"/>
                <a:gd name="T50" fmla="*/ 1058 w 2048"/>
                <a:gd name="T51" fmla="*/ 1976 h 2048"/>
                <a:gd name="T52" fmla="*/ 1302 w 2048"/>
                <a:gd name="T53" fmla="*/ 1687 h 2048"/>
                <a:gd name="T54" fmla="*/ 1058 w 2048"/>
                <a:gd name="T55" fmla="*/ 1605 h 2048"/>
                <a:gd name="T56" fmla="*/ 1364 w 2048"/>
                <a:gd name="T57" fmla="*/ 1331 h 2048"/>
                <a:gd name="T58" fmla="*/ 1058 w 2048"/>
                <a:gd name="T59" fmla="*/ 1605 h 2048"/>
                <a:gd name="T60" fmla="*/ 1705 w 2048"/>
                <a:gd name="T61" fmla="*/ 1331 h 2048"/>
                <a:gd name="T62" fmla="*/ 1392 w 2048"/>
                <a:gd name="T63" fmla="*/ 1629 h 2048"/>
                <a:gd name="T64" fmla="*/ 1433 w 2048"/>
                <a:gd name="T65" fmla="*/ 1263 h 2048"/>
                <a:gd name="T66" fmla="*/ 1596 w 2048"/>
                <a:gd name="T67" fmla="*/ 926 h 2048"/>
                <a:gd name="T68" fmla="*/ 1433 w 2048"/>
                <a:gd name="T69" fmla="*/ 1263 h 2048"/>
                <a:gd name="T70" fmla="*/ 1231 w 2048"/>
                <a:gd name="T71" fmla="*/ 647 h 2048"/>
                <a:gd name="T72" fmla="*/ 1373 w 2048"/>
                <a:gd name="T73" fmla="*/ 899 h 2048"/>
                <a:gd name="T74" fmla="*/ 495 w 2048"/>
                <a:gd name="T75" fmla="*/ 866 h 2048"/>
                <a:gd name="T76" fmla="*/ 675 w 2048"/>
                <a:gd name="T77" fmla="*/ 899 h 2048"/>
                <a:gd name="T78" fmla="*/ 656 w 2048"/>
                <a:gd name="T79" fmla="*/ 965 h 2048"/>
                <a:gd name="T80" fmla="*/ 343 w 2048"/>
                <a:gd name="T81" fmla="*/ 1263 h 2048"/>
                <a:gd name="T82" fmla="*/ 495 w 2048"/>
                <a:gd name="T83" fmla="*/ 1728 h 2048"/>
                <a:gd name="T84" fmla="*/ 817 w 2048"/>
                <a:gd name="T85" fmla="*/ 1947 h 2048"/>
                <a:gd name="T86" fmla="*/ 1231 w 2048"/>
                <a:gd name="T87" fmla="*/ 1947 h 2048"/>
                <a:gd name="T88" fmla="*/ 1553 w 2048"/>
                <a:gd name="T89" fmla="*/ 1728 h 2048"/>
                <a:gd name="T90" fmla="*/ 1946 w 2048"/>
                <a:gd name="T91" fmla="*/ 1502 h 2048"/>
                <a:gd name="T92" fmla="*/ 1458 w 2048"/>
                <a:gd name="T93" fmla="*/ 684 h 2048"/>
                <a:gd name="T94" fmla="*/ 302 w 2048"/>
                <a:gd name="T95" fmla="*/ 1502 h 2048"/>
                <a:gd name="T96" fmla="*/ 68 w 2048"/>
                <a:gd name="T97" fmla="*/ 1468 h 2048"/>
                <a:gd name="T98" fmla="*/ 1980 w 2048"/>
                <a:gd name="T99" fmla="*/ 341 h 2048"/>
                <a:gd name="T100" fmla="*/ 1946 w 2048"/>
                <a:gd name="T101" fmla="*/ 1502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48" h="2048">
                  <a:moveTo>
                    <a:pt x="1946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46" y="0"/>
                    <a:pt x="0" y="46"/>
                    <a:pt x="0" y="102"/>
                  </a:cubicBezTo>
                  <a:cubicBezTo>
                    <a:pt x="0" y="1468"/>
                    <a:pt x="0" y="1468"/>
                    <a:pt x="0" y="1468"/>
                  </a:cubicBezTo>
                  <a:cubicBezTo>
                    <a:pt x="0" y="1524"/>
                    <a:pt x="46" y="1570"/>
                    <a:pt x="102" y="1570"/>
                  </a:cubicBezTo>
                  <a:cubicBezTo>
                    <a:pt x="325" y="1570"/>
                    <a:pt x="325" y="1570"/>
                    <a:pt x="325" y="1570"/>
                  </a:cubicBezTo>
                  <a:cubicBezTo>
                    <a:pt x="437" y="1858"/>
                    <a:pt x="715" y="2048"/>
                    <a:pt x="1024" y="2048"/>
                  </a:cubicBezTo>
                  <a:cubicBezTo>
                    <a:pt x="1333" y="2048"/>
                    <a:pt x="1611" y="1858"/>
                    <a:pt x="1723" y="1570"/>
                  </a:cubicBezTo>
                  <a:cubicBezTo>
                    <a:pt x="1946" y="1570"/>
                    <a:pt x="1946" y="1570"/>
                    <a:pt x="1946" y="1570"/>
                  </a:cubicBezTo>
                  <a:cubicBezTo>
                    <a:pt x="2002" y="1570"/>
                    <a:pt x="2048" y="1524"/>
                    <a:pt x="2048" y="1468"/>
                  </a:cubicBezTo>
                  <a:cubicBezTo>
                    <a:pt x="2048" y="102"/>
                    <a:pt x="2048" y="102"/>
                    <a:pt x="2048" y="102"/>
                  </a:cubicBezTo>
                  <a:cubicBezTo>
                    <a:pt x="2048" y="46"/>
                    <a:pt x="2002" y="0"/>
                    <a:pt x="1946" y="0"/>
                  </a:cubicBezTo>
                  <a:close/>
                  <a:moveTo>
                    <a:pt x="102" y="68"/>
                  </a:moveTo>
                  <a:cubicBezTo>
                    <a:pt x="1946" y="68"/>
                    <a:pt x="1946" y="68"/>
                    <a:pt x="1946" y="68"/>
                  </a:cubicBezTo>
                  <a:cubicBezTo>
                    <a:pt x="1964" y="68"/>
                    <a:pt x="1980" y="84"/>
                    <a:pt x="1980" y="102"/>
                  </a:cubicBezTo>
                  <a:cubicBezTo>
                    <a:pt x="1980" y="273"/>
                    <a:pt x="1980" y="273"/>
                    <a:pt x="1980" y="273"/>
                  </a:cubicBezTo>
                  <a:cubicBezTo>
                    <a:pt x="68" y="273"/>
                    <a:pt x="68" y="273"/>
                    <a:pt x="68" y="273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8" y="84"/>
                    <a:pt x="84" y="68"/>
                    <a:pt x="102" y="68"/>
                  </a:cubicBezTo>
                  <a:close/>
                  <a:moveTo>
                    <a:pt x="615" y="1331"/>
                  </a:moveTo>
                  <a:cubicBezTo>
                    <a:pt x="617" y="1432"/>
                    <a:pt x="631" y="1532"/>
                    <a:pt x="656" y="1629"/>
                  </a:cubicBezTo>
                  <a:cubicBezTo>
                    <a:pt x="587" y="1639"/>
                    <a:pt x="519" y="1652"/>
                    <a:pt x="452" y="1668"/>
                  </a:cubicBezTo>
                  <a:cubicBezTo>
                    <a:pt x="386" y="1567"/>
                    <a:pt x="349" y="1451"/>
                    <a:pt x="343" y="1331"/>
                  </a:cubicBezTo>
                  <a:lnTo>
                    <a:pt x="615" y="1331"/>
                  </a:lnTo>
                  <a:close/>
                  <a:moveTo>
                    <a:pt x="1058" y="989"/>
                  </a:moveTo>
                  <a:cubicBezTo>
                    <a:pt x="1149" y="988"/>
                    <a:pt x="1238" y="983"/>
                    <a:pt x="1323" y="974"/>
                  </a:cubicBezTo>
                  <a:cubicBezTo>
                    <a:pt x="1348" y="1068"/>
                    <a:pt x="1362" y="1165"/>
                    <a:pt x="1364" y="1263"/>
                  </a:cubicBezTo>
                  <a:cubicBezTo>
                    <a:pt x="1058" y="1263"/>
                    <a:pt x="1058" y="1263"/>
                    <a:pt x="1058" y="1263"/>
                  </a:cubicBezTo>
                  <a:lnTo>
                    <a:pt x="1058" y="989"/>
                  </a:lnTo>
                  <a:close/>
                  <a:moveTo>
                    <a:pt x="1058" y="921"/>
                  </a:moveTo>
                  <a:cubicBezTo>
                    <a:pt x="1058" y="618"/>
                    <a:pt x="1058" y="618"/>
                    <a:pt x="1058" y="618"/>
                  </a:cubicBezTo>
                  <a:cubicBezTo>
                    <a:pt x="1158" y="639"/>
                    <a:pt x="1246" y="749"/>
                    <a:pt x="1302" y="907"/>
                  </a:cubicBezTo>
                  <a:cubicBezTo>
                    <a:pt x="1223" y="915"/>
                    <a:pt x="1141" y="920"/>
                    <a:pt x="1058" y="921"/>
                  </a:cubicBezTo>
                  <a:close/>
                  <a:moveTo>
                    <a:pt x="990" y="618"/>
                  </a:moveTo>
                  <a:cubicBezTo>
                    <a:pt x="990" y="921"/>
                    <a:pt x="990" y="921"/>
                    <a:pt x="990" y="921"/>
                  </a:cubicBezTo>
                  <a:cubicBezTo>
                    <a:pt x="907" y="920"/>
                    <a:pt x="825" y="915"/>
                    <a:pt x="746" y="907"/>
                  </a:cubicBezTo>
                  <a:cubicBezTo>
                    <a:pt x="802" y="749"/>
                    <a:pt x="890" y="639"/>
                    <a:pt x="990" y="618"/>
                  </a:cubicBezTo>
                  <a:close/>
                  <a:moveTo>
                    <a:pt x="990" y="989"/>
                  </a:moveTo>
                  <a:cubicBezTo>
                    <a:pt x="990" y="1263"/>
                    <a:pt x="990" y="1263"/>
                    <a:pt x="990" y="1263"/>
                  </a:cubicBezTo>
                  <a:cubicBezTo>
                    <a:pt x="684" y="1263"/>
                    <a:pt x="684" y="1263"/>
                    <a:pt x="684" y="1263"/>
                  </a:cubicBezTo>
                  <a:cubicBezTo>
                    <a:pt x="686" y="1165"/>
                    <a:pt x="700" y="1068"/>
                    <a:pt x="725" y="974"/>
                  </a:cubicBezTo>
                  <a:cubicBezTo>
                    <a:pt x="810" y="983"/>
                    <a:pt x="899" y="988"/>
                    <a:pt x="990" y="989"/>
                  </a:cubicBezTo>
                  <a:close/>
                  <a:moveTo>
                    <a:pt x="684" y="1331"/>
                  </a:moveTo>
                  <a:cubicBezTo>
                    <a:pt x="990" y="1331"/>
                    <a:pt x="990" y="1331"/>
                    <a:pt x="990" y="1331"/>
                  </a:cubicBezTo>
                  <a:cubicBezTo>
                    <a:pt x="990" y="1605"/>
                    <a:pt x="990" y="1605"/>
                    <a:pt x="990" y="1605"/>
                  </a:cubicBezTo>
                  <a:cubicBezTo>
                    <a:pt x="899" y="1606"/>
                    <a:pt x="810" y="1611"/>
                    <a:pt x="725" y="1621"/>
                  </a:cubicBezTo>
                  <a:cubicBezTo>
                    <a:pt x="700" y="1526"/>
                    <a:pt x="686" y="1429"/>
                    <a:pt x="684" y="1331"/>
                  </a:cubicBezTo>
                  <a:close/>
                  <a:moveTo>
                    <a:pt x="990" y="1673"/>
                  </a:moveTo>
                  <a:cubicBezTo>
                    <a:pt x="990" y="1976"/>
                    <a:pt x="990" y="1976"/>
                    <a:pt x="990" y="1976"/>
                  </a:cubicBezTo>
                  <a:cubicBezTo>
                    <a:pt x="890" y="1955"/>
                    <a:pt x="802" y="1845"/>
                    <a:pt x="746" y="1687"/>
                  </a:cubicBezTo>
                  <a:cubicBezTo>
                    <a:pt x="825" y="1679"/>
                    <a:pt x="907" y="1674"/>
                    <a:pt x="990" y="1673"/>
                  </a:cubicBezTo>
                  <a:close/>
                  <a:moveTo>
                    <a:pt x="1058" y="1976"/>
                  </a:moveTo>
                  <a:cubicBezTo>
                    <a:pt x="1058" y="1673"/>
                    <a:pt x="1058" y="1673"/>
                    <a:pt x="1058" y="1673"/>
                  </a:cubicBezTo>
                  <a:cubicBezTo>
                    <a:pt x="1141" y="1674"/>
                    <a:pt x="1223" y="1679"/>
                    <a:pt x="1302" y="1687"/>
                  </a:cubicBezTo>
                  <a:cubicBezTo>
                    <a:pt x="1246" y="1845"/>
                    <a:pt x="1158" y="1955"/>
                    <a:pt x="1058" y="1976"/>
                  </a:cubicBezTo>
                  <a:close/>
                  <a:moveTo>
                    <a:pt x="1058" y="1605"/>
                  </a:moveTo>
                  <a:cubicBezTo>
                    <a:pt x="1058" y="1331"/>
                    <a:pt x="1058" y="1331"/>
                    <a:pt x="1058" y="1331"/>
                  </a:cubicBezTo>
                  <a:cubicBezTo>
                    <a:pt x="1364" y="1331"/>
                    <a:pt x="1364" y="1331"/>
                    <a:pt x="1364" y="1331"/>
                  </a:cubicBezTo>
                  <a:cubicBezTo>
                    <a:pt x="1362" y="1429"/>
                    <a:pt x="1348" y="1526"/>
                    <a:pt x="1323" y="1621"/>
                  </a:cubicBezTo>
                  <a:cubicBezTo>
                    <a:pt x="1238" y="1611"/>
                    <a:pt x="1149" y="1606"/>
                    <a:pt x="1058" y="1605"/>
                  </a:cubicBezTo>
                  <a:close/>
                  <a:moveTo>
                    <a:pt x="1433" y="1331"/>
                  </a:moveTo>
                  <a:cubicBezTo>
                    <a:pt x="1705" y="1331"/>
                    <a:pt x="1705" y="1331"/>
                    <a:pt x="1705" y="1331"/>
                  </a:cubicBezTo>
                  <a:cubicBezTo>
                    <a:pt x="1699" y="1451"/>
                    <a:pt x="1662" y="1567"/>
                    <a:pt x="1596" y="1668"/>
                  </a:cubicBezTo>
                  <a:cubicBezTo>
                    <a:pt x="1529" y="1652"/>
                    <a:pt x="1461" y="1639"/>
                    <a:pt x="1392" y="1629"/>
                  </a:cubicBezTo>
                  <a:cubicBezTo>
                    <a:pt x="1417" y="1532"/>
                    <a:pt x="1431" y="1432"/>
                    <a:pt x="1433" y="1331"/>
                  </a:cubicBezTo>
                  <a:close/>
                  <a:moveTo>
                    <a:pt x="1433" y="1263"/>
                  </a:moveTo>
                  <a:cubicBezTo>
                    <a:pt x="1431" y="1162"/>
                    <a:pt x="1417" y="1062"/>
                    <a:pt x="1392" y="965"/>
                  </a:cubicBezTo>
                  <a:cubicBezTo>
                    <a:pt x="1461" y="955"/>
                    <a:pt x="1529" y="943"/>
                    <a:pt x="1596" y="926"/>
                  </a:cubicBezTo>
                  <a:cubicBezTo>
                    <a:pt x="1662" y="1027"/>
                    <a:pt x="1699" y="1143"/>
                    <a:pt x="1705" y="1263"/>
                  </a:cubicBezTo>
                  <a:lnTo>
                    <a:pt x="1433" y="1263"/>
                  </a:lnTo>
                  <a:close/>
                  <a:moveTo>
                    <a:pt x="1373" y="899"/>
                  </a:moveTo>
                  <a:cubicBezTo>
                    <a:pt x="1344" y="806"/>
                    <a:pt x="1296" y="720"/>
                    <a:pt x="1231" y="647"/>
                  </a:cubicBezTo>
                  <a:cubicBezTo>
                    <a:pt x="1357" y="687"/>
                    <a:pt x="1469" y="764"/>
                    <a:pt x="1553" y="866"/>
                  </a:cubicBezTo>
                  <a:cubicBezTo>
                    <a:pt x="1496" y="879"/>
                    <a:pt x="1435" y="890"/>
                    <a:pt x="1373" y="899"/>
                  </a:cubicBezTo>
                  <a:close/>
                  <a:moveTo>
                    <a:pt x="675" y="899"/>
                  </a:moveTo>
                  <a:cubicBezTo>
                    <a:pt x="613" y="890"/>
                    <a:pt x="552" y="879"/>
                    <a:pt x="495" y="866"/>
                  </a:cubicBezTo>
                  <a:cubicBezTo>
                    <a:pt x="579" y="763"/>
                    <a:pt x="691" y="687"/>
                    <a:pt x="817" y="647"/>
                  </a:cubicBezTo>
                  <a:cubicBezTo>
                    <a:pt x="752" y="720"/>
                    <a:pt x="704" y="806"/>
                    <a:pt x="675" y="899"/>
                  </a:cubicBezTo>
                  <a:close/>
                  <a:moveTo>
                    <a:pt x="452" y="926"/>
                  </a:moveTo>
                  <a:cubicBezTo>
                    <a:pt x="519" y="943"/>
                    <a:pt x="587" y="955"/>
                    <a:pt x="656" y="965"/>
                  </a:cubicBezTo>
                  <a:cubicBezTo>
                    <a:pt x="631" y="1062"/>
                    <a:pt x="617" y="1162"/>
                    <a:pt x="615" y="1263"/>
                  </a:cubicBezTo>
                  <a:cubicBezTo>
                    <a:pt x="343" y="1263"/>
                    <a:pt x="343" y="1263"/>
                    <a:pt x="343" y="1263"/>
                  </a:cubicBezTo>
                  <a:cubicBezTo>
                    <a:pt x="349" y="1143"/>
                    <a:pt x="386" y="1027"/>
                    <a:pt x="452" y="926"/>
                  </a:cubicBezTo>
                  <a:close/>
                  <a:moveTo>
                    <a:pt x="495" y="1728"/>
                  </a:moveTo>
                  <a:cubicBezTo>
                    <a:pt x="552" y="1715"/>
                    <a:pt x="613" y="1704"/>
                    <a:pt x="675" y="1695"/>
                  </a:cubicBezTo>
                  <a:cubicBezTo>
                    <a:pt x="704" y="1789"/>
                    <a:pt x="752" y="1875"/>
                    <a:pt x="817" y="1947"/>
                  </a:cubicBezTo>
                  <a:cubicBezTo>
                    <a:pt x="691" y="1907"/>
                    <a:pt x="579" y="1831"/>
                    <a:pt x="495" y="1728"/>
                  </a:cubicBezTo>
                  <a:close/>
                  <a:moveTo>
                    <a:pt x="1231" y="1947"/>
                  </a:moveTo>
                  <a:cubicBezTo>
                    <a:pt x="1296" y="1875"/>
                    <a:pt x="1344" y="1789"/>
                    <a:pt x="1373" y="1695"/>
                  </a:cubicBezTo>
                  <a:cubicBezTo>
                    <a:pt x="1435" y="1704"/>
                    <a:pt x="1496" y="1715"/>
                    <a:pt x="1553" y="1728"/>
                  </a:cubicBezTo>
                  <a:cubicBezTo>
                    <a:pt x="1469" y="1831"/>
                    <a:pt x="1357" y="1907"/>
                    <a:pt x="1231" y="1947"/>
                  </a:cubicBezTo>
                  <a:close/>
                  <a:moveTo>
                    <a:pt x="1946" y="1502"/>
                  </a:moveTo>
                  <a:cubicBezTo>
                    <a:pt x="1746" y="1502"/>
                    <a:pt x="1746" y="1502"/>
                    <a:pt x="1746" y="1502"/>
                  </a:cubicBezTo>
                  <a:cubicBezTo>
                    <a:pt x="1833" y="1196"/>
                    <a:pt x="1718" y="868"/>
                    <a:pt x="1458" y="684"/>
                  </a:cubicBezTo>
                  <a:cubicBezTo>
                    <a:pt x="1198" y="500"/>
                    <a:pt x="850" y="500"/>
                    <a:pt x="590" y="684"/>
                  </a:cubicBezTo>
                  <a:cubicBezTo>
                    <a:pt x="330" y="868"/>
                    <a:pt x="215" y="1196"/>
                    <a:pt x="302" y="1502"/>
                  </a:cubicBezTo>
                  <a:cubicBezTo>
                    <a:pt x="102" y="1502"/>
                    <a:pt x="102" y="1502"/>
                    <a:pt x="102" y="1502"/>
                  </a:cubicBezTo>
                  <a:cubicBezTo>
                    <a:pt x="84" y="1502"/>
                    <a:pt x="68" y="1487"/>
                    <a:pt x="68" y="1468"/>
                  </a:cubicBezTo>
                  <a:cubicBezTo>
                    <a:pt x="68" y="341"/>
                    <a:pt x="68" y="341"/>
                    <a:pt x="68" y="341"/>
                  </a:cubicBezTo>
                  <a:cubicBezTo>
                    <a:pt x="1980" y="341"/>
                    <a:pt x="1980" y="341"/>
                    <a:pt x="1980" y="341"/>
                  </a:cubicBezTo>
                  <a:cubicBezTo>
                    <a:pt x="1980" y="1468"/>
                    <a:pt x="1980" y="1468"/>
                    <a:pt x="1980" y="1468"/>
                  </a:cubicBezTo>
                  <a:cubicBezTo>
                    <a:pt x="1980" y="1487"/>
                    <a:pt x="1964" y="1502"/>
                    <a:pt x="1946" y="15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Oval 6">
              <a:extLst>
                <a:ext uri="{FF2B5EF4-FFF2-40B4-BE49-F238E27FC236}">
                  <a16:creationId xmlns:a16="http://schemas.microsoft.com/office/drawing/2014/main" id="{FA8512C0-EAF9-4EB2-B94A-B61365DC1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138" y="2270126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74EC1E26-84E7-4427-B744-727D0A0D7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650" y="2270126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133769EE-CBD7-406A-B112-3738B537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163" y="2270126"/>
              <a:ext cx="19050" cy="190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422F7E03-C259-496F-BAD7-5DBBA0EED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750" y="2270126"/>
              <a:ext cx="73025" cy="19050"/>
            </a:xfrm>
            <a:custGeom>
              <a:avLst/>
              <a:gdLst>
                <a:gd name="T0" fmla="*/ 35 w 274"/>
                <a:gd name="T1" fmla="*/ 68 h 68"/>
                <a:gd name="T2" fmla="*/ 239 w 274"/>
                <a:gd name="T3" fmla="*/ 68 h 68"/>
                <a:gd name="T4" fmla="*/ 274 w 274"/>
                <a:gd name="T5" fmla="*/ 34 h 68"/>
                <a:gd name="T6" fmla="*/ 239 w 274"/>
                <a:gd name="T7" fmla="*/ 0 h 68"/>
                <a:gd name="T8" fmla="*/ 35 w 274"/>
                <a:gd name="T9" fmla="*/ 0 h 68"/>
                <a:gd name="T10" fmla="*/ 0 w 274"/>
                <a:gd name="T11" fmla="*/ 34 h 68"/>
                <a:gd name="T12" fmla="*/ 35 w 274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68">
                  <a:moveTo>
                    <a:pt x="35" y="68"/>
                  </a:moveTo>
                  <a:cubicBezTo>
                    <a:pt x="239" y="68"/>
                    <a:pt x="239" y="68"/>
                    <a:pt x="239" y="68"/>
                  </a:cubicBezTo>
                  <a:cubicBezTo>
                    <a:pt x="258" y="68"/>
                    <a:pt x="274" y="53"/>
                    <a:pt x="274" y="34"/>
                  </a:cubicBezTo>
                  <a:cubicBezTo>
                    <a:pt x="274" y="15"/>
                    <a:pt x="258" y="0"/>
                    <a:pt x="2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53"/>
                    <a:pt x="16" y="68"/>
                    <a:pt x="3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450E577C-B0B0-4361-BC95-406CAA699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325" y="2270126"/>
              <a:ext cx="119063" cy="19050"/>
            </a:xfrm>
            <a:custGeom>
              <a:avLst/>
              <a:gdLst>
                <a:gd name="T0" fmla="*/ 34 w 443"/>
                <a:gd name="T1" fmla="*/ 68 h 68"/>
                <a:gd name="T2" fmla="*/ 409 w 443"/>
                <a:gd name="T3" fmla="*/ 68 h 68"/>
                <a:gd name="T4" fmla="*/ 443 w 443"/>
                <a:gd name="T5" fmla="*/ 34 h 68"/>
                <a:gd name="T6" fmla="*/ 409 w 443"/>
                <a:gd name="T7" fmla="*/ 0 h 68"/>
                <a:gd name="T8" fmla="*/ 34 w 443"/>
                <a:gd name="T9" fmla="*/ 0 h 68"/>
                <a:gd name="T10" fmla="*/ 0 w 443"/>
                <a:gd name="T11" fmla="*/ 34 h 68"/>
                <a:gd name="T12" fmla="*/ 34 w 443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68">
                  <a:moveTo>
                    <a:pt x="34" y="68"/>
                  </a:moveTo>
                  <a:cubicBezTo>
                    <a:pt x="409" y="68"/>
                    <a:pt x="409" y="68"/>
                    <a:pt x="409" y="68"/>
                  </a:cubicBezTo>
                  <a:cubicBezTo>
                    <a:pt x="428" y="68"/>
                    <a:pt x="443" y="53"/>
                    <a:pt x="443" y="34"/>
                  </a:cubicBezTo>
                  <a:cubicBezTo>
                    <a:pt x="443" y="15"/>
                    <a:pt x="428" y="0"/>
                    <a:pt x="40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53"/>
                    <a:pt x="15" y="68"/>
                    <a:pt x="3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5BF43AC-7F9F-41F4-9891-3710F18F8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138" y="2352676"/>
              <a:ext cx="36513" cy="19050"/>
            </a:xfrm>
            <a:custGeom>
              <a:avLst/>
              <a:gdLst>
                <a:gd name="T0" fmla="*/ 34 w 136"/>
                <a:gd name="T1" fmla="*/ 68 h 68"/>
                <a:gd name="T2" fmla="*/ 102 w 136"/>
                <a:gd name="T3" fmla="*/ 68 h 68"/>
                <a:gd name="T4" fmla="*/ 136 w 136"/>
                <a:gd name="T5" fmla="*/ 34 h 68"/>
                <a:gd name="T6" fmla="*/ 102 w 136"/>
                <a:gd name="T7" fmla="*/ 0 h 68"/>
                <a:gd name="T8" fmla="*/ 34 w 136"/>
                <a:gd name="T9" fmla="*/ 0 h 68"/>
                <a:gd name="T10" fmla="*/ 0 w 136"/>
                <a:gd name="T11" fmla="*/ 34 h 68"/>
                <a:gd name="T12" fmla="*/ 34 w 136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68">
                  <a:moveTo>
                    <a:pt x="34" y="68"/>
                  </a:moveTo>
                  <a:cubicBezTo>
                    <a:pt x="102" y="68"/>
                    <a:pt x="102" y="68"/>
                    <a:pt x="102" y="68"/>
                  </a:cubicBezTo>
                  <a:cubicBezTo>
                    <a:pt x="121" y="68"/>
                    <a:pt x="136" y="53"/>
                    <a:pt x="136" y="34"/>
                  </a:cubicBezTo>
                  <a:cubicBezTo>
                    <a:pt x="136" y="15"/>
                    <a:pt x="121" y="0"/>
                    <a:pt x="10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53"/>
                    <a:pt x="15" y="68"/>
                    <a:pt x="3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FFDA0612-99B9-49C8-B6F0-B845F9507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138" y="2425701"/>
              <a:ext cx="36513" cy="19050"/>
            </a:xfrm>
            <a:custGeom>
              <a:avLst/>
              <a:gdLst>
                <a:gd name="T0" fmla="*/ 102 w 136"/>
                <a:gd name="T1" fmla="*/ 0 h 68"/>
                <a:gd name="T2" fmla="*/ 34 w 136"/>
                <a:gd name="T3" fmla="*/ 0 h 68"/>
                <a:gd name="T4" fmla="*/ 0 w 136"/>
                <a:gd name="T5" fmla="*/ 34 h 68"/>
                <a:gd name="T6" fmla="*/ 34 w 136"/>
                <a:gd name="T7" fmla="*/ 68 h 68"/>
                <a:gd name="T8" fmla="*/ 102 w 136"/>
                <a:gd name="T9" fmla="*/ 68 h 68"/>
                <a:gd name="T10" fmla="*/ 136 w 136"/>
                <a:gd name="T11" fmla="*/ 34 h 68"/>
                <a:gd name="T12" fmla="*/ 102 w 136"/>
                <a:gd name="T1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68">
                  <a:moveTo>
                    <a:pt x="102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53"/>
                    <a:pt x="15" y="68"/>
                    <a:pt x="34" y="68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21" y="68"/>
                    <a:pt x="136" y="53"/>
                    <a:pt x="136" y="34"/>
                  </a:cubicBezTo>
                  <a:cubicBezTo>
                    <a:pt x="136" y="15"/>
                    <a:pt x="121" y="0"/>
                    <a:pt x="1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523A05FB-74DD-45D9-959F-D3E2159EE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700" y="2352676"/>
              <a:ext cx="100013" cy="19050"/>
            </a:xfrm>
            <a:custGeom>
              <a:avLst/>
              <a:gdLst>
                <a:gd name="T0" fmla="*/ 342 w 376"/>
                <a:gd name="T1" fmla="*/ 0 h 68"/>
                <a:gd name="T2" fmla="*/ 34 w 376"/>
                <a:gd name="T3" fmla="*/ 0 h 68"/>
                <a:gd name="T4" fmla="*/ 0 w 376"/>
                <a:gd name="T5" fmla="*/ 34 h 68"/>
                <a:gd name="T6" fmla="*/ 34 w 376"/>
                <a:gd name="T7" fmla="*/ 68 h 68"/>
                <a:gd name="T8" fmla="*/ 342 w 376"/>
                <a:gd name="T9" fmla="*/ 68 h 68"/>
                <a:gd name="T10" fmla="*/ 376 w 376"/>
                <a:gd name="T11" fmla="*/ 34 h 68"/>
                <a:gd name="T12" fmla="*/ 342 w 376"/>
                <a:gd name="T1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68">
                  <a:moveTo>
                    <a:pt x="342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53"/>
                    <a:pt x="16" y="68"/>
                    <a:pt x="34" y="68"/>
                  </a:cubicBezTo>
                  <a:cubicBezTo>
                    <a:pt x="342" y="68"/>
                    <a:pt x="342" y="68"/>
                    <a:pt x="342" y="68"/>
                  </a:cubicBezTo>
                  <a:cubicBezTo>
                    <a:pt x="361" y="68"/>
                    <a:pt x="376" y="53"/>
                    <a:pt x="376" y="34"/>
                  </a:cubicBezTo>
                  <a:cubicBezTo>
                    <a:pt x="376" y="15"/>
                    <a:pt x="361" y="0"/>
                    <a:pt x="34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A2CA71D0-DB08-4C06-8938-619CB4AA2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138" y="2389188"/>
              <a:ext cx="92075" cy="19050"/>
            </a:xfrm>
            <a:custGeom>
              <a:avLst/>
              <a:gdLst>
                <a:gd name="T0" fmla="*/ 307 w 341"/>
                <a:gd name="T1" fmla="*/ 0 h 69"/>
                <a:gd name="T2" fmla="*/ 34 w 341"/>
                <a:gd name="T3" fmla="*/ 0 h 69"/>
                <a:gd name="T4" fmla="*/ 0 w 341"/>
                <a:gd name="T5" fmla="*/ 34 h 69"/>
                <a:gd name="T6" fmla="*/ 34 w 341"/>
                <a:gd name="T7" fmla="*/ 69 h 69"/>
                <a:gd name="T8" fmla="*/ 307 w 341"/>
                <a:gd name="T9" fmla="*/ 69 h 69"/>
                <a:gd name="T10" fmla="*/ 341 w 341"/>
                <a:gd name="T11" fmla="*/ 34 h 69"/>
                <a:gd name="T12" fmla="*/ 307 w 341"/>
                <a:gd name="T1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1" h="69">
                  <a:moveTo>
                    <a:pt x="30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0" y="34"/>
                  </a:cubicBezTo>
                  <a:cubicBezTo>
                    <a:pt x="0" y="53"/>
                    <a:pt x="15" y="69"/>
                    <a:pt x="34" y="69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26" y="69"/>
                    <a:pt x="341" y="53"/>
                    <a:pt x="341" y="34"/>
                  </a:cubicBezTo>
                  <a:cubicBezTo>
                    <a:pt x="341" y="16"/>
                    <a:pt x="326" y="0"/>
                    <a:pt x="30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6" name="Icon">
            <a:extLst>
              <a:ext uri="{FF2B5EF4-FFF2-40B4-BE49-F238E27FC236}">
                <a16:creationId xmlns:a16="http://schemas.microsoft.com/office/drawing/2014/main" id="{11BFC8E0-89B5-44A9-A814-DFFFC3C41182}"/>
              </a:ext>
            </a:extLst>
          </p:cNvPr>
          <p:cNvGrpSpPr/>
          <p:nvPr/>
        </p:nvGrpSpPr>
        <p:grpSpPr>
          <a:xfrm>
            <a:off x="3786209" y="1788731"/>
            <a:ext cx="282638" cy="265939"/>
            <a:chOff x="5211762" y="1531938"/>
            <a:chExt cx="725488" cy="682625"/>
          </a:xfrm>
          <a:solidFill>
            <a:schemeClr val="accent2"/>
          </a:solidFill>
        </p:grpSpPr>
        <p:sp>
          <p:nvSpPr>
            <p:cNvPr id="27" name="Freeform 36">
              <a:extLst>
                <a:ext uri="{FF2B5EF4-FFF2-40B4-BE49-F238E27FC236}">
                  <a16:creationId xmlns:a16="http://schemas.microsoft.com/office/drawing/2014/main" id="{E14F39D9-DB74-489B-AAE0-70539ED50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1762" y="1531938"/>
              <a:ext cx="725488" cy="682625"/>
            </a:xfrm>
            <a:custGeom>
              <a:avLst/>
              <a:gdLst>
                <a:gd name="T0" fmla="*/ 619 w 2174"/>
                <a:gd name="T1" fmla="*/ 1910 h 2048"/>
                <a:gd name="T2" fmla="*/ 962 w 2174"/>
                <a:gd name="T3" fmla="*/ 1911 h 2048"/>
                <a:gd name="T4" fmla="*/ 1178 w 2174"/>
                <a:gd name="T5" fmla="*/ 2014 h 2048"/>
                <a:gd name="T6" fmla="*/ 1997 w 2174"/>
                <a:gd name="T7" fmla="*/ 2014 h 2048"/>
                <a:gd name="T8" fmla="*/ 2163 w 2174"/>
                <a:gd name="T9" fmla="*/ 1390 h 2048"/>
                <a:gd name="T10" fmla="*/ 1963 w 2174"/>
                <a:gd name="T11" fmla="*/ 922 h 2048"/>
                <a:gd name="T12" fmla="*/ 983 w 2174"/>
                <a:gd name="T13" fmla="*/ 2 h 2048"/>
                <a:gd name="T14" fmla="*/ 246 w 2174"/>
                <a:gd name="T15" fmla="*/ 458 h 2048"/>
                <a:gd name="T16" fmla="*/ 566 w 2174"/>
                <a:gd name="T17" fmla="*/ 1790 h 2048"/>
                <a:gd name="T18" fmla="*/ 632 w 2174"/>
                <a:gd name="T19" fmla="*/ 1707 h 2048"/>
                <a:gd name="T20" fmla="*/ 973 w 2174"/>
                <a:gd name="T21" fmla="*/ 1843 h 2048"/>
                <a:gd name="T22" fmla="*/ 1042 w 2174"/>
                <a:gd name="T23" fmla="*/ 1775 h 2048"/>
                <a:gd name="T24" fmla="*/ 1485 w 2174"/>
                <a:gd name="T25" fmla="*/ 1707 h 2048"/>
                <a:gd name="T26" fmla="*/ 1690 w 2174"/>
                <a:gd name="T27" fmla="*/ 1980 h 2048"/>
                <a:gd name="T28" fmla="*/ 1929 w 2174"/>
                <a:gd name="T29" fmla="*/ 1399 h 2048"/>
                <a:gd name="T30" fmla="*/ 1758 w 2174"/>
                <a:gd name="T31" fmla="*/ 1707 h 2048"/>
                <a:gd name="T32" fmla="*/ 1417 w 2174"/>
                <a:gd name="T33" fmla="*/ 1980 h 2048"/>
                <a:gd name="T34" fmla="*/ 1212 w 2174"/>
                <a:gd name="T35" fmla="*/ 1365 h 2048"/>
                <a:gd name="T36" fmla="*/ 1587 w 2174"/>
                <a:gd name="T37" fmla="*/ 913 h 2048"/>
                <a:gd name="T38" fmla="*/ 1963 w 2174"/>
                <a:gd name="T39" fmla="*/ 1365 h 2048"/>
                <a:gd name="T40" fmla="*/ 1634 w 2174"/>
                <a:gd name="T41" fmla="*/ 863 h 2048"/>
                <a:gd name="T42" fmla="*/ 1497 w 2174"/>
                <a:gd name="T43" fmla="*/ 901 h 2048"/>
                <a:gd name="T44" fmla="*/ 1488 w 2174"/>
                <a:gd name="T45" fmla="*/ 828 h 2048"/>
                <a:gd name="T46" fmla="*/ 1575 w 2174"/>
                <a:gd name="T47" fmla="*/ 366 h 2048"/>
                <a:gd name="T48" fmla="*/ 1895 w 2174"/>
                <a:gd name="T49" fmla="*/ 922 h 2048"/>
                <a:gd name="T50" fmla="*/ 1512 w 2174"/>
                <a:gd name="T51" fmla="*/ 394 h 2048"/>
                <a:gd name="T52" fmla="*/ 1444 w 2174"/>
                <a:gd name="T53" fmla="*/ 775 h 2048"/>
                <a:gd name="T54" fmla="*/ 1029 w 2174"/>
                <a:gd name="T55" fmla="*/ 1316 h 2048"/>
                <a:gd name="T56" fmla="*/ 1178 w 2174"/>
                <a:gd name="T57" fmla="*/ 1434 h 2048"/>
                <a:gd name="T58" fmla="*/ 984 w 2174"/>
                <a:gd name="T59" fmla="*/ 1639 h 2048"/>
                <a:gd name="T60" fmla="*/ 632 w 2174"/>
                <a:gd name="T61" fmla="*/ 1638 h 2048"/>
                <a:gd name="T62" fmla="*/ 359 w 2174"/>
                <a:gd name="T63" fmla="*/ 568 h 2048"/>
                <a:gd name="T64" fmla="*/ 390 w 2174"/>
                <a:gd name="T65" fmla="*/ 727 h 2048"/>
                <a:gd name="T66" fmla="*/ 448 w 2174"/>
                <a:gd name="T67" fmla="*/ 1038 h 2048"/>
                <a:gd name="T68" fmla="*/ 483 w 2174"/>
                <a:gd name="T69" fmla="*/ 1280 h 2048"/>
                <a:gd name="T70" fmla="*/ 668 w 2174"/>
                <a:gd name="T71" fmla="*/ 1275 h 2048"/>
                <a:gd name="T72" fmla="*/ 872 w 2174"/>
                <a:gd name="T73" fmla="*/ 1018 h 2048"/>
                <a:gd name="T74" fmla="*/ 736 w 2174"/>
                <a:gd name="T75" fmla="*/ 655 h 2048"/>
                <a:gd name="T76" fmla="*/ 662 w 2174"/>
                <a:gd name="T77" fmla="*/ 406 h 2048"/>
                <a:gd name="T78" fmla="*/ 910 w 2174"/>
                <a:gd name="T79" fmla="*/ 306 h 2048"/>
                <a:gd name="T80" fmla="*/ 1473 w 2174"/>
                <a:gd name="T81" fmla="*/ 186 h 2048"/>
                <a:gd name="T82" fmla="*/ 796 w 2174"/>
                <a:gd name="T83" fmla="*/ 336 h 2048"/>
                <a:gd name="T84" fmla="*/ 562 w 2174"/>
                <a:gd name="T85" fmla="*/ 440 h 2048"/>
                <a:gd name="T86" fmla="*/ 751 w 2174"/>
                <a:gd name="T87" fmla="*/ 744 h 2048"/>
                <a:gd name="T88" fmla="*/ 744 w 2174"/>
                <a:gd name="T89" fmla="*/ 1058 h 2048"/>
                <a:gd name="T90" fmla="*/ 566 w 2174"/>
                <a:gd name="T91" fmla="*/ 1297 h 2048"/>
                <a:gd name="T92" fmla="*/ 558 w 2174"/>
                <a:gd name="T93" fmla="*/ 1204 h 2048"/>
                <a:gd name="T94" fmla="*/ 405 w 2174"/>
                <a:gd name="T95" fmla="*/ 852 h 2048"/>
                <a:gd name="T96" fmla="*/ 491 w 2174"/>
                <a:gd name="T97" fmla="*/ 616 h 2048"/>
                <a:gd name="T98" fmla="*/ 937 w 2174"/>
                <a:gd name="T99" fmla="*/ 75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74" h="2048">
                  <a:moveTo>
                    <a:pt x="529" y="1687"/>
                  </a:moveTo>
                  <a:cubicBezTo>
                    <a:pt x="507" y="1711"/>
                    <a:pt x="496" y="1743"/>
                    <a:pt x="495" y="1775"/>
                  </a:cubicBezTo>
                  <a:cubicBezTo>
                    <a:pt x="496" y="1845"/>
                    <a:pt x="549" y="1903"/>
                    <a:pt x="619" y="1910"/>
                  </a:cubicBezTo>
                  <a:cubicBezTo>
                    <a:pt x="689" y="1917"/>
                    <a:pt x="752" y="1869"/>
                    <a:pt x="766" y="1800"/>
                  </a:cubicBezTo>
                  <a:cubicBezTo>
                    <a:pt x="792" y="1809"/>
                    <a:pt x="819" y="1816"/>
                    <a:pt x="845" y="1821"/>
                  </a:cubicBezTo>
                  <a:cubicBezTo>
                    <a:pt x="863" y="1872"/>
                    <a:pt x="909" y="1907"/>
                    <a:pt x="962" y="1911"/>
                  </a:cubicBezTo>
                  <a:cubicBezTo>
                    <a:pt x="1016" y="1915"/>
                    <a:pt x="1066" y="1888"/>
                    <a:pt x="1092" y="1841"/>
                  </a:cubicBezTo>
                  <a:cubicBezTo>
                    <a:pt x="1121" y="1840"/>
                    <a:pt x="1150" y="1836"/>
                    <a:pt x="1178" y="1832"/>
                  </a:cubicBezTo>
                  <a:cubicBezTo>
                    <a:pt x="1178" y="2014"/>
                    <a:pt x="1178" y="2014"/>
                    <a:pt x="1178" y="2014"/>
                  </a:cubicBezTo>
                  <a:cubicBezTo>
                    <a:pt x="1178" y="2033"/>
                    <a:pt x="1193" y="2048"/>
                    <a:pt x="1212" y="2048"/>
                  </a:cubicBezTo>
                  <a:cubicBezTo>
                    <a:pt x="1963" y="2048"/>
                    <a:pt x="1963" y="2048"/>
                    <a:pt x="1963" y="2048"/>
                  </a:cubicBezTo>
                  <a:cubicBezTo>
                    <a:pt x="1982" y="2048"/>
                    <a:pt x="1997" y="2033"/>
                    <a:pt x="1997" y="2014"/>
                  </a:cubicBezTo>
                  <a:cubicBezTo>
                    <a:pt x="1997" y="1434"/>
                    <a:pt x="1997" y="1434"/>
                    <a:pt x="1997" y="1434"/>
                  </a:cubicBezTo>
                  <a:cubicBezTo>
                    <a:pt x="2100" y="1434"/>
                    <a:pt x="2100" y="1434"/>
                    <a:pt x="2100" y="1434"/>
                  </a:cubicBezTo>
                  <a:cubicBezTo>
                    <a:pt x="2128" y="1434"/>
                    <a:pt x="2153" y="1416"/>
                    <a:pt x="2163" y="1390"/>
                  </a:cubicBezTo>
                  <a:cubicBezTo>
                    <a:pt x="2174" y="1364"/>
                    <a:pt x="2167" y="1334"/>
                    <a:pt x="2146" y="1315"/>
                  </a:cubicBezTo>
                  <a:cubicBezTo>
                    <a:pt x="1939" y="1132"/>
                    <a:pt x="1939" y="1132"/>
                    <a:pt x="1939" y="1132"/>
                  </a:cubicBezTo>
                  <a:cubicBezTo>
                    <a:pt x="1955" y="1063"/>
                    <a:pt x="1963" y="992"/>
                    <a:pt x="1963" y="922"/>
                  </a:cubicBezTo>
                  <a:cubicBezTo>
                    <a:pt x="1963" y="413"/>
                    <a:pt x="1550" y="1"/>
                    <a:pt x="1042" y="0"/>
                  </a:cubicBezTo>
                  <a:cubicBezTo>
                    <a:pt x="1022" y="0"/>
                    <a:pt x="1004" y="1"/>
                    <a:pt x="985" y="2"/>
                  </a:cubicBezTo>
                  <a:cubicBezTo>
                    <a:pt x="983" y="2"/>
                    <a:pt x="983" y="2"/>
                    <a:pt x="983" y="2"/>
                  </a:cubicBezTo>
                  <a:cubicBezTo>
                    <a:pt x="677" y="22"/>
                    <a:pt x="401" y="192"/>
                    <a:pt x="246" y="457"/>
                  </a:cubicBezTo>
                  <a:cubicBezTo>
                    <a:pt x="246" y="457"/>
                    <a:pt x="246" y="457"/>
                    <a:pt x="246" y="457"/>
                  </a:cubicBezTo>
                  <a:cubicBezTo>
                    <a:pt x="246" y="457"/>
                    <a:pt x="246" y="457"/>
                    <a:pt x="246" y="458"/>
                  </a:cubicBezTo>
                  <a:cubicBezTo>
                    <a:pt x="0" y="878"/>
                    <a:pt x="124" y="1416"/>
                    <a:pt x="529" y="1687"/>
                  </a:cubicBezTo>
                  <a:close/>
                  <a:moveTo>
                    <a:pt x="632" y="1843"/>
                  </a:moveTo>
                  <a:cubicBezTo>
                    <a:pt x="600" y="1843"/>
                    <a:pt x="573" y="1821"/>
                    <a:pt x="566" y="1790"/>
                  </a:cubicBezTo>
                  <a:cubicBezTo>
                    <a:pt x="559" y="1759"/>
                    <a:pt x="575" y="1727"/>
                    <a:pt x="603" y="1713"/>
                  </a:cubicBezTo>
                  <a:cubicBezTo>
                    <a:pt x="603" y="1713"/>
                    <a:pt x="603" y="1713"/>
                    <a:pt x="603" y="1713"/>
                  </a:cubicBezTo>
                  <a:cubicBezTo>
                    <a:pt x="612" y="1709"/>
                    <a:pt x="622" y="1707"/>
                    <a:pt x="632" y="1707"/>
                  </a:cubicBezTo>
                  <a:cubicBezTo>
                    <a:pt x="670" y="1707"/>
                    <a:pt x="700" y="1737"/>
                    <a:pt x="700" y="1775"/>
                  </a:cubicBezTo>
                  <a:cubicBezTo>
                    <a:pt x="700" y="1813"/>
                    <a:pt x="670" y="1843"/>
                    <a:pt x="632" y="1843"/>
                  </a:cubicBezTo>
                  <a:close/>
                  <a:moveTo>
                    <a:pt x="973" y="1843"/>
                  </a:moveTo>
                  <a:cubicBezTo>
                    <a:pt x="936" y="1843"/>
                    <a:pt x="905" y="1813"/>
                    <a:pt x="905" y="1775"/>
                  </a:cubicBezTo>
                  <a:cubicBezTo>
                    <a:pt x="905" y="1737"/>
                    <a:pt x="936" y="1707"/>
                    <a:pt x="973" y="1707"/>
                  </a:cubicBezTo>
                  <a:cubicBezTo>
                    <a:pt x="1011" y="1707"/>
                    <a:pt x="1042" y="1737"/>
                    <a:pt x="1042" y="1775"/>
                  </a:cubicBezTo>
                  <a:cubicBezTo>
                    <a:pt x="1042" y="1813"/>
                    <a:pt x="1011" y="1843"/>
                    <a:pt x="973" y="1843"/>
                  </a:cubicBezTo>
                  <a:close/>
                  <a:moveTo>
                    <a:pt x="1485" y="1980"/>
                  </a:moveTo>
                  <a:cubicBezTo>
                    <a:pt x="1485" y="1707"/>
                    <a:pt x="1485" y="1707"/>
                    <a:pt x="1485" y="1707"/>
                  </a:cubicBezTo>
                  <a:cubicBezTo>
                    <a:pt x="1485" y="1650"/>
                    <a:pt x="1531" y="1604"/>
                    <a:pt x="1588" y="1604"/>
                  </a:cubicBezTo>
                  <a:cubicBezTo>
                    <a:pt x="1644" y="1604"/>
                    <a:pt x="1690" y="1650"/>
                    <a:pt x="1690" y="1707"/>
                  </a:cubicBezTo>
                  <a:cubicBezTo>
                    <a:pt x="1690" y="1980"/>
                    <a:pt x="1690" y="1980"/>
                    <a:pt x="1690" y="1980"/>
                  </a:cubicBezTo>
                  <a:lnTo>
                    <a:pt x="1485" y="1980"/>
                  </a:lnTo>
                  <a:close/>
                  <a:moveTo>
                    <a:pt x="1963" y="1365"/>
                  </a:moveTo>
                  <a:cubicBezTo>
                    <a:pt x="1944" y="1365"/>
                    <a:pt x="1929" y="1381"/>
                    <a:pt x="1929" y="1399"/>
                  </a:cubicBezTo>
                  <a:cubicBezTo>
                    <a:pt x="1929" y="1980"/>
                    <a:pt x="1929" y="1980"/>
                    <a:pt x="1929" y="1980"/>
                  </a:cubicBezTo>
                  <a:cubicBezTo>
                    <a:pt x="1758" y="1980"/>
                    <a:pt x="1758" y="1980"/>
                    <a:pt x="1758" y="1980"/>
                  </a:cubicBezTo>
                  <a:cubicBezTo>
                    <a:pt x="1758" y="1707"/>
                    <a:pt x="1758" y="1707"/>
                    <a:pt x="1758" y="1707"/>
                  </a:cubicBezTo>
                  <a:cubicBezTo>
                    <a:pt x="1758" y="1612"/>
                    <a:pt x="1682" y="1536"/>
                    <a:pt x="1588" y="1536"/>
                  </a:cubicBezTo>
                  <a:cubicBezTo>
                    <a:pt x="1493" y="1536"/>
                    <a:pt x="1417" y="1612"/>
                    <a:pt x="1417" y="1707"/>
                  </a:cubicBezTo>
                  <a:cubicBezTo>
                    <a:pt x="1417" y="1980"/>
                    <a:pt x="1417" y="1980"/>
                    <a:pt x="1417" y="1980"/>
                  </a:cubicBezTo>
                  <a:cubicBezTo>
                    <a:pt x="1246" y="1980"/>
                    <a:pt x="1246" y="1980"/>
                    <a:pt x="1246" y="1980"/>
                  </a:cubicBezTo>
                  <a:cubicBezTo>
                    <a:pt x="1246" y="1399"/>
                    <a:pt x="1246" y="1399"/>
                    <a:pt x="1246" y="1399"/>
                  </a:cubicBezTo>
                  <a:cubicBezTo>
                    <a:pt x="1246" y="1381"/>
                    <a:pt x="1231" y="1365"/>
                    <a:pt x="1212" y="1365"/>
                  </a:cubicBezTo>
                  <a:cubicBezTo>
                    <a:pt x="1075" y="1366"/>
                    <a:pt x="1075" y="1366"/>
                    <a:pt x="1075" y="1366"/>
                  </a:cubicBezTo>
                  <a:cubicBezTo>
                    <a:pt x="1587" y="913"/>
                    <a:pt x="1587" y="913"/>
                    <a:pt x="1587" y="913"/>
                  </a:cubicBezTo>
                  <a:cubicBezTo>
                    <a:pt x="1587" y="913"/>
                    <a:pt x="1587" y="913"/>
                    <a:pt x="1587" y="913"/>
                  </a:cubicBezTo>
                  <a:cubicBezTo>
                    <a:pt x="1588" y="913"/>
                    <a:pt x="1588" y="913"/>
                    <a:pt x="1588" y="913"/>
                  </a:cubicBezTo>
                  <a:cubicBezTo>
                    <a:pt x="2100" y="1365"/>
                    <a:pt x="2100" y="1365"/>
                    <a:pt x="2100" y="1365"/>
                  </a:cubicBezTo>
                  <a:lnTo>
                    <a:pt x="1963" y="1365"/>
                  </a:lnTo>
                  <a:close/>
                  <a:moveTo>
                    <a:pt x="1895" y="922"/>
                  </a:moveTo>
                  <a:cubicBezTo>
                    <a:pt x="1895" y="975"/>
                    <a:pt x="1890" y="1028"/>
                    <a:pt x="1880" y="1080"/>
                  </a:cubicBezTo>
                  <a:cubicBezTo>
                    <a:pt x="1634" y="863"/>
                    <a:pt x="1634" y="863"/>
                    <a:pt x="1634" y="863"/>
                  </a:cubicBezTo>
                  <a:cubicBezTo>
                    <a:pt x="1608" y="838"/>
                    <a:pt x="1568" y="838"/>
                    <a:pt x="1541" y="862"/>
                  </a:cubicBezTo>
                  <a:cubicBezTo>
                    <a:pt x="1498" y="901"/>
                    <a:pt x="1498" y="901"/>
                    <a:pt x="1498" y="901"/>
                  </a:cubicBezTo>
                  <a:cubicBezTo>
                    <a:pt x="1497" y="901"/>
                    <a:pt x="1497" y="901"/>
                    <a:pt x="1497" y="901"/>
                  </a:cubicBezTo>
                  <a:cubicBezTo>
                    <a:pt x="1489" y="902"/>
                    <a:pt x="1480" y="902"/>
                    <a:pt x="1472" y="899"/>
                  </a:cubicBezTo>
                  <a:cubicBezTo>
                    <a:pt x="1461" y="896"/>
                    <a:pt x="1452" y="886"/>
                    <a:pt x="1449" y="874"/>
                  </a:cubicBezTo>
                  <a:cubicBezTo>
                    <a:pt x="1449" y="860"/>
                    <a:pt x="1470" y="843"/>
                    <a:pt x="1488" y="828"/>
                  </a:cubicBezTo>
                  <a:cubicBezTo>
                    <a:pt x="1496" y="821"/>
                    <a:pt x="1496" y="821"/>
                    <a:pt x="1496" y="821"/>
                  </a:cubicBezTo>
                  <a:cubicBezTo>
                    <a:pt x="1600" y="731"/>
                    <a:pt x="1644" y="591"/>
                    <a:pt x="1609" y="458"/>
                  </a:cubicBezTo>
                  <a:cubicBezTo>
                    <a:pt x="1600" y="427"/>
                    <a:pt x="1589" y="396"/>
                    <a:pt x="1575" y="366"/>
                  </a:cubicBezTo>
                  <a:cubicBezTo>
                    <a:pt x="1561" y="338"/>
                    <a:pt x="1550" y="308"/>
                    <a:pt x="1542" y="277"/>
                  </a:cubicBezTo>
                  <a:cubicBezTo>
                    <a:pt x="1538" y="261"/>
                    <a:pt x="1536" y="244"/>
                    <a:pt x="1536" y="227"/>
                  </a:cubicBezTo>
                  <a:cubicBezTo>
                    <a:pt x="1761" y="387"/>
                    <a:pt x="1895" y="646"/>
                    <a:pt x="1895" y="922"/>
                  </a:cubicBezTo>
                  <a:close/>
                  <a:moveTo>
                    <a:pt x="1473" y="186"/>
                  </a:moveTo>
                  <a:cubicBezTo>
                    <a:pt x="1466" y="221"/>
                    <a:pt x="1466" y="258"/>
                    <a:pt x="1475" y="294"/>
                  </a:cubicBezTo>
                  <a:cubicBezTo>
                    <a:pt x="1485" y="328"/>
                    <a:pt x="1497" y="362"/>
                    <a:pt x="1512" y="394"/>
                  </a:cubicBezTo>
                  <a:cubicBezTo>
                    <a:pt x="1525" y="420"/>
                    <a:pt x="1535" y="448"/>
                    <a:pt x="1543" y="476"/>
                  </a:cubicBezTo>
                  <a:cubicBezTo>
                    <a:pt x="1570" y="583"/>
                    <a:pt x="1535" y="696"/>
                    <a:pt x="1452" y="769"/>
                  </a:cubicBezTo>
                  <a:cubicBezTo>
                    <a:pt x="1444" y="775"/>
                    <a:pt x="1444" y="775"/>
                    <a:pt x="1444" y="775"/>
                  </a:cubicBezTo>
                  <a:cubicBezTo>
                    <a:pt x="1410" y="797"/>
                    <a:pt x="1386" y="833"/>
                    <a:pt x="1381" y="873"/>
                  </a:cubicBezTo>
                  <a:cubicBezTo>
                    <a:pt x="1382" y="909"/>
                    <a:pt x="1403" y="941"/>
                    <a:pt x="1434" y="957"/>
                  </a:cubicBezTo>
                  <a:cubicBezTo>
                    <a:pt x="1029" y="1316"/>
                    <a:pt x="1029" y="1316"/>
                    <a:pt x="1029" y="1316"/>
                  </a:cubicBezTo>
                  <a:cubicBezTo>
                    <a:pt x="1009" y="1335"/>
                    <a:pt x="1002" y="1364"/>
                    <a:pt x="1012" y="1390"/>
                  </a:cubicBezTo>
                  <a:cubicBezTo>
                    <a:pt x="1023" y="1416"/>
                    <a:pt x="1048" y="1434"/>
                    <a:pt x="1076" y="1434"/>
                  </a:cubicBezTo>
                  <a:cubicBezTo>
                    <a:pt x="1178" y="1434"/>
                    <a:pt x="1178" y="1434"/>
                    <a:pt x="1178" y="1434"/>
                  </a:cubicBezTo>
                  <a:cubicBezTo>
                    <a:pt x="1178" y="1763"/>
                    <a:pt x="1178" y="1763"/>
                    <a:pt x="1178" y="1763"/>
                  </a:cubicBezTo>
                  <a:cubicBezTo>
                    <a:pt x="1155" y="1767"/>
                    <a:pt x="1133" y="1770"/>
                    <a:pt x="1110" y="1771"/>
                  </a:cubicBezTo>
                  <a:cubicBezTo>
                    <a:pt x="1108" y="1702"/>
                    <a:pt x="1054" y="1644"/>
                    <a:pt x="984" y="1639"/>
                  </a:cubicBezTo>
                  <a:cubicBezTo>
                    <a:pt x="914" y="1633"/>
                    <a:pt x="852" y="1681"/>
                    <a:pt x="839" y="1750"/>
                  </a:cubicBezTo>
                  <a:cubicBezTo>
                    <a:pt x="812" y="1744"/>
                    <a:pt x="785" y="1736"/>
                    <a:pt x="759" y="1726"/>
                  </a:cubicBezTo>
                  <a:cubicBezTo>
                    <a:pt x="739" y="1674"/>
                    <a:pt x="689" y="1639"/>
                    <a:pt x="632" y="1638"/>
                  </a:cubicBezTo>
                  <a:cubicBezTo>
                    <a:pt x="618" y="1639"/>
                    <a:pt x="604" y="1641"/>
                    <a:pt x="591" y="1645"/>
                  </a:cubicBezTo>
                  <a:cubicBezTo>
                    <a:pt x="210" y="1409"/>
                    <a:pt x="78" y="919"/>
                    <a:pt x="287" y="523"/>
                  </a:cubicBezTo>
                  <a:cubicBezTo>
                    <a:pt x="311" y="538"/>
                    <a:pt x="335" y="553"/>
                    <a:pt x="359" y="568"/>
                  </a:cubicBezTo>
                  <a:cubicBezTo>
                    <a:pt x="389" y="586"/>
                    <a:pt x="418" y="607"/>
                    <a:pt x="425" y="633"/>
                  </a:cubicBezTo>
                  <a:cubicBezTo>
                    <a:pt x="427" y="665"/>
                    <a:pt x="416" y="696"/>
                    <a:pt x="394" y="720"/>
                  </a:cubicBezTo>
                  <a:cubicBezTo>
                    <a:pt x="390" y="727"/>
                    <a:pt x="390" y="727"/>
                    <a:pt x="390" y="727"/>
                  </a:cubicBezTo>
                  <a:cubicBezTo>
                    <a:pt x="360" y="762"/>
                    <a:pt x="341" y="805"/>
                    <a:pt x="336" y="850"/>
                  </a:cubicBezTo>
                  <a:cubicBezTo>
                    <a:pt x="335" y="913"/>
                    <a:pt x="377" y="958"/>
                    <a:pt x="414" y="998"/>
                  </a:cubicBezTo>
                  <a:cubicBezTo>
                    <a:pt x="426" y="1012"/>
                    <a:pt x="438" y="1025"/>
                    <a:pt x="448" y="1038"/>
                  </a:cubicBezTo>
                  <a:cubicBezTo>
                    <a:pt x="482" y="1084"/>
                    <a:pt x="497" y="1140"/>
                    <a:pt x="490" y="1196"/>
                  </a:cubicBezTo>
                  <a:cubicBezTo>
                    <a:pt x="489" y="1203"/>
                    <a:pt x="488" y="1209"/>
                    <a:pt x="487" y="1216"/>
                  </a:cubicBezTo>
                  <a:cubicBezTo>
                    <a:pt x="483" y="1237"/>
                    <a:pt x="481" y="1259"/>
                    <a:pt x="483" y="1280"/>
                  </a:cubicBezTo>
                  <a:cubicBezTo>
                    <a:pt x="486" y="1322"/>
                    <a:pt x="517" y="1357"/>
                    <a:pt x="558" y="1365"/>
                  </a:cubicBezTo>
                  <a:cubicBezTo>
                    <a:pt x="561" y="1365"/>
                    <a:pt x="565" y="1365"/>
                    <a:pt x="568" y="1365"/>
                  </a:cubicBezTo>
                  <a:cubicBezTo>
                    <a:pt x="626" y="1365"/>
                    <a:pt x="656" y="1300"/>
                    <a:pt x="668" y="1275"/>
                  </a:cubicBezTo>
                  <a:cubicBezTo>
                    <a:pt x="685" y="1238"/>
                    <a:pt x="706" y="1202"/>
                    <a:pt x="732" y="1170"/>
                  </a:cubicBezTo>
                  <a:cubicBezTo>
                    <a:pt x="750" y="1148"/>
                    <a:pt x="771" y="1128"/>
                    <a:pt x="792" y="1107"/>
                  </a:cubicBezTo>
                  <a:cubicBezTo>
                    <a:pt x="821" y="1080"/>
                    <a:pt x="847" y="1050"/>
                    <a:pt x="872" y="1018"/>
                  </a:cubicBezTo>
                  <a:cubicBezTo>
                    <a:pt x="914" y="959"/>
                    <a:pt x="945" y="868"/>
                    <a:pt x="905" y="792"/>
                  </a:cubicBezTo>
                  <a:cubicBezTo>
                    <a:pt x="877" y="745"/>
                    <a:pt x="835" y="708"/>
                    <a:pt x="785" y="685"/>
                  </a:cubicBezTo>
                  <a:cubicBezTo>
                    <a:pt x="767" y="675"/>
                    <a:pt x="751" y="666"/>
                    <a:pt x="736" y="655"/>
                  </a:cubicBezTo>
                  <a:cubicBezTo>
                    <a:pt x="691" y="623"/>
                    <a:pt x="657" y="578"/>
                    <a:pt x="638" y="527"/>
                  </a:cubicBezTo>
                  <a:cubicBezTo>
                    <a:pt x="629" y="503"/>
                    <a:pt x="625" y="478"/>
                    <a:pt x="629" y="453"/>
                  </a:cubicBezTo>
                  <a:cubicBezTo>
                    <a:pt x="632" y="433"/>
                    <a:pt x="644" y="415"/>
                    <a:pt x="662" y="406"/>
                  </a:cubicBezTo>
                  <a:cubicBezTo>
                    <a:pt x="682" y="400"/>
                    <a:pt x="704" y="400"/>
                    <a:pt x="725" y="405"/>
                  </a:cubicBezTo>
                  <a:cubicBezTo>
                    <a:pt x="757" y="411"/>
                    <a:pt x="790" y="409"/>
                    <a:pt x="821" y="399"/>
                  </a:cubicBezTo>
                  <a:cubicBezTo>
                    <a:pt x="861" y="380"/>
                    <a:pt x="892" y="347"/>
                    <a:pt x="910" y="306"/>
                  </a:cubicBezTo>
                  <a:cubicBezTo>
                    <a:pt x="950" y="230"/>
                    <a:pt x="984" y="151"/>
                    <a:pt x="1012" y="69"/>
                  </a:cubicBezTo>
                  <a:cubicBezTo>
                    <a:pt x="1022" y="69"/>
                    <a:pt x="1032" y="68"/>
                    <a:pt x="1042" y="68"/>
                  </a:cubicBezTo>
                  <a:cubicBezTo>
                    <a:pt x="1193" y="68"/>
                    <a:pt x="1342" y="109"/>
                    <a:pt x="1473" y="186"/>
                  </a:cubicBezTo>
                  <a:close/>
                  <a:moveTo>
                    <a:pt x="937" y="75"/>
                  </a:moveTo>
                  <a:cubicBezTo>
                    <a:pt x="913" y="143"/>
                    <a:pt x="883" y="210"/>
                    <a:pt x="849" y="274"/>
                  </a:cubicBezTo>
                  <a:cubicBezTo>
                    <a:pt x="839" y="300"/>
                    <a:pt x="820" y="321"/>
                    <a:pt x="796" y="336"/>
                  </a:cubicBezTo>
                  <a:cubicBezTo>
                    <a:pt x="776" y="341"/>
                    <a:pt x="754" y="341"/>
                    <a:pt x="733" y="337"/>
                  </a:cubicBezTo>
                  <a:cubicBezTo>
                    <a:pt x="700" y="330"/>
                    <a:pt x="666" y="332"/>
                    <a:pt x="634" y="344"/>
                  </a:cubicBezTo>
                  <a:cubicBezTo>
                    <a:pt x="596" y="362"/>
                    <a:pt x="568" y="398"/>
                    <a:pt x="562" y="440"/>
                  </a:cubicBezTo>
                  <a:cubicBezTo>
                    <a:pt x="556" y="477"/>
                    <a:pt x="560" y="515"/>
                    <a:pt x="574" y="550"/>
                  </a:cubicBezTo>
                  <a:cubicBezTo>
                    <a:pt x="598" y="614"/>
                    <a:pt x="640" y="670"/>
                    <a:pt x="696" y="710"/>
                  </a:cubicBezTo>
                  <a:cubicBezTo>
                    <a:pt x="714" y="723"/>
                    <a:pt x="732" y="734"/>
                    <a:pt x="751" y="744"/>
                  </a:cubicBezTo>
                  <a:cubicBezTo>
                    <a:pt x="789" y="761"/>
                    <a:pt x="821" y="788"/>
                    <a:pt x="845" y="823"/>
                  </a:cubicBezTo>
                  <a:cubicBezTo>
                    <a:pt x="871" y="872"/>
                    <a:pt x="847" y="935"/>
                    <a:pt x="817" y="978"/>
                  </a:cubicBezTo>
                  <a:cubicBezTo>
                    <a:pt x="794" y="1007"/>
                    <a:pt x="770" y="1034"/>
                    <a:pt x="744" y="1058"/>
                  </a:cubicBezTo>
                  <a:cubicBezTo>
                    <a:pt x="722" y="1080"/>
                    <a:pt x="700" y="1102"/>
                    <a:pt x="680" y="1126"/>
                  </a:cubicBezTo>
                  <a:cubicBezTo>
                    <a:pt x="650" y="1163"/>
                    <a:pt x="625" y="1203"/>
                    <a:pt x="606" y="1246"/>
                  </a:cubicBezTo>
                  <a:cubicBezTo>
                    <a:pt x="585" y="1292"/>
                    <a:pt x="572" y="1298"/>
                    <a:pt x="566" y="1297"/>
                  </a:cubicBezTo>
                  <a:cubicBezTo>
                    <a:pt x="561" y="1296"/>
                    <a:pt x="553" y="1285"/>
                    <a:pt x="551" y="1272"/>
                  </a:cubicBezTo>
                  <a:cubicBezTo>
                    <a:pt x="550" y="1257"/>
                    <a:pt x="551" y="1242"/>
                    <a:pt x="554" y="1227"/>
                  </a:cubicBezTo>
                  <a:cubicBezTo>
                    <a:pt x="556" y="1219"/>
                    <a:pt x="557" y="1212"/>
                    <a:pt x="558" y="1204"/>
                  </a:cubicBezTo>
                  <a:cubicBezTo>
                    <a:pt x="567" y="1131"/>
                    <a:pt x="547" y="1057"/>
                    <a:pt x="502" y="997"/>
                  </a:cubicBezTo>
                  <a:cubicBezTo>
                    <a:pt x="490" y="982"/>
                    <a:pt x="477" y="967"/>
                    <a:pt x="464" y="952"/>
                  </a:cubicBezTo>
                  <a:cubicBezTo>
                    <a:pt x="433" y="919"/>
                    <a:pt x="404" y="887"/>
                    <a:pt x="405" y="852"/>
                  </a:cubicBezTo>
                  <a:cubicBezTo>
                    <a:pt x="410" y="820"/>
                    <a:pt x="424" y="790"/>
                    <a:pt x="446" y="766"/>
                  </a:cubicBezTo>
                  <a:cubicBezTo>
                    <a:pt x="450" y="759"/>
                    <a:pt x="450" y="759"/>
                    <a:pt x="450" y="759"/>
                  </a:cubicBezTo>
                  <a:cubicBezTo>
                    <a:pt x="484" y="720"/>
                    <a:pt x="499" y="667"/>
                    <a:pt x="491" y="616"/>
                  </a:cubicBezTo>
                  <a:cubicBezTo>
                    <a:pt x="474" y="569"/>
                    <a:pt x="440" y="532"/>
                    <a:pt x="395" y="510"/>
                  </a:cubicBezTo>
                  <a:cubicBezTo>
                    <a:pt x="371" y="495"/>
                    <a:pt x="346" y="480"/>
                    <a:pt x="322" y="464"/>
                  </a:cubicBezTo>
                  <a:cubicBezTo>
                    <a:pt x="459" y="249"/>
                    <a:pt x="684" y="106"/>
                    <a:pt x="93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470F6DFC-C51A-41C8-A579-39A06EA46D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0538" y="1644651"/>
              <a:ext cx="100013" cy="112713"/>
            </a:xfrm>
            <a:custGeom>
              <a:avLst/>
              <a:gdLst>
                <a:gd name="T0" fmla="*/ 81 w 300"/>
                <a:gd name="T1" fmla="*/ 296 h 339"/>
                <a:gd name="T2" fmla="*/ 108 w 300"/>
                <a:gd name="T3" fmla="*/ 298 h 339"/>
                <a:gd name="T4" fmla="*/ 142 w 300"/>
                <a:gd name="T5" fmla="*/ 303 h 339"/>
                <a:gd name="T6" fmla="*/ 162 w 300"/>
                <a:gd name="T7" fmla="*/ 315 h 339"/>
                <a:gd name="T8" fmla="*/ 184 w 300"/>
                <a:gd name="T9" fmla="*/ 328 h 339"/>
                <a:gd name="T10" fmla="*/ 226 w 300"/>
                <a:gd name="T11" fmla="*/ 338 h 339"/>
                <a:gd name="T12" fmla="*/ 271 w 300"/>
                <a:gd name="T13" fmla="*/ 323 h 339"/>
                <a:gd name="T14" fmla="*/ 294 w 300"/>
                <a:gd name="T15" fmla="*/ 248 h 339"/>
                <a:gd name="T16" fmla="*/ 283 w 300"/>
                <a:gd name="T17" fmla="*/ 213 h 339"/>
                <a:gd name="T18" fmla="*/ 278 w 300"/>
                <a:gd name="T19" fmla="*/ 201 h 339"/>
                <a:gd name="T20" fmla="*/ 274 w 300"/>
                <a:gd name="T21" fmla="*/ 135 h 339"/>
                <a:gd name="T22" fmla="*/ 254 w 300"/>
                <a:gd name="T23" fmla="*/ 15 h 339"/>
                <a:gd name="T24" fmla="*/ 180 w 300"/>
                <a:gd name="T25" fmla="*/ 16 h 339"/>
                <a:gd name="T26" fmla="*/ 80 w 300"/>
                <a:gd name="T27" fmla="*/ 102 h 339"/>
                <a:gd name="T28" fmla="*/ 44 w 300"/>
                <a:gd name="T29" fmla="*/ 138 h 339"/>
                <a:gd name="T30" fmla="*/ 2 w 300"/>
                <a:gd name="T31" fmla="*/ 228 h 339"/>
                <a:gd name="T32" fmla="*/ 81 w 300"/>
                <a:gd name="T33" fmla="*/ 296 h 339"/>
                <a:gd name="T34" fmla="*/ 91 w 300"/>
                <a:gd name="T35" fmla="*/ 188 h 339"/>
                <a:gd name="T36" fmla="*/ 129 w 300"/>
                <a:gd name="T37" fmla="*/ 150 h 339"/>
                <a:gd name="T38" fmla="*/ 212 w 300"/>
                <a:gd name="T39" fmla="*/ 77 h 339"/>
                <a:gd name="T40" fmla="*/ 207 w 300"/>
                <a:gd name="T41" fmla="*/ 120 h 339"/>
                <a:gd name="T42" fmla="*/ 213 w 300"/>
                <a:gd name="T43" fmla="*/ 224 h 339"/>
                <a:gd name="T44" fmla="*/ 220 w 300"/>
                <a:gd name="T45" fmla="*/ 239 h 339"/>
                <a:gd name="T46" fmla="*/ 227 w 300"/>
                <a:gd name="T47" fmla="*/ 261 h 339"/>
                <a:gd name="T48" fmla="*/ 228 w 300"/>
                <a:gd name="T49" fmla="*/ 270 h 339"/>
                <a:gd name="T50" fmla="*/ 215 w 300"/>
                <a:gd name="T51" fmla="*/ 267 h 339"/>
                <a:gd name="T52" fmla="*/ 199 w 300"/>
                <a:gd name="T53" fmla="*/ 257 h 339"/>
                <a:gd name="T54" fmla="*/ 166 w 300"/>
                <a:gd name="T55" fmla="*/ 240 h 339"/>
                <a:gd name="T56" fmla="*/ 113 w 300"/>
                <a:gd name="T57" fmla="*/ 230 h 339"/>
                <a:gd name="T58" fmla="*/ 91 w 300"/>
                <a:gd name="T59" fmla="*/ 228 h 339"/>
                <a:gd name="T60" fmla="*/ 69 w 300"/>
                <a:gd name="T61" fmla="*/ 217 h 339"/>
                <a:gd name="T62" fmla="*/ 91 w 300"/>
                <a:gd name="T63" fmla="*/ 188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0" h="339">
                  <a:moveTo>
                    <a:pt x="81" y="296"/>
                  </a:moveTo>
                  <a:cubicBezTo>
                    <a:pt x="90" y="297"/>
                    <a:pt x="99" y="298"/>
                    <a:pt x="108" y="298"/>
                  </a:cubicBezTo>
                  <a:cubicBezTo>
                    <a:pt x="120" y="298"/>
                    <a:pt x="131" y="300"/>
                    <a:pt x="142" y="303"/>
                  </a:cubicBezTo>
                  <a:cubicBezTo>
                    <a:pt x="149" y="306"/>
                    <a:pt x="155" y="310"/>
                    <a:pt x="162" y="315"/>
                  </a:cubicBezTo>
                  <a:cubicBezTo>
                    <a:pt x="169" y="319"/>
                    <a:pt x="176" y="324"/>
                    <a:pt x="184" y="328"/>
                  </a:cubicBezTo>
                  <a:cubicBezTo>
                    <a:pt x="197" y="335"/>
                    <a:pt x="212" y="338"/>
                    <a:pt x="226" y="338"/>
                  </a:cubicBezTo>
                  <a:cubicBezTo>
                    <a:pt x="243" y="339"/>
                    <a:pt x="258" y="333"/>
                    <a:pt x="271" y="323"/>
                  </a:cubicBezTo>
                  <a:cubicBezTo>
                    <a:pt x="292" y="304"/>
                    <a:pt x="300" y="276"/>
                    <a:pt x="294" y="248"/>
                  </a:cubicBezTo>
                  <a:cubicBezTo>
                    <a:pt x="292" y="236"/>
                    <a:pt x="288" y="224"/>
                    <a:pt x="283" y="213"/>
                  </a:cubicBezTo>
                  <a:cubicBezTo>
                    <a:pt x="281" y="209"/>
                    <a:pt x="279" y="205"/>
                    <a:pt x="278" y="201"/>
                  </a:cubicBezTo>
                  <a:cubicBezTo>
                    <a:pt x="270" y="179"/>
                    <a:pt x="269" y="157"/>
                    <a:pt x="274" y="135"/>
                  </a:cubicBezTo>
                  <a:cubicBezTo>
                    <a:pt x="282" y="101"/>
                    <a:pt x="289" y="41"/>
                    <a:pt x="254" y="15"/>
                  </a:cubicBezTo>
                  <a:cubicBezTo>
                    <a:pt x="232" y="0"/>
                    <a:pt x="202" y="0"/>
                    <a:pt x="180" y="16"/>
                  </a:cubicBezTo>
                  <a:cubicBezTo>
                    <a:pt x="143" y="40"/>
                    <a:pt x="109" y="69"/>
                    <a:pt x="80" y="102"/>
                  </a:cubicBezTo>
                  <a:cubicBezTo>
                    <a:pt x="68" y="115"/>
                    <a:pt x="56" y="127"/>
                    <a:pt x="44" y="138"/>
                  </a:cubicBezTo>
                  <a:cubicBezTo>
                    <a:pt x="16" y="159"/>
                    <a:pt x="0" y="193"/>
                    <a:pt x="2" y="228"/>
                  </a:cubicBezTo>
                  <a:cubicBezTo>
                    <a:pt x="10" y="265"/>
                    <a:pt x="42" y="293"/>
                    <a:pt x="81" y="296"/>
                  </a:cubicBezTo>
                  <a:close/>
                  <a:moveTo>
                    <a:pt x="91" y="188"/>
                  </a:moveTo>
                  <a:cubicBezTo>
                    <a:pt x="103" y="177"/>
                    <a:pt x="116" y="163"/>
                    <a:pt x="129" y="150"/>
                  </a:cubicBezTo>
                  <a:cubicBezTo>
                    <a:pt x="153" y="122"/>
                    <a:pt x="181" y="97"/>
                    <a:pt x="212" y="77"/>
                  </a:cubicBezTo>
                  <a:cubicBezTo>
                    <a:pt x="212" y="91"/>
                    <a:pt x="211" y="106"/>
                    <a:pt x="207" y="120"/>
                  </a:cubicBezTo>
                  <a:cubicBezTo>
                    <a:pt x="200" y="154"/>
                    <a:pt x="202" y="190"/>
                    <a:pt x="213" y="224"/>
                  </a:cubicBezTo>
                  <a:cubicBezTo>
                    <a:pt x="215" y="229"/>
                    <a:pt x="217" y="234"/>
                    <a:pt x="220" y="239"/>
                  </a:cubicBezTo>
                  <a:cubicBezTo>
                    <a:pt x="223" y="246"/>
                    <a:pt x="225" y="253"/>
                    <a:pt x="227" y="261"/>
                  </a:cubicBezTo>
                  <a:cubicBezTo>
                    <a:pt x="228" y="266"/>
                    <a:pt x="227" y="270"/>
                    <a:pt x="228" y="270"/>
                  </a:cubicBezTo>
                  <a:cubicBezTo>
                    <a:pt x="223" y="270"/>
                    <a:pt x="219" y="269"/>
                    <a:pt x="215" y="267"/>
                  </a:cubicBezTo>
                  <a:cubicBezTo>
                    <a:pt x="209" y="264"/>
                    <a:pt x="204" y="261"/>
                    <a:pt x="199" y="257"/>
                  </a:cubicBezTo>
                  <a:cubicBezTo>
                    <a:pt x="189" y="250"/>
                    <a:pt x="178" y="244"/>
                    <a:pt x="166" y="240"/>
                  </a:cubicBezTo>
                  <a:cubicBezTo>
                    <a:pt x="149" y="234"/>
                    <a:pt x="131" y="230"/>
                    <a:pt x="113" y="230"/>
                  </a:cubicBezTo>
                  <a:cubicBezTo>
                    <a:pt x="106" y="230"/>
                    <a:pt x="98" y="229"/>
                    <a:pt x="91" y="228"/>
                  </a:cubicBezTo>
                  <a:cubicBezTo>
                    <a:pt x="83" y="228"/>
                    <a:pt x="75" y="224"/>
                    <a:pt x="69" y="217"/>
                  </a:cubicBezTo>
                  <a:cubicBezTo>
                    <a:pt x="69" y="215"/>
                    <a:pt x="69" y="208"/>
                    <a:pt x="91" y="1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8">
              <a:extLst>
                <a:ext uri="{FF2B5EF4-FFF2-40B4-BE49-F238E27FC236}">
                  <a16:creationId xmlns:a16="http://schemas.microsoft.com/office/drawing/2014/main" id="{3773D458-7DE8-4BFC-8B78-684DC5FE7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2563" y="2078038"/>
              <a:ext cx="92075" cy="90488"/>
            </a:xfrm>
            <a:custGeom>
              <a:avLst/>
              <a:gdLst>
                <a:gd name="T0" fmla="*/ 0 w 273"/>
                <a:gd name="T1" fmla="*/ 137 h 273"/>
                <a:gd name="T2" fmla="*/ 137 w 273"/>
                <a:gd name="T3" fmla="*/ 273 h 273"/>
                <a:gd name="T4" fmla="*/ 273 w 273"/>
                <a:gd name="T5" fmla="*/ 137 h 273"/>
                <a:gd name="T6" fmla="*/ 137 w 273"/>
                <a:gd name="T7" fmla="*/ 0 h 273"/>
                <a:gd name="T8" fmla="*/ 0 w 273"/>
                <a:gd name="T9" fmla="*/ 137 h 273"/>
                <a:gd name="T10" fmla="*/ 205 w 273"/>
                <a:gd name="T11" fmla="*/ 137 h 273"/>
                <a:gd name="T12" fmla="*/ 137 w 273"/>
                <a:gd name="T13" fmla="*/ 205 h 273"/>
                <a:gd name="T14" fmla="*/ 68 w 273"/>
                <a:gd name="T15" fmla="*/ 137 h 273"/>
                <a:gd name="T16" fmla="*/ 137 w 273"/>
                <a:gd name="T17" fmla="*/ 69 h 273"/>
                <a:gd name="T18" fmla="*/ 205 w 273"/>
                <a:gd name="T19" fmla="*/ 137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273">
                  <a:moveTo>
                    <a:pt x="0" y="137"/>
                  </a:moveTo>
                  <a:cubicBezTo>
                    <a:pt x="0" y="212"/>
                    <a:pt x="61" y="273"/>
                    <a:pt x="137" y="273"/>
                  </a:cubicBezTo>
                  <a:cubicBezTo>
                    <a:pt x="212" y="273"/>
                    <a:pt x="273" y="212"/>
                    <a:pt x="273" y="137"/>
                  </a:cubicBezTo>
                  <a:cubicBezTo>
                    <a:pt x="273" y="62"/>
                    <a:pt x="212" y="0"/>
                    <a:pt x="137" y="0"/>
                  </a:cubicBezTo>
                  <a:cubicBezTo>
                    <a:pt x="61" y="0"/>
                    <a:pt x="0" y="62"/>
                    <a:pt x="0" y="137"/>
                  </a:cubicBezTo>
                  <a:close/>
                  <a:moveTo>
                    <a:pt x="205" y="137"/>
                  </a:moveTo>
                  <a:cubicBezTo>
                    <a:pt x="205" y="175"/>
                    <a:pt x="174" y="205"/>
                    <a:pt x="137" y="205"/>
                  </a:cubicBezTo>
                  <a:cubicBezTo>
                    <a:pt x="99" y="205"/>
                    <a:pt x="68" y="175"/>
                    <a:pt x="68" y="137"/>
                  </a:cubicBezTo>
                  <a:cubicBezTo>
                    <a:pt x="68" y="99"/>
                    <a:pt x="99" y="69"/>
                    <a:pt x="137" y="69"/>
                  </a:cubicBezTo>
                  <a:cubicBezTo>
                    <a:pt x="174" y="69"/>
                    <a:pt x="205" y="99"/>
                    <a:pt x="205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Icon">
            <a:extLst>
              <a:ext uri="{FF2B5EF4-FFF2-40B4-BE49-F238E27FC236}">
                <a16:creationId xmlns:a16="http://schemas.microsoft.com/office/drawing/2014/main" id="{8B60B82C-B426-4E86-96A7-60B3D8517531}"/>
              </a:ext>
            </a:extLst>
          </p:cNvPr>
          <p:cNvGrpSpPr/>
          <p:nvPr/>
        </p:nvGrpSpPr>
        <p:grpSpPr>
          <a:xfrm>
            <a:off x="6349695" y="1783343"/>
            <a:ext cx="265308" cy="265308"/>
            <a:chOff x="6975475" y="2159000"/>
            <a:chExt cx="666750" cy="666750"/>
          </a:xfrm>
          <a:solidFill>
            <a:schemeClr val="accent3"/>
          </a:solidFill>
        </p:grpSpPr>
        <p:sp>
          <p:nvSpPr>
            <p:cNvPr id="31" name="Freeform 151">
              <a:extLst>
                <a:ext uri="{FF2B5EF4-FFF2-40B4-BE49-F238E27FC236}">
                  <a16:creationId xmlns:a16="http://schemas.microsoft.com/office/drawing/2014/main" id="{9216FF5F-1B8B-4497-95C3-0A5A69B13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5475" y="2159000"/>
              <a:ext cx="666750" cy="666750"/>
            </a:xfrm>
            <a:custGeom>
              <a:avLst/>
              <a:gdLst>
                <a:gd name="T0" fmla="*/ 1877 w 2048"/>
                <a:gd name="T1" fmla="*/ 276 h 2051"/>
                <a:gd name="T2" fmla="*/ 1209 w 2048"/>
                <a:gd name="T3" fmla="*/ 276 h 2051"/>
                <a:gd name="T4" fmla="*/ 1424 w 2048"/>
                <a:gd name="T5" fmla="*/ 61 h 2051"/>
                <a:gd name="T6" fmla="*/ 1423 w 2048"/>
                <a:gd name="T7" fmla="*/ 13 h 2051"/>
                <a:gd name="T8" fmla="*/ 1375 w 2048"/>
                <a:gd name="T9" fmla="*/ 13 h 2051"/>
                <a:gd name="T10" fmla="*/ 1112 w 2048"/>
                <a:gd name="T11" fmla="*/ 276 h 2051"/>
                <a:gd name="T12" fmla="*/ 936 w 2048"/>
                <a:gd name="T13" fmla="*/ 276 h 2051"/>
                <a:gd name="T14" fmla="*/ 673 w 2048"/>
                <a:gd name="T15" fmla="*/ 13 h 2051"/>
                <a:gd name="T16" fmla="*/ 625 w 2048"/>
                <a:gd name="T17" fmla="*/ 13 h 2051"/>
                <a:gd name="T18" fmla="*/ 624 w 2048"/>
                <a:gd name="T19" fmla="*/ 61 h 2051"/>
                <a:gd name="T20" fmla="*/ 839 w 2048"/>
                <a:gd name="T21" fmla="*/ 276 h 2051"/>
                <a:gd name="T22" fmla="*/ 171 w 2048"/>
                <a:gd name="T23" fmla="*/ 276 h 2051"/>
                <a:gd name="T24" fmla="*/ 0 w 2048"/>
                <a:gd name="T25" fmla="*/ 447 h 2051"/>
                <a:gd name="T26" fmla="*/ 0 w 2048"/>
                <a:gd name="T27" fmla="*/ 1676 h 2051"/>
                <a:gd name="T28" fmla="*/ 171 w 2048"/>
                <a:gd name="T29" fmla="*/ 1846 h 2051"/>
                <a:gd name="T30" fmla="*/ 565 w 2048"/>
                <a:gd name="T31" fmla="*/ 1846 h 2051"/>
                <a:gd name="T32" fmla="*/ 546 w 2048"/>
                <a:gd name="T33" fmla="*/ 1914 h 2051"/>
                <a:gd name="T34" fmla="*/ 683 w 2048"/>
                <a:gd name="T35" fmla="*/ 2051 h 2051"/>
                <a:gd name="T36" fmla="*/ 1365 w 2048"/>
                <a:gd name="T37" fmla="*/ 2051 h 2051"/>
                <a:gd name="T38" fmla="*/ 1502 w 2048"/>
                <a:gd name="T39" fmla="*/ 1914 h 2051"/>
                <a:gd name="T40" fmla="*/ 1483 w 2048"/>
                <a:gd name="T41" fmla="*/ 1846 h 2051"/>
                <a:gd name="T42" fmla="*/ 1877 w 2048"/>
                <a:gd name="T43" fmla="*/ 1846 h 2051"/>
                <a:gd name="T44" fmla="*/ 2048 w 2048"/>
                <a:gd name="T45" fmla="*/ 1676 h 2051"/>
                <a:gd name="T46" fmla="*/ 2048 w 2048"/>
                <a:gd name="T47" fmla="*/ 447 h 2051"/>
                <a:gd name="T48" fmla="*/ 1877 w 2048"/>
                <a:gd name="T49" fmla="*/ 276 h 2051"/>
                <a:gd name="T50" fmla="*/ 1434 w 2048"/>
                <a:gd name="T51" fmla="*/ 1914 h 2051"/>
                <a:gd name="T52" fmla="*/ 1365 w 2048"/>
                <a:gd name="T53" fmla="*/ 1983 h 2051"/>
                <a:gd name="T54" fmla="*/ 683 w 2048"/>
                <a:gd name="T55" fmla="*/ 1983 h 2051"/>
                <a:gd name="T56" fmla="*/ 614 w 2048"/>
                <a:gd name="T57" fmla="*/ 1914 h 2051"/>
                <a:gd name="T58" fmla="*/ 683 w 2048"/>
                <a:gd name="T59" fmla="*/ 1846 h 2051"/>
                <a:gd name="T60" fmla="*/ 1365 w 2048"/>
                <a:gd name="T61" fmla="*/ 1846 h 2051"/>
                <a:gd name="T62" fmla="*/ 1434 w 2048"/>
                <a:gd name="T63" fmla="*/ 1914 h 2051"/>
                <a:gd name="T64" fmla="*/ 1980 w 2048"/>
                <a:gd name="T65" fmla="*/ 1676 h 2051"/>
                <a:gd name="T66" fmla="*/ 1877 w 2048"/>
                <a:gd name="T67" fmla="*/ 1778 h 2051"/>
                <a:gd name="T68" fmla="*/ 171 w 2048"/>
                <a:gd name="T69" fmla="*/ 1778 h 2051"/>
                <a:gd name="T70" fmla="*/ 68 w 2048"/>
                <a:gd name="T71" fmla="*/ 1676 h 2051"/>
                <a:gd name="T72" fmla="*/ 68 w 2048"/>
                <a:gd name="T73" fmla="*/ 447 h 2051"/>
                <a:gd name="T74" fmla="*/ 171 w 2048"/>
                <a:gd name="T75" fmla="*/ 344 h 2051"/>
                <a:gd name="T76" fmla="*/ 1877 w 2048"/>
                <a:gd name="T77" fmla="*/ 344 h 2051"/>
                <a:gd name="T78" fmla="*/ 1980 w 2048"/>
                <a:gd name="T79" fmla="*/ 447 h 2051"/>
                <a:gd name="T80" fmla="*/ 1980 w 2048"/>
                <a:gd name="T81" fmla="*/ 1676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48" h="2051">
                  <a:moveTo>
                    <a:pt x="1877" y="276"/>
                  </a:moveTo>
                  <a:cubicBezTo>
                    <a:pt x="1209" y="276"/>
                    <a:pt x="1209" y="276"/>
                    <a:pt x="1209" y="276"/>
                  </a:cubicBezTo>
                  <a:cubicBezTo>
                    <a:pt x="1424" y="61"/>
                    <a:pt x="1424" y="61"/>
                    <a:pt x="1424" y="61"/>
                  </a:cubicBezTo>
                  <a:cubicBezTo>
                    <a:pt x="1437" y="48"/>
                    <a:pt x="1436" y="27"/>
                    <a:pt x="1423" y="13"/>
                  </a:cubicBezTo>
                  <a:cubicBezTo>
                    <a:pt x="1410" y="0"/>
                    <a:pt x="1389" y="0"/>
                    <a:pt x="1375" y="13"/>
                  </a:cubicBezTo>
                  <a:cubicBezTo>
                    <a:pt x="1112" y="276"/>
                    <a:pt x="1112" y="276"/>
                    <a:pt x="1112" y="276"/>
                  </a:cubicBezTo>
                  <a:cubicBezTo>
                    <a:pt x="936" y="276"/>
                    <a:pt x="936" y="276"/>
                    <a:pt x="936" y="276"/>
                  </a:cubicBezTo>
                  <a:cubicBezTo>
                    <a:pt x="673" y="13"/>
                    <a:pt x="673" y="13"/>
                    <a:pt x="673" y="13"/>
                  </a:cubicBezTo>
                  <a:cubicBezTo>
                    <a:pt x="659" y="0"/>
                    <a:pt x="638" y="0"/>
                    <a:pt x="625" y="13"/>
                  </a:cubicBezTo>
                  <a:cubicBezTo>
                    <a:pt x="612" y="27"/>
                    <a:pt x="611" y="48"/>
                    <a:pt x="624" y="61"/>
                  </a:cubicBezTo>
                  <a:cubicBezTo>
                    <a:pt x="839" y="276"/>
                    <a:pt x="839" y="276"/>
                    <a:pt x="839" y="276"/>
                  </a:cubicBezTo>
                  <a:cubicBezTo>
                    <a:pt x="171" y="276"/>
                    <a:pt x="171" y="276"/>
                    <a:pt x="171" y="276"/>
                  </a:cubicBezTo>
                  <a:cubicBezTo>
                    <a:pt x="76" y="276"/>
                    <a:pt x="0" y="353"/>
                    <a:pt x="0" y="447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70"/>
                    <a:pt x="76" y="1846"/>
                    <a:pt x="171" y="1846"/>
                  </a:cubicBezTo>
                  <a:cubicBezTo>
                    <a:pt x="565" y="1846"/>
                    <a:pt x="565" y="1846"/>
                    <a:pt x="565" y="1846"/>
                  </a:cubicBezTo>
                  <a:cubicBezTo>
                    <a:pt x="553" y="1867"/>
                    <a:pt x="546" y="1890"/>
                    <a:pt x="546" y="1914"/>
                  </a:cubicBezTo>
                  <a:cubicBezTo>
                    <a:pt x="546" y="1990"/>
                    <a:pt x="607" y="2051"/>
                    <a:pt x="683" y="2051"/>
                  </a:cubicBezTo>
                  <a:cubicBezTo>
                    <a:pt x="1365" y="2051"/>
                    <a:pt x="1365" y="2051"/>
                    <a:pt x="1365" y="2051"/>
                  </a:cubicBezTo>
                  <a:cubicBezTo>
                    <a:pt x="1441" y="2051"/>
                    <a:pt x="1502" y="1990"/>
                    <a:pt x="1502" y="1914"/>
                  </a:cubicBezTo>
                  <a:cubicBezTo>
                    <a:pt x="1502" y="1890"/>
                    <a:pt x="1495" y="1867"/>
                    <a:pt x="1483" y="1846"/>
                  </a:cubicBezTo>
                  <a:cubicBezTo>
                    <a:pt x="1877" y="1846"/>
                    <a:pt x="1877" y="1846"/>
                    <a:pt x="1877" y="1846"/>
                  </a:cubicBezTo>
                  <a:cubicBezTo>
                    <a:pt x="1972" y="1846"/>
                    <a:pt x="2048" y="1770"/>
                    <a:pt x="2048" y="1676"/>
                  </a:cubicBezTo>
                  <a:cubicBezTo>
                    <a:pt x="2048" y="447"/>
                    <a:pt x="2048" y="447"/>
                    <a:pt x="2048" y="447"/>
                  </a:cubicBezTo>
                  <a:cubicBezTo>
                    <a:pt x="2048" y="353"/>
                    <a:pt x="1972" y="276"/>
                    <a:pt x="1877" y="276"/>
                  </a:cubicBezTo>
                  <a:close/>
                  <a:moveTo>
                    <a:pt x="1434" y="1914"/>
                  </a:moveTo>
                  <a:cubicBezTo>
                    <a:pt x="1434" y="1952"/>
                    <a:pt x="1403" y="1983"/>
                    <a:pt x="1365" y="1983"/>
                  </a:cubicBezTo>
                  <a:cubicBezTo>
                    <a:pt x="683" y="1983"/>
                    <a:pt x="683" y="1983"/>
                    <a:pt x="683" y="1983"/>
                  </a:cubicBezTo>
                  <a:cubicBezTo>
                    <a:pt x="645" y="1983"/>
                    <a:pt x="614" y="1952"/>
                    <a:pt x="614" y="1914"/>
                  </a:cubicBezTo>
                  <a:cubicBezTo>
                    <a:pt x="614" y="1877"/>
                    <a:pt x="645" y="1846"/>
                    <a:pt x="683" y="1846"/>
                  </a:cubicBezTo>
                  <a:cubicBezTo>
                    <a:pt x="1365" y="1846"/>
                    <a:pt x="1365" y="1846"/>
                    <a:pt x="1365" y="1846"/>
                  </a:cubicBezTo>
                  <a:cubicBezTo>
                    <a:pt x="1403" y="1846"/>
                    <a:pt x="1434" y="1877"/>
                    <a:pt x="1434" y="1914"/>
                  </a:cubicBezTo>
                  <a:close/>
                  <a:moveTo>
                    <a:pt x="1980" y="1676"/>
                  </a:moveTo>
                  <a:cubicBezTo>
                    <a:pt x="1980" y="1732"/>
                    <a:pt x="1934" y="1778"/>
                    <a:pt x="1877" y="1778"/>
                  </a:cubicBezTo>
                  <a:cubicBezTo>
                    <a:pt x="171" y="1778"/>
                    <a:pt x="171" y="1778"/>
                    <a:pt x="171" y="1778"/>
                  </a:cubicBezTo>
                  <a:cubicBezTo>
                    <a:pt x="114" y="1778"/>
                    <a:pt x="68" y="1732"/>
                    <a:pt x="68" y="1676"/>
                  </a:cubicBezTo>
                  <a:cubicBezTo>
                    <a:pt x="68" y="447"/>
                    <a:pt x="68" y="447"/>
                    <a:pt x="68" y="447"/>
                  </a:cubicBezTo>
                  <a:cubicBezTo>
                    <a:pt x="68" y="390"/>
                    <a:pt x="114" y="344"/>
                    <a:pt x="171" y="344"/>
                  </a:cubicBezTo>
                  <a:cubicBezTo>
                    <a:pt x="1877" y="344"/>
                    <a:pt x="1877" y="344"/>
                    <a:pt x="1877" y="344"/>
                  </a:cubicBezTo>
                  <a:cubicBezTo>
                    <a:pt x="1934" y="344"/>
                    <a:pt x="1980" y="390"/>
                    <a:pt x="1980" y="447"/>
                  </a:cubicBezTo>
                  <a:lnTo>
                    <a:pt x="1980" y="16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52">
              <a:extLst>
                <a:ext uri="{FF2B5EF4-FFF2-40B4-BE49-F238E27FC236}">
                  <a16:creationId xmlns:a16="http://schemas.microsoft.com/office/drawing/2014/main" id="{52D2377B-BE44-451C-8057-95001918B1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9925" y="2292350"/>
              <a:ext cx="577850" cy="422275"/>
            </a:xfrm>
            <a:custGeom>
              <a:avLst/>
              <a:gdLst>
                <a:gd name="T0" fmla="*/ 1706 w 1774"/>
                <a:gd name="T1" fmla="*/ 0 h 1297"/>
                <a:gd name="T2" fmla="*/ 68 w 1774"/>
                <a:gd name="T3" fmla="*/ 0 h 1297"/>
                <a:gd name="T4" fmla="*/ 0 w 1774"/>
                <a:gd name="T5" fmla="*/ 68 h 1297"/>
                <a:gd name="T6" fmla="*/ 0 w 1774"/>
                <a:gd name="T7" fmla="*/ 1228 h 1297"/>
                <a:gd name="T8" fmla="*/ 68 w 1774"/>
                <a:gd name="T9" fmla="*/ 1297 h 1297"/>
                <a:gd name="T10" fmla="*/ 1706 w 1774"/>
                <a:gd name="T11" fmla="*/ 1297 h 1297"/>
                <a:gd name="T12" fmla="*/ 1774 w 1774"/>
                <a:gd name="T13" fmla="*/ 1228 h 1297"/>
                <a:gd name="T14" fmla="*/ 1774 w 1774"/>
                <a:gd name="T15" fmla="*/ 68 h 1297"/>
                <a:gd name="T16" fmla="*/ 1706 w 1774"/>
                <a:gd name="T17" fmla="*/ 0 h 1297"/>
                <a:gd name="T18" fmla="*/ 1706 w 1774"/>
                <a:gd name="T19" fmla="*/ 1228 h 1297"/>
                <a:gd name="T20" fmla="*/ 68 w 1774"/>
                <a:gd name="T21" fmla="*/ 1228 h 1297"/>
                <a:gd name="T22" fmla="*/ 68 w 1774"/>
                <a:gd name="T23" fmla="*/ 68 h 1297"/>
                <a:gd name="T24" fmla="*/ 1706 w 1774"/>
                <a:gd name="T25" fmla="*/ 68 h 1297"/>
                <a:gd name="T26" fmla="*/ 1706 w 1774"/>
                <a:gd name="T27" fmla="*/ 1228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74" h="1297">
                  <a:moveTo>
                    <a:pt x="1706" y="0"/>
                  </a:moveTo>
                  <a:cubicBezTo>
                    <a:pt x="68" y="0"/>
                    <a:pt x="68" y="0"/>
                    <a:pt x="68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228"/>
                    <a:pt x="0" y="1228"/>
                    <a:pt x="0" y="1228"/>
                  </a:cubicBezTo>
                  <a:cubicBezTo>
                    <a:pt x="0" y="1266"/>
                    <a:pt x="30" y="1297"/>
                    <a:pt x="68" y="1297"/>
                  </a:cubicBezTo>
                  <a:cubicBezTo>
                    <a:pt x="1706" y="1297"/>
                    <a:pt x="1706" y="1297"/>
                    <a:pt x="1706" y="1297"/>
                  </a:cubicBezTo>
                  <a:cubicBezTo>
                    <a:pt x="1744" y="1297"/>
                    <a:pt x="1774" y="1266"/>
                    <a:pt x="1774" y="1228"/>
                  </a:cubicBezTo>
                  <a:cubicBezTo>
                    <a:pt x="1774" y="68"/>
                    <a:pt x="1774" y="68"/>
                    <a:pt x="1774" y="68"/>
                  </a:cubicBezTo>
                  <a:cubicBezTo>
                    <a:pt x="1774" y="30"/>
                    <a:pt x="1744" y="0"/>
                    <a:pt x="1706" y="0"/>
                  </a:cubicBezTo>
                  <a:close/>
                  <a:moveTo>
                    <a:pt x="1706" y="1228"/>
                  </a:moveTo>
                  <a:cubicBezTo>
                    <a:pt x="68" y="1228"/>
                    <a:pt x="68" y="1228"/>
                    <a:pt x="68" y="1228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1706" y="68"/>
                    <a:pt x="1706" y="68"/>
                    <a:pt x="1706" y="68"/>
                  </a:cubicBezTo>
                  <a:lnTo>
                    <a:pt x="1706" y="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53">
              <a:extLst>
                <a:ext uri="{FF2B5EF4-FFF2-40B4-BE49-F238E27FC236}">
                  <a16:creationId xmlns:a16="http://schemas.microsoft.com/office/drawing/2014/main" id="{B9B51388-912C-4B2A-A37C-8EFD2EEBC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38" y="2414588"/>
              <a:ext cx="22225" cy="44450"/>
            </a:xfrm>
            <a:custGeom>
              <a:avLst/>
              <a:gdLst>
                <a:gd name="T0" fmla="*/ 34 w 68"/>
                <a:gd name="T1" fmla="*/ 137 h 137"/>
                <a:gd name="T2" fmla="*/ 68 w 68"/>
                <a:gd name="T3" fmla="*/ 102 h 137"/>
                <a:gd name="T4" fmla="*/ 68 w 68"/>
                <a:gd name="T5" fmla="*/ 34 h 137"/>
                <a:gd name="T6" fmla="*/ 34 w 68"/>
                <a:gd name="T7" fmla="*/ 0 h 137"/>
                <a:gd name="T8" fmla="*/ 0 w 68"/>
                <a:gd name="T9" fmla="*/ 34 h 137"/>
                <a:gd name="T10" fmla="*/ 0 w 68"/>
                <a:gd name="T11" fmla="*/ 102 h 137"/>
                <a:gd name="T12" fmla="*/ 34 w 68"/>
                <a:gd name="T1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137">
                  <a:moveTo>
                    <a:pt x="34" y="137"/>
                  </a:moveTo>
                  <a:cubicBezTo>
                    <a:pt x="53" y="137"/>
                    <a:pt x="68" y="121"/>
                    <a:pt x="68" y="102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15"/>
                    <a:pt x="53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21"/>
                    <a:pt x="15" y="137"/>
                    <a:pt x="34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54">
              <a:extLst>
                <a:ext uri="{FF2B5EF4-FFF2-40B4-BE49-F238E27FC236}">
                  <a16:creationId xmlns:a16="http://schemas.microsoft.com/office/drawing/2014/main" id="{464E6CF7-1771-40DE-9BC0-A5B56E6AA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38" y="2547938"/>
              <a:ext cx="22225" cy="44450"/>
            </a:xfrm>
            <a:custGeom>
              <a:avLst/>
              <a:gdLst>
                <a:gd name="T0" fmla="*/ 34 w 68"/>
                <a:gd name="T1" fmla="*/ 136 h 136"/>
                <a:gd name="T2" fmla="*/ 68 w 68"/>
                <a:gd name="T3" fmla="*/ 102 h 136"/>
                <a:gd name="T4" fmla="*/ 68 w 68"/>
                <a:gd name="T5" fmla="*/ 34 h 136"/>
                <a:gd name="T6" fmla="*/ 34 w 68"/>
                <a:gd name="T7" fmla="*/ 0 h 136"/>
                <a:gd name="T8" fmla="*/ 0 w 68"/>
                <a:gd name="T9" fmla="*/ 34 h 136"/>
                <a:gd name="T10" fmla="*/ 0 w 68"/>
                <a:gd name="T11" fmla="*/ 102 h 136"/>
                <a:gd name="T12" fmla="*/ 34 w 68"/>
                <a:gd name="T13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136">
                  <a:moveTo>
                    <a:pt x="34" y="136"/>
                  </a:moveTo>
                  <a:cubicBezTo>
                    <a:pt x="53" y="136"/>
                    <a:pt x="68" y="121"/>
                    <a:pt x="68" y="102"/>
                  </a:cubicBezTo>
                  <a:cubicBezTo>
                    <a:pt x="68" y="34"/>
                    <a:pt x="68" y="34"/>
                    <a:pt x="68" y="34"/>
                  </a:cubicBezTo>
                  <a:cubicBezTo>
                    <a:pt x="68" y="15"/>
                    <a:pt x="53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21"/>
                    <a:pt x="15" y="136"/>
                    <a:pt x="34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55">
              <a:extLst>
                <a:ext uri="{FF2B5EF4-FFF2-40B4-BE49-F238E27FC236}">
                  <a16:creationId xmlns:a16="http://schemas.microsoft.com/office/drawing/2014/main" id="{22295BE2-5815-4602-BC14-EFEDAC982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2436813"/>
              <a:ext cx="39688" cy="39688"/>
            </a:xfrm>
            <a:custGeom>
              <a:avLst/>
              <a:gdLst>
                <a:gd name="T0" fmla="*/ 61 w 122"/>
                <a:gd name="T1" fmla="*/ 110 h 123"/>
                <a:gd name="T2" fmla="*/ 109 w 122"/>
                <a:gd name="T3" fmla="*/ 109 h 123"/>
                <a:gd name="T4" fmla="*/ 109 w 122"/>
                <a:gd name="T5" fmla="*/ 61 h 123"/>
                <a:gd name="T6" fmla="*/ 61 w 122"/>
                <a:gd name="T7" fmla="*/ 13 h 123"/>
                <a:gd name="T8" fmla="*/ 13 w 122"/>
                <a:gd name="T9" fmla="*/ 13 h 123"/>
                <a:gd name="T10" fmla="*/ 13 w 122"/>
                <a:gd name="T11" fmla="*/ 61 h 123"/>
                <a:gd name="T12" fmla="*/ 61 w 122"/>
                <a:gd name="T13" fmla="*/ 11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123">
                  <a:moveTo>
                    <a:pt x="61" y="110"/>
                  </a:moveTo>
                  <a:cubicBezTo>
                    <a:pt x="75" y="123"/>
                    <a:pt x="96" y="122"/>
                    <a:pt x="109" y="109"/>
                  </a:cubicBezTo>
                  <a:cubicBezTo>
                    <a:pt x="122" y="96"/>
                    <a:pt x="122" y="75"/>
                    <a:pt x="109" y="61"/>
                  </a:cubicBezTo>
                  <a:cubicBezTo>
                    <a:pt x="61" y="13"/>
                    <a:pt x="61" y="13"/>
                    <a:pt x="61" y="13"/>
                  </a:cubicBezTo>
                  <a:cubicBezTo>
                    <a:pt x="48" y="0"/>
                    <a:pt x="26" y="0"/>
                    <a:pt x="13" y="13"/>
                  </a:cubicBezTo>
                  <a:cubicBezTo>
                    <a:pt x="0" y="27"/>
                    <a:pt x="0" y="48"/>
                    <a:pt x="13" y="61"/>
                  </a:cubicBezTo>
                  <a:lnTo>
                    <a:pt x="61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56">
              <a:extLst>
                <a:ext uri="{FF2B5EF4-FFF2-40B4-BE49-F238E27FC236}">
                  <a16:creationId xmlns:a16="http://schemas.microsoft.com/office/drawing/2014/main" id="{2BB90D39-C211-4D19-8AFC-00A3DBB1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5838" y="2530475"/>
              <a:ext cx="39688" cy="39688"/>
            </a:xfrm>
            <a:custGeom>
              <a:avLst/>
              <a:gdLst>
                <a:gd name="T0" fmla="*/ 61 w 122"/>
                <a:gd name="T1" fmla="*/ 109 h 122"/>
                <a:gd name="T2" fmla="*/ 94 w 122"/>
                <a:gd name="T3" fmla="*/ 119 h 122"/>
                <a:gd name="T4" fmla="*/ 118 w 122"/>
                <a:gd name="T5" fmla="*/ 94 h 122"/>
                <a:gd name="T6" fmla="*/ 109 w 122"/>
                <a:gd name="T7" fmla="*/ 61 h 122"/>
                <a:gd name="T8" fmla="*/ 61 w 122"/>
                <a:gd name="T9" fmla="*/ 13 h 122"/>
                <a:gd name="T10" fmla="*/ 13 w 122"/>
                <a:gd name="T11" fmla="*/ 13 h 122"/>
                <a:gd name="T12" fmla="*/ 13 w 122"/>
                <a:gd name="T13" fmla="*/ 61 h 122"/>
                <a:gd name="T14" fmla="*/ 61 w 122"/>
                <a:gd name="T15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61" y="109"/>
                  </a:moveTo>
                  <a:cubicBezTo>
                    <a:pt x="69" y="118"/>
                    <a:pt x="82" y="122"/>
                    <a:pt x="94" y="119"/>
                  </a:cubicBezTo>
                  <a:cubicBezTo>
                    <a:pt x="106" y="115"/>
                    <a:pt x="115" y="106"/>
                    <a:pt x="118" y="94"/>
                  </a:cubicBezTo>
                  <a:cubicBezTo>
                    <a:pt x="122" y="82"/>
                    <a:pt x="118" y="70"/>
                    <a:pt x="109" y="61"/>
                  </a:cubicBezTo>
                  <a:cubicBezTo>
                    <a:pt x="61" y="13"/>
                    <a:pt x="61" y="13"/>
                    <a:pt x="61" y="13"/>
                  </a:cubicBezTo>
                  <a:cubicBezTo>
                    <a:pt x="47" y="0"/>
                    <a:pt x="26" y="0"/>
                    <a:pt x="13" y="13"/>
                  </a:cubicBezTo>
                  <a:cubicBezTo>
                    <a:pt x="0" y="26"/>
                    <a:pt x="0" y="48"/>
                    <a:pt x="13" y="61"/>
                  </a:cubicBezTo>
                  <a:lnTo>
                    <a:pt x="61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7">
              <a:extLst>
                <a:ext uri="{FF2B5EF4-FFF2-40B4-BE49-F238E27FC236}">
                  <a16:creationId xmlns:a16="http://schemas.microsoft.com/office/drawing/2014/main" id="{1DCFBD3D-7970-4358-9D25-C3AE850FB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950" y="2492375"/>
              <a:ext cx="44450" cy="22225"/>
            </a:xfrm>
            <a:custGeom>
              <a:avLst/>
              <a:gdLst>
                <a:gd name="T0" fmla="*/ 34 w 136"/>
                <a:gd name="T1" fmla="*/ 68 h 68"/>
                <a:gd name="T2" fmla="*/ 102 w 136"/>
                <a:gd name="T3" fmla="*/ 68 h 68"/>
                <a:gd name="T4" fmla="*/ 136 w 136"/>
                <a:gd name="T5" fmla="*/ 34 h 68"/>
                <a:gd name="T6" fmla="*/ 102 w 136"/>
                <a:gd name="T7" fmla="*/ 0 h 68"/>
                <a:gd name="T8" fmla="*/ 34 w 136"/>
                <a:gd name="T9" fmla="*/ 0 h 68"/>
                <a:gd name="T10" fmla="*/ 0 w 136"/>
                <a:gd name="T11" fmla="*/ 34 h 68"/>
                <a:gd name="T12" fmla="*/ 34 w 136"/>
                <a:gd name="T1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68">
                  <a:moveTo>
                    <a:pt x="34" y="68"/>
                  </a:moveTo>
                  <a:cubicBezTo>
                    <a:pt x="102" y="68"/>
                    <a:pt x="102" y="68"/>
                    <a:pt x="102" y="68"/>
                  </a:cubicBezTo>
                  <a:cubicBezTo>
                    <a:pt x="121" y="68"/>
                    <a:pt x="136" y="53"/>
                    <a:pt x="136" y="34"/>
                  </a:cubicBezTo>
                  <a:cubicBezTo>
                    <a:pt x="136" y="15"/>
                    <a:pt x="121" y="0"/>
                    <a:pt x="10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53"/>
                    <a:pt x="15" y="68"/>
                    <a:pt x="3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58">
              <a:extLst>
                <a:ext uri="{FF2B5EF4-FFF2-40B4-BE49-F238E27FC236}">
                  <a16:creationId xmlns:a16="http://schemas.microsoft.com/office/drawing/2014/main" id="{B5A0EE06-A3D9-409D-8457-DAA3BCC72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3300" y="2492375"/>
              <a:ext cx="44450" cy="22225"/>
            </a:xfrm>
            <a:custGeom>
              <a:avLst/>
              <a:gdLst>
                <a:gd name="T0" fmla="*/ 0 w 136"/>
                <a:gd name="T1" fmla="*/ 34 h 68"/>
                <a:gd name="T2" fmla="*/ 34 w 136"/>
                <a:gd name="T3" fmla="*/ 68 h 68"/>
                <a:gd name="T4" fmla="*/ 102 w 136"/>
                <a:gd name="T5" fmla="*/ 68 h 68"/>
                <a:gd name="T6" fmla="*/ 136 w 136"/>
                <a:gd name="T7" fmla="*/ 34 h 68"/>
                <a:gd name="T8" fmla="*/ 102 w 136"/>
                <a:gd name="T9" fmla="*/ 0 h 68"/>
                <a:gd name="T10" fmla="*/ 34 w 136"/>
                <a:gd name="T11" fmla="*/ 0 h 68"/>
                <a:gd name="T12" fmla="*/ 0 w 136"/>
                <a:gd name="T13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68">
                  <a:moveTo>
                    <a:pt x="0" y="34"/>
                  </a:moveTo>
                  <a:cubicBezTo>
                    <a:pt x="0" y="53"/>
                    <a:pt x="15" y="68"/>
                    <a:pt x="34" y="68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21" y="68"/>
                    <a:pt x="136" y="53"/>
                    <a:pt x="136" y="34"/>
                  </a:cubicBezTo>
                  <a:cubicBezTo>
                    <a:pt x="136" y="15"/>
                    <a:pt x="121" y="0"/>
                    <a:pt x="10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59">
              <a:extLst>
                <a:ext uri="{FF2B5EF4-FFF2-40B4-BE49-F238E27FC236}">
                  <a16:creationId xmlns:a16="http://schemas.microsoft.com/office/drawing/2014/main" id="{92ADC8E9-788D-44CE-83AD-634F78762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2530475"/>
              <a:ext cx="39688" cy="39688"/>
            </a:xfrm>
            <a:custGeom>
              <a:avLst/>
              <a:gdLst>
                <a:gd name="T0" fmla="*/ 61 w 122"/>
                <a:gd name="T1" fmla="*/ 13 h 122"/>
                <a:gd name="T2" fmla="*/ 13 w 122"/>
                <a:gd name="T3" fmla="*/ 61 h 122"/>
                <a:gd name="T4" fmla="*/ 4 w 122"/>
                <a:gd name="T5" fmla="*/ 94 h 122"/>
                <a:gd name="T6" fmla="*/ 28 w 122"/>
                <a:gd name="T7" fmla="*/ 119 h 122"/>
                <a:gd name="T8" fmla="*/ 61 w 122"/>
                <a:gd name="T9" fmla="*/ 109 h 122"/>
                <a:gd name="T10" fmla="*/ 109 w 122"/>
                <a:gd name="T11" fmla="*/ 61 h 122"/>
                <a:gd name="T12" fmla="*/ 109 w 122"/>
                <a:gd name="T13" fmla="*/ 13 h 122"/>
                <a:gd name="T14" fmla="*/ 61 w 122"/>
                <a:gd name="T15" fmla="*/ 1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2">
                  <a:moveTo>
                    <a:pt x="61" y="13"/>
                  </a:moveTo>
                  <a:cubicBezTo>
                    <a:pt x="13" y="61"/>
                    <a:pt x="13" y="61"/>
                    <a:pt x="13" y="61"/>
                  </a:cubicBezTo>
                  <a:cubicBezTo>
                    <a:pt x="4" y="70"/>
                    <a:pt x="0" y="82"/>
                    <a:pt x="4" y="94"/>
                  </a:cubicBezTo>
                  <a:cubicBezTo>
                    <a:pt x="7" y="106"/>
                    <a:pt x="16" y="115"/>
                    <a:pt x="28" y="119"/>
                  </a:cubicBezTo>
                  <a:cubicBezTo>
                    <a:pt x="40" y="122"/>
                    <a:pt x="53" y="118"/>
                    <a:pt x="61" y="109"/>
                  </a:cubicBezTo>
                  <a:cubicBezTo>
                    <a:pt x="109" y="61"/>
                    <a:pt x="109" y="61"/>
                    <a:pt x="109" y="61"/>
                  </a:cubicBezTo>
                  <a:cubicBezTo>
                    <a:pt x="122" y="48"/>
                    <a:pt x="122" y="26"/>
                    <a:pt x="109" y="13"/>
                  </a:cubicBezTo>
                  <a:cubicBezTo>
                    <a:pt x="96" y="0"/>
                    <a:pt x="75" y="0"/>
                    <a:pt x="61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0">
              <a:extLst>
                <a:ext uri="{FF2B5EF4-FFF2-40B4-BE49-F238E27FC236}">
                  <a16:creationId xmlns:a16="http://schemas.microsoft.com/office/drawing/2014/main" id="{153D3461-CCE5-41E4-BEBD-158FCD951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5838" y="2436813"/>
              <a:ext cx="39688" cy="39688"/>
            </a:xfrm>
            <a:custGeom>
              <a:avLst/>
              <a:gdLst>
                <a:gd name="T0" fmla="*/ 37 w 122"/>
                <a:gd name="T1" fmla="*/ 119 h 119"/>
                <a:gd name="T2" fmla="*/ 61 w 122"/>
                <a:gd name="T3" fmla="*/ 109 h 119"/>
                <a:gd name="T4" fmla="*/ 109 w 122"/>
                <a:gd name="T5" fmla="*/ 60 h 119"/>
                <a:gd name="T6" fmla="*/ 118 w 122"/>
                <a:gd name="T7" fmla="*/ 27 h 119"/>
                <a:gd name="T8" fmla="*/ 94 w 122"/>
                <a:gd name="T9" fmla="*/ 3 h 119"/>
                <a:gd name="T10" fmla="*/ 61 w 122"/>
                <a:gd name="T11" fmla="*/ 12 h 119"/>
                <a:gd name="T12" fmla="*/ 13 w 122"/>
                <a:gd name="T13" fmla="*/ 60 h 119"/>
                <a:gd name="T14" fmla="*/ 5 w 122"/>
                <a:gd name="T15" fmla="*/ 97 h 119"/>
                <a:gd name="T16" fmla="*/ 37 w 122"/>
                <a:gd name="T17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" h="119">
                  <a:moveTo>
                    <a:pt x="37" y="119"/>
                  </a:moveTo>
                  <a:cubicBezTo>
                    <a:pt x="46" y="119"/>
                    <a:pt x="54" y="115"/>
                    <a:pt x="61" y="109"/>
                  </a:cubicBezTo>
                  <a:cubicBezTo>
                    <a:pt x="109" y="60"/>
                    <a:pt x="109" y="60"/>
                    <a:pt x="109" y="60"/>
                  </a:cubicBezTo>
                  <a:cubicBezTo>
                    <a:pt x="118" y="52"/>
                    <a:pt x="122" y="39"/>
                    <a:pt x="118" y="27"/>
                  </a:cubicBezTo>
                  <a:cubicBezTo>
                    <a:pt x="115" y="15"/>
                    <a:pt x="106" y="6"/>
                    <a:pt x="94" y="3"/>
                  </a:cubicBezTo>
                  <a:cubicBezTo>
                    <a:pt x="82" y="0"/>
                    <a:pt x="69" y="3"/>
                    <a:pt x="61" y="12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3" y="70"/>
                    <a:pt x="0" y="85"/>
                    <a:pt x="5" y="97"/>
                  </a:cubicBezTo>
                  <a:cubicBezTo>
                    <a:pt x="10" y="110"/>
                    <a:pt x="23" y="119"/>
                    <a:pt x="37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1" name="Icon">
            <a:extLst>
              <a:ext uri="{FF2B5EF4-FFF2-40B4-BE49-F238E27FC236}">
                <a16:creationId xmlns:a16="http://schemas.microsoft.com/office/drawing/2014/main" id="{AD13E9F2-32EB-4416-BB47-E29B896D9158}"/>
              </a:ext>
            </a:extLst>
          </p:cNvPr>
          <p:cNvGrpSpPr/>
          <p:nvPr/>
        </p:nvGrpSpPr>
        <p:grpSpPr>
          <a:xfrm>
            <a:off x="8908602" y="1783343"/>
            <a:ext cx="285380" cy="266705"/>
            <a:chOff x="7088188" y="5238751"/>
            <a:chExt cx="776288" cy="725487"/>
          </a:xfrm>
          <a:solidFill>
            <a:schemeClr val="accent4"/>
          </a:solidFill>
        </p:grpSpPr>
        <p:sp>
          <p:nvSpPr>
            <p:cNvPr id="42" name="Freeform 451">
              <a:extLst>
                <a:ext uri="{FF2B5EF4-FFF2-40B4-BE49-F238E27FC236}">
                  <a16:creationId xmlns:a16="http://schemas.microsoft.com/office/drawing/2014/main" id="{4AECEEE3-86B2-46E8-8303-2848673EDC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88188" y="5238751"/>
              <a:ext cx="776288" cy="725487"/>
            </a:xfrm>
            <a:custGeom>
              <a:avLst/>
              <a:gdLst>
                <a:gd name="T0" fmla="*/ 1185 w 2069"/>
                <a:gd name="T1" fmla="*/ 25 h 1934"/>
                <a:gd name="T2" fmla="*/ 453 w 2069"/>
                <a:gd name="T3" fmla="*/ 271 h 1934"/>
                <a:gd name="T4" fmla="*/ 142 w 2069"/>
                <a:gd name="T5" fmla="*/ 977 h 1934"/>
                <a:gd name="T6" fmla="*/ 75 w 2069"/>
                <a:gd name="T7" fmla="*/ 977 h 1934"/>
                <a:gd name="T8" fmla="*/ 11 w 2069"/>
                <a:gd name="T9" fmla="*/ 1020 h 1934"/>
                <a:gd name="T10" fmla="*/ 26 w 2069"/>
                <a:gd name="T11" fmla="*/ 1096 h 1934"/>
                <a:gd name="T12" fmla="*/ 263 w 2069"/>
                <a:gd name="T13" fmla="*/ 1332 h 1934"/>
                <a:gd name="T14" fmla="*/ 362 w 2069"/>
                <a:gd name="T15" fmla="*/ 1332 h 1934"/>
                <a:gd name="T16" fmla="*/ 599 w 2069"/>
                <a:gd name="T17" fmla="*/ 1096 h 1934"/>
                <a:gd name="T18" fmla="*/ 614 w 2069"/>
                <a:gd name="T19" fmla="*/ 1020 h 1934"/>
                <a:gd name="T20" fmla="*/ 549 w 2069"/>
                <a:gd name="T21" fmla="*/ 977 h 1934"/>
                <a:gd name="T22" fmla="*/ 483 w 2069"/>
                <a:gd name="T23" fmla="*/ 977 h 1934"/>
                <a:gd name="T24" fmla="*/ 546 w 2069"/>
                <a:gd name="T25" fmla="*/ 707 h 1934"/>
                <a:gd name="T26" fmla="*/ 1014 w 2069"/>
                <a:gd name="T27" fmla="*/ 368 h 1934"/>
                <a:gd name="T28" fmla="*/ 1556 w 2069"/>
                <a:gd name="T29" fmla="*/ 568 h 1934"/>
                <a:gd name="T30" fmla="*/ 1707 w 2069"/>
                <a:gd name="T31" fmla="*/ 1049 h 1934"/>
                <a:gd name="T32" fmla="*/ 1292 w 2069"/>
                <a:gd name="T33" fmla="*/ 1560 h 1934"/>
                <a:gd name="T34" fmla="*/ 654 w 2069"/>
                <a:gd name="T35" fmla="*/ 1402 h 1934"/>
                <a:gd name="T36" fmla="*/ 605 w 2069"/>
                <a:gd name="T37" fmla="*/ 1381 h 1934"/>
                <a:gd name="T38" fmla="*/ 605 w 2069"/>
                <a:gd name="T39" fmla="*/ 1381 h 1934"/>
                <a:gd name="T40" fmla="*/ 556 w 2069"/>
                <a:gd name="T41" fmla="*/ 1401 h 1934"/>
                <a:gd name="T42" fmla="*/ 412 w 2069"/>
                <a:gd name="T43" fmla="*/ 1546 h 1934"/>
                <a:gd name="T44" fmla="*/ 411 w 2069"/>
                <a:gd name="T45" fmla="*/ 1641 h 1934"/>
                <a:gd name="T46" fmla="*/ 1097 w 2069"/>
                <a:gd name="T47" fmla="*/ 1933 h 1934"/>
                <a:gd name="T48" fmla="*/ 1794 w 2069"/>
                <a:gd name="T49" fmla="*/ 1631 h 1934"/>
                <a:gd name="T50" fmla="*/ 2051 w 2069"/>
                <a:gd name="T51" fmla="*/ 916 h 1934"/>
                <a:gd name="T52" fmla="*/ 1185 w 2069"/>
                <a:gd name="T53" fmla="*/ 25 h 1934"/>
                <a:gd name="T54" fmla="*/ 1744 w 2069"/>
                <a:gd name="T55" fmla="*/ 1585 h 1934"/>
                <a:gd name="T56" fmla="*/ 1104 w 2069"/>
                <a:gd name="T57" fmla="*/ 1864 h 1934"/>
                <a:gd name="T58" fmla="*/ 460 w 2069"/>
                <a:gd name="T59" fmla="*/ 1594 h 1934"/>
                <a:gd name="T60" fmla="*/ 605 w 2069"/>
                <a:gd name="T61" fmla="*/ 1449 h 1934"/>
                <a:gd name="T62" fmla="*/ 1184 w 2069"/>
                <a:gd name="T63" fmla="*/ 1654 h 1934"/>
                <a:gd name="T64" fmla="*/ 1779 w 2069"/>
                <a:gd name="T65" fmla="*/ 1023 h 1934"/>
                <a:gd name="T66" fmla="*/ 1274 w 2069"/>
                <a:gd name="T67" fmla="*/ 318 h 1934"/>
                <a:gd name="T68" fmla="*/ 484 w 2069"/>
                <a:gd name="T69" fmla="*/ 677 h 1934"/>
                <a:gd name="T70" fmla="*/ 415 w 2069"/>
                <a:gd name="T71" fmla="*/ 977 h 1934"/>
                <a:gd name="T72" fmla="*/ 415 w 2069"/>
                <a:gd name="T73" fmla="*/ 1012 h 1934"/>
                <a:gd name="T74" fmla="*/ 449 w 2069"/>
                <a:gd name="T75" fmla="*/ 1045 h 1934"/>
                <a:gd name="T76" fmla="*/ 551 w 2069"/>
                <a:gd name="T77" fmla="*/ 1048 h 1934"/>
                <a:gd name="T78" fmla="*/ 314 w 2069"/>
                <a:gd name="T79" fmla="*/ 1283 h 1934"/>
                <a:gd name="T80" fmla="*/ 311 w 2069"/>
                <a:gd name="T81" fmla="*/ 1284 h 1934"/>
                <a:gd name="T82" fmla="*/ 75 w 2069"/>
                <a:gd name="T83" fmla="*/ 1045 h 1934"/>
                <a:gd name="T84" fmla="*/ 177 w 2069"/>
                <a:gd name="T85" fmla="*/ 1045 h 1934"/>
                <a:gd name="T86" fmla="*/ 202 w 2069"/>
                <a:gd name="T87" fmla="*/ 1035 h 1934"/>
                <a:gd name="T88" fmla="*/ 211 w 2069"/>
                <a:gd name="T89" fmla="*/ 1009 h 1934"/>
                <a:gd name="T90" fmla="*/ 210 w 2069"/>
                <a:gd name="T91" fmla="*/ 977 h 1934"/>
                <a:gd name="T92" fmla="*/ 499 w 2069"/>
                <a:gd name="T93" fmla="*/ 321 h 1934"/>
                <a:gd name="T94" fmla="*/ 1179 w 2069"/>
                <a:gd name="T95" fmla="*/ 93 h 1934"/>
                <a:gd name="T96" fmla="*/ 1983 w 2069"/>
                <a:gd name="T97" fmla="*/ 920 h 1934"/>
                <a:gd name="T98" fmla="*/ 1744 w 2069"/>
                <a:gd name="T99" fmla="*/ 1585 h 1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69" h="1934">
                  <a:moveTo>
                    <a:pt x="1185" y="25"/>
                  </a:moveTo>
                  <a:cubicBezTo>
                    <a:pt x="918" y="0"/>
                    <a:pt x="652" y="90"/>
                    <a:pt x="453" y="271"/>
                  </a:cubicBezTo>
                  <a:cubicBezTo>
                    <a:pt x="255" y="452"/>
                    <a:pt x="142" y="708"/>
                    <a:pt x="142" y="977"/>
                  </a:cubicBezTo>
                  <a:cubicBezTo>
                    <a:pt x="75" y="977"/>
                    <a:pt x="75" y="977"/>
                    <a:pt x="75" y="977"/>
                  </a:cubicBezTo>
                  <a:cubicBezTo>
                    <a:pt x="47" y="977"/>
                    <a:pt x="21" y="994"/>
                    <a:pt x="11" y="1020"/>
                  </a:cubicBezTo>
                  <a:cubicBezTo>
                    <a:pt x="0" y="1046"/>
                    <a:pt x="6" y="1076"/>
                    <a:pt x="26" y="1096"/>
                  </a:cubicBezTo>
                  <a:cubicBezTo>
                    <a:pt x="263" y="1332"/>
                    <a:pt x="263" y="1332"/>
                    <a:pt x="263" y="1332"/>
                  </a:cubicBezTo>
                  <a:cubicBezTo>
                    <a:pt x="290" y="1359"/>
                    <a:pt x="334" y="1359"/>
                    <a:pt x="362" y="1332"/>
                  </a:cubicBezTo>
                  <a:cubicBezTo>
                    <a:pt x="599" y="1096"/>
                    <a:pt x="599" y="1096"/>
                    <a:pt x="599" y="1096"/>
                  </a:cubicBezTo>
                  <a:cubicBezTo>
                    <a:pt x="619" y="1076"/>
                    <a:pt x="625" y="1046"/>
                    <a:pt x="614" y="1020"/>
                  </a:cubicBezTo>
                  <a:cubicBezTo>
                    <a:pt x="603" y="994"/>
                    <a:pt x="577" y="977"/>
                    <a:pt x="549" y="977"/>
                  </a:cubicBezTo>
                  <a:cubicBezTo>
                    <a:pt x="483" y="977"/>
                    <a:pt x="483" y="977"/>
                    <a:pt x="483" y="977"/>
                  </a:cubicBezTo>
                  <a:cubicBezTo>
                    <a:pt x="483" y="883"/>
                    <a:pt x="504" y="791"/>
                    <a:pt x="546" y="707"/>
                  </a:cubicBezTo>
                  <a:cubicBezTo>
                    <a:pt x="635" y="523"/>
                    <a:pt x="811" y="396"/>
                    <a:pt x="1014" y="368"/>
                  </a:cubicBezTo>
                  <a:cubicBezTo>
                    <a:pt x="1216" y="340"/>
                    <a:pt x="1420" y="415"/>
                    <a:pt x="1556" y="568"/>
                  </a:cubicBezTo>
                  <a:cubicBezTo>
                    <a:pt x="1673" y="699"/>
                    <a:pt x="1729" y="875"/>
                    <a:pt x="1707" y="1049"/>
                  </a:cubicBezTo>
                  <a:cubicBezTo>
                    <a:pt x="1680" y="1286"/>
                    <a:pt x="1518" y="1484"/>
                    <a:pt x="1292" y="1560"/>
                  </a:cubicBezTo>
                  <a:cubicBezTo>
                    <a:pt x="1067" y="1635"/>
                    <a:pt x="818" y="1574"/>
                    <a:pt x="654" y="1402"/>
                  </a:cubicBezTo>
                  <a:cubicBezTo>
                    <a:pt x="641" y="1389"/>
                    <a:pt x="624" y="1381"/>
                    <a:pt x="605" y="1381"/>
                  </a:cubicBezTo>
                  <a:cubicBezTo>
                    <a:pt x="605" y="1381"/>
                    <a:pt x="605" y="1381"/>
                    <a:pt x="605" y="1381"/>
                  </a:cubicBezTo>
                  <a:cubicBezTo>
                    <a:pt x="587" y="1381"/>
                    <a:pt x="569" y="1388"/>
                    <a:pt x="556" y="1401"/>
                  </a:cubicBezTo>
                  <a:cubicBezTo>
                    <a:pt x="412" y="1546"/>
                    <a:pt x="412" y="1546"/>
                    <a:pt x="412" y="1546"/>
                  </a:cubicBezTo>
                  <a:cubicBezTo>
                    <a:pt x="386" y="1572"/>
                    <a:pt x="385" y="1614"/>
                    <a:pt x="411" y="1641"/>
                  </a:cubicBezTo>
                  <a:cubicBezTo>
                    <a:pt x="590" y="1828"/>
                    <a:pt x="838" y="1934"/>
                    <a:pt x="1097" y="1933"/>
                  </a:cubicBezTo>
                  <a:cubicBezTo>
                    <a:pt x="1361" y="1932"/>
                    <a:pt x="1613" y="1823"/>
                    <a:pt x="1794" y="1631"/>
                  </a:cubicBezTo>
                  <a:cubicBezTo>
                    <a:pt x="1976" y="1439"/>
                    <a:pt x="2069" y="1180"/>
                    <a:pt x="2051" y="916"/>
                  </a:cubicBezTo>
                  <a:cubicBezTo>
                    <a:pt x="2019" y="447"/>
                    <a:pt x="1653" y="70"/>
                    <a:pt x="1185" y="25"/>
                  </a:cubicBezTo>
                  <a:close/>
                  <a:moveTo>
                    <a:pt x="1744" y="1585"/>
                  </a:moveTo>
                  <a:cubicBezTo>
                    <a:pt x="1578" y="1762"/>
                    <a:pt x="1347" y="1863"/>
                    <a:pt x="1104" y="1864"/>
                  </a:cubicBezTo>
                  <a:cubicBezTo>
                    <a:pt x="862" y="1866"/>
                    <a:pt x="629" y="1769"/>
                    <a:pt x="460" y="1594"/>
                  </a:cubicBezTo>
                  <a:cubicBezTo>
                    <a:pt x="605" y="1449"/>
                    <a:pt x="605" y="1449"/>
                    <a:pt x="605" y="1449"/>
                  </a:cubicBezTo>
                  <a:cubicBezTo>
                    <a:pt x="754" y="1606"/>
                    <a:pt x="969" y="1682"/>
                    <a:pt x="1184" y="1654"/>
                  </a:cubicBezTo>
                  <a:cubicBezTo>
                    <a:pt x="1508" y="1613"/>
                    <a:pt x="1757" y="1348"/>
                    <a:pt x="1779" y="1023"/>
                  </a:cubicBezTo>
                  <a:cubicBezTo>
                    <a:pt x="1800" y="697"/>
                    <a:pt x="1589" y="402"/>
                    <a:pt x="1274" y="318"/>
                  </a:cubicBezTo>
                  <a:cubicBezTo>
                    <a:pt x="958" y="233"/>
                    <a:pt x="628" y="384"/>
                    <a:pt x="484" y="677"/>
                  </a:cubicBezTo>
                  <a:cubicBezTo>
                    <a:pt x="438" y="770"/>
                    <a:pt x="414" y="873"/>
                    <a:pt x="415" y="977"/>
                  </a:cubicBezTo>
                  <a:cubicBezTo>
                    <a:pt x="415" y="989"/>
                    <a:pt x="415" y="1001"/>
                    <a:pt x="415" y="1012"/>
                  </a:cubicBezTo>
                  <a:cubicBezTo>
                    <a:pt x="416" y="1031"/>
                    <a:pt x="431" y="1045"/>
                    <a:pt x="449" y="1045"/>
                  </a:cubicBezTo>
                  <a:cubicBezTo>
                    <a:pt x="551" y="1048"/>
                    <a:pt x="551" y="1048"/>
                    <a:pt x="551" y="1048"/>
                  </a:cubicBezTo>
                  <a:cubicBezTo>
                    <a:pt x="314" y="1283"/>
                    <a:pt x="314" y="1283"/>
                    <a:pt x="314" y="1283"/>
                  </a:cubicBezTo>
                  <a:cubicBezTo>
                    <a:pt x="313" y="1284"/>
                    <a:pt x="312" y="1284"/>
                    <a:pt x="311" y="1284"/>
                  </a:cubicBezTo>
                  <a:cubicBezTo>
                    <a:pt x="75" y="1045"/>
                    <a:pt x="75" y="1045"/>
                    <a:pt x="75" y="1045"/>
                  </a:cubicBezTo>
                  <a:cubicBezTo>
                    <a:pt x="177" y="1045"/>
                    <a:pt x="177" y="1045"/>
                    <a:pt x="177" y="1045"/>
                  </a:cubicBezTo>
                  <a:cubicBezTo>
                    <a:pt x="186" y="1045"/>
                    <a:pt x="195" y="1041"/>
                    <a:pt x="202" y="1035"/>
                  </a:cubicBezTo>
                  <a:cubicBezTo>
                    <a:pt x="208" y="1028"/>
                    <a:pt x="211" y="1018"/>
                    <a:pt x="211" y="1009"/>
                  </a:cubicBezTo>
                  <a:cubicBezTo>
                    <a:pt x="210" y="998"/>
                    <a:pt x="210" y="988"/>
                    <a:pt x="210" y="977"/>
                  </a:cubicBezTo>
                  <a:cubicBezTo>
                    <a:pt x="210" y="727"/>
                    <a:pt x="315" y="489"/>
                    <a:pt x="499" y="321"/>
                  </a:cubicBezTo>
                  <a:cubicBezTo>
                    <a:pt x="684" y="153"/>
                    <a:pt x="931" y="70"/>
                    <a:pt x="1179" y="93"/>
                  </a:cubicBezTo>
                  <a:cubicBezTo>
                    <a:pt x="1613" y="135"/>
                    <a:pt x="1953" y="485"/>
                    <a:pt x="1983" y="920"/>
                  </a:cubicBezTo>
                  <a:cubicBezTo>
                    <a:pt x="2000" y="1165"/>
                    <a:pt x="1913" y="1406"/>
                    <a:pt x="1744" y="15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52">
              <a:extLst>
                <a:ext uri="{FF2B5EF4-FFF2-40B4-BE49-F238E27FC236}">
                  <a16:creationId xmlns:a16="http://schemas.microsoft.com/office/drawing/2014/main" id="{D457DA66-946A-43D6-9C49-4144D11A6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8388" y="5400675"/>
              <a:ext cx="285750" cy="285750"/>
            </a:xfrm>
            <a:custGeom>
              <a:avLst/>
              <a:gdLst>
                <a:gd name="T0" fmla="*/ 289 w 762"/>
                <a:gd name="T1" fmla="*/ 30 h 763"/>
                <a:gd name="T2" fmla="*/ 216 w 762"/>
                <a:gd name="T3" fmla="*/ 0 h 763"/>
                <a:gd name="T4" fmla="*/ 114 w 762"/>
                <a:gd name="T5" fmla="*/ 102 h 763"/>
                <a:gd name="T6" fmla="*/ 114 w 762"/>
                <a:gd name="T7" fmla="*/ 369 h 763"/>
                <a:gd name="T8" fmla="*/ 15 w 762"/>
                <a:gd name="T9" fmla="*/ 582 h 763"/>
                <a:gd name="T10" fmla="*/ 181 w 762"/>
                <a:gd name="T11" fmla="*/ 748 h 763"/>
                <a:gd name="T12" fmla="*/ 393 w 762"/>
                <a:gd name="T13" fmla="*/ 648 h 763"/>
                <a:gd name="T14" fmla="*/ 660 w 762"/>
                <a:gd name="T15" fmla="*/ 648 h 763"/>
                <a:gd name="T16" fmla="*/ 762 w 762"/>
                <a:gd name="T17" fmla="*/ 546 h 763"/>
                <a:gd name="T18" fmla="*/ 660 w 762"/>
                <a:gd name="T19" fmla="*/ 444 h 763"/>
                <a:gd name="T20" fmla="*/ 393 w 762"/>
                <a:gd name="T21" fmla="*/ 444 h 763"/>
                <a:gd name="T22" fmla="*/ 319 w 762"/>
                <a:gd name="T23" fmla="*/ 369 h 763"/>
                <a:gd name="T24" fmla="*/ 319 w 762"/>
                <a:gd name="T25" fmla="*/ 102 h 763"/>
                <a:gd name="T26" fmla="*/ 289 w 762"/>
                <a:gd name="T27" fmla="*/ 30 h 763"/>
                <a:gd name="T28" fmla="*/ 182 w 762"/>
                <a:gd name="T29" fmla="*/ 102 h 763"/>
                <a:gd name="T30" fmla="*/ 216 w 762"/>
                <a:gd name="T31" fmla="*/ 68 h 763"/>
                <a:gd name="T32" fmla="*/ 241 w 762"/>
                <a:gd name="T33" fmla="*/ 79 h 763"/>
                <a:gd name="T34" fmla="*/ 250 w 762"/>
                <a:gd name="T35" fmla="*/ 102 h 763"/>
                <a:gd name="T36" fmla="*/ 250 w 762"/>
                <a:gd name="T37" fmla="*/ 344 h 763"/>
                <a:gd name="T38" fmla="*/ 182 w 762"/>
                <a:gd name="T39" fmla="*/ 344 h 763"/>
                <a:gd name="T40" fmla="*/ 182 w 762"/>
                <a:gd name="T41" fmla="*/ 102 h 763"/>
                <a:gd name="T42" fmla="*/ 216 w 762"/>
                <a:gd name="T43" fmla="*/ 683 h 763"/>
                <a:gd name="T44" fmla="*/ 80 w 762"/>
                <a:gd name="T45" fmla="*/ 546 h 763"/>
                <a:gd name="T46" fmla="*/ 216 w 762"/>
                <a:gd name="T47" fmla="*/ 409 h 763"/>
                <a:gd name="T48" fmla="*/ 353 w 762"/>
                <a:gd name="T49" fmla="*/ 546 h 763"/>
                <a:gd name="T50" fmla="*/ 216 w 762"/>
                <a:gd name="T51" fmla="*/ 683 h 763"/>
                <a:gd name="T52" fmla="*/ 660 w 762"/>
                <a:gd name="T53" fmla="*/ 512 h 763"/>
                <a:gd name="T54" fmla="*/ 694 w 762"/>
                <a:gd name="T55" fmla="*/ 546 h 763"/>
                <a:gd name="T56" fmla="*/ 684 w 762"/>
                <a:gd name="T57" fmla="*/ 570 h 763"/>
                <a:gd name="T58" fmla="*/ 660 w 762"/>
                <a:gd name="T59" fmla="*/ 580 h 763"/>
                <a:gd name="T60" fmla="*/ 418 w 762"/>
                <a:gd name="T61" fmla="*/ 580 h 763"/>
                <a:gd name="T62" fmla="*/ 418 w 762"/>
                <a:gd name="T63" fmla="*/ 512 h 763"/>
                <a:gd name="T64" fmla="*/ 660 w 762"/>
                <a:gd name="T65" fmla="*/ 512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62" h="763">
                  <a:moveTo>
                    <a:pt x="289" y="30"/>
                  </a:moveTo>
                  <a:cubicBezTo>
                    <a:pt x="270" y="11"/>
                    <a:pt x="244" y="0"/>
                    <a:pt x="216" y="0"/>
                  </a:cubicBezTo>
                  <a:cubicBezTo>
                    <a:pt x="160" y="0"/>
                    <a:pt x="114" y="46"/>
                    <a:pt x="114" y="102"/>
                  </a:cubicBezTo>
                  <a:cubicBezTo>
                    <a:pt x="114" y="369"/>
                    <a:pt x="114" y="369"/>
                    <a:pt x="114" y="369"/>
                  </a:cubicBezTo>
                  <a:cubicBezTo>
                    <a:pt x="39" y="412"/>
                    <a:pt x="0" y="497"/>
                    <a:pt x="15" y="582"/>
                  </a:cubicBezTo>
                  <a:cubicBezTo>
                    <a:pt x="29" y="666"/>
                    <a:pt x="96" y="733"/>
                    <a:pt x="181" y="748"/>
                  </a:cubicBezTo>
                  <a:cubicBezTo>
                    <a:pt x="265" y="763"/>
                    <a:pt x="350" y="723"/>
                    <a:pt x="393" y="648"/>
                  </a:cubicBezTo>
                  <a:cubicBezTo>
                    <a:pt x="660" y="648"/>
                    <a:pt x="660" y="648"/>
                    <a:pt x="660" y="648"/>
                  </a:cubicBezTo>
                  <a:cubicBezTo>
                    <a:pt x="716" y="648"/>
                    <a:pt x="762" y="602"/>
                    <a:pt x="762" y="546"/>
                  </a:cubicBezTo>
                  <a:cubicBezTo>
                    <a:pt x="762" y="489"/>
                    <a:pt x="717" y="444"/>
                    <a:pt x="660" y="444"/>
                  </a:cubicBezTo>
                  <a:cubicBezTo>
                    <a:pt x="393" y="444"/>
                    <a:pt x="393" y="444"/>
                    <a:pt x="393" y="444"/>
                  </a:cubicBezTo>
                  <a:cubicBezTo>
                    <a:pt x="375" y="413"/>
                    <a:pt x="350" y="387"/>
                    <a:pt x="319" y="369"/>
                  </a:cubicBezTo>
                  <a:cubicBezTo>
                    <a:pt x="319" y="102"/>
                    <a:pt x="319" y="102"/>
                    <a:pt x="319" y="102"/>
                  </a:cubicBezTo>
                  <a:cubicBezTo>
                    <a:pt x="319" y="75"/>
                    <a:pt x="308" y="49"/>
                    <a:pt x="289" y="30"/>
                  </a:cubicBezTo>
                  <a:close/>
                  <a:moveTo>
                    <a:pt x="182" y="102"/>
                  </a:moveTo>
                  <a:cubicBezTo>
                    <a:pt x="182" y="83"/>
                    <a:pt x="197" y="68"/>
                    <a:pt x="216" y="68"/>
                  </a:cubicBezTo>
                  <a:cubicBezTo>
                    <a:pt x="225" y="68"/>
                    <a:pt x="234" y="72"/>
                    <a:pt x="241" y="79"/>
                  </a:cubicBezTo>
                  <a:cubicBezTo>
                    <a:pt x="247" y="85"/>
                    <a:pt x="250" y="93"/>
                    <a:pt x="250" y="102"/>
                  </a:cubicBezTo>
                  <a:cubicBezTo>
                    <a:pt x="250" y="344"/>
                    <a:pt x="250" y="344"/>
                    <a:pt x="250" y="344"/>
                  </a:cubicBezTo>
                  <a:cubicBezTo>
                    <a:pt x="228" y="340"/>
                    <a:pt x="205" y="340"/>
                    <a:pt x="182" y="344"/>
                  </a:cubicBezTo>
                  <a:lnTo>
                    <a:pt x="182" y="102"/>
                  </a:lnTo>
                  <a:close/>
                  <a:moveTo>
                    <a:pt x="216" y="683"/>
                  </a:moveTo>
                  <a:cubicBezTo>
                    <a:pt x="141" y="683"/>
                    <a:pt x="80" y="621"/>
                    <a:pt x="80" y="546"/>
                  </a:cubicBezTo>
                  <a:cubicBezTo>
                    <a:pt x="80" y="471"/>
                    <a:pt x="141" y="409"/>
                    <a:pt x="216" y="409"/>
                  </a:cubicBezTo>
                  <a:cubicBezTo>
                    <a:pt x="292" y="409"/>
                    <a:pt x="353" y="471"/>
                    <a:pt x="353" y="546"/>
                  </a:cubicBezTo>
                  <a:cubicBezTo>
                    <a:pt x="353" y="621"/>
                    <a:pt x="292" y="683"/>
                    <a:pt x="216" y="683"/>
                  </a:cubicBezTo>
                  <a:close/>
                  <a:moveTo>
                    <a:pt x="660" y="512"/>
                  </a:moveTo>
                  <a:cubicBezTo>
                    <a:pt x="679" y="512"/>
                    <a:pt x="694" y="527"/>
                    <a:pt x="694" y="546"/>
                  </a:cubicBezTo>
                  <a:cubicBezTo>
                    <a:pt x="694" y="555"/>
                    <a:pt x="690" y="564"/>
                    <a:pt x="684" y="570"/>
                  </a:cubicBezTo>
                  <a:cubicBezTo>
                    <a:pt x="677" y="577"/>
                    <a:pt x="669" y="580"/>
                    <a:pt x="660" y="580"/>
                  </a:cubicBezTo>
                  <a:cubicBezTo>
                    <a:pt x="418" y="580"/>
                    <a:pt x="418" y="580"/>
                    <a:pt x="418" y="580"/>
                  </a:cubicBezTo>
                  <a:cubicBezTo>
                    <a:pt x="422" y="558"/>
                    <a:pt x="422" y="534"/>
                    <a:pt x="418" y="512"/>
                  </a:cubicBezTo>
                  <a:lnTo>
                    <a:pt x="660" y="5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53">
              <a:extLst>
                <a:ext uri="{FF2B5EF4-FFF2-40B4-BE49-F238E27FC236}">
                  <a16:creationId xmlns:a16="http://schemas.microsoft.com/office/drawing/2014/main" id="{4D384555-2DB6-4DBA-BD15-7A7D3C4BA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6650" y="5784850"/>
              <a:ext cx="25400" cy="254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54">
              <a:extLst>
                <a:ext uri="{FF2B5EF4-FFF2-40B4-BE49-F238E27FC236}">
                  <a16:creationId xmlns:a16="http://schemas.microsoft.com/office/drawing/2014/main" id="{18A78EF8-51DC-4817-8081-B9D7B7E6F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150" y="5772150"/>
              <a:ext cx="28575" cy="26987"/>
            </a:xfrm>
            <a:custGeom>
              <a:avLst/>
              <a:gdLst>
                <a:gd name="T0" fmla="*/ 27 w 77"/>
                <a:gd name="T1" fmla="*/ 3 h 74"/>
                <a:gd name="T2" fmla="*/ 6 w 77"/>
                <a:gd name="T3" fmla="*/ 47 h 74"/>
                <a:gd name="T4" fmla="*/ 50 w 77"/>
                <a:gd name="T5" fmla="*/ 67 h 74"/>
                <a:gd name="T6" fmla="*/ 70 w 77"/>
                <a:gd name="T7" fmla="*/ 24 h 74"/>
                <a:gd name="T8" fmla="*/ 53 w 77"/>
                <a:gd name="T9" fmla="*/ 4 h 74"/>
                <a:gd name="T10" fmla="*/ 27 w 77"/>
                <a:gd name="T11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74">
                  <a:moveTo>
                    <a:pt x="27" y="3"/>
                  </a:moveTo>
                  <a:cubicBezTo>
                    <a:pt x="9" y="9"/>
                    <a:pt x="0" y="29"/>
                    <a:pt x="6" y="47"/>
                  </a:cubicBezTo>
                  <a:cubicBezTo>
                    <a:pt x="13" y="64"/>
                    <a:pt x="32" y="74"/>
                    <a:pt x="50" y="67"/>
                  </a:cubicBezTo>
                  <a:cubicBezTo>
                    <a:pt x="68" y="61"/>
                    <a:pt x="77" y="41"/>
                    <a:pt x="70" y="24"/>
                  </a:cubicBezTo>
                  <a:cubicBezTo>
                    <a:pt x="67" y="15"/>
                    <a:pt x="61" y="8"/>
                    <a:pt x="53" y="4"/>
                  </a:cubicBezTo>
                  <a:cubicBezTo>
                    <a:pt x="45" y="0"/>
                    <a:pt x="35" y="0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55">
              <a:extLst>
                <a:ext uri="{FF2B5EF4-FFF2-40B4-BE49-F238E27FC236}">
                  <a16:creationId xmlns:a16="http://schemas.microsoft.com/office/drawing/2014/main" id="{825C86EB-D18C-49F8-8122-3961A8091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8888" y="5738813"/>
              <a:ext cx="28575" cy="26987"/>
            </a:xfrm>
            <a:custGeom>
              <a:avLst/>
              <a:gdLst>
                <a:gd name="T0" fmla="*/ 16 w 77"/>
                <a:gd name="T1" fmla="*/ 9 h 73"/>
                <a:gd name="T2" fmla="*/ 12 w 77"/>
                <a:gd name="T3" fmla="*/ 57 h 73"/>
                <a:gd name="T4" fmla="*/ 60 w 77"/>
                <a:gd name="T5" fmla="*/ 61 h 73"/>
                <a:gd name="T6" fmla="*/ 65 w 77"/>
                <a:gd name="T7" fmla="*/ 13 h 73"/>
                <a:gd name="T8" fmla="*/ 41 w 77"/>
                <a:gd name="T9" fmla="*/ 1 h 73"/>
                <a:gd name="T10" fmla="*/ 16 w 77"/>
                <a:gd name="T11" fmla="*/ 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73">
                  <a:moveTo>
                    <a:pt x="16" y="9"/>
                  </a:moveTo>
                  <a:cubicBezTo>
                    <a:pt x="2" y="21"/>
                    <a:pt x="0" y="43"/>
                    <a:pt x="12" y="57"/>
                  </a:cubicBezTo>
                  <a:cubicBezTo>
                    <a:pt x="24" y="72"/>
                    <a:pt x="46" y="73"/>
                    <a:pt x="60" y="61"/>
                  </a:cubicBezTo>
                  <a:cubicBezTo>
                    <a:pt x="75" y="49"/>
                    <a:pt x="77" y="28"/>
                    <a:pt x="65" y="13"/>
                  </a:cubicBezTo>
                  <a:cubicBezTo>
                    <a:pt x="59" y="6"/>
                    <a:pt x="50" y="2"/>
                    <a:pt x="41" y="1"/>
                  </a:cubicBezTo>
                  <a:cubicBezTo>
                    <a:pt x="32" y="0"/>
                    <a:pt x="23" y="3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56">
              <a:extLst>
                <a:ext uri="{FF2B5EF4-FFF2-40B4-BE49-F238E27FC236}">
                  <a16:creationId xmlns:a16="http://schemas.microsoft.com/office/drawing/2014/main" id="{869EBE2C-3FB7-4769-9509-FF722045C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1238" y="5443538"/>
              <a:ext cx="28575" cy="26987"/>
            </a:xfrm>
            <a:custGeom>
              <a:avLst/>
              <a:gdLst>
                <a:gd name="T0" fmla="*/ 60 w 76"/>
                <a:gd name="T1" fmla="*/ 64 h 73"/>
                <a:gd name="T2" fmla="*/ 64 w 76"/>
                <a:gd name="T3" fmla="*/ 16 h 73"/>
                <a:gd name="T4" fmla="*/ 16 w 76"/>
                <a:gd name="T5" fmla="*/ 12 h 73"/>
                <a:gd name="T6" fmla="*/ 12 w 76"/>
                <a:gd name="T7" fmla="*/ 60 h 73"/>
                <a:gd name="T8" fmla="*/ 35 w 76"/>
                <a:gd name="T9" fmla="*/ 72 h 73"/>
                <a:gd name="T10" fmla="*/ 60 w 76"/>
                <a:gd name="T11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73">
                  <a:moveTo>
                    <a:pt x="60" y="64"/>
                  </a:moveTo>
                  <a:cubicBezTo>
                    <a:pt x="75" y="52"/>
                    <a:pt x="76" y="30"/>
                    <a:pt x="64" y="16"/>
                  </a:cubicBezTo>
                  <a:cubicBezTo>
                    <a:pt x="52" y="1"/>
                    <a:pt x="31" y="0"/>
                    <a:pt x="16" y="12"/>
                  </a:cubicBezTo>
                  <a:cubicBezTo>
                    <a:pt x="2" y="24"/>
                    <a:pt x="0" y="45"/>
                    <a:pt x="12" y="60"/>
                  </a:cubicBezTo>
                  <a:cubicBezTo>
                    <a:pt x="18" y="67"/>
                    <a:pt x="26" y="71"/>
                    <a:pt x="35" y="72"/>
                  </a:cubicBezTo>
                  <a:cubicBezTo>
                    <a:pt x="44" y="73"/>
                    <a:pt x="53" y="70"/>
                    <a:pt x="60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57">
              <a:extLst>
                <a:ext uri="{FF2B5EF4-FFF2-40B4-BE49-F238E27FC236}">
                  <a16:creationId xmlns:a16="http://schemas.microsoft.com/office/drawing/2014/main" id="{DE0EEBD8-CA8E-440C-8D9D-A10C0E576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1750" y="5686425"/>
              <a:ext cx="26988" cy="28575"/>
            </a:xfrm>
            <a:custGeom>
              <a:avLst/>
              <a:gdLst>
                <a:gd name="T0" fmla="*/ 7 w 72"/>
                <a:gd name="T1" fmla="*/ 22 h 76"/>
                <a:gd name="T2" fmla="*/ 10 w 72"/>
                <a:gd name="T3" fmla="*/ 60 h 76"/>
                <a:gd name="T4" fmla="*/ 45 w 72"/>
                <a:gd name="T5" fmla="*/ 72 h 76"/>
                <a:gd name="T6" fmla="*/ 71 w 72"/>
                <a:gd name="T7" fmla="*/ 43 h 76"/>
                <a:gd name="T8" fmla="*/ 54 w 72"/>
                <a:gd name="T9" fmla="*/ 9 h 76"/>
                <a:gd name="T10" fmla="*/ 7 w 72"/>
                <a:gd name="T11" fmla="*/ 2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" h="76">
                  <a:moveTo>
                    <a:pt x="7" y="22"/>
                  </a:moveTo>
                  <a:cubicBezTo>
                    <a:pt x="0" y="34"/>
                    <a:pt x="1" y="49"/>
                    <a:pt x="10" y="60"/>
                  </a:cubicBezTo>
                  <a:cubicBezTo>
                    <a:pt x="18" y="71"/>
                    <a:pt x="32" y="76"/>
                    <a:pt x="45" y="72"/>
                  </a:cubicBezTo>
                  <a:cubicBezTo>
                    <a:pt x="59" y="68"/>
                    <a:pt x="69" y="57"/>
                    <a:pt x="71" y="43"/>
                  </a:cubicBezTo>
                  <a:cubicBezTo>
                    <a:pt x="72" y="30"/>
                    <a:pt x="66" y="16"/>
                    <a:pt x="54" y="9"/>
                  </a:cubicBezTo>
                  <a:cubicBezTo>
                    <a:pt x="37" y="0"/>
                    <a:pt x="17" y="6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58">
              <a:extLst>
                <a:ext uri="{FF2B5EF4-FFF2-40B4-BE49-F238E27FC236}">
                  <a16:creationId xmlns:a16="http://schemas.microsoft.com/office/drawing/2014/main" id="{8192C336-115A-4F12-9E4F-1854252C3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8375" y="5495925"/>
              <a:ext cx="28575" cy="26987"/>
            </a:xfrm>
            <a:custGeom>
              <a:avLst/>
              <a:gdLst>
                <a:gd name="T0" fmla="*/ 22 w 75"/>
                <a:gd name="T1" fmla="*/ 66 h 72"/>
                <a:gd name="T2" fmla="*/ 60 w 75"/>
                <a:gd name="T3" fmla="*/ 63 h 72"/>
                <a:gd name="T4" fmla="*/ 72 w 75"/>
                <a:gd name="T5" fmla="*/ 27 h 72"/>
                <a:gd name="T6" fmla="*/ 43 w 75"/>
                <a:gd name="T7" fmla="*/ 2 h 72"/>
                <a:gd name="T8" fmla="*/ 9 w 75"/>
                <a:gd name="T9" fmla="*/ 19 h 72"/>
                <a:gd name="T10" fmla="*/ 22 w 75"/>
                <a:gd name="T11" fmla="*/ 6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72">
                  <a:moveTo>
                    <a:pt x="22" y="66"/>
                  </a:moveTo>
                  <a:cubicBezTo>
                    <a:pt x="34" y="72"/>
                    <a:pt x="49" y="71"/>
                    <a:pt x="60" y="63"/>
                  </a:cubicBezTo>
                  <a:cubicBezTo>
                    <a:pt x="71" y="55"/>
                    <a:pt x="75" y="41"/>
                    <a:pt x="72" y="27"/>
                  </a:cubicBezTo>
                  <a:cubicBezTo>
                    <a:pt x="68" y="14"/>
                    <a:pt x="57" y="4"/>
                    <a:pt x="43" y="2"/>
                  </a:cubicBezTo>
                  <a:cubicBezTo>
                    <a:pt x="30" y="0"/>
                    <a:pt x="16" y="7"/>
                    <a:pt x="9" y="19"/>
                  </a:cubicBezTo>
                  <a:cubicBezTo>
                    <a:pt x="0" y="35"/>
                    <a:pt x="5" y="56"/>
                    <a:pt x="22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59">
              <a:extLst>
                <a:ext uri="{FF2B5EF4-FFF2-40B4-BE49-F238E27FC236}">
                  <a16:creationId xmlns:a16="http://schemas.microsoft.com/office/drawing/2014/main" id="{2345B764-BC38-4F9E-BF86-875750F53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6150" y="5556250"/>
              <a:ext cx="28575" cy="30162"/>
            </a:xfrm>
            <a:custGeom>
              <a:avLst/>
              <a:gdLst>
                <a:gd name="T0" fmla="*/ 19 w 77"/>
                <a:gd name="T1" fmla="*/ 11 h 77"/>
                <a:gd name="T2" fmla="*/ 66 w 77"/>
                <a:gd name="T3" fmla="*/ 19 h 77"/>
                <a:gd name="T4" fmla="*/ 58 w 77"/>
                <a:gd name="T5" fmla="*/ 67 h 77"/>
                <a:gd name="T6" fmla="*/ 10 w 77"/>
                <a:gd name="T7" fmla="*/ 58 h 77"/>
                <a:gd name="T8" fmla="*/ 19 w 77"/>
                <a:gd name="T9" fmla="*/ 1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7">
                  <a:moveTo>
                    <a:pt x="19" y="11"/>
                  </a:moveTo>
                  <a:cubicBezTo>
                    <a:pt x="34" y="0"/>
                    <a:pt x="55" y="4"/>
                    <a:pt x="66" y="19"/>
                  </a:cubicBezTo>
                  <a:cubicBezTo>
                    <a:pt x="77" y="35"/>
                    <a:pt x="73" y="56"/>
                    <a:pt x="58" y="67"/>
                  </a:cubicBezTo>
                  <a:cubicBezTo>
                    <a:pt x="42" y="77"/>
                    <a:pt x="21" y="74"/>
                    <a:pt x="10" y="58"/>
                  </a:cubicBezTo>
                  <a:cubicBezTo>
                    <a:pt x="0" y="43"/>
                    <a:pt x="3" y="22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60">
              <a:extLst>
                <a:ext uri="{FF2B5EF4-FFF2-40B4-BE49-F238E27FC236}">
                  <a16:creationId xmlns:a16="http://schemas.microsoft.com/office/drawing/2014/main" id="{66986C69-C783-4322-88B0-DB30C98CE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9963" y="5686425"/>
              <a:ext cx="26988" cy="28575"/>
            </a:xfrm>
            <a:custGeom>
              <a:avLst/>
              <a:gdLst>
                <a:gd name="T0" fmla="*/ 54 w 73"/>
                <a:gd name="T1" fmla="*/ 67 h 76"/>
                <a:gd name="T2" fmla="*/ 71 w 73"/>
                <a:gd name="T3" fmla="*/ 33 h 76"/>
                <a:gd name="T4" fmla="*/ 46 w 73"/>
                <a:gd name="T5" fmla="*/ 4 h 76"/>
                <a:gd name="T6" fmla="*/ 10 w 73"/>
                <a:gd name="T7" fmla="*/ 16 h 76"/>
                <a:gd name="T8" fmla="*/ 7 w 73"/>
                <a:gd name="T9" fmla="*/ 54 h 76"/>
                <a:gd name="T10" fmla="*/ 54 w 73"/>
                <a:gd name="T11" fmla="*/ 6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76">
                  <a:moveTo>
                    <a:pt x="54" y="67"/>
                  </a:moveTo>
                  <a:cubicBezTo>
                    <a:pt x="66" y="60"/>
                    <a:pt x="73" y="46"/>
                    <a:pt x="71" y="33"/>
                  </a:cubicBezTo>
                  <a:cubicBezTo>
                    <a:pt x="69" y="19"/>
                    <a:pt x="59" y="8"/>
                    <a:pt x="46" y="4"/>
                  </a:cubicBezTo>
                  <a:cubicBezTo>
                    <a:pt x="32" y="0"/>
                    <a:pt x="18" y="5"/>
                    <a:pt x="10" y="16"/>
                  </a:cubicBezTo>
                  <a:cubicBezTo>
                    <a:pt x="1" y="27"/>
                    <a:pt x="0" y="42"/>
                    <a:pt x="7" y="54"/>
                  </a:cubicBezTo>
                  <a:cubicBezTo>
                    <a:pt x="17" y="70"/>
                    <a:pt x="38" y="76"/>
                    <a:pt x="5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61">
              <a:extLst>
                <a:ext uri="{FF2B5EF4-FFF2-40B4-BE49-F238E27FC236}">
                  <a16:creationId xmlns:a16="http://schemas.microsoft.com/office/drawing/2014/main" id="{2CCB1452-F11E-4F29-A7D1-AC056FB8A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2825" y="5737225"/>
              <a:ext cx="26988" cy="28575"/>
            </a:xfrm>
            <a:custGeom>
              <a:avLst/>
              <a:gdLst>
                <a:gd name="T0" fmla="*/ 13 w 73"/>
                <a:gd name="T1" fmla="*/ 64 h 76"/>
                <a:gd name="T2" fmla="*/ 61 w 73"/>
                <a:gd name="T3" fmla="*/ 60 h 76"/>
                <a:gd name="T4" fmla="*/ 57 w 73"/>
                <a:gd name="T5" fmla="*/ 12 h 76"/>
                <a:gd name="T6" fmla="*/ 9 w 73"/>
                <a:gd name="T7" fmla="*/ 16 h 76"/>
                <a:gd name="T8" fmla="*/ 1 w 73"/>
                <a:gd name="T9" fmla="*/ 41 h 76"/>
                <a:gd name="T10" fmla="*/ 13 w 73"/>
                <a:gd name="T11" fmla="*/ 6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76">
                  <a:moveTo>
                    <a:pt x="13" y="64"/>
                  </a:moveTo>
                  <a:cubicBezTo>
                    <a:pt x="28" y="76"/>
                    <a:pt x="49" y="75"/>
                    <a:pt x="61" y="60"/>
                  </a:cubicBezTo>
                  <a:cubicBezTo>
                    <a:pt x="73" y="46"/>
                    <a:pt x="72" y="24"/>
                    <a:pt x="57" y="12"/>
                  </a:cubicBezTo>
                  <a:cubicBezTo>
                    <a:pt x="43" y="0"/>
                    <a:pt x="21" y="2"/>
                    <a:pt x="9" y="16"/>
                  </a:cubicBezTo>
                  <a:cubicBezTo>
                    <a:pt x="3" y="23"/>
                    <a:pt x="0" y="32"/>
                    <a:pt x="1" y="41"/>
                  </a:cubicBezTo>
                  <a:cubicBezTo>
                    <a:pt x="2" y="50"/>
                    <a:pt x="6" y="59"/>
                    <a:pt x="1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62">
              <a:extLst>
                <a:ext uri="{FF2B5EF4-FFF2-40B4-BE49-F238E27FC236}">
                  <a16:creationId xmlns:a16="http://schemas.microsoft.com/office/drawing/2014/main" id="{4AC78B34-2251-441B-89D3-13F0FD43A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975" y="5770563"/>
              <a:ext cx="28575" cy="28575"/>
            </a:xfrm>
            <a:custGeom>
              <a:avLst/>
              <a:gdLst>
                <a:gd name="T0" fmla="*/ 23 w 74"/>
                <a:gd name="T1" fmla="*/ 70 h 77"/>
                <a:gd name="T2" fmla="*/ 67 w 74"/>
                <a:gd name="T3" fmla="*/ 50 h 77"/>
                <a:gd name="T4" fmla="*/ 47 w 74"/>
                <a:gd name="T5" fmla="*/ 6 h 77"/>
                <a:gd name="T6" fmla="*/ 3 w 74"/>
                <a:gd name="T7" fmla="*/ 26 h 77"/>
                <a:gd name="T8" fmla="*/ 4 w 74"/>
                <a:gd name="T9" fmla="*/ 53 h 77"/>
                <a:gd name="T10" fmla="*/ 23 w 74"/>
                <a:gd name="T11" fmla="*/ 7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77">
                  <a:moveTo>
                    <a:pt x="23" y="70"/>
                  </a:moveTo>
                  <a:cubicBezTo>
                    <a:pt x="41" y="77"/>
                    <a:pt x="61" y="67"/>
                    <a:pt x="67" y="50"/>
                  </a:cubicBezTo>
                  <a:cubicBezTo>
                    <a:pt x="74" y="32"/>
                    <a:pt x="64" y="12"/>
                    <a:pt x="47" y="6"/>
                  </a:cubicBezTo>
                  <a:cubicBezTo>
                    <a:pt x="29" y="0"/>
                    <a:pt x="9" y="9"/>
                    <a:pt x="3" y="26"/>
                  </a:cubicBezTo>
                  <a:cubicBezTo>
                    <a:pt x="0" y="35"/>
                    <a:pt x="0" y="44"/>
                    <a:pt x="4" y="53"/>
                  </a:cubicBezTo>
                  <a:cubicBezTo>
                    <a:pt x="8" y="61"/>
                    <a:pt x="15" y="67"/>
                    <a:pt x="23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947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125E-6 -0.07547 L -3.125E-6 0.0013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4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04167E-6 -0.07593 L -1.04167E-6 -1.1111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25E-6 -0.07593 L 1.25E-6 -1.11111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3.33333E-6 -0.07593 L 3.33333E-6 -1.85185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1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4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DA4EB98-AD03-4BDE-A80F-051447B4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Зрелые годы</a:t>
            </a:r>
            <a:endParaRPr lang="en-US" dirty="0"/>
          </a:p>
        </p:txBody>
      </p:sp>
      <p:grpSp>
        <p:nvGrpSpPr>
          <p:cNvPr id="5" name="List"/>
          <p:cNvGrpSpPr/>
          <p:nvPr/>
        </p:nvGrpSpPr>
        <p:grpSpPr>
          <a:xfrm>
            <a:off x="1028701" y="1562101"/>
            <a:ext cx="7496990" cy="1642810"/>
            <a:chOff x="1028701" y="1562101"/>
            <a:chExt cx="7496990" cy="164281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ED83063-9AA8-4C1F-82D8-70B5A8D1DB33}"/>
                </a:ext>
              </a:extLst>
            </p:cNvPr>
            <p:cNvSpPr/>
            <p:nvPr/>
          </p:nvSpPr>
          <p:spPr>
            <a:xfrm>
              <a:off x="1028701" y="1562101"/>
              <a:ext cx="7496990" cy="1642810"/>
            </a:xfrm>
            <a:prstGeom prst="roundRect">
              <a:avLst>
                <a:gd name="adj" fmla="val 1256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182880" rIns="548640" bIns="0" numCol="1" rtlCol="0" anchor="t"/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ru-RU" sz="1200" dirty="0">
                  <a:solidFill>
                    <a:schemeClr val="tx1"/>
                  </a:solidFill>
                  <a:latin typeface="+mj-lt"/>
                </a:rPr>
                <a:t>Устоявшаяся репутация</a:t>
              </a:r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36D8574-2932-4CFD-86C7-59C8D8440A59}"/>
                </a:ext>
              </a:extLst>
            </p:cNvPr>
            <p:cNvSpPr/>
            <p:nvPr/>
          </p:nvSpPr>
          <p:spPr>
            <a:xfrm>
              <a:off x="1254034" y="1759132"/>
              <a:ext cx="400596" cy="400596"/>
            </a:xfrm>
            <a:prstGeom prst="roundRect">
              <a:avLst>
                <a:gd name="adj" fmla="val 25596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0" dist="635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+mj-lt"/>
                </a:rPr>
                <a:t>01</a:t>
              </a:r>
            </a:p>
          </p:txBody>
        </p:sp>
      </p:grpSp>
      <p:grpSp>
        <p:nvGrpSpPr>
          <p:cNvPr id="6" name="List">
            <a:extLst>
              <a:ext uri="{FF2B5EF4-FFF2-40B4-BE49-F238E27FC236}">
                <a16:creationId xmlns:a16="http://schemas.microsoft.com/office/drawing/2014/main" id="{FDDF1279-0C38-4A0A-AA0B-48FCF4C2D4ED}"/>
              </a:ext>
            </a:extLst>
          </p:cNvPr>
          <p:cNvGrpSpPr/>
          <p:nvPr/>
        </p:nvGrpSpPr>
        <p:grpSpPr>
          <a:xfrm>
            <a:off x="1028701" y="3387587"/>
            <a:ext cx="7496990" cy="844520"/>
            <a:chOff x="1028701" y="3614269"/>
            <a:chExt cx="7496990" cy="84452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2648F6F-03A8-44B3-A85A-AF1EB31A62C4}"/>
                </a:ext>
              </a:extLst>
            </p:cNvPr>
            <p:cNvSpPr/>
            <p:nvPr/>
          </p:nvSpPr>
          <p:spPr>
            <a:xfrm>
              <a:off x="1028701" y="3614269"/>
              <a:ext cx="7496990" cy="844520"/>
            </a:xfrm>
            <a:prstGeom prst="roundRect">
              <a:avLst>
                <a:gd name="adj" fmla="val 2700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0" rIns="548640" bIns="91440" numCol="1" rtlCol="0" anchor="ctr"/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ru-RU" sz="1200" dirty="0">
                  <a:solidFill>
                    <a:schemeClr val="tx1"/>
                  </a:solidFill>
                  <a:latin typeface="+mj-lt"/>
                </a:rPr>
                <a:t>Стабильное положение </a:t>
              </a:r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C1AB589-01C5-413C-8E92-9CD21EC70942}"/>
                </a:ext>
              </a:extLst>
            </p:cNvPr>
            <p:cNvSpPr/>
            <p:nvPr/>
          </p:nvSpPr>
          <p:spPr>
            <a:xfrm>
              <a:off x="1254034" y="3820009"/>
              <a:ext cx="400596" cy="400596"/>
            </a:xfrm>
            <a:prstGeom prst="roundRect">
              <a:avLst>
                <a:gd name="adj" fmla="val 25596"/>
              </a:avLst>
            </a:prstGeom>
            <a:solidFill>
              <a:schemeClr val="accent2"/>
            </a:solidFill>
            <a:ln>
              <a:noFill/>
            </a:ln>
            <a:effectLst>
              <a:outerShdw blurRad="254000" dist="63500" dir="5400000" algn="t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+mj-lt"/>
                </a:rPr>
                <a:t>02</a:t>
              </a:r>
            </a:p>
          </p:txBody>
        </p:sp>
      </p:grpSp>
      <p:grpSp>
        <p:nvGrpSpPr>
          <p:cNvPr id="10" name="List">
            <a:extLst>
              <a:ext uri="{FF2B5EF4-FFF2-40B4-BE49-F238E27FC236}">
                <a16:creationId xmlns:a16="http://schemas.microsoft.com/office/drawing/2014/main" id="{4E160727-E621-4DC7-B245-ADF370CEA40A}"/>
              </a:ext>
            </a:extLst>
          </p:cNvPr>
          <p:cNvGrpSpPr/>
          <p:nvPr/>
        </p:nvGrpSpPr>
        <p:grpSpPr>
          <a:xfrm>
            <a:off x="1028701" y="4414783"/>
            <a:ext cx="7496990" cy="844520"/>
            <a:chOff x="1028701" y="3614269"/>
            <a:chExt cx="7496990" cy="84452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5950C86-BACF-489A-A160-59732409FF06}"/>
                </a:ext>
              </a:extLst>
            </p:cNvPr>
            <p:cNvSpPr/>
            <p:nvPr/>
          </p:nvSpPr>
          <p:spPr>
            <a:xfrm>
              <a:off x="1028701" y="3614269"/>
              <a:ext cx="7496990" cy="844520"/>
            </a:xfrm>
            <a:prstGeom prst="roundRect">
              <a:avLst>
                <a:gd name="adj" fmla="val 2700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0" rIns="548640" bIns="91440" numCol="1" rtlCol="0" anchor="ctr"/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ru-RU" sz="1200" dirty="0">
                  <a:solidFill>
                    <a:schemeClr val="tx1"/>
                  </a:solidFill>
                  <a:latin typeface="+mj-lt"/>
                </a:rPr>
                <a:t>Оптимизированные процессы</a:t>
              </a:r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DEF6E90-91B8-4B66-A5C8-B892E721C084}"/>
                </a:ext>
              </a:extLst>
            </p:cNvPr>
            <p:cNvSpPr/>
            <p:nvPr/>
          </p:nvSpPr>
          <p:spPr>
            <a:xfrm>
              <a:off x="1254034" y="3820009"/>
              <a:ext cx="400596" cy="400596"/>
            </a:xfrm>
            <a:prstGeom prst="roundRect">
              <a:avLst>
                <a:gd name="adj" fmla="val 25596"/>
              </a:avLst>
            </a:prstGeom>
            <a:solidFill>
              <a:schemeClr val="accent3"/>
            </a:solidFill>
            <a:ln>
              <a:noFill/>
            </a:ln>
            <a:effectLst>
              <a:outerShdw blurRad="254000" dist="63500" dir="5400000" algn="t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+mj-lt"/>
                </a:rPr>
                <a:t>03</a:t>
              </a:r>
            </a:p>
          </p:txBody>
        </p:sp>
      </p:grpSp>
      <p:grpSp>
        <p:nvGrpSpPr>
          <p:cNvPr id="13" name="List">
            <a:extLst>
              <a:ext uri="{FF2B5EF4-FFF2-40B4-BE49-F238E27FC236}">
                <a16:creationId xmlns:a16="http://schemas.microsoft.com/office/drawing/2014/main" id="{1237239A-F5BA-4FDE-BCD1-8BC7D45768EE}"/>
              </a:ext>
            </a:extLst>
          </p:cNvPr>
          <p:cNvGrpSpPr/>
          <p:nvPr/>
        </p:nvGrpSpPr>
        <p:grpSpPr>
          <a:xfrm>
            <a:off x="1028701" y="5441980"/>
            <a:ext cx="7496990" cy="844520"/>
            <a:chOff x="1028701" y="3614269"/>
            <a:chExt cx="7496990" cy="84452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6FAF903-4660-4872-BF9F-7F1BAA7B7CB0}"/>
                </a:ext>
              </a:extLst>
            </p:cNvPr>
            <p:cNvSpPr/>
            <p:nvPr/>
          </p:nvSpPr>
          <p:spPr>
            <a:xfrm>
              <a:off x="1028701" y="3614269"/>
              <a:ext cx="7496990" cy="844520"/>
            </a:xfrm>
            <a:prstGeom prst="roundRect">
              <a:avLst>
                <a:gd name="adj" fmla="val 2700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2960" tIns="0" rIns="548640" bIns="91440" numCol="1" rtlCol="0" anchor="ctr"/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ru-RU" sz="1200" dirty="0">
                  <a:solidFill>
                    <a:schemeClr val="tx1"/>
                  </a:solidFill>
                  <a:latin typeface="+mj-lt"/>
                </a:rPr>
                <a:t>Сильная команда</a:t>
              </a:r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316A92B-F2E4-4D89-86CC-9651380D5409}"/>
                </a:ext>
              </a:extLst>
            </p:cNvPr>
            <p:cNvSpPr/>
            <p:nvPr/>
          </p:nvSpPr>
          <p:spPr>
            <a:xfrm>
              <a:off x="1254034" y="3820009"/>
              <a:ext cx="400596" cy="400596"/>
            </a:xfrm>
            <a:prstGeom prst="roundRect">
              <a:avLst>
                <a:gd name="adj" fmla="val 25596"/>
              </a:avLst>
            </a:prstGeom>
            <a:solidFill>
              <a:schemeClr val="accent5"/>
            </a:solidFill>
            <a:ln>
              <a:noFill/>
            </a:ln>
            <a:effectLst>
              <a:outerShdw blurRad="254000" dist="63500" dir="5400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+mj-lt"/>
                </a:rPr>
                <a:t>04</a:t>
              </a:r>
            </a:p>
          </p:txBody>
        </p:sp>
      </p:grp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93C3E0E-18E5-1846-541E-9F4A372A24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8" r="2748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5992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3.125E-6 -0.08078 L 3.125E-6 7.40741E-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0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3.125E-6 -0.03149 L 3.125E-6 -1.11111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3.125E-6 -0.03148 L 3.125E-6 -1.11111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5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3.125E-6 -0.03148 L 3.125E-6 2.96296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BDDB50-9F4F-4AE9-BD12-970F264E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Старение</a:t>
            </a:r>
            <a:endParaRPr lang="en-US" dirty="0"/>
          </a:p>
        </p:txBody>
      </p:sp>
      <p:cxnSp>
        <p:nvCxnSpPr>
          <p:cNvPr id="5" name="line">
            <a:extLst>
              <a:ext uri="{FF2B5EF4-FFF2-40B4-BE49-F238E27FC236}">
                <a16:creationId xmlns:a16="http://schemas.microsoft.com/office/drawing/2014/main" id="{51A444A1-EDD8-4506-8742-F1E697938FCB}"/>
              </a:ext>
            </a:extLst>
          </p:cNvPr>
          <p:cNvCxnSpPr>
            <a:cxnSpLocks/>
          </p:cNvCxnSpPr>
          <p:nvPr/>
        </p:nvCxnSpPr>
        <p:spPr>
          <a:xfrm>
            <a:off x="1858614" y="3669406"/>
            <a:ext cx="10333386" cy="0"/>
          </a:xfrm>
          <a:prstGeom prst="line">
            <a:avLst/>
          </a:prstGeom>
          <a:ln w="635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ircle round shape">
            <a:extLst>
              <a:ext uri="{FF2B5EF4-FFF2-40B4-BE49-F238E27FC236}">
                <a16:creationId xmlns:a16="http://schemas.microsoft.com/office/drawing/2014/main" id="{1684342E-AFBE-4183-B7D2-B9941FB12640}"/>
              </a:ext>
            </a:extLst>
          </p:cNvPr>
          <p:cNvSpPr/>
          <p:nvPr/>
        </p:nvSpPr>
        <p:spPr>
          <a:xfrm>
            <a:off x="1028700" y="2839491"/>
            <a:ext cx="1659829" cy="1659829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alpha val="10000"/>
                </a:schemeClr>
              </a:gs>
              <a:gs pos="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2"/>
                </a:solidFill>
                <a:latin typeface="+mj-lt"/>
              </a:rPr>
              <a:t>Снижение прибыли</a:t>
            </a:r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4" name="circle round shape">
            <a:extLst>
              <a:ext uri="{FF2B5EF4-FFF2-40B4-BE49-F238E27FC236}">
                <a16:creationId xmlns:a16="http://schemas.microsoft.com/office/drawing/2014/main" id="{074EDB58-9780-4D51-8368-546DD3B0E16A}"/>
              </a:ext>
            </a:extLst>
          </p:cNvPr>
          <p:cNvSpPr/>
          <p:nvPr/>
        </p:nvSpPr>
        <p:spPr>
          <a:xfrm>
            <a:off x="2399585" y="1682999"/>
            <a:ext cx="3972818" cy="397281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1"/>
                </a:solidFill>
                <a:latin typeface="+mj-lt"/>
              </a:rPr>
              <a:t>Потеря конкурентных преимуществ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circle round shape">
            <a:extLst>
              <a:ext uri="{FF2B5EF4-FFF2-40B4-BE49-F238E27FC236}">
                <a16:creationId xmlns:a16="http://schemas.microsoft.com/office/drawing/2014/main" id="{8A32FE2C-7D01-4582-9B05-099308508924}"/>
              </a:ext>
            </a:extLst>
          </p:cNvPr>
          <p:cNvSpPr/>
          <p:nvPr/>
        </p:nvSpPr>
        <p:spPr>
          <a:xfrm>
            <a:off x="6095999" y="2839491"/>
            <a:ext cx="1520651" cy="1504356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alpha val="10000"/>
                </a:schemeClr>
              </a:gs>
              <a:gs pos="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3"/>
                </a:solidFill>
                <a:latin typeface="+mj-lt"/>
              </a:rPr>
              <a:t>Рост бюрократии</a:t>
            </a:r>
            <a:endParaRPr lang="en-US" sz="1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6" name="circle round shape">
            <a:extLst>
              <a:ext uri="{FF2B5EF4-FFF2-40B4-BE49-F238E27FC236}">
                <a16:creationId xmlns:a16="http://schemas.microsoft.com/office/drawing/2014/main" id="{38D1B299-598B-4ACE-8BCF-08F645F25B67}"/>
              </a:ext>
            </a:extLst>
          </p:cNvPr>
          <p:cNvSpPr/>
          <p:nvPr/>
        </p:nvSpPr>
        <p:spPr>
          <a:xfrm>
            <a:off x="7434706" y="2243971"/>
            <a:ext cx="2850874" cy="2850870"/>
          </a:xfrm>
          <a:prstGeom prst="ellipse">
            <a:avLst/>
          </a:prstGeom>
          <a:gradFill flip="none" rotWithShape="1">
            <a:gsLst>
              <a:gs pos="100000">
                <a:schemeClr val="accent4">
                  <a:alpha val="10000"/>
                </a:schemeClr>
              </a:gs>
              <a:gs pos="0">
                <a:schemeClr val="accent4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4"/>
                </a:solidFill>
                <a:latin typeface="+mj-lt"/>
              </a:rPr>
              <a:t>Снижение мотивации сотрудников </a:t>
            </a:r>
            <a:endParaRPr lang="en-US" sz="1200" dirty="0">
              <a:solidFill>
                <a:schemeClr val="accent4"/>
              </a:solidFill>
              <a:latin typeface="+mj-lt"/>
            </a:endParaRPr>
          </a:p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Dot shape">
            <a:extLst>
              <a:ext uri="{FF2B5EF4-FFF2-40B4-BE49-F238E27FC236}">
                <a16:creationId xmlns:a16="http://schemas.microsoft.com/office/drawing/2014/main" id="{FA808E6E-214F-4373-BB88-E1FA2DE581FF}"/>
              </a:ext>
            </a:extLst>
          </p:cNvPr>
          <p:cNvSpPr/>
          <p:nvPr/>
        </p:nvSpPr>
        <p:spPr>
          <a:xfrm>
            <a:off x="11911811" y="3389218"/>
            <a:ext cx="560378" cy="560376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circle shape">
            <a:extLst>
              <a:ext uri="{FF2B5EF4-FFF2-40B4-BE49-F238E27FC236}">
                <a16:creationId xmlns:a16="http://schemas.microsoft.com/office/drawing/2014/main" id="{9B0E2C7B-C5CE-4C8B-A96B-6552775B0561}"/>
              </a:ext>
            </a:extLst>
          </p:cNvPr>
          <p:cNvSpPr/>
          <p:nvPr/>
        </p:nvSpPr>
        <p:spPr>
          <a:xfrm>
            <a:off x="4326719" y="3610131"/>
            <a:ext cx="118550" cy="11855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3" name="circle shape">
            <a:extLst>
              <a:ext uri="{FF2B5EF4-FFF2-40B4-BE49-F238E27FC236}">
                <a16:creationId xmlns:a16="http://schemas.microsoft.com/office/drawing/2014/main" id="{21F993CE-C2B8-492A-AACE-8CD46DC5A91B}"/>
              </a:ext>
            </a:extLst>
          </p:cNvPr>
          <p:cNvSpPr/>
          <p:nvPr/>
        </p:nvSpPr>
        <p:spPr>
          <a:xfrm>
            <a:off x="1797681" y="3610131"/>
            <a:ext cx="118550" cy="11855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4" name="circle shape">
            <a:extLst>
              <a:ext uri="{FF2B5EF4-FFF2-40B4-BE49-F238E27FC236}">
                <a16:creationId xmlns:a16="http://schemas.microsoft.com/office/drawing/2014/main" id="{3512116B-A741-42B1-B1F9-C4F4315CB009}"/>
              </a:ext>
            </a:extLst>
          </p:cNvPr>
          <p:cNvSpPr/>
          <p:nvPr/>
        </p:nvSpPr>
        <p:spPr>
          <a:xfrm>
            <a:off x="6796482" y="3610131"/>
            <a:ext cx="118550" cy="11855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5" name="circle shape">
            <a:extLst>
              <a:ext uri="{FF2B5EF4-FFF2-40B4-BE49-F238E27FC236}">
                <a16:creationId xmlns:a16="http://schemas.microsoft.com/office/drawing/2014/main" id="{44AB6228-15A1-47A8-962B-0BAAA4F9C324}"/>
              </a:ext>
            </a:extLst>
          </p:cNvPr>
          <p:cNvSpPr/>
          <p:nvPr/>
        </p:nvSpPr>
        <p:spPr>
          <a:xfrm>
            <a:off x="8800868" y="3610131"/>
            <a:ext cx="118550" cy="118550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37" name="Circle background">
            <a:extLst>
              <a:ext uri="{FF2B5EF4-FFF2-40B4-BE49-F238E27FC236}">
                <a16:creationId xmlns:a16="http://schemas.microsoft.com/office/drawing/2014/main" id="{9D355263-D777-49FE-8C62-F37397622981}"/>
              </a:ext>
            </a:extLst>
          </p:cNvPr>
          <p:cNvGrpSpPr/>
          <p:nvPr/>
        </p:nvGrpSpPr>
        <p:grpSpPr>
          <a:xfrm>
            <a:off x="11913344" y="3389218"/>
            <a:ext cx="560378" cy="568963"/>
            <a:chOff x="11913344" y="3389218"/>
            <a:chExt cx="560378" cy="568963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E34CA9B1-0D0C-4C51-971B-CE220F5A2F37}"/>
                </a:ext>
              </a:extLst>
            </p:cNvPr>
            <p:cNvSpPr/>
            <p:nvPr/>
          </p:nvSpPr>
          <p:spPr>
            <a:xfrm>
              <a:off x="11913344" y="3389218"/>
              <a:ext cx="560378" cy="560378"/>
            </a:xfrm>
            <a:prstGeom prst="arc">
              <a:avLst>
                <a:gd name="adj1" fmla="val 6891757"/>
                <a:gd name="adj2" fmla="val 10732635"/>
              </a:avLst>
            </a:prstGeom>
            <a:ln w="63500" cap="rnd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>
                      <a:alpha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F1C59AC-329C-434F-96BC-676A040F9DE3}"/>
                </a:ext>
              </a:extLst>
            </p:cNvPr>
            <p:cNvSpPr/>
            <p:nvPr/>
          </p:nvSpPr>
          <p:spPr>
            <a:xfrm>
              <a:off x="12038622" y="3894173"/>
              <a:ext cx="64008" cy="64008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50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indefinite" accel="50000" decel="5000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indefinite" accel="50000" decel="50000" autoRev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indefinite" accel="50000" decel="50000" autoRev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C837"/>
                                      </p:to>
                                    </p:animClr>
                                    <p:set>
                                      <p:cBhvr>
                                        <p:cTn id="43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7" presetClass="emph" presetSubtype="2" repeatCount="indefinite" accel="50000" decel="50000" autoRev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784B"/>
                                      </p:to>
                                    </p:animClr>
                                    <p:set>
                                      <p:cBhvr>
                                        <p:cTn id="53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mph" presetSubtype="2" repeatCount="indefinite" accel="50000" decel="5000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9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indefinite" accel="33333" decel="33333" autoRev="1" fill="hold" nodeType="withEffect">
                                  <p:stCondLst>
                                    <p:cond delay="3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>
                                        <p:cTn id="6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mph" presetSubtype="2" repeatCount="indefinite" accel="33333" decel="33333" autoRev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837"/>
                                      </p:to>
                                    </p:animClr>
                                    <p:set>
                                      <p:cBhvr>
                                        <p:cTn id="73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mph" presetSubtype="2" repeatCount="indefinite" accel="33333" decel="33333" autoRev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784B"/>
                                      </p:to>
                                    </p:animClr>
                                    <p:set>
                                      <p:cBhvr>
                                        <p:cTn id="80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3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BDDB50-9F4F-4AE9-BD12-970F264E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Ликвидация</a:t>
            </a:r>
            <a:endParaRPr lang="en-US" dirty="0"/>
          </a:p>
        </p:txBody>
      </p:sp>
      <p:cxnSp>
        <p:nvCxnSpPr>
          <p:cNvPr id="5" name="line">
            <a:extLst>
              <a:ext uri="{FF2B5EF4-FFF2-40B4-BE49-F238E27FC236}">
                <a16:creationId xmlns:a16="http://schemas.microsoft.com/office/drawing/2014/main" id="{51A444A1-EDD8-4506-8742-F1E697938FCB}"/>
              </a:ext>
            </a:extLst>
          </p:cNvPr>
          <p:cNvCxnSpPr>
            <a:cxnSpLocks/>
          </p:cNvCxnSpPr>
          <p:nvPr/>
        </p:nvCxnSpPr>
        <p:spPr>
          <a:xfrm>
            <a:off x="0" y="3669406"/>
            <a:ext cx="8899781" cy="0"/>
          </a:xfrm>
          <a:prstGeom prst="line">
            <a:avLst/>
          </a:prstGeom>
          <a:ln w="635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ircle round shape">
            <a:extLst>
              <a:ext uri="{FF2B5EF4-FFF2-40B4-BE49-F238E27FC236}">
                <a16:creationId xmlns:a16="http://schemas.microsoft.com/office/drawing/2014/main" id="{074EDB58-9780-4D51-8368-546DD3B0E16A}"/>
              </a:ext>
            </a:extLst>
          </p:cNvPr>
          <p:cNvSpPr/>
          <p:nvPr/>
        </p:nvSpPr>
        <p:spPr>
          <a:xfrm>
            <a:off x="1028700" y="2074886"/>
            <a:ext cx="3189044" cy="3189040"/>
          </a:xfrm>
          <a:prstGeom prst="ellipse">
            <a:avLst/>
          </a:prstGeom>
          <a:gradFill flip="none" rotWithShape="1">
            <a:gsLst>
              <a:gs pos="100000">
                <a:schemeClr val="accent5">
                  <a:alpha val="10000"/>
                </a:schemeClr>
              </a:gs>
              <a:gs pos="0">
                <a:schemeClr val="accent5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5"/>
                </a:solidFill>
                <a:latin typeface="+mj-lt"/>
              </a:rPr>
              <a:t>Прекращение деятельности компании</a:t>
            </a:r>
            <a:endParaRPr lang="en-US" sz="12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6" name="Circle round shape">
            <a:extLst>
              <a:ext uri="{FF2B5EF4-FFF2-40B4-BE49-F238E27FC236}">
                <a16:creationId xmlns:a16="http://schemas.microsoft.com/office/drawing/2014/main" id="{38D1B299-598B-4ACE-8BCF-08F645F25B67}"/>
              </a:ext>
            </a:extLst>
          </p:cNvPr>
          <p:cNvSpPr/>
          <p:nvPr/>
        </p:nvSpPr>
        <p:spPr>
          <a:xfrm>
            <a:off x="3855674" y="1496645"/>
            <a:ext cx="4345528" cy="4345522"/>
          </a:xfrm>
          <a:prstGeom prst="ellipse">
            <a:avLst/>
          </a:prstGeom>
          <a:gradFill flip="none" rotWithShape="1">
            <a:gsLst>
              <a:gs pos="100000">
                <a:schemeClr val="accent6">
                  <a:alpha val="10000"/>
                </a:schemeClr>
              </a:gs>
              <a:gs pos="0">
                <a:schemeClr val="accent6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6"/>
                </a:solidFill>
                <a:latin typeface="+mj-lt"/>
              </a:rPr>
              <a:t>Увольнение сотрудников</a:t>
            </a:r>
            <a:endParaRPr lang="en-US" sz="12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circle background">
            <a:extLst>
              <a:ext uri="{FF2B5EF4-FFF2-40B4-BE49-F238E27FC236}">
                <a16:creationId xmlns:a16="http://schemas.microsoft.com/office/drawing/2014/main" id="{E293FB75-F82E-43D9-BA25-8821D3695293}"/>
              </a:ext>
            </a:extLst>
          </p:cNvPr>
          <p:cNvSpPr/>
          <p:nvPr/>
        </p:nvSpPr>
        <p:spPr>
          <a:xfrm>
            <a:off x="-280189" y="3389218"/>
            <a:ext cx="560378" cy="560376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Circle round shape">
            <a:extLst>
              <a:ext uri="{FF2B5EF4-FFF2-40B4-BE49-F238E27FC236}">
                <a16:creationId xmlns:a16="http://schemas.microsoft.com/office/drawing/2014/main" id="{50C8080C-20F0-439F-937A-0293D50BAD36}"/>
              </a:ext>
            </a:extLst>
          </p:cNvPr>
          <p:cNvSpPr/>
          <p:nvPr/>
        </p:nvSpPr>
        <p:spPr>
          <a:xfrm>
            <a:off x="8083351" y="2852977"/>
            <a:ext cx="1632860" cy="163285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1000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r>
              <a:rPr lang="ru-RU" sz="1200" dirty="0">
                <a:solidFill>
                  <a:schemeClr val="accent1"/>
                </a:solidFill>
                <a:latin typeface="+mj-lt"/>
              </a:rPr>
              <a:t>Банкротство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Circle shape">
            <a:extLst>
              <a:ext uri="{FF2B5EF4-FFF2-40B4-BE49-F238E27FC236}">
                <a16:creationId xmlns:a16="http://schemas.microsoft.com/office/drawing/2014/main" id="{00D9F828-7710-403B-B1B7-CDD90E4C1A23}"/>
              </a:ext>
            </a:extLst>
          </p:cNvPr>
          <p:cNvSpPr/>
          <p:nvPr/>
        </p:nvSpPr>
        <p:spPr>
          <a:xfrm>
            <a:off x="2563947" y="3610131"/>
            <a:ext cx="118550" cy="118550"/>
          </a:xfrm>
          <a:prstGeom prst="ellipse">
            <a:avLst/>
          </a:prstGeom>
          <a:solidFill>
            <a:schemeClr val="accent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Circle shape">
            <a:extLst>
              <a:ext uri="{FF2B5EF4-FFF2-40B4-BE49-F238E27FC236}">
                <a16:creationId xmlns:a16="http://schemas.microsoft.com/office/drawing/2014/main" id="{99B2E5EE-420D-49C7-8DCE-1FD3EAFA04D9}"/>
              </a:ext>
            </a:extLst>
          </p:cNvPr>
          <p:cNvSpPr/>
          <p:nvPr/>
        </p:nvSpPr>
        <p:spPr>
          <a:xfrm>
            <a:off x="5968654" y="3610131"/>
            <a:ext cx="118550" cy="118550"/>
          </a:xfrm>
          <a:prstGeom prst="ellipse">
            <a:avLst/>
          </a:prstGeom>
          <a:solidFill>
            <a:schemeClr val="accent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1" name="Circle shape">
            <a:extLst>
              <a:ext uri="{FF2B5EF4-FFF2-40B4-BE49-F238E27FC236}">
                <a16:creationId xmlns:a16="http://schemas.microsoft.com/office/drawing/2014/main" id="{4C4F79B6-6135-4202-804D-F72A771FF198}"/>
              </a:ext>
            </a:extLst>
          </p:cNvPr>
          <p:cNvSpPr/>
          <p:nvPr/>
        </p:nvSpPr>
        <p:spPr>
          <a:xfrm>
            <a:off x="8840156" y="3610131"/>
            <a:ext cx="118550" cy="11855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40080" rtlCol="0" anchor="ctr"/>
          <a:lstStyle/>
          <a:p>
            <a:pPr algn="ctr">
              <a:lnSpc>
                <a:spcPct val="110000"/>
              </a:lnSpc>
            </a:pP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23" name="Dot shape">
            <a:extLst>
              <a:ext uri="{FF2B5EF4-FFF2-40B4-BE49-F238E27FC236}">
                <a16:creationId xmlns:a16="http://schemas.microsoft.com/office/drawing/2014/main" id="{1824BB70-1421-4D9D-A03E-72F3AAF730D0}"/>
              </a:ext>
            </a:extLst>
          </p:cNvPr>
          <p:cNvGrpSpPr/>
          <p:nvPr/>
        </p:nvGrpSpPr>
        <p:grpSpPr>
          <a:xfrm rot="11700000">
            <a:off x="-280189" y="3389218"/>
            <a:ext cx="560378" cy="568963"/>
            <a:chOff x="11913344" y="3389218"/>
            <a:chExt cx="560378" cy="568963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A9FBC91-C6B5-48C5-ADFC-0D94F65C5A05}"/>
                </a:ext>
              </a:extLst>
            </p:cNvPr>
            <p:cNvSpPr/>
            <p:nvPr/>
          </p:nvSpPr>
          <p:spPr>
            <a:xfrm>
              <a:off x="11913344" y="3389218"/>
              <a:ext cx="560378" cy="560378"/>
            </a:xfrm>
            <a:prstGeom prst="arc">
              <a:avLst>
                <a:gd name="adj1" fmla="val 6891757"/>
                <a:gd name="adj2" fmla="val 10732635"/>
              </a:avLst>
            </a:prstGeom>
            <a:ln w="63500" cap="rnd">
              <a:gradFill>
                <a:gsLst>
                  <a:gs pos="0">
                    <a:schemeClr val="accent4">
                      <a:alpha val="0"/>
                    </a:schemeClr>
                  </a:gs>
                  <a:gs pos="100000">
                    <a:schemeClr val="accent4">
                      <a:alpha val="5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76A65E2-71B1-47F7-B711-1BCBF4D14F04}"/>
                </a:ext>
              </a:extLst>
            </p:cNvPr>
            <p:cNvSpPr/>
            <p:nvPr/>
          </p:nvSpPr>
          <p:spPr>
            <a:xfrm>
              <a:off x="12038622" y="3894173"/>
              <a:ext cx="64008" cy="64008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641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7" presetClass="emph" presetSubtype="2" repeatCount="indefinite" accel="33333" decel="33333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250E6"/>
                                      </p:to>
                                    </p:animClr>
                                    <p:set>
                                      <p:cBhvr>
                                        <p:cTn id="14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indefinite" accel="33333" decel="33333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indefinite" accel="33333" decel="33333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250E6"/>
                                      </p:to>
                                    </p:animClr>
                                    <p:set>
                                      <p:cBhvr>
                                        <p:cTn id="3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mph" presetSubtype="2" repeatCount="indefinite" accel="50000" decel="5000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250E6"/>
                                      </p:to>
                                    </p:animClr>
                                    <p:set>
                                      <p:cBhvr>
                                        <p:cTn id="40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mph" presetSubtype="2" repeatCount="indefinite" accel="50000" decel="5000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7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mph" presetSubtype="2" repeatCount="indefinite" accel="50000" decel="5000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250E6"/>
                                      </p:to>
                                    </p:animClr>
                                    <p:set>
                                      <p:cBhvr>
                                        <p:cTn id="5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6" grpId="0" animBg="1"/>
      <p:bldP spid="6" grpId="1" animBg="1"/>
      <p:bldP spid="7" grpId="0" animBg="1"/>
      <p:bldP spid="18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ox background">
            <a:extLst>
              <a:ext uri="{FF2B5EF4-FFF2-40B4-BE49-F238E27FC236}">
                <a16:creationId xmlns:a16="http://schemas.microsoft.com/office/drawing/2014/main" id="{54A2D752-97FA-435A-BA84-C3B9BC509D05}"/>
              </a:ext>
            </a:extLst>
          </p:cNvPr>
          <p:cNvSpPr/>
          <p:nvPr/>
        </p:nvSpPr>
        <p:spPr>
          <a:xfrm>
            <a:off x="1028700" y="1562101"/>
            <a:ext cx="4944082" cy="2131125"/>
          </a:xfrm>
          <a:prstGeom prst="roundRect">
            <a:avLst>
              <a:gd name="adj" fmla="val 12965"/>
            </a:avLst>
          </a:prstGeom>
          <a:solidFill>
            <a:schemeClr val="accent1"/>
          </a:solidFill>
          <a:ln>
            <a:noFill/>
          </a:ln>
          <a:effectLst>
            <a:outerShdw blurRad="508000" dist="1270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11680" tIns="182880" rtlCol="0" anchor="t"/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+mj-lt"/>
              </a:rPr>
              <a:t>Blockbuster LLC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35CAAA-515B-498A-B92B-3CEFAABF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из практики</a:t>
            </a:r>
            <a:endParaRPr lang="en-US" dirty="0"/>
          </a:p>
        </p:txBody>
      </p:sp>
      <p:sp>
        <p:nvSpPr>
          <p:cNvPr id="5" name="Percent background">
            <a:extLst>
              <a:ext uri="{FF2B5EF4-FFF2-40B4-BE49-F238E27FC236}">
                <a16:creationId xmlns:a16="http://schemas.microsoft.com/office/drawing/2014/main" id="{985E4281-600E-4AFC-9066-966C1A942A9E}"/>
              </a:ext>
            </a:extLst>
          </p:cNvPr>
          <p:cNvSpPr/>
          <p:nvPr/>
        </p:nvSpPr>
        <p:spPr>
          <a:xfrm>
            <a:off x="1077743" y="4087238"/>
            <a:ext cx="1806913" cy="1806913"/>
          </a:xfrm>
          <a:prstGeom prst="arc">
            <a:avLst>
              <a:gd name="adj1" fmla="val 9708409"/>
              <a:gd name="adj2" fmla="val 1078557"/>
            </a:avLst>
          </a:prstGeom>
          <a:ln w="1270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000" dirty="0">
                <a:latin typeface="+mj-lt"/>
              </a:rPr>
              <a:t>Основана</a:t>
            </a:r>
            <a:endParaRPr lang="en-US" sz="1000" dirty="0">
              <a:latin typeface="+mj-lt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accent1"/>
                </a:solidFill>
                <a:latin typeface="+mj-lt"/>
              </a:rPr>
              <a:t>1985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Percent">
            <a:extLst>
              <a:ext uri="{FF2B5EF4-FFF2-40B4-BE49-F238E27FC236}">
                <a16:creationId xmlns:a16="http://schemas.microsoft.com/office/drawing/2014/main" id="{2AEDAE58-08C3-438C-B5C2-69652B68EF8A}"/>
              </a:ext>
            </a:extLst>
          </p:cNvPr>
          <p:cNvSpPr/>
          <p:nvPr/>
        </p:nvSpPr>
        <p:spPr>
          <a:xfrm>
            <a:off x="1077742" y="4087238"/>
            <a:ext cx="1806913" cy="1806913"/>
          </a:xfrm>
          <a:prstGeom prst="arc">
            <a:avLst>
              <a:gd name="adj1" fmla="val 9708409"/>
              <a:gd name="adj2" fmla="val 20998004"/>
            </a:avLst>
          </a:prstGeom>
          <a:ln w="127000" cap="rnd">
            <a:gradFill>
              <a:gsLst>
                <a:gs pos="100000">
                  <a:schemeClr val="accent1"/>
                </a:gs>
                <a:gs pos="19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rcent background">
            <a:extLst>
              <a:ext uri="{FF2B5EF4-FFF2-40B4-BE49-F238E27FC236}">
                <a16:creationId xmlns:a16="http://schemas.microsoft.com/office/drawing/2014/main" id="{3DF6F6AF-3EEA-4DE7-825E-0B9AAB792E64}"/>
              </a:ext>
            </a:extLst>
          </p:cNvPr>
          <p:cNvSpPr/>
          <p:nvPr/>
        </p:nvSpPr>
        <p:spPr>
          <a:xfrm>
            <a:off x="3812162" y="4087238"/>
            <a:ext cx="1806913" cy="1806913"/>
          </a:xfrm>
          <a:prstGeom prst="arc">
            <a:avLst>
              <a:gd name="adj1" fmla="val 9708409"/>
              <a:gd name="adj2" fmla="val 1078557"/>
            </a:avLst>
          </a:prstGeom>
          <a:ln w="1270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000" dirty="0">
                <a:latin typeface="+mj-lt"/>
              </a:rPr>
              <a:t>Крупные проблемы</a:t>
            </a:r>
            <a:endParaRPr lang="en-US" sz="1000" dirty="0">
              <a:latin typeface="+mj-lt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accent2"/>
                </a:solidFill>
                <a:latin typeface="+mj-lt"/>
              </a:rPr>
              <a:t>2000-е</a:t>
            </a:r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Percent">
            <a:extLst>
              <a:ext uri="{FF2B5EF4-FFF2-40B4-BE49-F238E27FC236}">
                <a16:creationId xmlns:a16="http://schemas.microsoft.com/office/drawing/2014/main" id="{674A0996-25F4-42C1-BC91-CB8870B19767}"/>
              </a:ext>
            </a:extLst>
          </p:cNvPr>
          <p:cNvSpPr/>
          <p:nvPr/>
        </p:nvSpPr>
        <p:spPr>
          <a:xfrm>
            <a:off x="3812161" y="4087238"/>
            <a:ext cx="1806913" cy="1806913"/>
          </a:xfrm>
          <a:prstGeom prst="arc">
            <a:avLst>
              <a:gd name="adj1" fmla="val 9708409"/>
              <a:gd name="adj2" fmla="val 16147535"/>
            </a:avLst>
          </a:prstGeom>
          <a:ln w="127000" cap="rnd">
            <a:gradFill>
              <a:gsLst>
                <a:gs pos="100000">
                  <a:schemeClr val="accent2"/>
                </a:gs>
                <a:gs pos="26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rcent background">
            <a:extLst>
              <a:ext uri="{FF2B5EF4-FFF2-40B4-BE49-F238E27FC236}">
                <a16:creationId xmlns:a16="http://schemas.microsoft.com/office/drawing/2014/main" id="{D4C0E16C-89E2-46A9-BC74-F667DA53E413}"/>
              </a:ext>
            </a:extLst>
          </p:cNvPr>
          <p:cNvSpPr/>
          <p:nvPr/>
        </p:nvSpPr>
        <p:spPr>
          <a:xfrm>
            <a:off x="6546581" y="4087238"/>
            <a:ext cx="1806913" cy="1806913"/>
          </a:xfrm>
          <a:prstGeom prst="arc">
            <a:avLst>
              <a:gd name="adj1" fmla="val 9708409"/>
              <a:gd name="adj2" fmla="val 1078557"/>
            </a:avLst>
          </a:prstGeom>
          <a:ln w="1270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000" dirty="0">
                <a:latin typeface="+mj-lt"/>
              </a:rPr>
              <a:t>Была продана</a:t>
            </a:r>
            <a:endParaRPr lang="en-US" sz="1000" dirty="0">
              <a:latin typeface="+mj-lt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accent3"/>
                </a:solidFill>
                <a:latin typeface="+mj-lt"/>
              </a:rPr>
              <a:t>2010</a:t>
            </a:r>
            <a:endParaRPr lang="en-US" sz="1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Percent">
            <a:extLst>
              <a:ext uri="{FF2B5EF4-FFF2-40B4-BE49-F238E27FC236}">
                <a16:creationId xmlns:a16="http://schemas.microsoft.com/office/drawing/2014/main" id="{465DD78F-943E-4991-A511-E40D8A37DB29}"/>
              </a:ext>
            </a:extLst>
          </p:cNvPr>
          <p:cNvSpPr/>
          <p:nvPr/>
        </p:nvSpPr>
        <p:spPr>
          <a:xfrm>
            <a:off x="6546580" y="4087238"/>
            <a:ext cx="1806913" cy="1806913"/>
          </a:xfrm>
          <a:prstGeom prst="arc">
            <a:avLst>
              <a:gd name="adj1" fmla="val 9708409"/>
              <a:gd name="adj2" fmla="val 14763134"/>
            </a:avLst>
          </a:prstGeom>
          <a:ln w="127000" cap="rnd">
            <a:gradFill>
              <a:gsLst>
                <a:gs pos="73000">
                  <a:schemeClr val="accent3"/>
                </a:gs>
                <a:gs pos="14000">
                  <a:schemeClr val="accent3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ercent background">
            <a:extLst>
              <a:ext uri="{FF2B5EF4-FFF2-40B4-BE49-F238E27FC236}">
                <a16:creationId xmlns:a16="http://schemas.microsoft.com/office/drawing/2014/main" id="{26BC3D87-0DA6-4657-B45B-0434B53C5530}"/>
              </a:ext>
            </a:extLst>
          </p:cNvPr>
          <p:cNvSpPr/>
          <p:nvPr/>
        </p:nvSpPr>
        <p:spPr>
          <a:xfrm>
            <a:off x="9280999" y="4087238"/>
            <a:ext cx="1806913" cy="1806913"/>
          </a:xfrm>
          <a:prstGeom prst="arc">
            <a:avLst>
              <a:gd name="adj1" fmla="val 9708409"/>
              <a:gd name="adj2" fmla="val 1078557"/>
            </a:avLst>
          </a:prstGeom>
          <a:ln w="1270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000" dirty="0">
                <a:latin typeface="+mj-lt"/>
              </a:rPr>
              <a:t>Обанкротилась</a:t>
            </a:r>
            <a:endParaRPr lang="en-US" sz="1000" dirty="0">
              <a:latin typeface="+mj-lt"/>
            </a:endParaRP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ru-RU" sz="1200" dirty="0">
                <a:solidFill>
                  <a:schemeClr val="accent4"/>
                </a:solidFill>
                <a:latin typeface="+mj-lt"/>
              </a:rPr>
              <a:t>2013</a:t>
            </a:r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8" name="Percent">
            <a:extLst>
              <a:ext uri="{FF2B5EF4-FFF2-40B4-BE49-F238E27FC236}">
                <a16:creationId xmlns:a16="http://schemas.microsoft.com/office/drawing/2014/main" id="{053AF37B-15B1-4D36-A7A7-BB3C9C466347}"/>
              </a:ext>
            </a:extLst>
          </p:cNvPr>
          <p:cNvSpPr/>
          <p:nvPr/>
        </p:nvSpPr>
        <p:spPr>
          <a:xfrm>
            <a:off x="9280998" y="4087238"/>
            <a:ext cx="1806913" cy="1806913"/>
          </a:xfrm>
          <a:prstGeom prst="arc">
            <a:avLst>
              <a:gd name="adj1" fmla="val 9708409"/>
              <a:gd name="adj2" fmla="val 20308476"/>
            </a:avLst>
          </a:prstGeom>
          <a:ln w="127000" cap="rnd">
            <a:gradFill>
              <a:gsLst>
                <a:gs pos="100000">
                  <a:schemeClr val="accent4"/>
                </a:gs>
                <a:gs pos="13000">
                  <a:schemeClr val="accent4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9AB3E-0D05-0494-A876-E30084D4A614}"/>
              </a:ext>
            </a:extLst>
          </p:cNvPr>
          <p:cNvSpPr txBox="1"/>
          <p:nvPr/>
        </p:nvSpPr>
        <p:spPr>
          <a:xfrm>
            <a:off x="1077742" y="2335271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американский мультимедийный бренд </a:t>
            </a:r>
          </a:p>
          <a:p>
            <a:r>
              <a:rPr lang="ru-RU" sz="1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и бывшая сеть магазинов видеопроката</a:t>
            </a:r>
            <a:endParaRPr lang="en-BY" sz="1600" dirty="0">
              <a:solidFill>
                <a:schemeClr val="bg1"/>
              </a:solidFill>
            </a:endParaRPr>
          </a:p>
        </p:txBody>
      </p:sp>
      <p:pic>
        <p:nvPicPr>
          <p:cNvPr id="1026" name="Picture 2" descr="Blockbuster (retailer) - Wikipedia">
            <a:extLst>
              <a:ext uri="{FF2B5EF4-FFF2-40B4-BE49-F238E27FC236}">
                <a16:creationId xmlns:a16="http://schemas.microsoft.com/office/drawing/2014/main" id="{776ACA07-35CF-D0C6-704E-0D35DF2C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700" y="534199"/>
            <a:ext cx="5272358" cy="315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48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" grpId="0" animBg="1"/>
      <p:bldP spid="8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C0B8169-8C83-8934-C5EE-EF010370F5CD}"/>
              </a:ext>
            </a:extLst>
          </p:cNvPr>
          <p:cNvSpPr/>
          <p:nvPr/>
        </p:nvSpPr>
        <p:spPr>
          <a:xfrm>
            <a:off x="-889616" y="-1544761"/>
            <a:ext cx="17004560" cy="11631825"/>
          </a:xfrm>
          <a:custGeom>
            <a:avLst/>
            <a:gdLst>
              <a:gd name="connsiteX0" fmla="*/ 726576 w 17004560"/>
              <a:gd name="connsiteY0" fmla="*/ 676170 h 11631825"/>
              <a:gd name="connsiteX1" fmla="*/ 3298326 w 17004560"/>
              <a:gd name="connsiteY1" fmla="*/ 1323870 h 11631825"/>
              <a:gd name="connsiteX2" fmla="*/ 5184276 w 17004560"/>
              <a:gd name="connsiteY2" fmla="*/ 4295670 h 11631825"/>
              <a:gd name="connsiteX3" fmla="*/ 8727576 w 17004560"/>
              <a:gd name="connsiteY3" fmla="*/ 5667270 h 11631825"/>
              <a:gd name="connsiteX4" fmla="*/ 10632576 w 17004560"/>
              <a:gd name="connsiteY4" fmla="*/ 8334270 h 11631825"/>
              <a:gd name="connsiteX5" fmla="*/ 13832976 w 17004560"/>
              <a:gd name="connsiteY5" fmla="*/ 7515120 h 11631825"/>
              <a:gd name="connsiteX6" fmla="*/ 16385676 w 17004560"/>
              <a:gd name="connsiteY6" fmla="*/ 10525020 h 11631825"/>
              <a:gd name="connsiteX7" fmla="*/ 1488576 w 17004560"/>
              <a:gd name="connsiteY7" fmla="*/ 10867920 h 11631825"/>
              <a:gd name="connsiteX8" fmla="*/ 726576 w 17004560"/>
              <a:gd name="connsiteY8" fmla="*/ 676170 h 11631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04560" h="11631825">
                <a:moveTo>
                  <a:pt x="726576" y="676170"/>
                </a:moveTo>
                <a:cubicBezTo>
                  <a:pt x="1028201" y="-914505"/>
                  <a:pt x="2555376" y="720620"/>
                  <a:pt x="3298326" y="1323870"/>
                </a:cubicBezTo>
                <a:cubicBezTo>
                  <a:pt x="4041276" y="1927120"/>
                  <a:pt x="4279401" y="3571770"/>
                  <a:pt x="5184276" y="4295670"/>
                </a:cubicBezTo>
                <a:cubicBezTo>
                  <a:pt x="6089151" y="5019570"/>
                  <a:pt x="7819526" y="4994170"/>
                  <a:pt x="8727576" y="5667270"/>
                </a:cubicBezTo>
                <a:cubicBezTo>
                  <a:pt x="9635626" y="6340370"/>
                  <a:pt x="9781676" y="8026295"/>
                  <a:pt x="10632576" y="8334270"/>
                </a:cubicBezTo>
                <a:cubicBezTo>
                  <a:pt x="11483476" y="8642245"/>
                  <a:pt x="12874126" y="7149995"/>
                  <a:pt x="13832976" y="7515120"/>
                </a:cubicBezTo>
                <a:cubicBezTo>
                  <a:pt x="14791826" y="7880245"/>
                  <a:pt x="18443076" y="9966220"/>
                  <a:pt x="16385676" y="10525020"/>
                </a:cubicBezTo>
                <a:cubicBezTo>
                  <a:pt x="14328276" y="11083820"/>
                  <a:pt x="4092076" y="12506220"/>
                  <a:pt x="1488576" y="10867920"/>
                </a:cubicBezTo>
                <a:cubicBezTo>
                  <a:pt x="-1114924" y="9229620"/>
                  <a:pt x="424951" y="2266845"/>
                  <a:pt x="726576" y="676170"/>
                </a:cubicBezTo>
                <a:close/>
              </a:path>
            </a:pathLst>
          </a:custGeom>
          <a:gradFill>
            <a:gsLst>
              <a:gs pos="0">
                <a:srgbClr val="66CF9E"/>
              </a:gs>
              <a:gs pos="45000">
                <a:srgbClr val="52B8D1"/>
              </a:gs>
              <a:gs pos="71000">
                <a:srgbClr val="1983F5"/>
              </a:gs>
              <a:gs pos="91000">
                <a:srgbClr val="0669F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Y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7162FCF-E016-29D8-9D34-009909E5B235}"/>
              </a:ext>
            </a:extLst>
          </p:cNvPr>
          <p:cNvSpPr/>
          <p:nvPr/>
        </p:nvSpPr>
        <p:spPr>
          <a:xfrm>
            <a:off x="4550396" y="-2484878"/>
            <a:ext cx="10873725" cy="6756030"/>
          </a:xfrm>
          <a:custGeom>
            <a:avLst/>
            <a:gdLst>
              <a:gd name="connsiteX0" fmla="*/ 252275 w 10873725"/>
              <a:gd name="connsiteY0" fmla="*/ 831529 h 6756030"/>
              <a:gd name="connsiteX1" fmla="*/ 2682654 w 10873725"/>
              <a:gd name="connsiteY1" fmla="*/ 4441003 h 6756030"/>
              <a:gd name="connsiteX2" fmla="*/ 5353665 w 10873725"/>
              <a:gd name="connsiteY2" fmla="*/ 4489129 h 6756030"/>
              <a:gd name="connsiteX3" fmla="*/ 7206528 w 10873725"/>
              <a:gd name="connsiteY3" fmla="*/ 6751066 h 6756030"/>
              <a:gd name="connsiteX4" fmla="*/ 10743812 w 10873725"/>
              <a:gd name="connsiteY4" fmla="*/ 4946329 h 6756030"/>
              <a:gd name="connsiteX5" fmla="*/ 9131581 w 10873725"/>
              <a:gd name="connsiteY5" fmla="*/ 326203 h 6756030"/>
              <a:gd name="connsiteX6" fmla="*/ 252275 w 10873725"/>
              <a:gd name="connsiteY6" fmla="*/ 831529 h 675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73725" h="6756030">
                <a:moveTo>
                  <a:pt x="252275" y="831529"/>
                </a:moveTo>
                <a:cubicBezTo>
                  <a:pt x="-822546" y="1517329"/>
                  <a:pt x="1832422" y="3831403"/>
                  <a:pt x="2682654" y="4441003"/>
                </a:cubicBezTo>
                <a:cubicBezTo>
                  <a:pt x="3532886" y="5050603"/>
                  <a:pt x="4599686" y="4104119"/>
                  <a:pt x="5353665" y="4489129"/>
                </a:cubicBezTo>
                <a:cubicBezTo>
                  <a:pt x="6107644" y="4874139"/>
                  <a:pt x="6308170" y="6674866"/>
                  <a:pt x="7206528" y="6751066"/>
                </a:cubicBezTo>
                <a:cubicBezTo>
                  <a:pt x="8104886" y="6827266"/>
                  <a:pt x="10422970" y="6017139"/>
                  <a:pt x="10743812" y="4946329"/>
                </a:cubicBezTo>
                <a:cubicBezTo>
                  <a:pt x="11064654" y="3875519"/>
                  <a:pt x="10884181" y="1012003"/>
                  <a:pt x="9131581" y="326203"/>
                </a:cubicBezTo>
                <a:cubicBezTo>
                  <a:pt x="7378981" y="-359597"/>
                  <a:pt x="1327096" y="145729"/>
                  <a:pt x="252275" y="831529"/>
                </a:cubicBezTo>
                <a:close/>
              </a:path>
            </a:pathLst>
          </a:custGeom>
          <a:gradFill>
            <a:gsLst>
              <a:gs pos="0">
                <a:srgbClr val="66CF9E"/>
              </a:gs>
              <a:gs pos="45000">
                <a:srgbClr val="52B8D1"/>
              </a:gs>
              <a:gs pos="71000">
                <a:srgbClr val="1983F5"/>
              </a:gs>
              <a:gs pos="91000">
                <a:srgbClr val="0669FB"/>
              </a:gs>
            </a:gsLst>
            <a:lin ang="5400000" scaled="1"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B3281-B8F0-7EEB-50DD-1F0AE86091A7}"/>
              </a:ext>
            </a:extLst>
          </p:cNvPr>
          <p:cNvSpPr txBox="1"/>
          <p:nvPr/>
        </p:nvSpPr>
        <p:spPr>
          <a:xfrm>
            <a:off x="4185733" y="2686037"/>
            <a:ext cx="3820533" cy="158511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BY" sz="9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  <a:ea typeface="STHupo" panose="02010800040101010101" pitchFamily="2" charset="-122"/>
                <a:cs typeface="Phosphate Inline" panose="02000506050000020004" pitchFamily="2" charset="77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61660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1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Left title - MasterSlide">
  <a:themeElements>
    <a:clrScheme name="X Theme Light Color">
      <a:dk1>
        <a:srgbClr val="05050F"/>
      </a:dk1>
      <a:lt1>
        <a:srgbClr val="FFFFFF"/>
      </a:lt1>
      <a:dk2>
        <a:srgbClr val="05050F"/>
      </a:dk2>
      <a:lt2>
        <a:srgbClr val="EFEFF5"/>
      </a:lt2>
      <a:accent1>
        <a:srgbClr val="0056FB"/>
      </a:accent1>
      <a:accent2>
        <a:srgbClr val="3CD278"/>
      </a:accent2>
      <a:accent3>
        <a:srgbClr val="FF784B"/>
      </a:accent3>
      <a:accent4>
        <a:srgbClr val="FFC837"/>
      </a:accent4>
      <a:accent5>
        <a:srgbClr val="F0323C"/>
      </a:accent5>
      <a:accent6>
        <a:srgbClr val="D250E6"/>
      </a:accent6>
      <a:hlink>
        <a:srgbClr val="0563C1"/>
      </a:hlink>
      <a:folHlink>
        <a:srgbClr val="954F72"/>
      </a:folHlink>
    </a:clrScheme>
    <a:fontScheme name="X Theme - Fonts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0" cap="rnd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spcBef>
            <a:spcPts val="1200"/>
          </a:spcBef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nter title - MasterSlide">
  <a:themeElements>
    <a:clrScheme name="X Theme Light Color">
      <a:dk1>
        <a:srgbClr val="05050F"/>
      </a:dk1>
      <a:lt1>
        <a:srgbClr val="FFFFFF"/>
      </a:lt1>
      <a:dk2>
        <a:srgbClr val="05050F"/>
      </a:dk2>
      <a:lt2>
        <a:srgbClr val="EFEFF5"/>
      </a:lt2>
      <a:accent1>
        <a:srgbClr val="0056FB"/>
      </a:accent1>
      <a:accent2>
        <a:srgbClr val="3CD278"/>
      </a:accent2>
      <a:accent3>
        <a:srgbClr val="FF784B"/>
      </a:accent3>
      <a:accent4>
        <a:srgbClr val="FFC837"/>
      </a:accent4>
      <a:accent5>
        <a:srgbClr val="F0323C"/>
      </a:accent5>
      <a:accent6>
        <a:srgbClr val="D250E6"/>
      </a:accent6>
      <a:hlink>
        <a:srgbClr val="0563C1"/>
      </a:hlink>
      <a:folHlink>
        <a:srgbClr val="954F72"/>
      </a:folHlink>
    </a:clrScheme>
    <a:fontScheme name="X Theme - Fonts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 cap="rnd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50800" cap="rnd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spcBef>
            <a:spcPts val="1200"/>
          </a:spcBef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9192</TotalTime>
  <Words>143</Words>
  <Application>Microsoft Macintosh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</vt:lpstr>
      <vt:lpstr>Calibri</vt:lpstr>
      <vt:lpstr>Impact</vt:lpstr>
      <vt:lpstr>Inter</vt:lpstr>
      <vt:lpstr>Inter Bold</vt:lpstr>
      <vt:lpstr>Left title - MasterSlide</vt:lpstr>
      <vt:lpstr>Center title - MasterSlide</vt:lpstr>
      <vt:lpstr> Определение жизненного цикла организации.</vt:lpstr>
      <vt:lpstr>Прежде чем мы погрузимся в детали давайте разберемся  что такое жизненный цикл организации</vt:lpstr>
      <vt:lpstr>Значение изучения жизненного цикла для спешного правления организацией</vt:lpstr>
      <vt:lpstr>Как все начинается</vt:lpstr>
      <vt:lpstr>Период стремительного развития</vt:lpstr>
      <vt:lpstr>Зрелые годы</vt:lpstr>
      <vt:lpstr>Старение</vt:lpstr>
      <vt:lpstr>Ликвидация</vt:lpstr>
      <vt:lpstr>Примеры из практики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TemplateZuu Team</dc:creator>
  <cp:lastModifiedBy>Шарай Пётр Юрьевич</cp:lastModifiedBy>
  <cp:revision>486</cp:revision>
  <dcterms:created xsi:type="dcterms:W3CDTF">2020-09-21T02:31:11Z</dcterms:created>
  <dcterms:modified xsi:type="dcterms:W3CDTF">2024-03-18T07:43:12Z</dcterms:modified>
</cp:coreProperties>
</file>