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316" r:id="rId3"/>
    <p:sldId id="317" r:id="rId4"/>
    <p:sldId id="318" r:id="rId5"/>
    <p:sldId id="319" r:id="rId6"/>
    <p:sldId id="322" r:id="rId7"/>
    <p:sldId id="320" r:id="rId8"/>
    <p:sldId id="323" r:id="rId9"/>
    <p:sldId id="321" r:id="rId10"/>
    <p:sldId id="324" r:id="rId11"/>
    <p:sldId id="325" r:id="rId12"/>
    <p:sldId id="327" r:id="rId13"/>
    <p:sldId id="326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9" r:id="rId25"/>
    <p:sldId id="342" r:id="rId26"/>
    <p:sldId id="341" r:id="rId27"/>
    <p:sldId id="338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706" autoAdjust="0"/>
  </p:normalViewPr>
  <p:slideViewPr>
    <p:cSldViewPr>
      <p:cViewPr varScale="1">
        <p:scale>
          <a:sx n="82" d="100"/>
          <a:sy n="82" d="100"/>
        </p:scale>
        <p:origin x="149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A513D18-3671-46C9-BA35-3400EEB352B8}" type="datetimeFigureOut">
              <a:rPr lang="ru-RU" smtClean="0"/>
              <a:pPr/>
              <a:t>29.11.2021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14480" y="1000108"/>
            <a:ext cx="7072362" cy="2375380"/>
          </a:xfrm>
        </p:spPr>
        <p:txBody>
          <a:bodyPr>
            <a:noAutofit/>
          </a:bodyPr>
          <a:lstStyle/>
          <a:p>
            <a:pPr algn="just"/>
            <a:r>
              <a:rPr lang="ru-RU" sz="4800" dirty="0">
                <a:solidFill>
                  <a:schemeClr val="tx1"/>
                </a:solidFill>
              </a:rPr>
              <a:t>Указатели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Понятие указателя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Указатель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- это переменная, содержащая адрес другой переменной. 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тип_адресуемой_ячейки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* &lt;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имя_указателя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&gt; = адрес 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Унарная операция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выдает адрес объекта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i="1" dirty="0"/>
              <a:t>Адресом переменной</a:t>
            </a:r>
            <a:r>
              <a:rPr lang="ru-RU" sz="2400" dirty="0"/>
              <a:t> называется адрес ее первого байта</a:t>
            </a:r>
            <a:r>
              <a:rPr lang="en-US" sz="2400" dirty="0"/>
              <a:t> </a:t>
            </a:r>
            <a:r>
              <a:rPr lang="ru-RU" sz="2400" dirty="0"/>
              <a:t>места хранения.</a:t>
            </a:r>
          </a:p>
          <a:p>
            <a:pPr algn="just"/>
            <a:r>
              <a:rPr lang="ru-RU" sz="2400" dirty="0"/>
              <a:t>Операция </a:t>
            </a:r>
            <a:r>
              <a:rPr lang="ru-RU" sz="2400" b="1" dirty="0"/>
              <a:t>*</a:t>
            </a:r>
            <a:r>
              <a:rPr lang="ru-RU" sz="2400" dirty="0"/>
              <a:t> - возвращает значения по указанному адресу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Указатель и переменная на которую он указывает должны быть одного типа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Понятие указателя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= 5; 	// Переменная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содержит значение 5</a:t>
            </a:r>
          </a:p>
          <a:p>
            <a:pPr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*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= &amp;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;	// Переменная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указывает на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переменную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т.е. содержит адрес переменной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Понятие указателя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Char char="•"/>
            </a:pP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являются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средством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, при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помощи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которого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функции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могут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изменять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значения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передаваемых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нее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аргументов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Tx/>
              <a:buChar char="•"/>
            </a:pP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помощи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указателей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выполняется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динамическое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распределение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памяти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Tx/>
              <a:buChar char="•"/>
            </a:pP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позволяют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повысить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эффективность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программирования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Tx/>
              <a:buChar char="•"/>
            </a:pP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обеспечивают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поддержку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динамических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структур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данных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деревья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связные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списки).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Операции над указателями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628082"/>
            <a:ext cx="80010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Tx/>
              <a:buAutoNum type="arabicPeriod"/>
            </a:pP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Присваивание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указателю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значение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адреса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переменной</a:t>
            </a:r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a=5;</a:t>
            </a:r>
          </a:p>
          <a:p>
            <a:pPr marL="342900" indent="-342900"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=&amp;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 algn="just"/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Определение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значения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, на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которое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ссылается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указатель</a:t>
            </a:r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*p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результате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b=p,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т.е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=5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uk-UA" sz="24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Увеличение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уменьшение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 –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указатель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, то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b="1" dirty="0">
                <a:latin typeface="Times New Roman" pitchFamily="18" charset="0"/>
                <a:cs typeface="Times New Roman" pitchFamily="18" charset="0"/>
              </a:rPr>
              <a:t>р1++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перемещает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указатель</a:t>
            </a:r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Tx/>
              <a:buChar char="•"/>
            </a:pP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	на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1 байт,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 *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1 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имеет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тип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 algn="just">
              <a:buFontTx/>
              <a:buChar char="•"/>
            </a:pP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	4 байта,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 *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1 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имеет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тип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 ;</a:t>
            </a:r>
          </a:p>
          <a:p>
            <a:pPr marL="342900" indent="-342900" algn="just">
              <a:buFontTx/>
              <a:buChar char="•"/>
            </a:pP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	8 байт,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если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 *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1 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имеет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тип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Операции над указателями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628082"/>
            <a:ext cx="80010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Разность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двух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указателей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чтобы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найти, на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каком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расстоянии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друг от друга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находятся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элементы</a:t>
            </a:r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sz="2400" dirty="0" err="1">
                <a:latin typeface="Times New Roman" pitchFamily="18" charset="0"/>
                <a:cs typeface="Times New Roman" pitchFamily="18" charset="0"/>
              </a:rPr>
              <a:t>массива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Операции сравнения. Любой адрес может быть проверен на равенство (==) или неравенство (!=)</a:t>
            </a:r>
            <a:endParaRPr lang="uk-UA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Tx/>
              <a:buChar char="•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Операции над указателями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Указатели могут встречаться в выражениях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Пусть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*y;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buFontTx/>
              <a:buAutoNum type="arabicParenR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* y=7;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2)  * x * =5;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3)  (*z)++			* z++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Операции над указателями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8286808" cy="37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p,i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; 	 	/* на объект типа 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 */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("%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",&amp;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>
                <a:latin typeface="Courier New" pitchFamily="49" charset="0"/>
                <a:cs typeface="Courier New" pitchFamily="49" charset="0"/>
              </a:rPr>
              <a:t>p=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i; 		/* теперь р содержит адрес 			переменной i*/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("\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ni=%d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",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); 	/* печать значения 					переменной 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 */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("\n*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p=%d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",*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); 	/* печать значения 					по адресу </a:t>
            </a:r>
            <a:r>
              <a:rPr lang="ru-RU" sz="2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*/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ru-RU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Операции над указателями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*p;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double a=10.25,b;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p= &amp;a;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b= *p;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(“a= %f b= %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f”,a,b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/*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Значение переменной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не будет перенесено в переменную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так как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является целочисленным указателем. И так как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адресует 2/4 - байтную ячейку памяти, то в переменную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будут переписаны только 2/4, а не 8 байт из переменной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*/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Работа с одномерными массивами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Объявление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a[5];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определяет массив из 5-ти элементов: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a[0], a[1], a[2], a[3], a[4]</a:t>
            </a:r>
          </a:p>
          <a:p>
            <a:pPr algn="just">
              <a:buFontTx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Имя массива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это константа, которая содержит адрес его 1-ого элемента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a[0]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Указатель на массив – это адрес его первого элемента.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Элементы массива расположены в памяти последовательно, поэтому увеличение указателя на единицу означает смещение к следующему элементу массива. </a:t>
            </a:r>
          </a:p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Работа с одномерными массивами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a[5];</a:t>
            </a:r>
          </a:p>
          <a:p>
            <a:pPr>
              <a:buFontTx/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*pa;</a:t>
            </a:r>
            <a:endParaRPr lang="ru-RU" sz="2400" b="1" dirty="0"/>
          </a:p>
          <a:p>
            <a:pPr>
              <a:buFontTx/>
              <a:buNone/>
            </a:pPr>
            <a:r>
              <a:rPr lang="en-US" sz="2400" b="1" dirty="0"/>
              <a:t>pa=&amp; a[0];</a:t>
            </a:r>
            <a:r>
              <a:rPr lang="en-US" sz="2400" dirty="0"/>
              <a:t> </a:t>
            </a:r>
            <a:endParaRPr lang="ru-RU" sz="2400" dirty="0"/>
          </a:p>
          <a:p>
            <a:pPr>
              <a:buFontTx/>
              <a:buNone/>
            </a:pPr>
            <a:endParaRPr lang="ru-RU" sz="2400" dirty="0"/>
          </a:p>
          <a:p>
            <a:pPr>
              <a:buFontTx/>
              <a:buNone/>
            </a:pPr>
            <a:r>
              <a:rPr lang="en-US" sz="2400" dirty="0"/>
              <a:t>pa+1</a:t>
            </a:r>
            <a:r>
              <a:rPr lang="ru-RU" sz="2400" dirty="0"/>
              <a:t> – указывает на следующий элемент;</a:t>
            </a:r>
          </a:p>
          <a:p>
            <a:pPr>
              <a:buFontTx/>
              <a:buNone/>
            </a:pPr>
            <a:r>
              <a:rPr lang="en-US" sz="2400" dirty="0" err="1"/>
              <a:t>pa+i</a:t>
            </a:r>
            <a:r>
              <a:rPr lang="ru-RU" sz="2400" dirty="0"/>
              <a:t>  - указывает на </a:t>
            </a:r>
            <a:r>
              <a:rPr lang="en-US" sz="2400" dirty="0" err="1"/>
              <a:t>i</a:t>
            </a:r>
            <a:r>
              <a:rPr lang="ru-RU" sz="2400" dirty="0"/>
              <a:t>-</a:t>
            </a:r>
            <a:r>
              <a:rPr lang="ru-RU" sz="2400" dirty="0" err="1"/>
              <a:t>ый</a:t>
            </a:r>
            <a:r>
              <a:rPr lang="ru-RU" sz="2400" dirty="0"/>
              <a:t> элемент после </a:t>
            </a:r>
            <a:r>
              <a:rPr lang="en-US" sz="2400" dirty="0"/>
              <a:t>pa</a:t>
            </a:r>
            <a:r>
              <a:rPr lang="ru-RU" sz="2400" dirty="0"/>
              <a:t>;</a:t>
            </a:r>
          </a:p>
          <a:p>
            <a:pPr>
              <a:buFontTx/>
              <a:buNone/>
            </a:pPr>
            <a:r>
              <a:rPr lang="en-US" sz="2400" dirty="0"/>
              <a:t>pa</a:t>
            </a:r>
            <a:r>
              <a:rPr lang="ru-RU" sz="2400" dirty="0"/>
              <a:t>-</a:t>
            </a:r>
            <a:r>
              <a:rPr lang="en-US" sz="2400" dirty="0" err="1"/>
              <a:t>i</a:t>
            </a:r>
            <a:r>
              <a:rPr lang="ru-RU" sz="2400" dirty="0"/>
              <a:t>  - указывает на </a:t>
            </a:r>
            <a:r>
              <a:rPr lang="en-US" sz="2400" dirty="0" err="1"/>
              <a:t>i</a:t>
            </a:r>
            <a:r>
              <a:rPr lang="ru-RU" sz="2400" dirty="0"/>
              <a:t>-</a:t>
            </a:r>
            <a:r>
              <a:rPr lang="ru-RU" sz="2400" dirty="0" err="1"/>
              <a:t>ый</a:t>
            </a:r>
            <a:r>
              <a:rPr lang="ru-RU" sz="2400" dirty="0"/>
              <a:t> элемент перед </a:t>
            </a:r>
            <a:r>
              <a:rPr lang="en-US" sz="2400" dirty="0"/>
              <a:t>pa</a:t>
            </a:r>
            <a:r>
              <a:rPr lang="ru-RU" sz="2400" dirty="0"/>
              <a:t>;</a:t>
            </a:r>
          </a:p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Работа с одномерными массивами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467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a[5];</a:t>
            </a:r>
          </a:p>
          <a:p>
            <a:pPr algn="just">
              <a:buFontTx/>
              <a:buNone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*pa;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pa=&amp; a[0];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pa+1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указывает на следующий элемент;</a:t>
            </a:r>
          </a:p>
          <a:p>
            <a:pPr algn="just">
              <a:buFontTx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pa+i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- указывает на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элемент после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- указывает на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элемент перед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pa+1)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содержимое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a[1]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pa+i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содержимое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a[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Так как имя массива есть адрес его нулевого элемента, то можно записать:   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pa = a;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Функции для работы с динамическими массивами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00034" y="1714488"/>
            <a:ext cx="78581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 </a:t>
            </a:r>
            <a:r>
              <a:rPr lang="en-US" sz="2400" b="1" dirty="0" err="1"/>
              <a:t>stdlib</a:t>
            </a:r>
            <a:r>
              <a:rPr lang="ru-RU" sz="2400" b="1" dirty="0"/>
              <a:t>.</a:t>
            </a:r>
            <a:r>
              <a:rPr lang="en-US" sz="2400" b="1" dirty="0"/>
              <a:t>h</a:t>
            </a:r>
            <a:r>
              <a:rPr lang="ru-RU" sz="2400" dirty="0"/>
              <a:t>  есть функции  </a:t>
            </a:r>
          </a:p>
          <a:p>
            <a:r>
              <a:rPr lang="en-US" sz="2400" b="1" dirty="0" err="1"/>
              <a:t>malloc</a:t>
            </a:r>
            <a:r>
              <a:rPr lang="ru-RU" sz="2400" b="1" dirty="0"/>
              <a:t>()</a:t>
            </a:r>
            <a:r>
              <a:rPr lang="ru-RU" sz="2400" dirty="0"/>
              <a:t>, </a:t>
            </a:r>
            <a:r>
              <a:rPr lang="en-US" sz="2400" b="1" dirty="0" err="1"/>
              <a:t>calloc</a:t>
            </a:r>
            <a:r>
              <a:rPr lang="ru-RU" sz="2400" b="1" dirty="0"/>
              <a:t>()</a:t>
            </a:r>
            <a:r>
              <a:rPr lang="ru-RU" sz="2400" dirty="0"/>
              <a:t>, </a:t>
            </a:r>
            <a:r>
              <a:rPr lang="en-US" sz="2400" b="1" dirty="0" err="1"/>
              <a:t>realloc</a:t>
            </a:r>
            <a:r>
              <a:rPr lang="ru-RU" sz="2400" b="1" dirty="0"/>
              <a:t>()</a:t>
            </a:r>
            <a:r>
              <a:rPr lang="ru-RU" sz="2400" dirty="0"/>
              <a:t> и </a:t>
            </a:r>
            <a:r>
              <a:rPr lang="en-US" sz="2400" b="1" dirty="0"/>
              <a:t>free</a:t>
            </a:r>
            <a:r>
              <a:rPr lang="ru-RU" sz="2400" b="1" dirty="0"/>
              <a:t>()</a:t>
            </a:r>
            <a:r>
              <a:rPr lang="ru-RU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int</a:t>
            </a:r>
            <a:r>
              <a:rPr lang="en-US" sz="2400" dirty="0"/>
              <a:t> *</a:t>
            </a:r>
            <a:r>
              <a:rPr lang="en-US" sz="2400" dirty="0" err="1"/>
              <a:t>p,n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p=(</a:t>
            </a:r>
            <a:r>
              <a:rPr lang="en-US" sz="2400" b="1" dirty="0" err="1"/>
              <a:t>int</a:t>
            </a:r>
            <a:r>
              <a:rPr lang="en-US" sz="2400" dirty="0"/>
              <a:t>*)</a:t>
            </a:r>
            <a:r>
              <a:rPr lang="en-US" sz="2400" b="1" dirty="0" err="1"/>
              <a:t>malloc</a:t>
            </a:r>
            <a:r>
              <a:rPr lang="en-US" sz="2400" dirty="0"/>
              <a:t>(n*</a:t>
            </a:r>
            <a:r>
              <a:rPr lang="en-US" sz="2400" b="1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));//</a:t>
            </a:r>
            <a:r>
              <a:rPr lang="ru-RU" sz="2400" dirty="0"/>
              <a:t>блок </a:t>
            </a:r>
            <a:r>
              <a:rPr lang="en-US" sz="2400" dirty="0"/>
              <a:t>n*4 </a:t>
            </a:r>
            <a:r>
              <a:rPr lang="ru-RU" sz="2400" dirty="0"/>
              <a:t>байта</a:t>
            </a:r>
            <a:endParaRPr lang="en-US" sz="2400" dirty="0"/>
          </a:p>
          <a:p>
            <a:r>
              <a:rPr lang="en-US" sz="2400" dirty="0"/>
              <a:t>//p=(</a:t>
            </a:r>
            <a:r>
              <a:rPr lang="en-US" sz="2400" b="1" dirty="0" err="1"/>
              <a:t>int</a:t>
            </a:r>
            <a:r>
              <a:rPr lang="en-US" sz="2400" dirty="0"/>
              <a:t>*)</a:t>
            </a:r>
            <a:r>
              <a:rPr lang="en-US" sz="2400" b="1" dirty="0" err="1"/>
              <a:t>calloc</a:t>
            </a:r>
            <a:r>
              <a:rPr lang="en-US" sz="2400" dirty="0"/>
              <a:t>(</a:t>
            </a:r>
            <a:r>
              <a:rPr lang="en-US" sz="2400" dirty="0" err="1"/>
              <a:t>n,</a:t>
            </a:r>
            <a:r>
              <a:rPr lang="en-US" sz="2400" b="1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)); //</a:t>
            </a:r>
            <a:r>
              <a:rPr lang="ru-RU" sz="2400" dirty="0"/>
              <a:t> выделит и обнулит</a:t>
            </a:r>
          </a:p>
          <a:p>
            <a:endParaRPr lang="ru-RU" sz="2400" dirty="0"/>
          </a:p>
          <a:p>
            <a:r>
              <a:rPr lang="en-US" sz="2400" b="1" dirty="0" err="1"/>
              <a:t>realloc</a:t>
            </a:r>
            <a:r>
              <a:rPr lang="en-US" sz="2400" b="1" dirty="0"/>
              <a:t>(p, (n+1)*</a:t>
            </a:r>
            <a:r>
              <a:rPr lang="en-US" sz="2400" b="1" dirty="0" err="1"/>
              <a:t>sizeof</a:t>
            </a:r>
            <a:r>
              <a:rPr lang="en-US" sz="2400" b="1" dirty="0"/>
              <a:t>(</a:t>
            </a:r>
            <a:r>
              <a:rPr lang="en-US" sz="2400" b="1" dirty="0" err="1"/>
              <a:t>int</a:t>
            </a:r>
            <a:r>
              <a:rPr lang="en-US" sz="2400" b="1" dirty="0"/>
              <a:t>));</a:t>
            </a:r>
            <a:r>
              <a:rPr lang="ru-RU" sz="2400" b="1" dirty="0"/>
              <a:t> //</a:t>
            </a:r>
            <a:r>
              <a:rPr lang="ru-RU" sz="2400" dirty="0" err="1"/>
              <a:t>перевыделит</a:t>
            </a:r>
            <a:r>
              <a:rPr lang="ru-RU" sz="2400" dirty="0"/>
              <a:t> память</a:t>
            </a:r>
            <a:endParaRPr lang="en-US" sz="2400" dirty="0"/>
          </a:p>
          <a:p>
            <a:endParaRPr lang="ru-RU" sz="2400" dirty="0"/>
          </a:p>
          <a:p>
            <a:r>
              <a:rPr lang="en-US" sz="2400" b="1" dirty="0"/>
              <a:t>free(p);</a:t>
            </a:r>
          </a:p>
          <a:p>
            <a:r>
              <a:rPr lang="en-US" sz="2400" dirty="0"/>
              <a:t>//</a:t>
            </a:r>
            <a:r>
              <a:rPr lang="ru-RU" sz="2400" i="1" dirty="0"/>
              <a:t> освобождает</a:t>
            </a:r>
            <a:r>
              <a:rPr lang="en-US" sz="2400" i="1" dirty="0"/>
              <a:t> </a:t>
            </a:r>
            <a:r>
              <a:rPr lang="ru-RU" sz="2400" i="1" dirty="0"/>
              <a:t>память, ничего не возвращает</a:t>
            </a:r>
            <a:endParaRPr lang="ru-RU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>
                <a:solidFill>
                  <a:schemeClr val="tx1"/>
                </a:solidFill>
              </a:rPr>
              <a:t>Пример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00034" y="1714488"/>
            <a:ext cx="7858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Найти максимальный четный элемент динамического массива</a:t>
            </a:r>
          </a:p>
          <a:p>
            <a:endParaRPr lang="ru-RU" sz="2400" b="1" dirty="0"/>
          </a:p>
          <a:p>
            <a:r>
              <a:rPr lang="ru-RU" sz="2400" b="1" dirty="0"/>
              <a:t>Найти сумму элементов динамического массива после первого отрицательного элемента</a:t>
            </a:r>
          </a:p>
          <a:p>
            <a:endParaRPr lang="ru-RU" sz="2400" b="1" dirty="0"/>
          </a:p>
          <a:p>
            <a:r>
              <a:rPr lang="ru-RU" sz="2400" b="1" dirty="0"/>
              <a:t>Удалить все нечетные элементы в массиве</a:t>
            </a:r>
            <a:endParaRPr lang="ru-RU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(</a:t>
            </a:r>
            <a:r>
              <a:rPr lang="ru-RU" sz="3600" dirty="0">
                <a:latin typeface="+mj-lt"/>
                <a:ea typeface="+mj-ea"/>
                <a:cs typeface="+mj-cs"/>
              </a:rPr>
              <a:t>одномерный указатель)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работы с многомерными массивами через указатели необходимо представить их в виде строки, где их порядковые номера будут находиться следующим образом:</a:t>
            </a:r>
          </a:p>
          <a:p>
            <a:r>
              <a:rPr lang="ru-RU" sz="2400" dirty="0"/>
              <a:t> </a:t>
            </a:r>
          </a:p>
          <a:p>
            <a:r>
              <a:rPr lang="en-US" sz="2400" dirty="0"/>
              <a:t>*(</a:t>
            </a:r>
            <a:r>
              <a:rPr lang="en-US" sz="2400" dirty="0" err="1"/>
              <a:t>a+i</a:t>
            </a:r>
            <a:r>
              <a:rPr lang="en-US" sz="2400" dirty="0"/>
              <a:t>*</a:t>
            </a:r>
            <a:r>
              <a:rPr lang="en-US" sz="2400" dirty="0" err="1"/>
              <a:t>m+j</a:t>
            </a:r>
            <a:r>
              <a:rPr lang="en-US" sz="2400" dirty="0"/>
              <a:t>) = = a[</a:t>
            </a:r>
            <a:r>
              <a:rPr lang="en-US" sz="2400" dirty="0" err="1"/>
              <a:t>i</a:t>
            </a:r>
            <a:r>
              <a:rPr lang="en-US" sz="2400" dirty="0"/>
              <a:t>][j];</a:t>
            </a:r>
            <a:endParaRPr lang="ru-RU" sz="2400" dirty="0"/>
          </a:p>
          <a:p>
            <a:r>
              <a:rPr lang="ru-RU" sz="2400" dirty="0"/>
              <a:t> </a:t>
            </a:r>
          </a:p>
          <a:p>
            <a:r>
              <a:rPr lang="en-US" sz="2400" dirty="0"/>
              <a:t>n-</a:t>
            </a:r>
            <a:r>
              <a:rPr lang="ru-RU" sz="2400" dirty="0"/>
              <a:t>количество строк матрицы, </a:t>
            </a:r>
          </a:p>
          <a:p>
            <a:r>
              <a:rPr lang="en-US" sz="2400" dirty="0" err="1"/>
              <a:t>i</a:t>
            </a:r>
            <a:r>
              <a:rPr lang="ru-RU" sz="2400" dirty="0"/>
              <a:t>-счетчик по строкам(должен изменяться до </a:t>
            </a:r>
            <a:r>
              <a:rPr lang="en-US" sz="2400" dirty="0"/>
              <a:t>n</a:t>
            </a:r>
            <a:r>
              <a:rPr lang="ru-RU" sz="2400" dirty="0"/>
              <a:t>- кол-во строк),</a:t>
            </a:r>
          </a:p>
          <a:p>
            <a:r>
              <a:rPr lang="en-US" sz="2400" dirty="0"/>
              <a:t>j</a:t>
            </a:r>
            <a:r>
              <a:rPr lang="ru-RU" sz="2400" dirty="0"/>
              <a:t>- счетчик по столбцам(должен изменяться до </a:t>
            </a:r>
            <a:r>
              <a:rPr lang="en-US" sz="2400" dirty="0"/>
              <a:t>m</a:t>
            </a:r>
            <a:r>
              <a:rPr lang="ru-RU" sz="2400" dirty="0"/>
              <a:t>- кол-во столбцов).</a:t>
            </a:r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ru-RU" sz="2400" dirty="0"/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482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(</a:t>
            </a:r>
            <a:r>
              <a:rPr lang="ru-RU" sz="3600" dirty="0">
                <a:latin typeface="+mj-lt"/>
                <a:ea typeface="+mj-ea"/>
                <a:cs typeface="+mj-cs"/>
              </a:rPr>
              <a:t>одномерный указатель)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Например объявим двумерный массив:</a:t>
            </a:r>
          </a:p>
          <a:p>
            <a:r>
              <a:rPr lang="ru-RU" sz="2000" dirty="0"/>
              <a:t> </a:t>
            </a:r>
          </a:p>
          <a:p>
            <a:r>
              <a:rPr lang="ru-RU" sz="2000" dirty="0" err="1"/>
              <a:t>int</a:t>
            </a:r>
            <a:r>
              <a:rPr lang="ru-RU" sz="2000" dirty="0"/>
              <a:t> </a:t>
            </a:r>
            <a:r>
              <a:rPr lang="ru-RU" sz="2000" dirty="0" err="1"/>
              <a:t>a</a:t>
            </a:r>
            <a:r>
              <a:rPr lang="ru-RU" sz="2000" dirty="0"/>
              <a:t>[3][3];</a:t>
            </a:r>
          </a:p>
          <a:p>
            <a:r>
              <a:rPr lang="ru-RU" sz="2000" dirty="0"/>
              <a:t> </a:t>
            </a:r>
          </a:p>
          <a:p>
            <a:r>
              <a:rPr lang="ru-RU" sz="2000" dirty="0"/>
              <a:t>а[0], </a:t>
            </a:r>
            <a:r>
              <a:rPr lang="ru-RU" sz="2000" dirty="0" err="1"/>
              <a:t>a</a:t>
            </a:r>
            <a:r>
              <a:rPr lang="ru-RU" sz="2000" dirty="0"/>
              <a:t>[1], </a:t>
            </a:r>
            <a:r>
              <a:rPr lang="ru-RU" sz="2000" dirty="0" err="1"/>
              <a:t>a</a:t>
            </a:r>
            <a:r>
              <a:rPr lang="ru-RU" sz="2000" dirty="0"/>
              <a:t>[2] содержат адреса соответственно первой, второй и третьей строк массива </a:t>
            </a:r>
            <a:r>
              <a:rPr lang="en-US" sz="2000" dirty="0"/>
              <a:t>a</a:t>
            </a:r>
            <a:endParaRPr lang="ru-RU" sz="2000" dirty="0"/>
          </a:p>
          <a:p>
            <a:r>
              <a:rPr lang="en-US" sz="2000" dirty="0"/>
              <a:t>a[0]-&gt; a[0][0] a[0][1] a[0][2]</a:t>
            </a:r>
            <a:endParaRPr lang="ru-RU" sz="2000" dirty="0"/>
          </a:p>
          <a:p>
            <a:r>
              <a:rPr lang="en-US" sz="2000" dirty="0"/>
              <a:t>a[1]-&gt; a[1][0] a[1][1] a[1][2]</a:t>
            </a:r>
            <a:endParaRPr lang="ru-RU" sz="2000" dirty="0"/>
          </a:p>
          <a:p>
            <a:r>
              <a:rPr lang="en-US" sz="2000" dirty="0"/>
              <a:t>a[2]-&gt; a[2][0] a[2][1] a[2][2]</a:t>
            </a:r>
            <a:endParaRPr lang="ru-RU" sz="2000" dirty="0"/>
          </a:p>
          <a:p>
            <a:r>
              <a:rPr lang="ru-RU" sz="2000" dirty="0"/>
              <a:t> </a:t>
            </a:r>
          </a:p>
          <a:p>
            <a:r>
              <a:rPr lang="ru-RU" sz="2000" dirty="0"/>
              <a:t>Каждый элемент массива </a:t>
            </a:r>
            <a:r>
              <a:rPr lang="en-US" sz="2000" dirty="0"/>
              <a:t>a</a:t>
            </a:r>
            <a:r>
              <a:rPr lang="ru-RU" sz="2000" dirty="0"/>
              <a:t>[3] содержит 3 элемента. Доступ к элементам через указатели:</a:t>
            </a:r>
          </a:p>
          <a:p>
            <a:r>
              <a:rPr lang="ru-RU" sz="2000" dirty="0"/>
              <a:t> </a:t>
            </a:r>
          </a:p>
          <a:p>
            <a:r>
              <a:rPr lang="en-US" sz="2000" dirty="0"/>
              <a:t>a[</a:t>
            </a:r>
            <a:r>
              <a:rPr lang="en-US" sz="2000" dirty="0" err="1"/>
              <a:t>i</a:t>
            </a:r>
            <a:r>
              <a:rPr lang="en-US" sz="2000" dirty="0"/>
              <a:t>]+j = = &amp;a[</a:t>
            </a:r>
            <a:r>
              <a:rPr lang="en-US" sz="2000" dirty="0" err="1"/>
              <a:t>i</a:t>
            </a:r>
            <a:r>
              <a:rPr lang="en-US" sz="2000" dirty="0"/>
              <a:t>][j];</a:t>
            </a:r>
            <a:endParaRPr lang="ru-RU" sz="2000" dirty="0"/>
          </a:p>
          <a:p>
            <a:r>
              <a:rPr lang="en-US" sz="2000" dirty="0"/>
              <a:t>*(a[</a:t>
            </a:r>
            <a:r>
              <a:rPr lang="en-US" sz="2000" dirty="0" err="1"/>
              <a:t>i</a:t>
            </a:r>
            <a:r>
              <a:rPr lang="en-US" sz="2000" dirty="0"/>
              <a:t>]+j) = = a[</a:t>
            </a:r>
            <a:r>
              <a:rPr lang="en-US" sz="2000" dirty="0" err="1"/>
              <a:t>i</a:t>
            </a:r>
            <a:r>
              <a:rPr lang="en-US" sz="2000" dirty="0"/>
              <a:t>][j];</a:t>
            </a:r>
            <a:endParaRPr lang="ru-RU" sz="2000" dirty="0"/>
          </a:p>
          <a:p>
            <a:r>
              <a:rPr lang="en-US" sz="2000" dirty="0"/>
              <a:t>*(</a:t>
            </a:r>
            <a:r>
              <a:rPr lang="en-US" sz="2000" dirty="0" err="1"/>
              <a:t>a+i</a:t>
            </a:r>
            <a:r>
              <a:rPr lang="en-US" sz="2000" dirty="0"/>
              <a:t>*3+j) = = a[</a:t>
            </a:r>
            <a:r>
              <a:rPr lang="en-US" sz="2000" dirty="0" err="1"/>
              <a:t>i</a:t>
            </a:r>
            <a:r>
              <a:rPr lang="en-US" sz="2000" dirty="0"/>
              <a:t>][j];</a:t>
            </a:r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714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(</a:t>
            </a:r>
            <a:r>
              <a:rPr lang="ru-RU" sz="3600" dirty="0">
                <a:latin typeface="+mj-lt"/>
                <a:ea typeface="+mj-ea"/>
                <a:cs typeface="+mj-cs"/>
              </a:rPr>
              <a:t>одномерный указатель)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int</a:t>
            </a:r>
            <a:r>
              <a:rPr lang="ru-RU" sz="2000" dirty="0"/>
              <a:t> *</a:t>
            </a:r>
            <a:r>
              <a:rPr lang="ru-RU" sz="2000" dirty="0" err="1"/>
              <a:t>p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p</a:t>
            </a:r>
            <a:r>
              <a:rPr lang="ru-RU" sz="2000" dirty="0"/>
              <a:t> = (</a:t>
            </a:r>
            <a:r>
              <a:rPr lang="en-US" sz="2000" dirty="0" err="1"/>
              <a:t>int</a:t>
            </a:r>
            <a:r>
              <a:rPr lang="ru-RU" sz="2000" dirty="0"/>
              <a:t> *)</a:t>
            </a:r>
            <a:r>
              <a:rPr lang="ru-RU" sz="2000" dirty="0" err="1"/>
              <a:t>malloc</a:t>
            </a:r>
            <a:r>
              <a:rPr lang="ru-RU" sz="2000" dirty="0"/>
              <a:t>(</a:t>
            </a:r>
            <a:r>
              <a:rPr lang="en-US" sz="2000" dirty="0"/>
              <a:t>n</a:t>
            </a:r>
            <a:r>
              <a:rPr lang="ru-RU" sz="2000" dirty="0"/>
              <a:t>*</a:t>
            </a:r>
            <a:r>
              <a:rPr lang="en-US" sz="2000" dirty="0"/>
              <a:t>n</a:t>
            </a:r>
            <a:r>
              <a:rPr lang="ru-RU" sz="2000" dirty="0"/>
              <a:t>*</a:t>
            </a:r>
            <a:r>
              <a:rPr lang="en-US" sz="2000" dirty="0" err="1"/>
              <a:t>sizeof</a:t>
            </a:r>
            <a:r>
              <a:rPr lang="ru-RU" sz="2000" dirty="0"/>
              <a:t>(</a:t>
            </a:r>
            <a:r>
              <a:rPr lang="en-US" sz="2000" dirty="0" err="1"/>
              <a:t>int</a:t>
            </a:r>
            <a:r>
              <a:rPr lang="ru-RU" sz="2000" dirty="0"/>
              <a:t>));</a:t>
            </a:r>
          </a:p>
          <a:p>
            <a:endParaRPr lang="ru-RU" sz="2000" dirty="0"/>
          </a:p>
          <a:p>
            <a:r>
              <a:rPr lang="ru-RU" sz="2000" dirty="0" err="1"/>
              <a:t>int</a:t>
            </a:r>
            <a:r>
              <a:rPr lang="ru-RU" sz="2000" dirty="0"/>
              <a:t> *</a:t>
            </a:r>
            <a:r>
              <a:rPr lang="ru-RU" sz="2000" dirty="0" err="1"/>
              <a:t>mt</a:t>
            </a:r>
            <a:r>
              <a:rPr lang="ru-RU" sz="2000" dirty="0"/>
              <a:t>; 						</a:t>
            </a:r>
          </a:p>
          <a:p>
            <a:r>
              <a:rPr lang="ru-RU" sz="2000" dirty="0" err="1"/>
              <a:t>scanf</a:t>
            </a:r>
            <a:r>
              <a:rPr lang="ru-RU" sz="2000" dirty="0"/>
              <a:t>("%</a:t>
            </a:r>
            <a:r>
              <a:rPr lang="ru-RU" sz="2000" dirty="0" err="1"/>
              <a:t>d</a:t>
            </a:r>
            <a:r>
              <a:rPr lang="ru-RU" sz="2000" dirty="0"/>
              <a:t>",&amp;n);   </a:t>
            </a:r>
          </a:p>
          <a:p>
            <a:r>
              <a:rPr lang="ru-RU" sz="2000" dirty="0"/>
              <a:t>  </a:t>
            </a:r>
            <a:r>
              <a:rPr lang="ru-RU" sz="2000" dirty="0" err="1"/>
              <a:t>mt=</a:t>
            </a:r>
            <a:r>
              <a:rPr lang="ru-RU" sz="2000" dirty="0"/>
              <a:t>(</a:t>
            </a:r>
            <a:r>
              <a:rPr lang="ru-RU" sz="2000" dirty="0" err="1"/>
              <a:t>int</a:t>
            </a:r>
            <a:r>
              <a:rPr lang="ru-RU" sz="2000" dirty="0"/>
              <a:t>*)</a:t>
            </a:r>
            <a:r>
              <a:rPr lang="ru-RU" sz="2000" dirty="0" err="1"/>
              <a:t>malloc</a:t>
            </a:r>
            <a:r>
              <a:rPr lang="ru-RU" sz="2000" dirty="0"/>
              <a:t>(n*</a:t>
            </a:r>
            <a:r>
              <a:rPr lang="ru-RU" sz="2000" dirty="0" err="1"/>
              <a:t>n</a:t>
            </a:r>
            <a:r>
              <a:rPr lang="ru-RU" sz="2000" dirty="0"/>
              <a:t>*</a:t>
            </a:r>
            <a:r>
              <a:rPr lang="ru-RU" sz="2000" dirty="0" err="1"/>
              <a:t>sizeof</a:t>
            </a:r>
            <a:r>
              <a:rPr lang="ru-RU" sz="2000" dirty="0"/>
              <a:t>(</a:t>
            </a:r>
            <a:r>
              <a:rPr lang="ru-RU" sz="2000" dirty="0" err="1"/>
              <a:t>int</a:t>
            </a:r>
            <a:r>
              <a:rPr lang="ru-RU" sz="2000" dirty="0"/>
              <a:t>)); 	 </a:t>
            </a:r>
          </a:p>
          <a:p>
            <a:r>
              <a:rPr lang="ru-RU" sz="2000" dirty="0"/>
              <a:t>  //Ввод матрицы</a:t>
            </a:r>
          </a:p>
          <a:p>
            <a:r>
              <a:rPr lang="ru-RU" sz="2000" dirty="0"/>
              <a:t>  </a:t>
            </a:r>
            <a:r>
              <a:rPr lang="ru-RU" sz="2000" dirty="0" err="1"/>
              <a:t>for</a:t>
            </a:r>
            <a:r>
              <a:rPr lang="ru-RU" sz="2000" dirty="0"/>
              <a:t> (i=0; </a:t>
            </a:r>
            <a:r>
              <a:rPr lang="ru-RU" sz="2000" dirty="0" err="1"/>
              <a:t>i</a:t>
            </a:r>
            <a:r>
              <a:rPr lang="ru-RU" sz="2000" dirty="0"/>
              <a:t>&lt;n; ++</a:t>
            </a:r>
            <a:r>
              <a:rPr lang="ru-RU" sz="2000" dirty="0" err="1"/>
              <a:t>i</a:t>
            </a:r>
            <a:r>
              <a:rPr lang="ru-RU" sz="2000" dirty="0"/>
              <a:t>) 				</a:t>
            </a:r>
          </a:p>
          <a:p>
            <a:r>
              <a:rPr lang="ru-RU" sz="2000" dirty="0"/>
              <a:t>  </a:t>
            </a:r>
            <a:r>
              <a:rPr lang="ru-RU" sz="2000" dirty="0" err="1"/>
              <a:t>for</a:t>
            </a:r>
            <a:r>
              <a:rPr lang="ru-RU" sz="2000" dirty="0"/>
              <a:t> (j=0; </a:t>
            </a:r>
            <a:r>
              <a:rPr lang="ru-RU" sz="2000" dirty="0" err="1"/>
              <a:t>j</a:t>
            </a:r>
            <a:r>
              <a:rPr lang="ru-RU" sz="2000" dirty="0"/>
              <a:t>&lt;n; ++</a:t>
            </a:r>
            <a:r>
              <a:rPr lang="ru-RU" sz="2000" dirty="0" err="1"/>
              <a:t>j</a:t>
            </a:r>
            <a:r>
              <a:rPr lang="ru-RU" sz="2000" dirty="0"/>
              <a:t>) 				</a:t>
            </a:r>
          </a:p>
          <a:p>
            <a:r>
              <a:rPr lang="ru-RU" sz="2000" dirty="0"/>
              <a:t>  {  </a:t>
            </a:r>
          </a:p>
          <a:p>
            <a:r>
              <a:rPr lang="ru-RU" sz="2000" dirty="0"/>
              <a:t>	</a:t>
            </a:r>
            <a:r>
              <a:rPr lang="en-US" sz="2000" dirty="0" err="1"/>
              <a:t>scanf</a:t>
            </a:r>
            <a:r>
              <a:rPr lang="ru-RU" sz="2000" dirty="0"/>
              <a:t>("%</a:t>
            </a:r>
            <a:r>
              <a:rPr lang="en-US" sz="2000" dirty="0"/>
              <a:t>d</a:t>
            </a:r>
            <a:r>
              <a:rPr lang="ru-RU" sz="2000" dirty="0"/>
              <a:t>", </a:t>
            </a:r>
            <a:r>
              <a:rPr lang="en-US" sz="2000" dirty="0" err="1"/>
              <a:t>mt</a:t>
            </a:r>
            <a:r>
              <a:rPr lang="ru-RU" sz="2000" dirty="0"/>
              <a:t>+</a:t>
            </a:r>
            <a:r>
              <a:rPr lang="en-US" sz="2000" dirty="0" err="1"/>
              <a:t>i</a:t>
            </a:r>
            <a:r>
              <a:rPr lang="en-US" sz="2000" dirty="0"/>
              <a:t>*</a:t>
            </a:r>
            <a:r>
              <a:rPr lang="en-US" sz="2000" dirty="0" err="1"/>
              <a:t>n+j</a:t>
            </a:r>
            <a:r>
              <a:rPr lang="ru-RU" sz="2000" dirty="0"/>
              <a:t>); 		</a:t>
            </a:r>
          </a:p>
          <a:p>
            <a:r>
              <a:rPr lang="ru-RU" sz="2000" dirty="0"/>
              <a:t>   } </a:t>
            </a:r>
          </a:p>
          <a:p>
            <a:r>
              <a:rPr lang="ru-RU" sz="2000" dirty="0" err="1"/>
              <a:t>for</a:t>
            </a:r>
            <a:r>
              <a:rPr lang="ru-RU" sz="2000" dirty="0"/>
              <a:t> (i=0; </a:t>
            </a:r>
            <a:r>
              <a:rPr lang="ru-RU" sz="2000" dirty="0" err="1"/>
              <a:t>i</a:t>
            </a:r>
            <a:r>
              <a:rPr lang="ru-RU" sz="2000" dirty="0"/>
              <a:t>&lt;n; ++</a:t>
            </a:r>
            <a:r>
              <a:rPr lang="ru-RU" sz="2000" dirty="0" err="1"/>
              <a:t>i</a:t>
            </a:r>
            <a:r>
              <a:rPr lang="ru-RU" sz="2000" dirty="0"/>
              <a:t>) 				</a:t>
            </a:r>
          </a:p>
          <a:p>
            <a:r>
              <a:rPr lang="ru-RU" sz="2000" dirty="0"/>
              <a:t>    	{ 		</a:t>
            </a:r>
          </a:p>
          <a:p>
            <a:r>
              <a:rPr lang="ru-RU" sz="2000" dirty="0"/>
              <a:t>  		</a:t>
            </a:r>
            <a:r>
              <a:rPr lang="ru-RU" sz="2000" dirty="0" err="1"/>
              <a:t>for</a:t>
            </a:r>
            <a:r>
              <a:rPr lang="ru-RU" sz="2000" dirty="0"/>
              <a:t> (j=0; </a:t>
            </a:r>
            <a:r>
              <a:rPr lang="ru-RU" sz="2000" dirty="0" err="1"/>
              <a:t>j</a:t>
            </a:r>
            <a:r>
              <a:rPr lang="ru-RU" sz="2000" dirty="0"/>
              <a:t>&lt;n; ++</a:t>
            </a:r>
            <a:r>
              <a:rPr lang="ru-RU" sz="2000" dirty="0" err="1"/>
              <a:t>j</a:t>
            </a:r>
            <a:r>
              <a:rPr lang="ru-RU" sz="2000" dirty="0"/>
              <a:t>) 			</a:t>
            </a:r>
          </a:p>
          <a:p>
            <a:r>
              <a:rPr lang="ru-RU" sz="2000" dirty="0"/>
              <a:t>    			</a:t>
            </a:r>
            <a:r>
              <a:rPr lang="en-US" sz="2000" dirty="0" err="1"/>
              <a:t>printf</a:t>
            </a:r>
            <a:r>
              <a:rPr lang="en-US" sz="2000" dirty="0"/>
              <a:t>("%4d", *(</a:t>
            </a:r>
            <a:r>
              <a:rPr lang="en-US" sz="2000" dirty="0" err="1"/>
              <a:t>mt+i</a:t>
            </a:r>
            <a:r>
              <a:rPr lang="en-US" sz="2000" dirty="0"/>
              <a:t>*</a:t>
            </a:r>
            <a:r>
              <a:rPr lang="en-US" sz="2000" dirty="0" err="1"/>
              <a:t>n+j</a:t>
            </a:r>
            <a:r>
              <a:rPr lang="en-US" sz="2000" dirty="0"/>
              <a:t>)); }</a:t>
            </a:r>
            <a:endParaRPr lang="ru-RU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9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(</a:t>
            </a:r>
            <a:r>
              <a:rPr lang="ru-RU" sz="3600" dirty="0">
                <a:latin typeface="+mj-lt"/>
                <a:ea typeface="+mj-ea"/>
                <a:cs typeface="+mj-cs"/>
              </a:rPr>
              <a:t>одномерный указатель)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Сортировка квадратной матрицы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for(</a:t>
            </a:r>
            <a:r>
              <a:rPr lang="en-US" sz="2000" dirty="0" err="1"/>
              <a:t>i</a:t>
            </a:r>
            <a:r>
              <a:rPr lang="en-US" sz="2000" dirty="0"/>
              <a:t>=0;i&lt;</a:t>
            </a:r>
            <a:r>
              <a:rPr lang="en-US" sz="2000" dirty="0" err="1"/>
              <a:t>n;i</a:t>
            </a:r>
            <a:r>
              <a:rPr lang="en-US" sz="2000" dirty="0"/>
              <a:t>++) </a:t>
            </a:r>
            <a:endParaRPr lang="ru-RU" sz="2000" dirty="0"/>
          </a:p>
          <a:p>
            <a:r>
              <a:rPr lang="en-US" sz="2000" dirty="0"/>
              <a:t>  for(j=n-1;j&gt;</a:t>
            </a:r>
            <a:r>
              <a:rPr lang="en-US" sz="2000" dirty="0" err="1"/>
              <a:t>i;j</a:t>
            </a:r>
            <a:r>
              <a:rPr lang="en-US" sz="2000" dirty="0"/>
              <a:t>--) </a:t>
            </a:r>
            <a:endParaRPr lang="ru-RU" sz="2000" dirty="0"/>
          </a:p>
          <a:p>
            <a:r>
              <a:rPr lang="en-US" sz="2000" dirty="0"/>
              <a:t>     if(*(</a:t>
            </a:r>
            <a:r>
              <a:rPr lang="en-US" sz="2000" dirty="0" err="1"/>
              <a:t>mt+i</a:t>
            </a:r>
            <a:r>
              <a:rPr lang="en-US" sz="2000" dirty="0"/>
              <a:t>*</a:t>
            </a:r>
            <a:r>
              <a:rPr lang="en-US" sz="2000" dirty="0" err="1"/>
              <a:t>n+j</a:t>
            </a:r>
            <a:r>
              <a:rPr lang="en-US" sz="2000" dirty="0"/>
              <a:t>)&gt;*(</a:t>
            </a:r>
            <a:r>
              <a:rPr lang="en-US" sz="2000" dirty="0" err="1"/>
              <a:t>mt+j</a:t>
            </a:r>
            <a:r>
              <a:rPr lang="en-US" sz="2000" dirty="0"/>
              <a:t>*</a:t>
            </a:r>
            <a:r>
              <a:rPr lang="en-US" sz="2000" dirty="0" err="1"/>
              <a:t>n+j</a:t>
            </a:r>
            <a:r>
              <a:rPr lang="en-US" sz="2000" dirty="0"/>
              <a:t>))</a:t>
            </a:r>
            <a:endParaRPr lang="ru-RU" sz="2000" dirty="0"/>
          </a:p>
          <a:p>
            <a:r>
              <a:rPr lang="en-US" sz="2000" dirty="0"/>
              <a:t>     </a:t>
            </a:r>
            <a:r>
              <a:rPr lang="ru-RU" sz="2000" dirty="0"/>
              <a:t>	</a:t>
            </a:r>
            <a:r>
              <a:rPr lang="en-US" sz="2000" dirty="0"/>
              <a:t>{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tmp</a:t>
            </a:r>
            <a:r>
              <a:rPr lang="en-US" sz="2000" dirty="0"/>
              <a:t>=*(</a:t>
            </a:r>
            <a:r>
              <a:rPr lang="en-US" sz="2000" dirty="0" err="1"/>
              <a:t>mt+i</a:t>
            </a:r>
            <a:r>
              <a:rPr lang="en-US" sz="2000" dirty="0"/>
              <a:t>*</a:t>
            </a:r>
            <a:r>
              <a:rPr lang="en-US" sz="2000" dirty="0" err="1"/>
              <a:t>n+i</a:t>
            </a:r>
            <a:r>
              <a:rPr lang="en-US" sz="2000" dirty="0"/>
              <a:t>); </a:t>
            </a:r>
            <a:endParaRPr lang="ru-RU" sz="2000" dirty="0"/>
          </a:p>
          <a:p>
            <a:r>
              <a:rPr lang="en-US" sz="2000" dirty="0"/>
              <a:t>	*(</a:t>
            </a:r>
            <a:r>
              <a:rPr lang="en-US" sz="2000" dirty="0" err="1"/>
              <a:t>mt+i</a:t>
            </a:r>
            <a:r>
              <a:rPr lang="en-US" sz="2000" dirty="0"/>
              <a:t>*</a:t>
            </a:r>
            <a:r>
              <a:rPr lang="en-US" sz="2000" dirty="0" err="1"/>
              <a:t>n+i</a:t>
            </a:r>
            <a:r>
              <a:rPr lang="en-US" sz="2000" dirty="0"/>
              <a:t>)=*(</a:t>
            </a:r>
            <a:r>
              <a:rPr lang="en-US" sz="2000" dirty="0" err="1"/>
              <a:t>mt+j</a:t>
            </a:r>
            <a:r>
              <a:rPr lang="en-US" sz="2000" dirty="0"/>
              <a:t>*</a:t>
            </a:r>
            <a:r>
              <a:rPr lang="en-US" sz="2000" dirty="0" err="1"/>
              <a:t>n+j</a:t>
            </a:r>
            <a:r>
              <a:rPr lang="en-US" sz="2000" dirty="0"/>
              <a:t>); </a:t>
            </a:r>
            <a:endParaRPr lang="ru-RU" sz="2000" dirty="0"/>
          </a:p>
          <a:p>
            <a:r>
              <a:rPr lang="en-US" sz="2000" dirty="0"/>
              <a:t>	*(</a:t>
            </a:r>
            <a:r>
              <a:rPr lang="en-US" sz="2000" dirty="0" err="1"/>
              <a:t>mt+j</a:t>
            </a:r>
            <a:r>
              <a:rPr lang="en-US" sz="2000" dirty="0"/>
              <a:t>*</a:t>
            </a:r>
            <a:r>
              <a:rPr lang="en-US" sz="2000" dirty="0" err="1"/>
              <a:t>n+j</a:t>
            </a:r>
            <a:r>
              <a:rPr lang="en-US" sz="2000" dirty="0"/>
              <a:t>)=</a:t>
            </a:r>
            <a:r>
              <a:rPr lang="en-US" sz="2000" dirty="0" err="1"/>
              <a:t>tmp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en-US" sz="2000" dirty="0"/>
              <a:t>} </a:t>
            </a:r>
            <a:endParaRPr lang="ru-RU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077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double a[]={11,12,13,14,15,};</a:t>
            </a:r>
            <a:br>
              <a:rPr lang="en-US" sz="2400" dirty="0"/>
            </a:br>
            <a:r>
              <a:rPr lang="en-US" sz="2400" dirty="0"/>
              <a:t>double *p[]={a, a+1, a+2, a+2, a+3, a+4};</a:t>
            </a:r>
            <a:br>
              <a:rPr lang="en-US" sz="2400" dirty="0"/>
            </a:br>
            <a:r>
              <a:rPr lang="en-US" sz="2400" dirty="0"/>
              <a:t>double **pp=p;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959" y="3553778"/>
            <a:ext cx="7976809" cy="1886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0919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pp+=2 </a:t>
            </a:r>
            <a:endParaRPr lang="en-US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1690" y="2780928"/>
            <a:ext cx="7890310" cy="1862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64796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7567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double **pp;</a:t>
            </a:r>
          </a:p>
          <a:p>
            <a:r>
              <a:rPr lang="ru-RU" sz="2000" dirty="0" err="1"/>
              <a:t>pp</a:t>
            </a:r>
            <a:r>
              <a:rPr lang="ru-RU" sz="2000" dirty="0"/>
              <a:t> = (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**</a:t>
            </a:r>
            <a:r>
              <a:rPr lang="ru-RU" sz="2000" dirty="0"/>
              <a:t>)</a:t>
            </a:r>
            <a:r>
              <a:rPr lang="en-US" sz="2000" dirty="0" err="1"/>
              <a:t>c</a:t>
            </a:r>
            <a:r>
              <a:rPr lang="ru-RU" sz="2000" dirty="0" err="1"/>
              <a:t>alloc</a:t>
            </a:r>
            <a:r>
              <a:rPr lang="ru-RU" sz="2000" dirty="0"/>
              <a:t>(</a:t>
            </a:r>
            <a:r>
              <a:rPr lang="en-US" sz="2000" dirty="0"/>
              <a:t>n, </a:t>
            </a:r>
            <a:r>
              <a:rPr lang="ru-RU" sz="2000" dirty="0" err="1"/>
              <a:t>sizeof</a:t>
            </a:r>
            <a:r>
              <a:rPr lang="ru-RU" sz="2000" dirty="0"/>
              <a:t>(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 *</a:t>
            </a:r>
            <a:r>
              <a:rPr lang="ru-RU" sz="2000" dirty="0"/>
              <a:t>));</a:t>
            </a:r>
            <a:endParaRPr lang="en-US" sz="2000" dirty="0"/>
          </a:p>
          <a:p>
            <a:r>
              <a:rPr lang="en-US" sz="2000" dirty="0"/>
              <a:t>for (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&lt;n;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  <a:endParaRPr lang="ru-RU" sz="2000" dirty="0"/>
          </a:p>
          <a:p>
            <a:r>
              <a:rPr lang="en-US" sz="2000" dirty="0"/>
              <a:t>{ *(</a:t>
            </a:r>
            <a:r>
              <a:rPr lang="en-US" sz="2000" dirty="0" err="1"/>
              <a:t>pp+i</a:t>
            </a:r>
            <a:r>
              <a:rPr lang="en-US" sz="2000" dirty="0"/>
              <a:t>)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double*)</a:t>
            </a:r>
            <a:r>
              <a:rPr lang="en-US" sz="2000" dirty="0" err="1"/>
              <a:t>calloc</a:t>
            </a:r>
            <a:r>
              <a:rPr lang="en-US" sz="2000" dirty="0"/>
              <a:t>(m,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en-US" sz="2000" dirty="0"/>
              <a:t>));</a:t>
            </a:r>
            <a:endParaRPr lang="ru-RU" sz="2000" dirty="0"/>
          </a:p>
          <a:p>
            <a:endParaRPr lang="en-US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062-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4040" y="3088586"/>
            <a:ext cx="6278880" cy="3806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9861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double **pp;</a:t>
            </a:r>
          </a:p>
          <a:p>
            <a:r>
              <a:rPr lang="ru-RU" sz="2000" dirty="0" err="1"/>
              <a:t>pp</a:t>
            </a:r>
            <a:r>
              <a:rPr lang="ru-RU" sz="2000" dirty="0"/>
              <a:t> = (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**</a:t>
            </a:r>
            <a:r>
              <a:rPr lang="ru-RU" sz="2000" dirty="0"/>
              <a:t>)</a:t>
            </a:r>
            <a:r>
              <a:rPr lang="en-US" sz="2000" dirty="0"/>
              <a:t>c</a:t>
            </a:r>
            <a:r>
              <a:rPr lang="ru-RU" sz="2000" dirty="0" err="1"/>
              <a:t>alloc</a:t>
            </a:r>
            <a:r>
              <a:rPr lang="ru-RU" sz="2000" dirty="0"/>
              <a:t>(</a:t>
            </a:r>
            <a:r>
              <a:rPr lang="en-US" sz="2000" dirty="0"/>
              <a:t>n, </a:t>
            </a:r>
            <a:r>
              <a:rPr lang="ru-RU" sz="2000" dirty="0" err="1"/>
              <a:t>sizeof</a:t>
            </a:r>
            <a:r>
              <a:rPr lang="ru-RU" sz="2000" dirty="0"/>
              <a:t>(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 *</a:t>
            </a:r>
            <a:r>
              <a:rPr lang="ru-RU" sz="2000" dirty="0"/>
              <a:t>));</a:t>
            </a:r>
            <a:endParaRPr lang="en-US" sz="2000" dirty="0"/>
          </a:p>
          <a:p>
            <a:r>
              <a:rPr lang="en-US" sz="2000" dirty="0"/>
              <a:t>if(pp)</a:t>
            </a:r>
            <a:endParaRPr lang="ru-RU" sz="2000" dirty="0"/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	for (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&lt;n;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  <a:endParaRPr lang="ru-RU" sz="2000" dirty="0"/>
          </a:p>
          <a:p>
            <a:r>
              <a:rPr lang="en-US" sz="2000" dirty="0"/>
              <a:t>	{ </a:t>
            </a:r>
          </a:p>
          <a:p>
            <a:r>
              <a:rPr lang="en-US" sz="2000" dirty="0"/>
              <a:t>		*(</a:t>
            </a:r>
            <a:r>
              <a:rPr lang="en-US" sz="2000" dirty="0" err="1"/>
              <a:t>pp+i</a:t>
            </a:r>
            <a:r>
              <a:rPr lang="en-US" sz="2000" dirty="0"/>
              <a:t>)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double*)</a:t>
            </a:r>
            <a:r>
              <a:rPr lang="en-US" sz="2000" dirty="0" err="1"/>
              <a:t>calloc</a:t>
            </a:r>
            <a:r>
              <a:rPr lang="en-US" sz="2000" dirty="0"/>
              <a:t>(m,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en-US" sz="2000" dirty="0"/>
              <a:t>));</a:t>
            </a:r>
            <a:endParaRPr lang="ru-RU" sz="2000" dirty="0"/>
          </a:p>
          <a:p>
            <a:r>
              <a:rPr lang="en-US" sz="2000" dirty="0"/>
              <a:t>		if(!*(</a:t>
            </a:r>
            <a:r>
              <a:rPr lang="en-US" sz="2000" dirty="0" err="1"/>
              <a:t>pp+i</a:t>
            </a:r>
            <a:r>
              <a:rPr lang="en-US" sz="2000" dirty="0"/>
              <a:t>))</a:t>
            </a:r>
            <a:endParaRPr lang="ru-RU" sz="2000" dirty="0"/>
          </a:p>
          <a:p>
            <a:r>
              <a:rPr lang="en-US" sz="2000" dirty="0"/>
              <a:t>		{ 	</a:t>
            </a:r>
          </a:p>
          <a:p>
            <a:r>
              <a:rPr lang="en-US" sz="2000" dirty="0"/>
              <a:t>			for(j=0; j&lt;</a:t>
            </a:r>
            <a:r>
              <a:rPr lang="en-US" sz="2000" dirty="0" err="1"/>
              <a:t>i</a:t>
            </a:r>
            <a:r>
              <a:rPr lang="en-US" sz="2000" dirty="0"/>
              <a:t>; j++ ) </a:t>
            </a:r>
          </a:p>
          <a:p>
            <a:r>
              <a:rPr lang="en-US" sz="2000" dirty="0"/>
              <a:t>				free(*(</a:t>
            </a:r>
            <a:r>
              <a:rPr lang="en-US" sz="2000" dirty="0" err="1"/>
              <a:t>pp+j</a:t>
            </a:r>
            <a:r>
              <a:rPr lang="en-US" sz="2000" dirty="0"/>
              <a:t>));</a:t>
            </a:r>
            <a:endParaRPr lang="ru-RU" sz="2000" dirty="0"/>
          </a:p>
          <a:p>
            <a:r>
              <a:rPr lang="en-US" sz="2000" dirty="0"/>
              <a:t>			free(pp);</a:t>
            </a:r>
            <a:endParaRPr lang="ru-RU" sz="2000" dirty="0"/>
          </a:p>
          <a:p>
            <a:r>
              <a:rPr lang="en-US" sz="2000" dirty="0"/>
              <a:t>		}</a:t>
            </a:r>
          </a:p>
          <a:p>
            <a:r>
              <a:rPr lang="en-US" sz="2000" dirty="0"/>
              <a:t>	}</a:t>
            </a:r>
          </a:p>
          <a:p>
            <a:r>
              <a:rPr lang="en-US" sz="2000" dirty="0"/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5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i,k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en-US" sz="2000" dirty="0"/>
              <a:t>   do {</a:t>
            </a:r>
            <a:endParaRPr lang="ru-RU" sz="2000" dirty="0"/>
          </a:p>
          <a:p>
            <a:r>
              <a:rPr lang="en-US" sz="2000" dirty="0"/>
              <a:t>         for ( k=0, </a:t>
            </a:r>
            <a:r>
              <a:rPr lang="en-US" sz="2000" dirty="0" err="1"/>
              <a:t>i</a:t>
            </a:r>
            <a:r>
              <a:rPr lang="en-US" sz="2000" dirty="0"/>
              <a:t>=0; pp[i+1]!=</a:t>
            </a:r>
            <a:r>
              <a:rPr lang="en-US" sz="2000" dirty="0" err="1"/>
              <a:t>NULL;i</a:t>
            </a:r>
            <a:r>
              <a:rPr lang="en-US" sz="2000" dirty="0"/>
              <a:t>++)</a:t>
            </a:r>
            <a:endParaRPr lang="ru-RU" sz="2000" dirty="0"/>
          </a:p>
          <a:p>
            <a:r>
              <a:rPr lang="ru-RU" sz="2000" dirty="0"/>
              <a:t>         </a:t>
            </a:r>
            <a:r>
              <a:rPr lang="ru-RU" sz="2000" dirty="0" err="1"/>
              <a:t>if</a:t>
            </a:r>
            <a:r>
              <a:rPr lang="ru-RU" sz="2000" dirty="0"/>
              <a:t> (*p</a:t>
            </a:r>
            <a:r>
              <a:rPr lang="en-US" sz="2000" dirty="0"/>
              <a:t>p</a:t>
            </a:r>
            <a:r>
              <a:rPr lang="ru-RU" sz="2000" dirty="0"/>
              <a:t>[i] &gt; *p</a:t>
            </a:r>
            <a:r>
              <a:rPr lang="en-US" sz="2000" dirty="0"/>
              <a:t>p</a:t>
            </a:r>
            <a:r>
              <a:rPr lang="ru-RU" sz="2000" dirty="0"/>
              <a:t>[i+1])      // Сравнение </a:t>
            </a:r>
            <a:r>
              <a:rPr lang="ru-RU" sz="2000" dirty="0" err="1"/>
              <a:t>указуемых</a:t>
            </a:r>
            <a:r>
              <a:rPr lang="ru-RU" sz="2000" dirty="0"/>
              <a:t> переменных</a:t>
            </a:r>
          </a:p>
          <a:p>
            <a:r>
              <a:rPr lang="ru-RU" sz="2000" dirty="0"/>
              <a:t>         { </a:t>
            </a:r>
            <a:r>
              <a:rPr lang="ru-RU" sz="2000" dirty="0" err="1"/>
              <a:t>double</a:t>
            </a:r>
            <a:r>
              <a:rPr lang="ru-RU" sz="2000" dirty="0"/>
              <a:t> *c;                // Перестановка указателей</a:t>
            </a:r>
          </a:p>
          <a:p>
            <a:r>
              <a:rPr lang="ru-RU" sz="2000" dirty="0"/>
              <a:t>           c = </a:t>
            </a:r>
            <a:r>
              <a:rPr lang="ru-RU" sz="2000" dirty="0" err="1"/>
              <a:t>pd</a:t>
            </a:r>
            <a:r>
              <a:rPr lang="ru-RU" sz="2000" dirty="0"/>
              <a:t>[</a:t>
            </a:r>
            <a:r>
              <a:rPr lang="ru-RU" sz="2000" dirty="0" err="1"/>
              <a:t>i</a:t>
            </a:r>
            <a:r>
              <a:rPr lang="ru-RU" sz="2000" dirty="0"/>
              <a:t>]; </a:t>
            </a:r>
          </a:p>
          <a:p>
            <a:r>
              <a:rPr lang="en-US" sz="2000" dirty="0"/>
              <a:t>           pp[</a:t>
            </a:r>
            <a:r>
              <a:rPr lang="en-US" sz="2000" dirty="0" err="1"/>
              <a:t>i</a:t>
            </a:r>
            <a:r>
              <a:rPr lang="en-US" sz="2000" dirty="0"/>
              <a:t>] = pp[i+1];</a:t>
            </a:r>
            <a:endParaRPr lang="ru-RU" sz="2000" dirty="0"/>
          </a:p>
          <a:p>
            <a:r>
              <a:rPr lang="en-US" sz="2000" dirty="0"/>
              <a:t>           pp[i+1] = c; </a:t>
            </a:r>
            <a:endParaRPr lang="ru-RU" sz="2000" dirty="0"/>
          </a:p>
          <a:p>
            <a:r>
              <a:rPr lang="en-US" sz="2000" dirty="0"/>
              <a:t>           </a:t>
            </a:r>
            <a:r>
              <a:rPr lang="ru-RU" sz="2000" dirty="0" err="1"/>
              <a:t>k</a:t>
            </a:r>
            <a:r>
              <a:rPr lang="ru-RU" sz="2000" dirty="0"/>
              <a:t> = 1; </a:t>
            </a:r>
          </a:p>
          <a:p>
            <a:r>
              <a:rPr lang="en-US" sz="2000" dirty="0"/>
              <a:t>         </a:t>
            </a:r>
            <a:r>
              <a:rPr lang="ru-RU" sz="2000" dirty="0"/>
              <a:t>}</a:t>
            </a:r>
          </a:p>
          <a:p>
            <a:r>
              <a:rPr lang="ru-RU" sz="2000" dirty="0"/>
              <a:t>              </a:t>
            </a:r>
          </a:p>
          <a:p>
            <a:r>
              <a:rPr lang="ru-RU" sz="2000" dirty="0"/>
              <a:t>      } </a:t>
            </a:r>
            <a:r>
              <a:rPr lang="ru-RU" sz="2000" dirty="0" err="1"/>
              <a:t>while</a:t>
            </a:r>
            <a:r>
              <a:rPr lang="ru-RU" sz="2000" dirty="0"/>
              <a:t> (</a:t>
            </a:r>
            <a:r>
              <a:rPr lang="ru-RU" sz="2000" dirty="0" err="1"/>
              <a:t>k</a:t>
            </a:r>
            <a:r>
              <a:rPr lang="ru-RU" sz="2000" dirty="0"/>
              <a:t>);</a:t>
            </a:r>
          </a:p>
          <a:p>
            <a:r>
              <a:rPr lang="ru-RU" sz="2000" dirty="0"/>
              <a:t>}</a:t>
            </a:r>
          </a:p>
          <a:p>
            <a:endParaRPr lang="ru-RU" sz="2000" dirty="0"/>
          </a:p>
          <a:p>
            <a:endParaRPr lang="en-US" sz="2000" dirty="0"/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44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. </a:t>
            </a:r>
            <a:r>
              <a:rPr lang="ru-RU" sz="3600" dirty="0" err="1">
                <a:latin typeface="+mj-lt"/>
                <a:ea typeface="+mj-ea"/>
                <a:cs typeface="+mj-cs"/>
              </a:rPr>
              <a:t>Перевыделение</a:t>
            </a:r>
            <a:r>
              <a:rPr lang="ru-RU" sz="3600" dirty="0">
                <a:latin typeface="+mj-lt"/>
                <a:ea typeface="+mj-ea"/>
                <a:cs typeface="+mj-cs"/>
              </a:rPr>
              <a:t> памяти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строк 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Удалить строку</a:t>
            </a:r>
          </a:p>
          <a:p>
            <a:endParaRPr lang="en-US" sz="2000" dirty="0"/>
          </a:p>
          <a:p>
            <a:r>
              <a:rPr lang="en-US" sz="2000" dirty="0"/>
              <a:t>pp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double**</a:t>
            </a:r>
            <a:r>
              <a:rPr lang="en-US" sz="2000" dirty="0"/>
              <a:t>)</a:t>
            </a:r>
            <a:r>
              <a:rPr lang="en-US" sz="2000" dirty="0" err="1"/>
              <a:t>realloc</a:t>
            </a:r>
            <a:r>
              <a:rPr lang="en-US" sz="2000" dirty="0"/>
              <a:t>(pp, (n - 1) *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</a:t>
            </a:r>
            <a:r>
              <a:rPr lang="en-US" sz="2000" dirty="0"/>
              <a:t>));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строку</a:t>
            </a:r>
          </a:p>
          <a:p>
            <a:endParaRPr lang="en-US" sz="2000" dirty="0"/>
          </a:p>
          <a:p>
            <a:r>
              <a:rPr lang="en-US" sz="2000" dirty="0"/>
              <a:t>pp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double**</a:t>
            </a:r>
            <a:r>
              <a:rPr lang="en-US" sz="2000" dirty="0"/>
              <a:t>)</a:t>
            </a:r>
            <a:r>
              <a:rPr lang="en-US" sz="2000" dirty="0" err="1"/>
              <a:t>realloc</a:t>
            </a:r>
            <a:r>
              <a:rPr lang="en-US" sz="2000" dirty="0"/>
              <a:t>(pp, (n </a:t>
            </a:r>
            <a:r>
              <a:rPr lang="ru-RU" sz="2000" dirty="0"/>
              <a:t>+</a:t>
            </a:r>
            <a:r>
              <a:rPr lang="en-US" sz="2000" dirty="0"/>
              <a:t>1) *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</a:t>
            </a:r>
            <a:r>
              <a:rPr lang="en-US" sz="2000" dirty="0"/>
              <a:t>));</a:t>
            </a:r>
          </a:p>
          <a:p>
            <a:r>
              <a:rPr lang="en-US" sz="2000" dirty="0"/>
              <a:t>n=n+1;</a:t>
            </a:r>
            <a:endParaRPr lang="ru-RU" sz="2000" dirty="0"/>
          </a:p>
          <a:p>
            <a:r>
              <a:rPr lang="en-US" sz="2000" dirty="0"/>
              <a:t>for (j=n-1 ; j&lt;n; </a:t>
            </a:r>
            <a:r>
              <a:rPr lang="en-US" sz="2000" dirty="0" err="1"/>
              <a:t>j++</a:t>
            </a:r>
            <a:r>
              <a:rPr lang="en-US" sz="2000" dirty="0"/>
              <a:t>)</a:t>
            </a:r>
          </a:p>
          <a:p>
            <a:r>
              <a:rPr lang="en-US" sz="2000" dirty="0"/>
              <a:t>	 *(</a:t>
            </a:r>
            <a:r>
              <a:rPr lang="en-US" sz="2000" dirty="0" err="1"/>
              <a:t>pp+j</a:t>
            </a:r>
            <a:r>
              <a:rPr lang="en-US" sz="2000" dirty="0"/>
              <a:t>)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double*)</a:t>
            </a:r>
            <a:r>
              <a:rPr lang="en-US" sz="2000" dirty="0" err="1"/>
              <a:t>calloc</a:t>
            </a:r>
            <a:r>
              <a:rPr lang="en-US" sz="2000" dirty="0"/>
              <a:t>(m,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en-US" sz="2000" dirty="0"/>
              <a:t>));</a:t>
            </a:r>
          </a:p>
          <a:p>
            <a:endParaRPr lang="en-US" sz="2000" dirty="0"/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601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. </a:t>
            </a:r>
            <a:r>
              <a:rPr lang="ru-RU" sz="3600" dirty="0" err="1">
                <a:latin typeface="+mj-lt"/>
                <a:ea typeface="+mj-ea"/>
                <a:cs typeface="+mj-cs"/>
              </a:rPr>
              <a:t>Перевыделение</a:t>
            </a:r>
            <a:r>
              <a:rPr lang="ru-RU" sz="3600" dirty="0">
                <a:latin typeface="+mj-lt"/>
                <a:ea typeface="+mj-ea"/>
                <a:cs typeface="+mj-cs"/>
              </a:rPr>
              <a:t> памяти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столбцов 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Удалить столбец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/>
          </a:p>
          <a:p>
            <a:r>
              <a:rPr lang="en-US" sz="2000" dirty="0"/>
              <a:t>M=m-1;</a:t>
            </a:r>
          </a:p>
          <a:p>
            <a:r>
              <a:rPr lang="en-US" sz="2000" dirty="0"/>
              <a:t>for (</a:t>
            </a:r>
            <a:r>
              <a:rPr lang="en-US" sz="2000" dirty="0" err="1"/>
              <a:t>i</a:t>
            </a:r>
            <a:r>
              <a:rPr lang="en-US" sz="2000" dirty="0"/>
              <a:t>=0 ; </a:t>
            </a:r>
            <a:r>
              <a:rPr lang="en-US" sz="2000" dirty="0" err="1"/>
              <a:t>i</a:t>
            </a:r>
            <a:r>
              <a:rPr lang="en-US" sz="2000" dirty="0"/>
              <a:t>&lt;n;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</a:p>
          <a:p>
            <a:r>
              <a:rPr lang="en-US" sz="2000" dirty="0"/>
              <a:t>	 *(</a:t>
            </a:r>
            <a:r>
              <a:rPr lang="en-US" sz="2000" dirty="0" err="1"/>
              <a:t>pp+i</a:t>
            </a:r>
            <a:r>
              <a:rPr lang="en-US" sz="2000" dirty="0"/>
              <a:t>)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double*)</a:t>
            </a:r>
            <a:r>
              <a:rPr lang="en-US" sz="2000" dirty="0" err="1"/>
              <a:t>realloc</a:t>
            </a:r>
            <a:r>
              <a:rPr lang="en-US" sz="2000" dirty="0"/>
              <a:t>(M,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en-US" sz="2000" dirty="0"/>
              <a:t>));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столбец</a:t>
            </a:r>
          </a:p>
          <a:p>
            <a:endParaRPr lang="en-US" sz="2000" dirty="0"/>
          </a:p>
          <a:p>
            <a:r>
              <a:rPr lang="en-US" sz="2000" dirty="0"/>
              <a:t>M=m+1;</a:t>
            </a:r>
            <a:endParaRPr lang="ru-RU" sz="2000" dirty="0"/>
          </a:p>
          <a:p>
            <a:r>
              <a:rPr lang="en-US" sz="2000" dirty="0"/>
              <a:t>for (</a:t>
            </a:r>
            <a:r>
              <a:rPr lang="en-US" sz="2000" dirty="0" err="1"/>
              <a:t>i</a:t>
            </a:r>
            <a:r>
              <a:rPr lang="en-US" sz="2000" dirty="0"/>
              <a:t>=n-1 ; </a:t>
            </a:r>
            <a:r>
              <a:rPr lang="en-US" sz="2000" dirty="0" err="1"/>
              <a:t>i</a:t>
            </a:r>
            <a:r>
              <a:rPr lang="en-US" sz="2000" dirty="0"/>
              <a:t>&lt;n;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</a:p>
          <a:p>
            <a:r>
              <a:rPr lang="en-US" sz="2000" dirty="0"/>
              <a:t>	 *(</a:t>
            </a:r>
            <a:r>
              <a:rPr lang="en-US" sz="2000" dirty="0" err="1"/>
              <a:t>pp+i</a:t>
            </a:r>
            <a:r>
              <a:rPr lang="en-US" sz="2000" dirty="0"/>
              <a:t>) =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double*)</a:t>
            </a:r>
            <a:r>
              <a:rPr lang="en-US" sz="2000" dirty="0" err="1"/>
              <a:t>realloc</a:t>
            </a:r>
            <a:r>
              <a:rPr lang="en-US" sz="2000" dirty="0"/>
              <a:t>(M,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en-US" sz="2000" dirty="0"/>
              <a:t>));</a:t>
            </a:r>
          </a:p>
          <a:p>
            <a:endParaRPr lang="en-US" sz="2000" dirty="0"/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119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131052" y="858954"/>
            <a:ext cx="571500" cy="274320"/>
          </a:xfrm>
        </p:spPr>
        <p:txBody>
          <a:bodyPr/>
          <a:lstStyle/>
          <a:p>
            <a:fld id="{0D990C48-E784-40FF-99A6-09F67662C781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88640"/>
            <a:ext cx="7931224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ru-RU" sz="3600" dirty="0">
                <a:latin typeface="+mj-lt"/>
                <a:ea typeface="+mj-ea"/>
                <a:cs typeface="+mj-cs"/>
              </a:rPr>
              <a:t>Двумерные массивы</a:t>
            </a:r>
            <a:r>
              <a:rPr lang="en-US" sz="3600" dirty="0">
                <a:latin typeface="+mj-lt"/>
                <a:ea typeface="+mj-ea"/>
                <a:cs typeface="+mj-cs"/>
              </a:rPr>
              <a:t>. </a:t>
            </a:r>
            <a:r>
              <a:rPr lang="ru-RU" sz="3600" dirty="0" err="1">
                <a:latin typeface="+mj-lt"/>
                <a:ea typeface="+mj-ea"/>
                <a:cs typeface="+mj-cs"/>
              </a:rPr>
              <a:t>Перевыделение</a:t>
            </a:r>
            <a:r>
              <a:rPr lang="ru-RU" sz="3600" dirty="0">
                <a:latin typeface="+mj-lt"/>
                <a:ea typeface="+mj-ea"/>
                <a:cs typeface="+mj-cs"/>
              </a:rPr>
              <a:t> памяти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87680" y="1539240"/>
            <a:ext cx="78943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**pp,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j,n,m</a:t>
            </a:r>
            <a:r>
              <a:rPr lang="en-US" dirty="0"/>
              <a:t>;</a:t>
            </a:r>
          </a:p>
          <a:p>
            <a:r>
              <a:rPr lang="en-US" dirty="0" err="1"/>
              <a:t>scanf_s</a:t>
            </a:r>
            <a:r>
              <a:rPr lang="en-US" dirty="0"/>
              <a:t>("%</a:t>
            </a:r>
            <a:r>
              <a:rPr lang="en-US" dirty="0" err="1"/>
              <a:t>d%d</a:t>
            </a:r>
            <a:r>
              <a:rPr lang="en-US" dirty="0"/>
              <a:t>", &amp;n, &amp;m);</a:t>
            </a:r>
          </a:p>
          <a:p>
            <a:r>
              <a:rPr lang="en-US" dirty="0"/>
              <a:t>pp = (</a:t>
            </a:r>
            <a:r>
              <a:rPr lang="en-US" dirty="0" err="1"/>
              <a:t>int</a:t>
            </a:r>
            <a:r>
              <a:rPr lang="en-US" dirty="0"/>
              <a:t>**)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*)*n);</a:t>
            </a:r>
          </a:p>
          <a:p>
            <a:r>
              <a:rPr lang="nn-NO" dirty="0"/>
              <a:t>for (i = 0; i &lt; n; i ++ )</a:t>
            </a:r>
          </a:p>
          <a:p>
            <a:r>
              <a:rPr lang="ru-RU" dirty="0"/>
              <a:t>{</a:t>
            </a:r>
          </a:p>
          <a:p>
            <a:r>
              <a:rPr lang="en-US" dirty="0"/>
              <a:t>*(pp + </a:t>
            </a:r>
            <a:r>
              <a:rPr lang="en-US" dirty="0" err="1"/>
              <a:t>i</a:t>
            </a:r>
            <a:r>
              <a:rPr lang="en-US" dirty="0"/>
              <a:t>) = (</a:t>
            </a:r>
            <a:r>
              <a:rPr lang="en-US" dirty="0" err="1"/>
              <a:t>int</a:t>
            </a:r>
            <a:r>
              <a:rPr lang="en-US" dirty="0"/>
              <a:t>*)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)*m);</a:t>
            </a:r>
          </a:p>
          <a:p>
            <a:r>
              <a:rPr lang="ru-RU" dirty="0"/>
              <a:t>}</a:t>
            </a:r>
          </a:p>
          <a:p>
            <a:r>
              <a:rPr lang="nn-NO" dirty="0"/>
              <a:t>for (i = 0; i&lt;n; i ++)</a:t>
            </a:r>
          </a:p>
          <a:p>
            <a:r>
              <a:rPr lang="en-US" dirty="0"/>
              <a:t>	for (j = 0; j&lt;m; j ++)</a:t>
            </a:r>
          </a:p>
          <a:p>
            <a:r>
              <a:rPr lang="en-US" dirty="0"/>
              <a:t>		</a:t>
            </a:r>
            <a:r>
              <a:rPr lang="en-US" dirty="0" err="1"/>
              <a:t>scanf_s</a:t>
            </a:r>
            <a:r>
              <a:rPr lang="en-US" dirty="0"/>
              <a:t>("%d", &amp;pp[</a:t>
            </a:r>
            <a:r>
              <a:rPr lang="en-US" dirty="0" err="1"/>
              <a:t>i</a:t>
            </a:r>
            <a:r>
              <a:rPr lang="en-US" dirty="0"/>
              <a:t>][j]);</a:t>
            </a:r>
          </a:p>
          <a:p>
            <a:r>
              <a:rPr lang="en-US" dirty="0"/>
              <a:t>pp = (int **)</a:t>
            </a:r>
            <a:r>
              <a:rPr lang="en-US" dirty="0" err="1"/>
              <a:t>realloc</a:t>
            </a:r>
            <a:r>
              <a:rPr lang="en-US" dirty="0"/>
              <a:t>(pp, (n - 1) * </a:t>
            </a:r>
            <a:r>
              <a:rPr lang="en-US" dirty="0" err="1"/>
              <a:t>sizeof</a:t>
            </a:r>
            <a:r>
              <a:rPr lang="en-US" dirty="0"/>
              <a:t>(int*));</a:t>
            </a:r>
          </a:p>
          <a:p>
            <a:r>
              <a:rPr lang="en-US" dirty="0"/>
              <a:t>n = n - 1;</a:t>
            </a:r>
          </a:p>
          <a:p>
            <a:r>
              <a:rPr lang="nn-NO" dirty="0"/>
              <a:t>for (i = 0; i &lt; n; i++)</a:t>
            </a:r>
          </a:p>
          <a:p>
            <a:r>
              <a:rPr lang="ru-RU" dirty="0"/>
              <a:t>{</a:t>
            </a:r>
          </a:p>
          <a:p>
            <a:r>
              <a:rPr lang="en-US" dirty="0"/>
              <a:t>for (j = 0; j &lt; m;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 err="1"/>
              <a:t>printf_s</a:t>
            </a:r>
            <a:r>
              <a:rPr lang="en-US" dirty="0"/>
              <a:t>("%d", pp[</a:t>
            </a:r>
            <a:r>
              <a:rPr lang="en-US" dirty="0" err="1"/>
              <a:t>i</a:t>
            </a:r>
            <a:r>
              <a:rPr lang="en-US" dirty="0"/>
              <a:t>][j]);</a:t>
            </a:r>
          </a:p>
          <a:p>
            <a:r>
              <a:rPr lang="en-US" dirty="0" err="1"/>
              <a:t>printf_s</a:t>
            </a:r>
            <a:r>
              <a:rPr lang="en-US" dirty="0"/>
              <a:t>("\n");</a:t>
            </a:r>
          </a:p>
          <a:p>
            <a:r>
              <a:rPr lang="ru-RU" dirty="0"/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575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3600" cap="none" dirty="0">
                <a:solidFill>
                  <a:schemeClr val="tx1"/>
                </a:solidFill>
              </a:rPr>
              <a:t>Пример</a:t>
            </a:r>
            <a:endParaRPr lang="ru-RU" sz="3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1571612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1714488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00034" y="1714488"/>
            <a:ext cx="78581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Найти максимальный четный элемент</a:t>
            </a:r>
            <a:r>
              <a:rPr lang="en-US" sz="2400" b="1" dirty="0"/>
              <a:t> k</a:t>
            </a:r>
            <a:r>
              <a:rPr lang="ru-RU" sz="2400" b="1" dirty="0"/>
              <a:t>-ой строки в матрице </a:t>
            </a:r>
            <a:r>
              <a:rPr lang="en-US" sz="2400" b="1" dirty="0"/>
              <a:t>m x n</a:t>
            </a:r>
            <a:endParaRPr lang="ru-RU" sz="2400" b="1" dirty="0"/>
          </a:p>
          <a:p>
            <a:endParaRPr lang="ru-RU" sz="2400" b="1" dirty="0"/>
          </a:p>
          <a:p>
            <a:r>
              <a:rPr lang="ru-RU" sz="2400" b="1" dirty="0"/>
              <a:t>Найти максимальный нечетный элемент в каждой строке динамической матрицы </a:t>
            </a:r>
            <a:r>
              <a:rPr lang="en-US" sz="2400" b="1" dirty="0"/>
              <a:t>m x n</a:t>
            </a:r>
            <a:endParaRPr lang="ru-RU" sz="2400" b="1" dirty="0"/>
          </a:p>
          <a:p>
            <a:endParaRPr lang="ru-RU" sz="2400" b="1" dirty="0"/>
          </a:p>
          <a:p>
            <a:r>
              <a:rPr lang="ru-RU" sz="2400" b="1" dirty="0"/>
              <a:t>Удалить строку со всеми нечетными элементами</a:t>
            </a:r>
          </a:p>
          <a:p>
            <a:endParaRPr lang="ru-RU" sz="2400" b="1" dirty="0"/>
          </a:p>
          <a:p>
            <a:r>
              <a:rPr lang="ru-RU" sz="2400" b="1" dirty="0"/>
              <a:t>Удалить столбец со всеми </a:t>
            </a:r>
            <a:r>
              <a:rPr lang="ru-RU" sz="2400" b="1"/>
              <a:t>нулевыми элементами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32084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1195</Words>
  <Application>Microsoft Office PowerPoint</Application>
  <PresentationFormat>Экран (4:3)</PresentationFormat>
  <Paragraphs>289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Century Schoolbook</vt:lpstr>
      <vt:lpstr>Courier New</vt:lpstr>
      <vt:lpstr>Times New Roman</vt:lpstr>
      <vt:lpstr>Wingdings</vt:lpstr>
      <vt:lpstr>Wingdings 2</vt:lpstr>
      <vt:lpstr>Эркер</vt:lpstr>
      <vt:lpstr>Указатели</vt:lpstr>
      <vt:lpstr>Понятие указателя</vt:lpstr>
      <vt:lpstr>Понятие указателя</vt:lpstr>
      <vt:lpstr>Понятие указателя</vt:lpstr>
      <vt:lpstr>Операции над указателями</vt:lpstr>
      <vt:lpstr>Операции над указателями</vt:lpstr>
      <vt:lpstr>Операции над указателями</vt:lpstr>
      <vt:lpstr>Операции над указателями</vt:lpstr>
      <vt:lpstr>Операции над указателями</vt:lpstr>
      <vt:lpstr>Работа с одномерными массивами</vt:lpstr>
      <vt:lpstr>Работа с одномерными массивами</vt:lpstr>
      <vt:lpstr>Работа с одномерными массивами</vt:lpstr>
      <vt:lpstr>Функции для работы с динамическими массивами</vt:lpstr>
      <vt:lpstr>Пример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алгоритмизации и программирования</dc:title>
  <dc:creator>Alya</dc:creator>
  <cp:lastModifiedBy>Артём Мельников Александрович</cp:lastModifiedBy>
  <cp:revision>54</cp:revision>
  <dcterms:created xsi:type="dcterms:W3CDTF">2018-09-01T04:15:48Z</dcterms:created>
  <dcterms:modified xsi:type="dcterms:W3CDTF">2021-11-29T17:45:23Z</dcterms:modified>
</cp:coreProperties>
</file>