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1"/>
  </p:sldMasterIdLst>
  <p:sldIdLst>
    <p:sldId id="257" r:id="rId2"/>
    <p:sldId id="311" r:id="rId3"/>
    <p:sldId id="314" r:id="rId4"/>
    <p:sldId id="310" r:id="rId5"/>
    <p:sldId id="327" r:id="rId6"/>
    <p:sldId id="342" r:id="rId7"/>
    <p:sldId id="329" r:id="rId8"/>
    <p:sldId id="343" r:id="rId9"/>
    <p:sldId id="344" r:id="rId10"/>
    <p:sldId id="345" r:id="rId11"/>
    <p:sldId id="346" r:id="rId12"/>
    <p:sldId id="347" r:id="rId13"/>
    <p:sldId id="348" r:id="rId14"/>
    <p:sldId id="349" r:id="rId15"/>
    <p:sldId id="350" r:id="rId16"/>
    <p:sldId id="351" r:id="rId17"/>
    <p:sldId id="352" r:id="rId18"/>
    <p:sldId id="353" r:id="rId19"/>
    <p:sldId id="354" r:id="rId20"/>
    <p:sldId id="356" r:id="rId21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706" autoAdjust="0"/>
  </p:normalViewPr>
  <p:slideViewPr>
    <p:cSldViewPr>
      <p:cViewPr varScale="1">
        <p:scale>
          <a:sx n="78" d="100"/>
          <a:sy n="78" d="100"/>
        </p:scale>
        <p:origin x="-276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28" name="Дата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AA513D18-3671-46C9-BA35-3400EEB352B8}" type="datetimeFigureOut">
              <a:rPr lang="ru-RU" smtClean="0"/>
              <a:pPr/>
              <a:t>08.10.2020</a:t>
            </a:fld>
            <a:endParaRPr lang="ru-RU"/>
          </a:p>
        </p:txBody>
      </p:sp>
      <p:sp>
        <p:nvSpPr>
          <p:cNvPr id="17" name="Нижний колонтитул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ru-RU"/>
          </a:p>
        </p:txBody>
      </p:sp>
      <p:sp>
        <p:nvSpPr>
          <p:cNvPr id="10" name="Прямоугольник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Прямоугольник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Прямоугольник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Прямоугольник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Прямая соединительная линия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Прямая соединительная линия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Прямая соединительная линия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Прямая соединительная линия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Прямая соединительная линия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Прямая соединительная линия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Прямоугольник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Овал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Овал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Овал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Овал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Овал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Номер слайда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6E26E3AA-3A4A-4416-B5EC-18AF4FFC920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8" name="Содержимое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AA513D18-3671-46C9-BA35-3400EEB352B8}" type="datetimeFigureOut">
              <a:rPr lang="ru-RU" smtClean="0"/>
              <a:pPr/>
              <a:t>08.10.2020</a:t>
            </a:fld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6E26E3AA-3A4A-4416-B5EC-18AF4FFC9209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AA513D18-3671-46C9-BA35-3400EEB352B8}" type="datetimeFigureOut">
              <a:rPr lang="ru-RU" smtClean="0"/>
              <a:pPr/>
              <a:t>08.10.2020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ru-RU"/>
          </a:p>
        </p:txBody>
      </p:sp>
      <p:sp>
        <p:nvSpPr>
          <p:cNvPr id="9" name="Прямоугольник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Прямоугольник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Прямоугольник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Прямоугольник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Прямая соединительная линия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Прямая соединительная линия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Прямая соединительная линия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Прямая соединительная линия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Прямая соединительная линия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Прямоугольник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Овал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Овал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Овал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Овал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Овал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Прямая соединительная линия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6E26E3AA-3A4A-4416-B5EC-18AF4FFC920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13D18-3671-46C9-BA35-3400EEB352B8}" type="datetimeFigureOut">
              <a:rPr lang="ru-RU" smtClean="0"/>
              <a:pPr/>
              <a:t>08.10.2020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6E3AA-3A4A-4416-B5EC-18AF4FFC9209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9" name="Содержимое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1" name="Содержимое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13D18-3671-46C9-BA35-3400EEB352B8}" type="datetimeFigureOut">
              <a:rPr lang="ru-RU" smtClean="0"/>
              <a:pPr/>
              <a:t>08.10.2020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6E3AA-3A4A-4416-B5EC-18AF4FFC9209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1" name="Содержимое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3" name="Содержимое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2" name="Текст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14" name="Текст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6" name="Дата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AA513D18-3671-46C9-BA35-3400EEB352B8}" type="datetimeFigureOut">
              <a:rPr lang="ru-RU" smtClean="0"/>
              <a:pPr/>
              <a:t>08.10.2020</a:t>
            </a:fld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6E26E3AA-3A4A-4416-B5EC-18AF4FFC9209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13D18-3671-46C9-BA35-3400EEB352B8}" type="datetimeFigureOut">
              <a:rPr lang="ru-RU" smtClean="0"/>
              <a:pPr/>
              <a:t>08.10.2020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6E3AA-3A4A-4416-B5EC-18AF4FFC920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ая соединительная линия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8" name="Прямая соединительная линия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Прямая соединительная линия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Прямая соединительная линия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Прямоугольник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Прямая соединительная линия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Овал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Содержимое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21" name="Дата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AA513D18-3671-46C9-BA35-3400EEB352B8}" type="datetimeFigureOut">
              <a:rPr lang="ru-RU" smtClean="0"/>
              <a:pPr/>
              <a:t>08.10.2020</a:t>
            </a:fld>
            <a:endParaRPr lang="ru-RU"/>
          </a:p>
        </p:txBody>
      </p:sp>
      <p:sp>
        <p:nvSpPr>
          <p:cNvPr id="22" name="Номер слайда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6E26E3AA-3A4A-4416-B5EC-18AF4FFC9209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3" name="Нижний колонтитул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ая соединительная линия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Овал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ru-RU" smtClean="0"/>
              <a:t>Вставка рисунка</a:t>
            </a:r>
            <a:endParaRPr kumimoji="0" lang="en-US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10" name="Прямая соединительная линия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Прямоугольник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Прямая соединительная линия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Прямая соединительная линия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Прямая соединительная линия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Дата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AA513D18-3671-46C9-BA35-3400EEB352B8}" type="datetimeFigureOut">
              <a:rPr lang="ru-RU" smtClean="0"/>
              <a:pPr/>
              <a:t>08.10.2020</a:t>
            </a:fld>
            <a:endParaRPr lang="ru-RU"/>
          </a:p>
        </p:txBody>
      </p:sp>
      <p:sp>
        <p:nvSpPr>
          <p:cNvPr id="18" name="Номер слайда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6E26E3AA-3A4A-4416-B5EC-18AF4FFC9209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1" name="Нижний колонтитул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13D18-3671-46C9-BA35-3400EEB352B8}" type="datetimeFigureOut">
              <a:rPr lang="ru-RU" smtClean="0"/>
              <a:pPr/>
              <a:t>08.10.2020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6E3AA-3A4A-4416-B5EC-18AF4FFC920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13D18-3671-46C9-BA35-3400EEB352B8}" type="datetimeFigureOut">
              <a:rPr lang="ru-RU" smtClean="0"/>
              <a:pPr/>
              <a:t>08.10.2020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6E3AA-3A4A-4416-B5EC-18AF4FFC920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ая соединительная линия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Заголовок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3" name="Текст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14" name="Дата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AA513D18-3671-46C9-BA35-3400EEB352B8}" type="datetimeFigureOut">
              <a:rPr lang="ru-RU" smtClean="0"/>
              <a:pPr/>
              <a:t>08.10.2020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Прямая соединительная линия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Прямая соединительная линия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Прямоугольник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Прямая соединительная линия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Овал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Номер слайда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6E26E3AA-3A4A-4416-B5EC-18AF4FFC9209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714480" y="1000108"/>
            <a:ext cx="7072362" cy="2375380"/>
          </a:xfrm>
        </p:spPr>
        <p:txBody>
          <a:bodyPr>
            <a:noAutofit/>
          </a:bodyPr>
          <a:lstStyle/>
          <a:p>
            <a:pPr algn="just"/>
            <a:r>
              <a:rPr lang="ru-RU" sz="4800" dirty="0" smtClean="0">
                <a:solidFill>
                  <a:schemeClr val="tx1"/>
                </a:solidFill>
              </a:rPr>
              <a:t>двумерные массивы</a:t>
            </a:r>
            <a:endParaRPr lang="ru-RU" sz="4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931224" cy="1143000"/>
          </a:xfr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/>
          <a:p>
            <a:r>
              <a:rPr lang="ru-RU" sz="4000" cap="none" dirty="0" smtClean="0">
                <a:solidFill>
                  <a:schemeClr val="tx1"/>
                </a:solidFill>
              </a:rPr>
              <a:t>Определение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972452" cy="4873752"/>
          </a:xfrm>
        </p:spPr>
        <p:txBody>
          <a:bodyPr>
            <a:noAutofit/>
          </a:bodyPr>
          <a:lstStyle/>
          <a:p>
            <a:pPr indent="0">
              <a:lnSpc>
                <a:spcPct val="150000"/>
              </a:lnSpc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Язык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допускает многомерные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массивы. Простейшая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форма - двумерный массив (матрица). </a:t>
            </a:r>
          </a:p>
          <a:p>
            <a:pPr indent="0">
              <a:lnSpc>
                <a:spcPct val="150000"/>
              </a:lnSpc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 описании двумерного массива </a:t>
            </a:r>
          </a:p>
          <a:p>
            <a:pPr marL="982980" lvl="1" indent="-342900">
              <a:lnSpc>
                <a:spcPct val="150000"/>
              </a:lnSpc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первый размер определяет количество строк, </a:t>
            </a:r>
          </a:p>
          <a:p>
            <a:pPr marL="982980" lvl="1" indent="-342900">
              <a:lnSpc>
                <a:spcPct val="150000"/>
              </a:lnSpc>
            </a:pP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второй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количество столбцов. </a:t>
            </a:r>
          </a:p>
          <a:p>
            <a:pPr indent="0">
              <a:lnSpc>
                <a:spcPct val="150000"/>
              </a:lnSpc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Можно сказать, что двумерный массив - это массив одномерных массивов.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931224" cy="1143000"/>
          </a:xfr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/>
          <a:p>
            <a:r>
              <a:rPr lang="ru-RU" sz="4000" cap="none" dirty="0" smtClean="0">
                <a:solidFill>
                  <a:schemeClr val="tx1"/>
                </a:solidFill>
              </a:rPr>
              <a:t>Синтаксис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329642" cy="4873752"/>
          </a:xfrm>
        </p:spPr>
        <p:txBody>
          <a:bodyPr>
            <a:noAutofit/>
          </a:bodyPr>
          <a:lstStyle/>
          <a:p>
            <a:pPr marL="0" indent="0" algn="just">
              <a:spcBef>
                <a:spcPts val="0"/>
              </a:spcBef>
              <a:buNone/>
            </a:pP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&lt;</a:t>
            </a:r>
            <a:r>
              <a:rPr lang="ru-RU" sz="2000" b="1" dirty="0" smtClean="0">
                <a:latin typeface="Courier New" pitchFamily="49" charset="0"/>
                <a:cs typeface="Courier New" pitchFamily="49" charset="0"/>
              </a:rPr>
              <a:t>тип массива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&gt;&lt;</a:t>
            </a:r>
            <a:r>
              <a:rPr lang="ru-RU" sz="2000" b="1" dirty="0" smtClean="0">
                <a:latin typeface="Courier New" pitchFamily="49" charset="0"/>
                <a:cs typeface="Courier New" pitchFamily="49" charset="0"/>
              </a:rPr>
              <a:t>имя массива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&gt;[&lt;</a:t>
            </a:r>
            <a:r>
              <a:rPr lang="ru-RU" sz="2000" b="1" dirty="0" smtClean="0">
                <a:latin typeface="Courier New" pitchFamily="49" charset="0"/>
                <a:cs typeface="Courier New" pitchFamily="49" charset="0"/>
              </a:rPr>
              <a:t>кол-во строк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&gt;] [&lt;</a:t>
            </a:r>
            <a:r>
              <a:rPr lang="ru-RU" sz="2000" b="1" dirty="0" smtClean="0">
                <a:latin typeface="Courier New" pitchFamily="49" charset="0"/>
                <a:cs typeface="Courier New" pitchFamily="49" charset="0"/>
              </a:rPr>
              <a:t>кол-во столбцов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&gt;]</a:t>
            </a:r>
            <a:endParaRPr lang="en-US" sz="2000" b="1" dirty="0">
              <a:latin typeface="Courier New" pitchFamily="49" charset="0"/>
              <a:cs typeface="Courier New" pitchFamily="49" charset="0"/>
            </a:endParaRPr>
          </a:p>
          <a:p>
            <a:pPr marL="0" indent="0" algn="just">
              <a:spcBef>
                <a:spcPts val="0"/>
              </a:spcBef>
              <a:buNone/>
            </a:pPr>
            <a:endParaRPr lang="ru-RU" b="1" dirty="0" smtClean="0">
              <a:latin typeface="Courier New" pitchFamily="49" charset="0"/>
              <a:cs typeface="Courier New" pitchFamily="49" charset="0"/>
            </a:endParaRPr>
          </a:p>
          <a:p>
            <a:pPr marL="0" indent="0" algn="just">
              <a:spcBef>
                <a:spcPts val="0"/>
              </a:spcBef>
              <a:buNone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Статическое выделение памяти – заранее знаем размерность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spcBef>
                <a:spcPts val="0"/>
              </a:spcBef>
              <a:buNone/>
            </a:pPr>
            <a:endParaRPr lang="ru-RU" i="1" dirty="0" smtClean="0"/>
          </a:p>
          <a:p>
            <a:pPr indent="0">
              <a:spcAft>
                <a:spcPct val="10000"/>
              </a:spcAft>
              <a:buNone/>
              <a:defRPr/>
            </a:pP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Колич.байт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=размер типа данных *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колич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строк *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колич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столбцов</a:t>
            </a:r>
          </a:p>
          <a:p>
            <a:pPr indent="0">
              <a:spcAft>
                <a:spcPct val="10000"/>
              </a:spcAft>
              <a:buNone/>
              <a:defRPr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памяти компьютера массив располагается непрерывно по строкам, т. е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dirty="0"/>
              <a:t>а[0][0], a[0][1], a[0][2], a[0][3], а[1][0], а[1][1], а[1][2], а[1][3], а[2][0], ..., а[2][3].</a:t>
            </a:r>
          </a:p>
          <a:p>
            <a:pPr indent="0">
              <a:spcAft>
                <a:spcPct val="10000"/>
              </a:spcAft>
              <a:buNone/>
              <a:defRPr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spcBef>
                <a:spcPts val="0"/>
              </a:spcBef>
              <a:buNone/>
            </a:pPr>
            <a:endParaRPr lang="ru-RU" i="1" dirty="0" smtClean="0"/>
          </a:p>
          <a:p>
            <a:pPr marL="0" indent="0" algn="just">
              <a:spcBef>
                <a:spcPts val="0"/>
              </a:spcBef>
              <a:buNone/>
            </a:pPr>
            <a:endParaRPr lang="ru-RU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931224" cy="1143000"/>
          </a:xfr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/>
          <a:p>
            <a:r>
              <a:rPr lang="ru-RU" sz="4000" b="1" dirty="0"/>
              <a:t>Представление двумерного массива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972452" cy="4873752"/>
          </a:xfrm>
        </p:spPr>
        <p:txBody>
          <a:bodyPr>
            <a:noAutofit/>
          </a:bodyPr>
          <a:lstStyle/>
          <a:p>
            <a:pPr marL="0" indent="0" algn="just">
              <a:spcBef>
                <a:spcPts val="0"/>
              </a:spcBef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Двумерный массив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[3][4] можно представить в виде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таблицы (3 кол-во строк, 4 кол-во столбцов)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spcBef>
                <a:spcPts val="0"/>
              </a:spcBef>
              <a:buNone/>
            </a:pP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spcBef>
                <a:spcPts val="0"/>
              </a:spcBef>
              <a:buNone/>
            </a:pPr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spcBef>
                <a:spcPts val="0"/>
              </a:spcBef>
              <a:buNone/>
            </a:pP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spcBef>
                <a:spcPts val="0"/>
              </a:spcBef>
              <a:buNone/>
            </a:pPr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spcBef>
                <a:spcPts val="0"/>
              </a:spcBef>
              <a:buNone/>
            </a:pP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spcBef>
                <a:spcPts val="0"/>
              </a:spcBef>
              <a:buNone/>
            </a:pPr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spcBef>
                <a:spcPts val="0"/>
              </a:spcBef>
              <a:buNone/>
            </a:pP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spcBef>
                <a:spcPts val="0"/>
              </a:spcBef>
              <a:buNone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Первый индекс – номер строки, второй - столбца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/>
        </p:nvGraphicFramePr>
        <p:xfrm>
          <a:off x="1785918" y="2643182"/>
          <a:ext cx="4713312" cy="2214579"/>
        </p:xfrm>
        <a:graphic>
          <a:graphicData uri="http://schemas.openxmlformats.org/drawingml/2006/table">
            <a:tbl>
              <a:tblPr/>
              <a:tblGrid>
                <a:gridCol w="1178328"/>
                <a:gridCol w="1178328"/>
                <a:gridCol w="1178328"/>
                <a:gridCol w="1178328"/>
              </a:tblGrid>
              <a:tr h="73819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a[0][0]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a[0][1]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a[0][2]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a[0][3]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819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a[1][0]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a[1][1]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a[1][2]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a[1][3]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819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a[2][0]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a[2][1]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a[2][2]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a[2][3]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931224" cy="1143000"/>
          </a:xfr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vert="horz" anchor="ctr">
            <a:noAutofit/>
          </a:bodyPr>
          <a:lstStyle/>
          <a:p>
            <a:r>
              <a:rPr lang="ru-RU" sz="4000" b="1" dirty="0" smtClean="0"/>
              <a:t>Описание</a:t>
            </a:r>
            <a:endParaRPr lang="ru-RU" sz="4000" cap="none" dirty="0">
              <a:solidFill>
                <a:schemeClr val="tx1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972452" cy="4543444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ru-RU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[0][3]=8;   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ru-RU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[1</a:t>
            </a:r>
            <a:r>
              <a:rPr lang="ru-RU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][2</a:t>
            </a:r>
            <a:r>
              <a:rPr lang="ru-RU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]=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  <a:r>
              <a:rPr lang="ru-RU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ru-RU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[2</a:t>
            </a:r>
            <a:r>
              <a:rPr lang="ru-RU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][0]=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ru-RU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[0][3]*2;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ru-RU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[2</a:t>
            </a:r>
            <a:r>
              <a:rPr lang="ru-RU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][1</a:t>
            </a:r>
            <a:r>
              <a:rPr lang="ru-RU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]=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A[0][3]-4</a:t>
            </a:r>
            <a:r>
              <a:rPr lang="ru-RU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20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          </a:t>
            </a:r>
          </a:p>
          <a:p>
            <a:pPr>
              <a:lnSpc>
                <a:spcPct val="150000"/>
              </a:lnSpc>
              <a:buNone/>
            </a:pPr>
            <a:endParaRPr lang="en-US" sz="20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50000"/>
              </a:lnSpc>
              <a:buNone/>
            </a:pPr>
            <a:endParaRPr lang="en-US" sz="20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50000"/>
              </a:lnSpc>
              <a:buNone/>
            </a:pPr>
            <a:endParaRPr lang="ru-RU" sz="20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>
              <a:buFontTx/>
              <a:buNone/>
            </a:pPr>
            <a:endParaRPr lang="ru-RU" sz="20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just">
              <a:spcBef>
                <a:spcPts val="0"/>
              </a:spcBef>
            </a:pPr>
            <a:endParaRPr lang="ru-RU" sz="20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just">
              <a:spcBef>
                <a:spcPts val="0"/>
              </a:spcBef>
              <a:buNone/>
            </a:pPr>
            <a:endParaRPr lang="ru-RU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0721930"/>
              </p:ext>
            </p:extLst>
          </p:nvPr>
        </p:nvGraphicFramePr>
        <p:xfrm>
          <a:off x="1714480" y="3357562"/>
          <a:ext cx="4713312" cy="2214579"/>
        </p:xfrm>
        <a:graphic>
          <a:graphicData uri="http://schemas.openxmlformats.org/drawingml/2006/table">
            <a:tbl>
              <a:tblPr/>
              <a:tblGrid>
                <a:gridCol w="1178328"/>
                <a:gridCol w="1178328"/>
                <a:gridCol w="1178328"/>
                <a:gridCol w="1178328"/>
              </a:tblGrid>
              <a:tr h="73819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a[0][0]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a[0][1]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a[0][2]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200" b="1" i="0" u="none" strike="noStrike" dirty="0" smtClean="0">
                          <a:solidFill>
                            <a:srgbClr val="000000"/>
                          </a:solidFill>
                          <a:latin typeface="Times New Roman"/>
                        </a:rPr>
                        <a:t>8</a:t>
                      </a:r>
                      <a:endParaRPr lang="en-US" sz="3200" b="1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819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a[1][0]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a[1][1]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sz="3200" b="1" i="0" u="none" strike="noStrike" kern="1200" dirty="0" smtClean="0">
                          <a:solidFill>
                            <a:srgbClr val="000000"/>
                          </a:solidFill>
                          <a:latin typeface="Times New Roman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a[1][3]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8193"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sz="3200" b="1" i="0" u="none" strike="noStrike" kern="1200" dirty="0" smtClean="0">
                          <a:solidFill>
                            <a:srgbClr val="000000"/>
                          </a:solidFill>
                          <a:latin typeface="Times New Roman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sz="3200" b="1" i="0" u="none" strike="noStrike" kern="1200" dirty="0" smtClean="0">
                          <a:solidFill>
                            <a:srgbClr val="000000"/>
                          </a:solidFill>
                          <a:latin typeface="Times New Roman"/>
                          <a:ea typeface="+mn-ea"/>
                          <a:cs typeface="+mn-cs"/>
                        </a:rPr>
                        <a:t>4</a:t>
                      </a:r>
                      <a:endParaRPr kumimoji="0" lang="en-US" sz="3200" b="1" i="0" u="none" strike="noStrike" kern="1200" dirty="0" smtClean="0">
                        <a:solidFill>
                          <a:srgbClr val="000000"/>
                        </a:solidFill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a[2][2]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a[2][3]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931224" cy="1143000"/>
          </a:xfr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/>
          <a:p>
            <a:r>
              <a:rPr lang="ru-RU" sz="4000" b="1" dirty="0" smtClean="0">
                <a:solidFill>
                  <a:schemeClr val="tx1"/>
                </a:solidFill>
              </a:rPr>
              <a:t>Ввод/вывод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972452" cy="4873752"/>
          </a:xfrm>
        </p:spPr>
        <p:txBody>
          <a:bodyPr>
            <a:noAutofit/>
          </a:bodyPr>
          <a:lstStyle/>
          <a:p>
            <a:pPr marL="0" indent="0" algn="just">
              <a:spcBef>
                <a:spcPts val="0"/>
              </a:spcBef>
              <a:buNone/>
            </a:pP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spcBef>
                <a:spcPts val="0"/>
              </a:spcBef>
              <a:buNone/>
            </a:pPr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spcBef>
                <a:spcPts val="0"/>
              </a:spcBef>
              <a:buNone/>
            </a:pP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spcBef>
                <a:spcPts val="0"/>
              </a:spcBef>
              <a:buNone/>
            </a:pPr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spcBef>
                <a:spcPts val="0"/>
              </a:spcBef>
              <a:buNone/>
            </a:pP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spcBef>
                <a:spcPts val="0"/>
              </a:spcBef>
              <a:buNone/>
            </a:pPr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spcBef>
                <a:spcPts val="0"/>
              </a:spcBef>
              <a:buNone/>
            </a:pPr>
            <a:endParaRPr lang="ru-RU" dirty="0" smtClean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/>
        </p:nvGraphicFramePr>
        <p:xfrm>
          <a:off x="1785918" y="2643182"/>
          <a:ext cx="4713312" cy="2214579"/>
        </p:xfrm>
        <a:graphic>
          <a:graphicData uri="http://schemas.openxmlformats.org/drawingml/2006/table">
            <a:tbl>
              <a:tblPr/>
              <a:tblGrid>
                <a:gridCol w="1178328"/>
                <a:gridCol w="1178328"/>
                <a:gridCol w="1178328"/>
                <a:gridCol w="1178328"/>
              </a:tblGrid>
              <a:tr h="73819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FF0000"/>
                          </a:solidFill>
                          <a:latin typeface="Times New Roman"/>
                        </a:rPr>
                        <a:t>a[0][</a:t>
                      </a:r>
                      <a:r>
                        <a:rPr lang="en-US" sz="4000" b="1" i="0" u="none" strike="noStrike" dirty="0">
                          <a:solidFill>
                            <a:srgbClr val="FF0000"/>
                          </a:solidFill>
                          <a:latin typeface="Times New Roman"/>
                        </a:rPr>
                        <a:t>0</a:t>
                      </a:r>
                      <a:r>
                        <a:rPr lang="en-US" sz="1600" b="1" i="0" u="none" strike="noStrike" dirty="0">
                          <a:solidFill>
                            <a:srgbClr val="FF0000"/>
                          </a:solidFill>
                          <a:latin typeface="Times New Roman"/>
                        </a:rPr>
                        <a:t>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FF0000"/>
                          </a:solidFill>
                          <a:latin typeface="Times New Roman"/>
                        </a:rPr>
                        <a:t>a[0][1]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FF0000"/>
                          </a:solidFill>
                          <a:latin typeface="Times New Roman"/>
                        </a:rPr>
                        <a:t>a[0][2]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FF0000"/>
                          </a:solidFill>
                          <a:latin typeface="Times New Roman"/>
                        </a:rPr>
                        <a:t>a[0][</a:t>
                      </a:r>
                      <a:r>
                        <a:rPr lang="en-US" sz="4000" b="1" i="0" u="none" strike="noStrike" dirty="0">
                          <a:solidFill>
                            <a:srgbClr val="FF0000"/>
                          </a:solidFill>
                          <a:latin typeface="Times New Roman"/>
                        </a:rPr>
                        <a:t>3</a:t>
                      </a:r>
                      <a:r>
                        <a:rPr lang="en-US" sz="1600" b="1" i="0" u="none" strike="noStrike" dirty="0">
                          <a:solidFill>
                            <a:srgbClr val="FF0000"/>
                          </a:solidFill>
                          <a:latin typeface="Times New Roman"/>
                        </a:rPr>
                        <a:t>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819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a[</a:t>
                      </a:r>
                      <a:r>
                        <a:rPr lang="en-US" sz="2800" b="1" i="0" u="none" strike="noStrike" dirty="0">
                          <a:solidFill>
                            <a:srgbClr val="0070C0"/>
                          </a:solidFill>
                          <a:latin typeface="Times New Roman"/>
                        </a:rPr>
                        <a:t>1</a:t>
                      </a: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][0]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a[1][1]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a[1][2]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a[1][3]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819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a[2][0]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a[2][1]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a[2][2]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a[2][3]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Прямоугольник 5"/>
          <p:cNvSpPr/>
          <p:nvPr/>
        </p:nvSpPr>
        <p:spPr>
          <a:xfrm>
            <a:off x="500034" y="1571612"/>
            <a:ext cx="7858180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buNone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Для однородной обработки каждого элемента матрицы используют вложенные циклы. 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931224" cy="1143000"/>
          </a:xfr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vert="horz" anchor="ctr">
            <a:noAutofit/>
          </a:bodyPr>
          <a:lstStyle/>
          <a:p>
            <a:r>
              <a:rPr lang="ru-RU" sz="4000" b="1" dirty="0"/>
              <a:t>Примеры работы с матрицами</a:t>
            </a:r>
            <a:endParaRPr lang="ru-RU" sz="4000" cap="none" dirty="0">
              <a:solidFill>
                <a:schemeClr val="tx1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972452" cy="4873752"/>
          </a:xfrm>
        </p:spPr>
        <p:txBody>
          <a:bodyPr>
            <a:noAutofit/>
          </a:bodyPr>
          <a:lstStyle/>
          <a:p>
            <a:pPr>
              <a:lnSpc>
                <a:spcPct val="80000"/>
              </a:lnSpc>
              <a:buNone/>
            </a:pPr>
            <a:r>
              <a:rPr lang="ru-RU" sz="2000" b="1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ru-RU" sz="20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заполнение матрицы с помощью датчика случайных чисел</a:t>
            </a:r>
            <a:endParaRPr lang="en-US" sz="2000" b="1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ru-RU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ru-RU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=0;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ru-RU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ru-RU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ru-RU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++) </a:t>
            </a:r>
            <a:r>
              <a:rPr lang="ru-RU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ru-RU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цикл по строкам</a:t>
            </a:r>
          </a:p>
          <a:p>
            <a:pPr>
              <a:lnSpc>
                <a:spcPct val="80000"/>
              </a:lnSpc>
              <a:buNone/>
            </a:pPr>
            <a:r>
              <a:rPr lang="ru-RU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ru-RU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(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j</a:t>
            </a:r>
            <a:r>
              <a:rPr lang="ru-RU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=0;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j</a:t>
            </a:r>
            <a:r>
              <a:rPr lang="ru-RU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M</a:t>
            </a:r>
            <a:r>
              <a:rPr lang="ru-RU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;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j</a:t>
            </a:r>
            <a:r>
              <a:rPr lang="ru-RU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++)//</a:t>
            </a:r>
            <a:r>
              <a:rPr lang="ru-RU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цикл внутри </a:t>
            </a:r>
            <a:r>
              <a:rPr lang="ru-RU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строки по </a:t>
            </a:r>
            <a:r>
              <a:rPr lang="ru-RU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столбцам</a:t>
            </a:r>
          </a:p>
          <a:p>
            <a:pPr>
              <a:lnSpc>
                <a:spcPct val="80000"/>
              </a:lnSpc>
              <a:buNone/>
            </a:pPr>
            <a:r>
              <a:rPr lang="ru-RU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ru-RU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ru-RU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][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j</a:t>
            </a:r>
            <a:r>
              <a:rPr lang="ru-RU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]=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random</a:t>
            </a:r>
            <a:r>
              <a:rPr lang="ru-RU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(50); </a:t>
            </a:r>
          </a:p>
          <a:p>
            <a:pPr>
              <a:lnSpc>
                <a:spcPct val="80000"/>
              </a:lnSpc>
              <a:buNone/>
            </a:pPr>
            <a:r>
              <a:rPr lang="ru-RU" sz="20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//вывод  матрицы на экран</a:t>
            </a:r>
            <a:endParaRPr lang="en-US" sz="2000" b="1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for ( i=0; 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i&lt;N;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i++)</a:t>
            </a:r>
            <a:r>
              <a:rPr lang="ru-RU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ru-RU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цикл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по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строкам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ru-RU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  <a:endParaRPr lang="ru-RU" sz="20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  <a:buNone/>
            </a:pPr>
            <a:r>
              <a:rPr lang="ru-RU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ru-RU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j</a:t>
            </a:r>
            <a:r>
              <a:rPr lang="ru-RU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=0;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j</a:t>
            </a:r>
            <a:r>
              <a:rPr lang="ru-RU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M</a:t>
            </a:r>
            <a:r>
              <a:rPr lang="ru-RU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j</a:t>
            </a:r>
            <a:r>
              <a:rPr lang="ru-RU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++)  </a:t>
            </a:r>
            <a:r>
              <a:rPr lang="ru-RU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ru-RU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цикл внутри строки  по столбцам</a:t>
            </a:r>
          </a:p>
          <a:p>
            <a:pPr>
              <a:lnSpc>
                <a:spcPct val="80000"/>
              </a:lnSpc>
              <a:buNone/>
            </a:pPr>
            <a:r>
              <a:rPr lang="ru-RU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(“%4d”,A</a:t>
            </a:r>
            <a:r>
              <a:rPr lang="ru-RU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ru-RU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][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j</a:t>
            </a:r>
            <a:r>
              <a:rPr lang="ru-RU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ru-RU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  <a:buNone/>
            </a:pPr>
            <a:r>
              <a:rPr lang="ru-RU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(“\n”);</a:t>
            </a:r>
            <a:r>
              <a:rPr lang="ru-RU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ru-RU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переход на новую строку</a:t>
            </a:r>
          </a:p>
          <a:p>
            <a:pPr>
              <a:lnSpc>
                <a:spcPct val="80000"/>
              </a:lnSpc>
              <a:buNone/>
            </a:pPr>
            <a:r>
              <a:rPr lang="ru-RU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ru-RU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} </a:t>
            </a:r>
            <a:endParaRPr lang="ru-RU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74625" indent="-174625" algn="just">
              <a:spcBef>
                <a:spcPct val="50000"/>
              </a:spcBef>
              <a:buNone/>
            </a:pP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931224" cy="1143000"/>
          </a:xfr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/>
          <a:p>
            <a:r>
              <a:rPr lang="ru-RU" sz="4000" b="1" dirty="0" smtClean="0">
                <a:solidFill>
                  <a:schemeClr val="tx1"/>
                </a:solidFill>
              </a:rPr>
              <a:t>Поиск </a:t>
            </a:r>
            <a:r>
              <a:rPr lang="en-US" sz="4000" b="1" dirty="0" smtClean="0">
                <a:solidFill>
                  <a:schemeClr val="tx1"/>
                </a:solidFill>
              </a:rPr>
              <a:t>max/min</a:t>
            </a:r>
            <a:r>
              <a:rPr lang="ru-RU" sz="4000" b="1" dirty="0" smtClean="0">
                <a:solidFill>
                  <a:schemeClr val="tx1"/>
                </a:solidFill>
              </a:rPr>
              <a:t> в строке/столбце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972452" cy="4873752"/>
          </a:xfrm>
        </p:spPr>
        <p:txBody>
          <a:bodyPr>
            <a:noAutofit/>
          </a:bodyPr>
          <a:lstStyle/>
          <a:p>
            <a:pPr marL="0" indent="0" algn="just">
              <a:spcBef>
                <a:spcPts val="0"/>
              </a:spcBef>
              <a:buNone/>
            </a:pP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spcBef>
                <a:spcPts val="0"/>
              </a:spcBef>
              <a:buNone/>
            </a:pPr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spcBef>
                <a:spcPts val="0"/>
              </a:spcBef>
              <a:buNone/>
            </a:pP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spcBef>
                <a:spcPts val="0"/>
              </a:spcBef>
              <a:buNone/>
            </a:pPr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spcBef>
                <a:spcPts val="0"/>
              </a:spcBef>
              <a:buNone/>
            </a:pP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spcBef>
                <a:spcPts val="0"/>
              </a:spcBef>
              <a:buNone/>
            </a:pPr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dirty="0" err="1" smtClean="0"/>
              <a:t>int</a:t>
            </a:r>
            <a:r>
              <a:rPr lang="en-US" dirty="0" smtClean="0"/>
              <a:t> max = </a:t>
            </a:r>
            <a:r>
              <a:rPr lang="en-US" dirty="0" err="1" smtClean="0"/>
              <a:t>matr</a:t>
            </a:r>
            <a:r>
              <a:rPr lang="en-US" dirty="0" smtClean="0"/>
              <a:t>[1][0];</a:t>
            </a:r>
          </a:p>
          <a:p>
            <a:pPr>
              <a:buNone/>
            </a:pPr>
            <a:r>
              <a:rPr lang="nn-NO" dirty="0" smtClean="0"/>
              <a:t>for (i = 0; i </a:t>
            </a:r>
            <a:r>
              <a:rPr lang="nn-NO" dirty="0" smtClean="0"/>
              <a:t>&lt;= 3</a:t>
            </a:r>
            <a:r>
              <a:rPr lang="nn-NO" dirty="0" smtClean="0"/>
              <a:t>; i++)</a:t>
            </a:r>
          </a:p>
          <a:p>
            <a:pPr>
              <a:buNone/>
            </a:pPr>
            <a:r>
              <a:rPr lang="en-US" dirty="0" smtClean="0"/>
              <a:t>	if (max &lt; </a:t>
            </a:r>
            <a:r>
              <a:rPr lang="en-US" dirty="0" err="1" smtClean="0"/>
              <a:t>matr</a:t>
            </a:r>
            <a:r>
              <a:rPr lang="en-US" dirty="0" smtClean="0"/>
              <a:t>[1][</a:t>
            </a:r>
            <a:r>
              <a:rPr lang="en-US" dirty="0" err="1" smtClean="0"/>
              <a:t>i</a:t>
            </a:r>
            <a:r>
              <a:rPr lang="en-US" dirty="0" smtClean="0"/>
              <a:t>])</a:t>
            </a:r>
          </a:p>
          <a:p>
            <a:pPr>
              <a:buNone/>
            </a:pPr>
            <a:r>
              <a:rPr lang="en-US" dirty="0" smtClean="0"/>
              <a:t>		max = </a:t>
            </a:r>
            <a:r>
              <a:rPr lang="en-US" dirty="0" err="1" smtClean="0"/>
              <a:t>matr</a:t>
            </a:r>
            <a:r>
              <a:rPr lang="en-US" dirty="0" smtClean="0"/>
              <a:t>[1][</a:t>
            </a:r>
            <a:r>
              <a:rPr lang="en-US" dirty="0" err="1" smtClean="0"/>
              <a:t>i</a:t>
            </a:r>
            <a:r>
              <a:rPr lang="en-US" dirty="0" smtClean="0"/>
              <a:t>];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/>
        </p:nvGraphicFramePr>
        <p:xfrm>
          <a:off x="500034" y="1643050"/>
          <a:ext cx="4713312" cy="2214579"/>
        </p:xfrm>
        <a:graphic>
          <a:graphicData uri="http://schemas.openxmlformats.org/drawingml/2006/table">
            <a:tbl>
              <a:tblPr/>
              <a:tblGrid>
                <a:gridCol w="1178328"/>
                <a:gridCol w="1178328"/>
                <a:gridCol w="1178328"/>
                <a:gridCol w="1178328"/>
              </a:tblGrid>
              <a:tr h="738193"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sz="1600" b="1" i="0" u="none" strike="noStrike" kern="1200" dirty="0">
                          <a:solidFill>
                            <a:srgbClr val="000000"/>
                          </a:solidFill>
                          <a:latin typeface="Times New Roman"/>
                          <a:ea typeface="+mn-ea"/>
                          <a:cs typeface="+mn-cs"/>
                        </a:rPr>
                        <a:t>a[0][0]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sz="1600" b="1" i="0" u="none" strike="noStrike" kern="1200" dirty="0">
                          <a:solidFill>
                            <a:srgbClr val="000000"/>
                          </a:solidFill>
                          <a:latin typeface="Times New Roman"/>
                          <a:ea typeface="+mn-ea"/>
                          <a:cs typeface="+mn-cs"/>
                        </a:rPr>
                        <a:t>a[0][1]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sz="1600" b="1" i="0" u="none" strike="noStrike" kern="1200" dirty="0">
                          <a:solidFill>
                            <a:srgbClr val="000000"/>
                          </a:solidFill>
                          <a:latin typeface="Times New Roman"/>
                          <a:ea typeface="+mn-ea"/>
                          <a:cs typeface="+mn-cs"/>
                        </a:rPr>
                        <a:t>a[0][2]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sz="1600" b="1" i="0" u="none" strike="noStrike" kern="1200" dirty="0">
                          <a:solidFill>
                            <a:srgbClr val="000000"/>
                          </a:solidFill>
                          <a:latin typeface="Times New Roman"/>
                          <a:ea typeface="+mn-ea"/>
                          <a:cs typeface="+mn-cs"/>
                        </a:rPr>
                        <a:t>a[0][3]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8193"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sz="1600" b="1" i="0" u="none" strike="noStrike" kern="1200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+mn-cs"/>
                        </a:rPr>
                        <a:t>a[</a:t>
                      </a:r>
                      <a:r>
                        <a:rPr kumimoji="0" lang="en-US" sz="4000" b="1" i="0" u="none" strike="noStrike" kern="1200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+mn-cs"/>
                        </a:rPr>
                        <a:t>1</a:t>
                      </a:r>
                      <a:r>
                        <a:rPr kumimoji="0" lang="en-US" sz="1600" b="1" i="0" u="none" strike="noStrike" kern="1200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+mn-cs"/>
                        </a:rPr>
                        <a:t>][</a:t>
                      </a:r>
                      <a:r>
                        <a:rPr kumimoji="0" lang="en-US" sz="1600" b="1" i="0" u="none" strike="noStrike" kern="1200" dirty="0">
                          <a:solidFill>
                            <a:srgbClr val="0070C0"/>
                          </a:solidFill>
                          <a:latin typeface="Times New Roman"/>
                          <a:ea typeface="+mn-ea"/>
                          <a:cs typeface="+mn-cs"/>
                        </a:rPr>
                        <a:t>0</a:t>
                      </a:r>
                      <a:r>
                        <a:rPr kumimoji="0" lang="en-US" sz="1600" b="1" i="0" u="none" strike="noStrike" kern="1200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+mn-cs"/>
                        </a:rPr>
                        <a:t>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sz="1600" b="1" i="0" u="none" strike="noStrike" kern="1200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+mn-cs"/>
                        </a:rPr>
                        <a:t>a[</a:t>
                      </a:r>
                      <a:r>
                        <a:rPr kumimoji="0" lang="en-US" sz="4000" b="1" i="0" u="none" strike="noStrike" kern="1200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+mn-cs"/>
                        </a:rPr>
                        <a:t>1</a:t>
                      </a:r>
                      <a:r>
                        <a:rPr kumimoji="0" lang="en-US" sz="1600" b="1" i="0" u="none" strike="noStrike" kern="1200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+mn-cs"/>
                        </a:rPr>
                        <a:t>][</a:t>
                      </a:r>
                      <a:r>
                        <a:rPr kumimoji="0" lang="en-US" sz="1600" b="1" i="0" u="none" strike="noStrike" kern="1200" dirty="0">
                          <a:solidFill>
                            <a:srgbClr val="0070C0"/>
                          </a:solidFill>
                          <a:latin typeface="Times New Roman"/>
                          <a:ea typeface="+mn-ea"/>
                          <a:cs typeface="+mn-cs"/>
                        </a:rPr>
                        <a:t>1</a:t>
                      </a:r>
                      <a:r>
                        <a:rPr kumimoji="0" lang="en-US" sz="1600" b="1" i="0" u="none" strike="noStrike" kern="1200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+mn-cs"/>
                        </a:rPr>
                        <a:t>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sz="1600" b="1" i="0" u="none" strike="noStrike" kern="1200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+mn-cs"/>
                        </a:rPr>
                        <a:t>a[</a:t>
                      </a:r>
                      <a:r>
                        <a:rPr kumimoji="0" lang="en-US" sz="4000" b="1" i="0" u="none" strike="noStrike" kern="1200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+mn-cs"/>
                        </a:rPr>
                        <a:t>1</a:t>
                      </a:r>
                      <a:r>
                        <a:rPr kumimoji="0" lang="en-US" sz="1600" b="1" i="0" u="none" strike="noStrike" kern="1200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+mn-cs"/>
                        </a:rPr>
                        <a:t>][</a:t>
                      </a:r>
                      <a:r>
                        <a:rPr kumimoji="0" lang="en-US" sz="1600" b="1" i="0" u="none" strike="noStrike" kern="1200" dirty="0">
                          <a:solidFill>
                            <a:srgbClr val="0070C0"/>
                          </a:solidFill>
                          <a:latin typeface="Times New Roman"/>
                          <a:ea typeface="+mn-ea"/>
                          <a:cs typeface="+mn-cs"/>
                        </a:rPr>
                        <a:t>2</a:t>
                      </a:r>
                      <a:r>
                        <a:rPr kumimoji="0" lang="en-US" sz="1600" b="1" i="0" u="none" strike="noStrike" kern="1200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+mn-cs"/>
                        </a:rPr>
                        <a:t>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sz="1600" b="1" i="0" u="none" strike="noStrike" kern="1200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+mn-cs"/>
                        </a:rPr>
                        <a:t>a[</a:t>
                      </a:r>
                      <a:r>
                        <a:rPr kumimoji="0" lang="en-US" sz="4000" b="1" i="0" u="none" strike="noStrike" kern="1200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+mn-cs"/>
                        </a:rPr>
                        <a:t>1</a:t>
                      </a:r>
                      <a:r>
                        <a:rPr kumimoji="0" lang="en-US" sz="1600" b="1" i="0" u="none" strike="noStrike" kern="1200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+mn-cs"/>
                        </a:rPr>
                        <a:t>][</a:t>
                      </a:r>
                      <a:r>
                        <a:rPr kumimoji="0" lang="en-US" sz="1600" b="1" i="0" u="none" strike="noStrike" kern="1200" dirty="0">
                          <a:solidFill>
                            <a:srgbClr val="0070C0"/>
                          </a:solidFill>
                          <a:latin typeface="Times New Roman"/>
                          <a:ea typeface="+mn-ea"/>
                          <a:cs typeface="+mn-cs"/>
                        </a:rPr>
                        <a:t>3</a:t>
                      </a:r>
                      <a:r>
                        <a:rPr kumimoji="0" lang="en-US" sz="1600" b="1" i="0" u="none" strike="noStrike" kern="1200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+mn-cs"/>
                        </a:rPr>
                        <a:t>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819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a[2][0]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a[2][1]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a[2][2]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a[2][3]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931224" cy="1143000"/>
          </a:xfr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/>
          <a:p>
            <a:r>
              <a:rPr lang="ru-RU" sz="4000" b="1" dirty="0" smtClean="0">
                <a:solidFill>
                  <a:schemeClr val="tx1"/>
                </a:solidFill>
              </a:rPr>
              <a:t>Поиск </a:t>
            </a:r>
            <a:r>
              <a:rPr lang="en-US" sz="4000" b="1" dirty="0" smtClean="0">
                <a:solidFill>
                  <a:schemeClr val="tx1"/>
                </a:solidFill>
              </a:rPr>
              <a:t>max/min</a:t>
            </a:r>
            <a:r>
              <a:rPr lang="ru-RU" sz="4000" b="1" dirty="0" smtClean="0">
                <a:solidFill>
                  <a:schemeClr val="tx1"/>
                </a:solidFill>
              </a:rPr>
              <a:t> в строке/столбце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972452" cy="4873752"/>
          </a:xfrm>
        </p:spPr>
        <p:txBody>
          <a:bodyPr>
            <a:noAutofit/>
          </a:bodyPr>
          <a:lstStyle/>
          <a:p>
            <a:pPr marL="0" indent="0" algn="just">
              <a:spcBef>
                <a:spcPts val="0"/>
              </a:spcBef>
              <a:buNone/>
            </a:pP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spcBef>
                <a:spcPts val="0"/>
              </a:spcBef>
              <a:buNone/>
            </a:pPr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spcBef>
                <a:spcPts val="0"/>
              </a:spcBef>
              <a:buNone/>
            </a:pP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spcBef>
                <a:spcPts val="0"/>
              </a:spcBef>
              <a:buNone/>
            </a:pPr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spcBef>
                <a:spcPts val="0"/>
              </a:spcBef>
              <a:buNone/>
            </a:pP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spcBef>
                <a:spcPts val="0"/>
              </a:spcBef>
              <a:buNone/>
            </a:pPr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dirty="0" err="1" smtClean="0"/>
              <a:t>int</a:t>
            </a:r>
            <a:r>
              <a:rPr lang="en-US" dirty="0" smtClean="0"/>
              <a:t> max = </a:t>
            </a:r>
            <a:r>
              <a:rPr lang="en-US" dirty="0" err="1" smtClean="0"/>
              <a:t>matr</a:t>
            </a:r>
            <a:r>
              <a:rPr lang="en-US" dirty="0" smtClean="0"/>
              <a:t>[0][2];</a:t>
            </a:r>
          </a:p>
          <a:p>
            <a:pPr>
              <a:buNone/>
            </a:pPr>
            <a:r>
              <a:rPr lang="nn-NO" dirty="0" smtClean="0"/>
              <a:t>for (i = 0; i &lt; 2; i++)</a:t>
            </a:r>
          </a:p>
          <a:p>
            <a:pPr>
              <a:buNone/>
            </a:pPr>
            <a:r>
              <a:rPr lang="en-US" dirty="0" smtClean="0"/>
              <a:t>	if (max &lt; </a:t>
            </a:r>
            <a:r>
              <a:rPr lang="en-US" dirty="0" err="1" smtClean="0"/>
              <a:t>matr</a:t>
            </a:r>
            <a:r>
              <a:rPr lang="en-US" dirty="0" smtClean="0"/>
              <a:t>[</a:t>
            </a:r>
            <a:r>
              <a:rPr lang="en-US" dirty="0" err="1" smtClean="0"/>
              <a:t>i</a:t>
            </a:r>
            <a:r>
              <a:rPr lang="en-US" dirty="0" smtClean="0"/>
              <a:t>][2])</a:t>
            </a:r>
          </a:p>
          <a:p>
            <a:pPr>
              <a:buNone/>
            </a:pPr>
            <a:r>
              <a:rPr lang="en-US" dirty="0" smtClean="0"/>
              <a:t>		max = </a:t>
            </a:r>
            <a:r>
              <a:rPr lang="en-US" dirty="0" err="1" smtClean="0"/>
              <a:t>matr</a:t>
            </a:r>
            <a:r>
              <a:rPr lang="en-US" dirty="0" smtClean="0"/>
              <a:t>[</a:t>
            </a:r>
            <a:r>
              <a:rPr lang="en-US" dirty="0" err="1" smtClean="0"/>
              <a:t>i</a:t>
            </a:r>
            <a:r>
              <a:rPr lang="en-US" dirty="0" smtClean="0"/>
              <a:t>][2];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/>
        </p:nvGraphicFramePr>
        <p:xfrm>
          <a:off x="500034" y="1643050"/>
          <a:ext cx="4713312" cy="2214579"/>
        </p:xfrm>
        <a:graphic>
          <a:graphicData uri="http://schemas.openxmlformats.org/drawingml/2006/table">
            <a:tbl>
              <a:tblPr/>
              <a:tblGrid>
                <a:gridCol w="1178328"/>
                <a:gridCol w="1178328"/>
                <a:gridCol w="1178328"/>
                <a:gridCol w="1178328"/>
              </a:tblGrid>
              <a:tr h="738193"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sz="1600" b="1" i="0" u="none" strike="noStrike" kern="1200" dirty="0">
                          <a:solidFill>
                            <a:srgbClr val="000000"/>
                          </a:solidFill>
                          <a:latin typeface="Times New Roman"/>
                          <a:ea typeface="+mn-ea"/>
                          <a:cs typeface="+mn-cs"/>
                        </a:rPr>
                        <a:t>a[0][0]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sz="1600" b="1" i="0" u="none" strike="noStrike" kern="1200" dirty="0">
                          <a:solidFill>
                            <a:srgbClr val="000000"/>
                          </a:solidFill>
                          <a:latin typeface="Times New Roman"/>
                          <a:ea typeface="+mn-ea"/>
                          <a:cs typeface="+mn-cs"/>
                        </a:rPr>
                        <a:t>a[0][1]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sz="1600" b="1" i="0" u="none" strike="noStrike" kern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+mn-cs"/>
                        </a:rPr>
                        <a:t>a[</a:t>
                      </a:r>
                      <a:r>
                        <a:rPr kumimoji="0" lang="en-US" sz="1600" b="1" i="0" u="none" strike="noStrike" kern="1200" dirty="0">
                          <a:solidFill>
                            <a:srgbClr val="0070C0"/>
                          </a:solidFill>
                          <a:latin typeface="Times New Roman"/>
                          <a:ea typeface="+mn-ea"/>
                          <a:cs typeface="+mn-cs"/>
                        </a:rPr>
                        <a:t>0</a:t>
                      </a:r>
                      <a:r>
                        <a:rPr kumimoji="0" lang="en-US" sz="1600" b="1" i="0" u="none" strike="noStrike" kern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+mn-cs"/>
                        </a:rPr>
                        <a:t>][</a:t>
                      </a:r>
                      <a:r>
                        <a:rPr kumimoji="0" lang="en-US" sz="4000" b="1" i="0" u="none" strike="noStrike" kern="1200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+mn-cs"/>
                        </a:rPr>
                        <a:t>2</a:t>
                      </a:r>
                      <a:r>
                        <a:rPr kumimoji="0" lang="en-US" sz="1600" b="1" i="0" u="none" strike="noStrike" kern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+mn-cs"/>
                        </a:rPr>
                        <a:t>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sz="1600" b="1" i="0" u="none" strike="noStrike" kern="1200" dirty="0">
                          <a:solidFill>
                            <a:srgbClr val="000000"/>
                          </a:solidFill>
                          <a:latin typeface="Times New Roman"/>
                          <a:ea typeface="+mn-ea"/>
                          <a:cs typeface="+mn-cs"/>
                        </a:rPr>
                        <a:t>a[0][3]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8193"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sz="1600" b="1" i="0" u="none" strike="noStrike" kern="1200" dirty="0">
                          <a:solidFill>
                            <a:srgbClr val="000000"/>
                          </a:solidFill>
                          <a:latin typeface="Times New Roman"/>
                          <a:ea typeface="+mn-ea"/>
                          <a:cs typeface="+mn-cs"/>
                        </a:rPr>
                        <a:t>a[1][0]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sz="1600" b="1" i="0" u="none" strike="noStrike" kern="1200" dirty="0">
                          <a:solidFill>
                            <a:srgbClr val="000000"/>
                          </a:solidFill>
                          <a:latin typeface="Times New Roman"/>
                          <a:ea typeface="+mn-ea"/>
                          <a:cs typeface="+mn-cs"/>
                        </a:rPr>
                        <a:t>a[1][1]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sz="1600" b="1" i="0" u="none" strike="noStrike" kern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+mn-cs"/>
                        </a:rPr>
                        <a:t>a[</a:t>
                      </a:r>
                      <a:r>
                        <a:rPr kumimoji="0" lang="en-US" sz="1600" b="1" i="0" u="none" strike="noStrike" kern="1200" dirty="0">
                          <a:solidFill>
                            <a:srgbClr val="0070C0"/>
                          </a:solidFill>
                          <a:latin typeface="Times New Roman"/>
                          <a:ea typeface="+mn-ea"/>
                          <a:cs typeface="+mn-cs"/>
                        </a:rPr>
                        <a:t>1</a:t>
                      </a:r>
                      <a:r>
                        <a:rPr kumimoji="0" lang="en-US" sz="1600" b="1" i="0" u="none" strike="noStrike" kern="1200" dirty="0" smtClean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+mn-cs"/>
                        </a:rPr>
                        <a:t>][</a:t>
                      </a:r>
                      <a:r>
                        <a:rPr kumimoji="0" lang="en-US" sz="4000" b="1" i="0" u="none" strike="noStrike" kern="1200" dirty="0" smtClean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+mn-cs"/>
                        </a:rPr>
                        <a:t>2</a:t>
                      </a:r>
                      <a:r>
                        <a:rPr kumimoji="0" lang="en-US" sz="1600" b="1" i="0" u="none" strike="noStrike" kern="1200" dirty="0" smtClean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+mn-cs"/>
                        </a:rPr>
                        <a:t>]</a:t>
                      </a:r>
                      <a:endParaRPr kumimoji="0" lang="en-US" sz="1600" b="1" i="0" u="none" strike="noStrike" kern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kumimoji="0" lang="en-US" sz="1600" b="1" i="0" u="none" strike="noStrike" kern="1200" dirty="0">
                          <a:solidFill>
                            <a:srgbClr val="000000"/>
                          </a:solidFill>
                          <a:latin typeface="Times New Roman"/>
                          <a:ea typeface="+mn-ea"/>
                          <a:cs typeface="+mn-cs"/>
                        </a:rPr>
                        <a:t>a[1][3]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819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a[2][0]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a[2][1]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tx1"/>
                          </a:solidFill>
                          <a:latin typeface="Times New Roman"/>
                        </a:rPr>
                        <a:t>a[</a:t>
                      </a:r>
                      <a:r>
                        <a:rPr lang="en-US" sz="1600" b="1" i="0" u="none" strike="noStrike" dirty="0">
                          <a:solidFill>
                            <a:srgbClr val="0070C0"/>
                          </a:solidFill>
                          <a:latin typeface="Times New Roman"/>
                        </a:rPr>
                        <a:t>2</a:t>
                      </a:r>
                      <a:r>
                        <a:rPr lang="en-US" sz="1600" b="1" i="0" u="none" strike="noStrike" dirty="0">
                          <a:solidFill>
                            <a:schemeClr val="tx1"/>
                          </a:solidFill>
                          <a:latin typeface="Times New Roman"/>
                        </a:rPr>
                        <a:t>][</a:t>
                      </a:r>
                      <a:r>
                        <a:rPr lang="en-US" sz="4000" b="1" i="0" u="none" strike="noStrike" dirty="0">
                          <a:solidFill>
                            <a:srgbClr val="FF0000"/>
                          </a:solidFill>
                          <a:latin typeface="Times New Roman"/>
                        </a:rPr>
                        <a:t>2</a:t>
                      </a:r>
                      <a:r>
                        <a:rPr lang="en-US" sz="1600" b="1" i="0" u="none" strike="noStrike" dirty="0">
                          <a:solidFill>
                            <a:schemeClr val="tx1"/>
                          </a:solidFill>
                          <a:latin typeface="Times New Roman"/>
                        </a:rPr>
                        <a:t>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a[2][3]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931224" cy="1143000"/>
          </a:xfr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vert="horz" anchor="ctr">
            <a:noAutofit/>
          </a:bodyPr>
          <a:lstStyle/>
          <a:p>
            <a:r>
              <a:rPr lang="ru-RU" sz="4000" cap="none" dirty="0" smtClean="0">
                <a:solidFill>
                  <a:schemeClr val="tx1"/>
                </a:solidFill>
              </a:rPr>
              <a:t>Главная/побочная диагональ</a:t>
            </a:r>
            <a:endParaRPr lang="ru-RU" sz="4000" cap="none" dirty="0">
              <a:solidFill>
                <a:schemeClr val="tx1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972452" cy="175736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Есть только у квадратной матрицы (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n=m)</a:t>
            </a:r>
          </a:p>
          <a:p>
            <a:pPr>
              <a:buNone/>
            </a:pPr>
            <a:endParaRPr lang="ru-RU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На главной диагонали у элементов одинаковые индексы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=j</a:t>
            </a:r>
          </a:p>
          <a:p>
            <a:pPr marL="174625" indent="-174625">
              <a:spcBef>
                <a:spcPct val="50000"/>
              </a:spcBef>
              <a:buNone/>
            </a:pPr>
            <a:endParaRPr lang="ru-RU" sz="2400" dirty="0">
              <a:latin typeface="Courier New" pitchFamily="49" charset="0"/>
              <a:cs typeface="Courier New" pitchFamily="49" charset="0"/>
            </a:endParaRP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/>
        </p:nvGraphicFramePr>
        <p:xfrm>
          <a:off x="1571604" y="3143248"/>
          <a:ext cx="4857784" cy="2667008"/>
        </p:xfrm>
        <a:graphic>
          <a:graphicData uri="http://schemas.openxmlformats.org/drawingml/2006/table">
            <a:tbl>
              <a:tblPr/>
              <a:tblGrid>
                <a:gridCol w="1214446"/>
                <a:gridCol w="1214446"/>
                <a:gridCol w="1214446"/>
                <a:gridCol w="1214446"/>
              </a:tblGrid>
              <a:tr h="66675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a[0][0]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a[0][1]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a[0][2]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a[0][3]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675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a[1][0]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a[1][1]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a[1][2]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a[1][3]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675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a[2][0]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a[2][1]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a[2][2]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a[2][3]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675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a[3][0]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a[3][1]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a[3][2]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a[3][3]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931224" cy="1143000"/>
          </a:xfr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vert="horz" anchor="ctr">
            <a:noAutofit/>
          </a:bodyPr>
          <a:lstStyle/>
          <a:p>
            <a:r>
              <a:rPr lang="ru-RU" sz="4000" cap="none" dirty="0" smtClean="0">
                <a:solidFill>
                  <a:schemeClr val="tx1"/>
                </a:solidFill>
              </a:rPr>
              <a:t>Главная/побочная диагональ</a:t>
            </a:r>
            <a:endParaRPr lang="ru-RU" sz="4000" cap="none" dirty="0">
              <a:solidFill>
                <a:schemeClr val="tx1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972452" cy="104298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На побочной диагонали сумма индексов равна размеру – 1 (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i+j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n-1)</a:t>
            </a:r>
            <a:endParaRPr lang="ru-RU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4625" indent="-174625">
              <a:spcBef>
                <a:spcPct val="50000"/>
              </a:spcBef>
              <a:buNone/>
            </a:pPr>
            <a:endParaRPr lang="ru-RU" sz="2400" dirty="0">
              <a:latin typeface="Courier New" pitchFamily="49" charset="0"/>
              <a:cs typeface="Courier New" pitchFamily="49" charset="0"/>
            </a:endParaRP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/>
        </p:nvGraphicFramePr>
        <p:xfrm>
          <a:off x="2285984" y="2571744"/>
          <a:ext cx="4570436" cy="2476512"/>
        </p:xfrm>
        <a:graphic>
          <a:graphicData uri="http://schemas.openxmlformats.org/drawingml/2006/table">
            <a:tbl>
              <a:tblPr/>
              <a:tblGrid>
                <a:gridCol w="1142609"/>
                <a:gridCol w="1142609"/>
                <a:gridCol w="1142609"/>
                <a:gridCol w="1142609"/>
              </a:tblGrid>
              <a:tr h="61912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a[0][0]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a[0][1]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a[0][2]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a[0][3]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</a:tr>
              <a:tr h="61912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a[1][0]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a[1][1]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a[1][2]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a[1][3]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912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a[2][0]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a[2][1]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a[2][2]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a[2][3]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912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a[3][0]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a[3][1]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a[3][2]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a[3][3]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428596" y="285728"/>
            <a:ext cx="7972452" cy="175736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Сумма на главной диагонали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4625" indent="-174625">
              <a:spcBef>
                <a:spcPct val="50000"/>
              </a:spcBef>
              <a:buNone/>
            </a:pPr>
            <a:endParaRPr lang="ru-RU" sz="2400" dirty="0" smtClean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dirty="0" err="1" smtClean="0"/>
              <a:t>int</a:t>
            </a:r>
            <a:r>
              <a:rPr lang="en-US" dirty="0" smtClean="0"/>
              <a:t> s = 0;</a:t>
            </a:r>
          </a:p>
          <a:p>
            <a:pPr>
              <a:buNone/>
            </a:pPr>
            <a:r>
              <a:rPr lang="nn-NO" dirty="0" smtClean="0"/>
              <a:t>for (i = 0; i &lt; n; i++)</a:t>
            </a:r>
          </a:p>
          <a:p>
            <a:pPr>
              <a:buNone/>
            </a:pPr>
            <a:r>
              <a:rPr lang="en-US" dirty="0" smtClean="0"/>
              <a:t>	s += </a:t>
            </a:r>
            <a:r>
              <a:rPr lang="en-US" dirty="0" err="1" smtClean="0"/>
              <a:t>matr</a:t>
            </a:r>
            <a:r>
              <a:rPr lang="en-US" dirty="0" smtClean="0"/>
              <a:t>[</a:t>
            </a:r>
            <a:r>
              <a:rPr lang="en-US" dirty="0" err="1" smtClean="0"/>
              <a:t>i</a:t>
            </a:r>
            <a:r>
              <a:rPr lang="en-US" dirty="0" smtClean="0"/>
              <a:t>][</a:t>
            </a:r>
            <a:r>
              <a:rPr lang="en-US" dirty="0" err="1" smtClean="0"/>
              <a:t>i</a:t>
            </a:r>
            <a:r>
              <a:rPr lang="en-US" dirty="0" smtClean="0"/>
              <a:t>];</a:t>
            </a:r>
          </a:p>
          <a:p>
            <a:pPr>
              <a:buNone/>
            </a:pPr>
            <a:endParaRPr lang="en-US" sz="2400" dirty="0" smtClean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ru-RU" sz="2400" dirty="0" smtClean="0">
                <a:latin typeface="Courier New" pitchFamily="49" charset="0"/>
                <a:cs typeface="Courier New" pitchFamily="49" charset="0"/>
              </a:rPr>
              <a:t>Сумма под главной диагональю</a:t>
            </a:r>
          </a:p>
          <a:p>
            <a:pPr>
              <a:buNone/>
            </a:pPr>
            <a:endParaRPr lang="ru-RU" dirty="0" smtClean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dirty="0" err="1" smtClean="0"/>
              <a:t>int</a:t>
            </a:r>
            <a:r>
              <a:rPr lang="en-US" dirty="0" smtClean="0"/>
              <a:t> s = 0;</a:t>
            </a:r>
          </a:p>
          <a:p>
            <a:pPr>
              <a:buNone/>
            </a:pPr>
            <a:r>
              <a:rPr lang="nn-NO" dirty="0" smtClean="0"/>
              <a:t>for (i = 0; i &lt; n; i++)</a:t>
            </a:r>
          </a:p>
          <a:p>
            <a:pPr>
              <a:buNone/>
            </a:pPr>
            <a:r>
              <a:rPr lang="en-US" dirty="0" smtClean="0"/>
              <a:t>	for (j = 0; j &lt; </a:t>
            </a:r>
            <a:r>
              <a:rPr lang="en-US" dirty="0" err="1" smtClean="0"/>
              <a:t>i</a:t>
            </a:r>
            <a:r>
              <a:rPr lang="en-US" dirty="0" smtClean="0"/>
              <a:t>; j++)</a:t>
            </a:r>
          </a:p>
          <a:p>
            <a:pPr>
              <a:buNone/>
            </a:pPr>
            <a:r>
              <a:rPr lang="en-US" dirty="0" smtClean="0"/>
              <a:t>	s += </a:t>
            </a:r>
            <a:r>
              <a:rPr lang="en-US" dirty="0" err="1" smtClean="0"/>
              <a:t>matr</a:t>
            </a:r>
            <a:r>
              <a:rPr lang="en-US" dirty="0" smtClean="0"/>
              <a:t>[i</a:t>
            </a:r>
            <a:r>
              <a:rPr lang="en-US" dirty="0" smtClean="0"/>
              <a:t>][</a:t>
            </a:r>
            <a:r>
              <a:rPr lang="en-US" dirty="0"/>
              <a:t>j</a:t>
            </a:r>
            <a:r>
              <a:rPr lang="en-US" dirty="0" smtClean="0"/>
              <a:t>];</a:t>
            </a:r>
            <a:endParaRPr lang="ru-RU" sz="2400" dirty="0" smtClean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endParaRPr lang="ru-RU" sz="2400" dirty="0">
              <a:latin typeface="Courier New" pitchFamily="49" charset="0"/>
              <a:cs typeface="Courier New" pitchFamily="49" charset="0"/>
            </a:endParaRP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/>
        </p:nvGraphicFramePr>
        <p:xfrm>
          <a:off x="4500562" y="214290"/>
          <a:ext cx="3929092" cy="2238380"/>
        </p:xfrm>
        <a:graphic>
          <a:graphicData uri="http://schemas.openxmlformats.org/drawingml/2006/table">
            <a:tbl>
              <a:tblPr/>
              <a:tblGrid>
                <a:gridCol w="982273"/>
                <a:gridCol w="982273"/>
                <a:gridCol w="982273"/>
                <a:gridCol w="982273"/>
              </a:tblGrid>
              <a:tr h="55959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a[0][0]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a[0][1]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a[0][2]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a[0][3]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959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a[1][0]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a[1][1]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a[1][2]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a[1][3]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959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a[2][0]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a[2][1]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a[2][2]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a[2][3]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959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a[3][0]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a[3][1]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a[3][2]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a[3][3]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4572000" y="3500438"/>
          <a:ext cx="3857652" cy="2643208"/>
        </p:xfrm>
        <a:graphic>
          <a:graphicData uri="http://schemas.openxmlformats.org/drawingml/2006/table">
            <a:tbl>
              <a:tblPr/>
              <a:tblGrid>
                <a:gridCol w="964413"/>
                <a:gridCol w="964413"/>
                <a:gridCol w="964413"/>
                <a:gridCol w="964413"/>
              </a:tblGrid>
              <a:tr h="66080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a[0][0]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a[0][1]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a[0][2]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a[0][3]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080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a[1][0]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a[1][1]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a[1][2]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a[1][3]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080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a[2][0]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a[2][1]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a[2][2]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a[2][3]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080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a[3][0]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a[3][1]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a[3][2]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a[3][3]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931224" cy="1143000"/>
          </a:xfr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vert="horz" anchor="ctr">
            <a:noAutofit/>
          </a:bodyPr>
          <a:lstStyle/>
          <a:p>
            <a:r>
              <a:rPr lang="ru-RU" sz="4000" b="1" dirty="0" smtClean="0"/>
              <a:t>Сложение матриц</a:t>
            </a:r>
            <a:endParaRPr lang="ru-RU" sz="4000" cap="none" dirty="0">
              <a:solidFill>
                <a:schemeClr val="tx1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972452" cy="4873752"/>
          </a:xfrm>
        </p:spPr>
        <p:txBody>
          <a:bodyPr>
            <a:noAutofit/>
          </a:bodyPr>
          <a:lstStyle/>
          <a:p>
            <a:pPr>
              <a:lnSpc>
                <a:spcPct val="80000"/>
              </a:lnSpc>
              <a:buNone/>
            </a:pPr>
            <a:r>
              <a:rPr lang="ru-RU" sz="2000" b="1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Можно складывать только матрицы одинакового размера</a:t>
            </a:r>
          </a:p>
          <a:p>
            <a:pPr>
              <a:lnSpc>
                <a:spcPct val="80000"/>
              </a:lnSpc>
              <a:buNone/>
            </a:pPr>
            <a:r>
              <a:rPr lang="ru-RU" sz="2000" b="1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Результат в матрицу такого же размера</a:t>
            </a:r>
            <a:endParaRPr lang="ru-RU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  <a:buNone/>
            </a:pPr>
            <a:r>
              <a:rPr lang="ru-RU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pPr marL="174625" indent="-174625" algn="just">
              <a:spcBef>
                <a:spcPct val="50000"/>
              </a:spcBef>
              <a:buNone/>
            </a:pP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/>
        </p:nvGraphicFramePr>
        <p:xfrm>
          <a:off x="1285852" y="2285992"/>
          <a:ext cx="6658002" cy="1643070"/>
        </p:xfrm>
        <a:graphic>
          <a:graphicData uri="http://schemas.openxmlformats.org/drawingml/2006/table">
            <a:tbl>
              <a:tblPr/>
              <a:tblGrid>
                <a:gridCol w="739778"/>
                <a:gridCol w="739778"/>
                <a:gridCol w="739778"/>
                <a:gridCol w="739778"/>
                <a:gridCol w="739778"/>
                <a:gridCol w="739778"/>
                <a:gridCol w="739778"/>
                <a:gridCol w="739778"/>
                <a:gridCol w="739778"/>
              </a:tblGrid>
              <a:tr h="5476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a[0][0]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a[0][1]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a[0][2]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a[0][3]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+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b[0][0]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b[0][1]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b[0][2]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b[0][3]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76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a[1][0]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a[1][1]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a[1][2]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a[1][3]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b[1][0]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b[1][1]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b[1][2]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b[1][3]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76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a[2][0]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a[2][1]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a[2][2]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a[2][3]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b[2][0]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b[2][1]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b[2][2]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b[2][3]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1214414" y="4357694"/>
          <a:ext cx="6858048" cy="2214579"/>
        </p:xfrm>
        <a:graphic>
          <a:graphicData uri="http://schemas.openxmlformats.org/drawingml/2006/table">
            <a:tbl>
              <a:tblPr/>
              <a:tblGrid>
                <a:gridCol w="1714512"/>
                <a:gridCol w="1714512"/>
                <a:gridCol w="1714512"/>
                <a:gridCol w="1714512"/>
              </a:tblGrid>
              <a:tr h="73819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a[0][0]+b[0][0]</a:t>
                      </a:r>
                    </a:p>
                  </a:txBody>
                  <a:tcPr marL="9071" marR="9071" marT="90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a[0][1]+b[0][1]</a:t>
                      </a:r>
                    </a:p>
                  </a:txBody>
                  <a:tcPr marL="9071" marR="9071" marT="90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a[0][2]+b[0][2]</a:t>
                      </a:r>
                    </a:p>
                  </a:txBody>
                  <a:tcPr marL="9071" marR="9071" marT="90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a[0][3]+b[0][3]</a:t>
                      </a:r>
                    </a:p>
                  </a:txBody>
                  <a:tcPr marL="9071" marR="9071" marT="90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819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a[1][0]+b[1][0]</a:t>
                      </a:r>
                    </a:p>
                  </a:txBody>
                  <a:tcPr marL="9071" marR="9071" marT="90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a[1][1]+b[1][1]</a:t>
                      </a:r>
                    </a:p>
                  </a:txBody>
                  <a:tcPr marL="9071" marR="9071" marT="90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a[1][2]+b[1][2]</a:t>
                      </a:r>
                    </a:p>
                  </a:txBody>
                  <a:tcPr marL="9071" marR="9071" marT="90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a[1][3]+b[1][3]</a:t>
                      </a:r>
                    </a:p>
                  </a:txBody>
                  <a:tcPr marL="9071" marR="9071" marT="90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819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a[2][0]+b[2][0]</a:t>
                      </a:r>
                    </a:p>
                  </a:txBody>
                  <a:tcPr marL="9071" marR="9071" marT="90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a[2][1]+b[2][1]</a:t>
                      </a:r>
                    </a:p>
                  </a:txBody>
                  <a:tcPr marL="9071" marR="9071" marT="90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a[2][2]+b[2][2]</a:t>
                      </a:r>
                    </a:p>
                  </a:txBody>
                  <a:tcPr marL="9071" marR="9071" marT="90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a[2][3]+b[2][3]</a:t>
                      </a:r>
                    </a:p>
                  </a:txBody>
                  <a:tcPr marL="9071" marR="9071" marT="90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931224" cy="1143000"/>
          </a:xfr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vert="horz" anchor="ctr">
            <a:noAutofit/>
          </a:bodyPr>
          <a:lstStyle/>
          <a:p>
            <a:r>
              <a:rPr lang="ru-RU" sz="4000" b="1" dirty="0" smtClean="0"/>
              <a:t>Сложение матриц</a:t>
            </a:r>
            <a:endParaRPr lang="ru-RU" sz="4000" cap="none" dirty="0">
              <a:solidFill>
                <a:schemeClr val="tx1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972452" cy="487375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000" dirty="0" err="1" smtClean="0"/>
              <a:t>int</a:t>
            </a:r>
            <a:r>
              <a:rPr lang="en-US" sz="2000" dirty="0" smtClean="0"/>
              <a:t> a[3][4], b[3][4], c[3][4];</a:t>
            </a:r>
          </a:p>
          <a:p>
            <a:pPr>
              <a:buNone/>
            </a:pPr>
            <a:r>
              <a:rPr lang="pt-BR" sz="2000" dirty="0" smtClean="0"/>
              <a:t>int n = 3, m = 4;</a:t>
            </a:r>
          </a:p>
          <a:p>
            <a:pPr>
              <a:buNone/>
            </a:pPr>
            <a:endParaRPr lang="ru-RU" sz="2000" dirty="0" smtClean="0"/>
          </a:p>
          <a:p>
            <a:pPr>
              <a:buNone/>
            </a:pPr>
            <a:r>
              <a:rPr lang="nn-NO" sz="2000" dirty="0" smtClean="0"/>
              <a:t>for (i = 0; i &lt; n; i++)</a:t>
            </a:r>
          </a:p>
          <a:p>
            <a:pPr>
              <a:buNone/>
            </a:pPr>
            <a:r>
              <a:rPr lang="ru-RU" sz="2000" dirty="0" smtClean="0"/>
              <a:t>	</a:t>
            </a:r>
            <a:r>
              <a:rPr lang="en-US" sz="2000" dirty="0" smtClean="0"/>
              <a:t>for (j = 0; j &lt; m; j++)</a:t>
            </a:r>
          </a:p>
          <a:p>
            <a:pPr>
              <a:buNone/>
            </a:pPr>
            <a:r>
              <a:rPr lang="ru-RU" sz="2000" dirty="0" smtClean="0"/>
              <a:t>		</a:t>
            </a:r>
            <a:r>
              <a:rPr lang="pl-PL" sz="2000" dirty="0" smtClean="0"/>
              <a:t>c[i][j] = a[i][j] + b[i][j];</a:t>
            </a:r>
            <a:r>
              <a:rPr lang="ru-RU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pPr marL="174625" indent="-174625" algn="just">
              <a:spcBef>
                <a:spcPct val="50000"/>
              </a:spcBef>
              <a:buNone/>
            </a:pP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931224" cy="1143000"/>
          </a:xfr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vert="horz" anchor="ctr">
            <a:noAutofit/>
          </a:bodyPr>
          <a:lstStyle/>
          <a:p>
            <a:r>
              <a:rPr lang="ru-RU" sz="4000" b="1" dirty="0" smtClean="0"/>
              <a:t>Умножение матриц</a:t>
            </a:r>
            <a:endParaRPr lang="ru-RU" sz="4000" cap="none" dirty="0">
              <a:solidFill>
                <a:schemeClr val="tx1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972452" cy="4873752"/>
          </a:xfrm>
        </p:spPr>
        <p:txBody>
          <a:bodyPr>
            <a:noAutofit/>
          </a:bodyPr>
          <a:lstStyle/>
          <a:p>
            <a:pPr>
              <a:lnSpc>
                <a:spcPct val="80000"/>
              </a:lnSpc>
              <a:buNone/>
            </a:pPr>
            <a:r>
              <a:rPr lang="ru-RU" sz="2000" b="1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Можно умножать матрицы, если кол-во столбцов 1-ой равно кол-ву строк 2-ой</a:t>
            </a:r>
            <a:endParaRPr lang="ru-RU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  <a:buNone/>
            </a:pPr>
            <a:r>
              <a:rPr lang="ru-RU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pPr marL="174625" indent="-174625" algn="just">
              <a:spcBef>
                <a:spcPct val="50000"/>
              </a:spcBef>
              <a:buNone/>
            </a:pP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7" name="Таблица 6"/>
          <p:cNvGraphicFramePr>
            <a:graphicFrameLocks noGrp="1"/>
          </p:cNvGraphicFramePr>
          <p:nvPr/>
        </p:nvGraphicFramePr>
        <p:xfrm>
          <a:off x="1357290" y="2143116"/>
          <a:ext cx="6357981" cy="1857387"/>
        </p:xfrm>
        <a:graphic>
          <a:graphicData uri="http://schemas.openxmlformats.org/drawingml/2006/table">
            <a:tbl>
              <a:tblPr/>
              <a:tblGrid>
                <a:gridCol w="908283"/>
                <a:gridCol w="908283"/>
                <a:gridCol w="908283"/>
                <a:gridCol w="908283"/>
                <a:gridCol w="908283"/>
                <a:gridCol w="908283"/>
                <a:gridCol w="908283"/>
              </a:tblGrid>
              <a:tr h="61912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a[2][0]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a[2][1]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ru-RU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b[0][3]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b[0][1]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b[0][2]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b[0][3]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912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a[1][0]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a[1][1]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b[1][3]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b[1][1]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b[1][2]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b[1][3]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912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a[2][0]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a[2][1]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6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graphicFrame>
        <p:nvGraphicFramePr>
          <p:cNvPr id="8" name="Таблица 7"/>
          <p:cNvGraphicFramePr>
            <a:graphicFrameLocks noGrp="1"/>
          </p:cNvGraphicFramePr>
          <p:nvPr/>
        </p:nvGraphicFramePr>
        <p:xfrm>
          <a:off x="428596" y="4000504"/>
          <a:ext cx="7929620" cy="2643183"/>
        </p:xfrm>
        <a:graphic>
          <a:graphicData uri="http://schemas.openxmlformats.org/drawingml/2006/table">
            <a:tbl>
              <a:tblPr/>
              <a:tblGrid>
                <a:gridCol w="1982405"/>
                <a:gridCol w="1982405"/>
                <a:gridCol w="1982405"/>
                <a:gridCol w="1982405"/>
              </a:tblGrid>
              <a:tr h="881061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9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a[0][0]*b[0][0</a:t>
                      </a:r>
                      <a:r>
                        <a:rPr lang="pt-BR" sz="19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]+</a:t>
                      </a:r>
                      <a:endParaRPr lang="ru-RU" sz="1900" b="0" i="0" u="none" strike="noStrike" dirty="0" smtClean="0">
                        <a:solidFill>
                          <a:srgbClr val="000000"/>
                        </a:solidFill>
                        <a:latin typeface="Calibri"/>
                      </a:endParaRPr>
                    </a:p>
                    <a:p>
                      <a:pPr algn="ctr" fontAlgn="ctr"/>
                      <a:r>
                        <a:rPr lang="pt-BR" sz="19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a[0</a:t>
                      </a:r>
                      <a:r>
                        <a:rPr lang="pt-BR" sz="19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][1]*b[1][0]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9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lang="ru-RU" sz="19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…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9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 …</a:t>
                      </a:r>
                    </a:p>
                    <a:p>
                      <a:pPr algn="ctr" fontAlgn="ctr"/>
                      <a:r>
                        <a:rPr lang="ru-RU" sz="19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9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a[0][0]*b[0][3</a:t>
                      </a:r>
                      <a:r>
                        <a:rPr lang="pt-BR" sz="19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]+</a:t>
                      </a:r>
                      <a:endParaRPr lang="ru-RU" sz="1900" b="0" i="0" u="none" strike="noStrike" dirty="0" smtClean="0">
                        <a:solidFill>
                          <a:srgbClr val="000000"/>
                        </a:solidFill>
                        <a:latin typeface="Calibri"/>
                      </a:endParaRPr>
                    </a:p>
                    <a:p>
                      <a:pPr algn="ctr" fontAlgn="ctr"/>
                      <a:r>
                        <a:rPr lang="pt-BR" sz="19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a[0</a:t>
                      </a:r>
                      <a:r>
                        <a:rPr lang="pt-BR" sz="19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][1]*b[1][3]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81061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9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a[1][0]*b[0][0</a:t>
                      </a:r>
                      <a:r>
                        <a:rPr lang="pt-BR" sz="19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]+</a:t>
                      </a:r>
                      <a:endParaRPr lang="ru-RU" sz="1900" b="0" i="0" u="none" strike="noStrike" dirty="0" smtClean="0">
                        <a:solidFill>
                          <a:srgbClr val="000000"/>
                        </a:solidFill>
                        <a:latin typeface="Calibri"/>
                      </a:endParaRPr>
                    </a:p>
                    <a:p>
                      <a:pPr algn="ctr" fontAlgn="ctr"/>
                      <a:r>
                        <a:rPr lang="pt-BR" sz="19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a[1</a:t>
                      </a:r>
                      <a:r>
                        <a:rPr lang="pt-BR" sz="19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][1]*b[1][0]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9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r>
                        <a:rPr lang="ru-RU" sz="19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 …</a:t>
                      </a:r>
                    </a:p>
                    <a:p>
                      <a:pPr algn="ctr" fontAlgn="ctr"/>
                      <a:endParaRPr lang="ru-RU" sz="19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9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 …</a:t>
                      </a:r>
                    </a:p>
                    <a:p>
                      <a:pPr algn="ctr" fontAlgn="ctr"/>
                      <a:r>
                        <a:rPr lang="ru-RU" sz="19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9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a[1][0]*b[0][3</a:t>
                      </a:r>
                      <a:r>
                        <a:rPr lang="pt-BR" sz="19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]+</a:t>
                      </a:r>
                      <a:endParaRPr lang="ru-RU" sz="1900" b="0" i="0" u="none" strike="noStrike" dirty="0" smtClean="0">
                        <a:solidFill>
                          <a:srgbClr val="000000"/>
                        </a:solidFill>
                        <a:latin typeface="Calibri"/>
                      </a:endParaRPr>
                    </a:p>
                    <a:p>
                      <a:pPr algn="ctr" fontAlgn="ctr"/>
                      <a:r>
                        <a:rPr lang="pt-BR" sz="19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a[1</a:t>
                      </a:r>
                      <a:r>
                        <a:rPr lang="pt-BR" sz="19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][1]*b[1][3]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81061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9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a[2][0]*b[0][0</a:t>
                      </a:r>
                      <a:r>
                        <a:rPr lang="pt-BR" sz="19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]+</a:t>
                      </a:r>
                      <a:endParaRPr lang="ru-RU" sz="1900" b="0" i="0" u="none" strike="noStrike" dirty="0" smtClean="0">
                        <a:solidFill>
                          <a:srgbClr val="000000"/>
                        </a:solidFill>
                        <a:latin typeface="Calibri"/>
                      </a:endParaRPr>
                    </a:p>
                    <a:p>
                      <a:pPr algn="ctr" fontAlgn="ctr"/>
                      <a:r>
                        <a:rPr lang="pt-BR" sz="19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a[2</a:t>
                      </a:r>
                      <a:r>
                        <a:rPr lang="pt-BR" sz="19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][1]*b[1][0]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9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r>
                        <a:rPr lang="ru-RU" sz="19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 …</a:t>
                      </a:r>
                    </a:p>
                    <a:p>
                      <a:pPr algn="ctr" fontAlgn="ctr"/>
                      <a:endParaRPr lang="ru-RU" sz="19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9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 …</a:t>
                      </a:r>
                    </a:p>
                    <a:p>
                      <a:pPr algn="ctr" fontAlgn="ctr"/>
                      <a:r>
                        <a:rPr lang="ru-RU" sz="19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9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a[2][0]*b[0][3</a:t>
                      </a:r>
                      <a:r>
                        <a:rPr lang="pt-BR" sz="19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]+</a:t>
                      </a:r>
                      <a:endParaRPr lang="ru-RU" sz="1900" b="0" i="0" u="none" strike="noStrike" dirty="0" smtClean="0">
                        <a:solidFill>
                          <a:srgbClr val="000000"/>
                        </a:solidFill>
                        <a:latin typeface="Calibri"/>
                      </a:endParaRPr>
                    </a:p>
                    <a:p>
                      <a:pPr algn="ctr" fontAlgn="ctr"/>
                      <a:r>
                        <a:rPr lang="pt-BR" sz="19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a[2</a:t>
                      </a:r>
                      <a:r>
                        <a:rPr lang="pt-BR" sz="19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][1]*b[1][3]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931224" cy="1143000"/>
          </a:xfr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vert="horz" anchor="ctr">
            <a:noAutofit/>
          </a:bodyPr>
          <a:lstStyle/>
          <a:p>
            <a:r>
              <a:rPr lang="ru-RU" sz="4000" b="1" dirty="0" smtClean="0"/>
              <a:t>Умножение матриц</a:t>
            </a:r>
            <a:endParaRPr lang="ru-RU" sz="4000" cap="none" dirty="0">
              <a:solidFill>
                <a:schemeClr val="tx1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972452" cy="4873752"/>
          </a:xfrm>
        </p:spPr>
        <p:txBody>
          <a:bodyPr>
            <a:noAutofit/>
          </a:bodyPr>
          <a:lstStyle/>
          <a:p>
            <a:pPr>
              <a:lnSpc>
                <a:spcPct val="80000"/>
              </a:lnSpc>
              <a:buNone/>
            </a:pPr>
            <a:r>
              <a:rPr lang="ru-RU" sz="2000" b="1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Можно умножать матрицы, если кол-во столбцов 1-ой равно кол-ву строк 2-ой</a:t>
            </a:r>
            <a:endParaRPr lang="ru-RU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  <a:buNone/>
            </a:pPr>
            <a:r>
              <a:rPr lang="ru-RU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pPr marL="174625" indent="-174625" algn="just">
              <a:spcBef>
                <a:spcPct val="50000"/>
              </a:spcBef>
              <a:buNone/>
            </a:pP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7" name="Таблица 6"/>
          <p:cNvGraphicFramePr>
            <a:graphicFrameLocks noGrp="1"/>
          </p:cNvGraphicFramePr>
          <p:nvPr/>
        </p:nvGraphicFramePr>
        <p:xfrm>
          <a:off x="1357290" y="2143116"/>
          <a:ext cx="6357981" cy="1857387"/>
        </p:xfrm>
        <a:graphic>
          <a:graphicData uri="http://schemas.openxmlformats.org/drawingml/2006/table">
            <a:tbl>
              <a:tblPr/>
              <a:tblGrid>
                <a:gridCol w="908283"/>
                <a:gridCol w="908283"/>
                <a:gridCol w="908283"/>
                <a:gridCol w="908283"/>
                <a:gridCol w="908283"/>
                <a:gridCol w="908283"/>
                <a:gridCol w="908283"/>
              </a:tblGrid>
              <a:tr h="61912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a[</a:t>
                      </a:r>
                      <a:r>
                        <a:rPr lang="ru-RU" sz="16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][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a[</a:t>
                      </a:r>
                      <a:r>
                        <a:rPr lang="ru-RU" sz="16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][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ru-RU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b[0</a:t>
                      </a:r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][</a:t>
                      </a:r>
                      <a:r>
                        <a:rPr lang="ru-RU" sz="16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]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b[0][1]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b[0][2]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b[0][3]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912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a[1][0]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a[1][1]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b[1</a:t>
                      </a:r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][</a:t>
                      </a:r>
                      <a:r>
                        <a:rPr lang="ru-RU" sz="16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]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b[1][1]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b[1][2]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b[1][3]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912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a[2][0]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a[2][1]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6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graphicFrame>
        <p:nvGraphicFramePr>
          <p:cNvPr id="8" name="Таблица 7"/>
          <p:cNvGraphicFramePr>
            <a:graphicFrameLocks noGrp="1"/>
          </p:cNvGraphicFramePr>
          <p:nvPr/>
        </p:nvGraphicFramePr>
        <p:xfrm>
          <a:off x="428596" y="4000504"/>
          <a:ext cx="7929620" cy="2643183"/>
        </p:xfrm>
        <a:graphic>
          <a:graphicData uri="http://schemas.openxmlformats.org/drawingml/2006/table">
            <a:tbl>
              <a:tblPr/>
              <a:tblGrid>
                <a:gridCol w="1982405"/>
                <a:gridCol w="1982405"/>
                <a:gridCol w="1982405"/>
                <a:gridCol w="1982405"/>
              </a:tblGrid>
              <a:tr h="881061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9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a[0][0]*b[0][0</a:t>
                      </a:r>
                      <a:r>
                        <a:rPr lang="pt-BR" sz="19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]+</a:t>
                      </a:r>
                      <a:endParaRPr lang="ru-RU" sz="1900" b="0" i="0" u="none" strike="noStrike" dirty="0" smtClean="0">
                        <a:solidFill>
                          <a:srgbClr val="000000"/>
                        </a:solidFill>
                        <a:latin typeface="Calibri"/>
                      </a:endParaRPr>
                    </a:p>
                    <a:p>
                      <a:pPr algn="ctr" fontAlgn="ctr"/>
                      <a:r>
                        <a:rPr lang="pt-BR" sz="19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a[0</a:t>
                      </a:r>
                      <a:r>
                        <a:rPr lang="pt-BR" sz="19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][1]*b[1][0]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9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lang="ru-RU" sz="19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…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9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 …</a:t>
                      </a:r>
                    </a:p>
                    <a:p>
                      <a:pPr algn="ctr" fontAlgn="ctr"/>
                      <a:r>
                        <a:rPr lang="ru-RU" sz="19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9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a[0][0]*b[0][3</a:t>
                      </a:r>
                      <a:r>
                        <a:rPr lang="pt-BR" sz="19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]+</a:t>
                      </a:r>
                      <a:endParaRPr lang="ru-RU" sz="1900" b="0" i="0" u="none" strike="noStrike" dirty="0" smtClean="0">
                        <a:solidFill>
                          <a:srgbClr val="000000"/>
                        </a:solidFill>
                        <a:latin typeface="Calibri"/>
                      </a:endParaRPr>
                    </a:p>
                    <a:p>
                      <a:pPr algn="ctr" fontAlgn="ctr"/>
                      <a:r>
                        <a:rPr lang="pt-BR" sz="19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a[0</a:t>
                      </a:r>
                      <a:r>
                        <a:rPr lang="pt-BR" sz="19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][1]*b[1][3]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81061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9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a[1][0]*b[0][0</a:t>
                      </a:r>
                      <a:r>
                        <a:rPr lang="pt-BR" sz="19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]+</a:t>
                      </a:r>
                      <a:endParaRPr lang="ru-RU" sz="1900" b="0" i="0" u="none" strike="noStrike" dirty="0" smtClean="0">
                        <a:solidFill>
                          <a:srgbClr val="000000"/>
                        </a:solidFill>
                        <a:latin typeface="Calibri"/>
                      </a:endParaRPr>
                    </a:p>
                    <a:p>
                      <a:pPr algn="ctr" fontAlgn="ctr"/>
                      <a:r>
                        <a:rPr lang="pt-BR" sz="19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a[1</a:t>
                      </a:r>
                      <a:r>
                        <a:rPr lang="pt-BR" sz="19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][1]*b[1][0]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9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r>
                        <a:rPr lang="ru-RU" sz="19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 …</a:t>
                      </a:r>
                    </a:p>
                    <a:p>
                      <a:pPr algn="ctr" fontAlgn="ctr"/>
                      <a:endParaRPr lang="ru-RU" sz="19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9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 …</a:t>
                      </a:r>
                    </a:p>
                    <a:p>
                      <a:pPr algn="ctr" fontAlgn="ctr"/>
                      <a:r>
                        <a:rPr lang="ru-RU" sz="19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9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a[1][0]*b[0][3</a:t>
                      </a:r>
                      <a:r>
                        <a:rPr lang="pt-BR" sz="19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]+</a:t>
                      </a:r>
                      <a:endParaRPr lang="ru-RU" sz="1900" b="0" i="0" u="none" strike="noStrike" dirty="0" smtClean="0">
                        <a:solidFill>
                          <a:srgbClr val="000000"/>
                        </a:solidFill>
                        <a:latin typeface="Calibri"/>
                      </a:endParaRPr>
                    </a:p>
                    <a:p>
                      <a:pPr algn="ctr" fontAlgn="ctr"/>
                      <a:r>
                        <a:rPr lang="pt-BR" sz="19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a[1</a:t>
                      </a:r>
                      <a:r>
                        <a:rPr lang="pt-BR" sz="19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][1]*b[1][3]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81061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9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a[2][0]*b[0][0</a:t>
                      </a:r>
                      <a:r>
                        <a:rPr lang="pt-BR" sz="19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]+</a:t>
                      </a:r>
                      <a:endParaRPr lang="ru-RU" sz="1900" b="0" i="0" u="none" strike="noStrike" dirty="0" smtClean="0">
                        <a:solidFill>
                          <a:srgbClr val="000000"/>
                        </a:solidFill>
                        <a:latin typeface="Calibri"/>
                      </a:endParaRPr>
                    </a:p>
                    <a:p>
                      <a:pPr algn="ctr" fontAlgn="ctr"/>
                      <a:r>
                        <a:rPr lang="pt-BR" sz="19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a[2</a:t>
                      </a:r>
                      <a:r>
                        <a:rPr lang="pt-BR" sz="19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][1]*b[1][0]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9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r>
                        <a:rPr lang="ru-RU" sz="19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 …</a:t>
                      </a:r>
                    </a:p>
                    <a:p>
                      <a:pPr algn="ctr" fontAlgn="ctr"/>
                      <a:endParaRPr lang="ru-RU" sz="19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9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 …</a:t>
                      </a:r>
                    </a:p>
                    <a:p>
                      <a:pPr algn="ctr" fontAlgn="ctr"/>
                      <a:r>
                        <a:rPr lang="ru-RU" sz="19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9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a[2][0]*b[0][3</a:t>
                      </a:r>
                      <a:r>
                        <a:rPr lang="pt-BR" sz="19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]+</a:t>
                      </a:r>
                      <a:endParaRPr lang="ru-RU" sz="1900" b="0" i="0" u="none" strike="noStrike" dirty="0" smtClean="0">
                        <a:solidFill>
                          <a:srgbClr val="000000"/>
                        </a:solidFill>
                        <a:latin typeface="Calibri"/>
                      </a:endParaRPr>
                    </a:p>
                    <a:p>
                      <a:pPr algn="ctr" fontAlgn="ctr"/>
                      <a:r>
                        <a:rPr lang="pt-BR" sz="19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a[2</a:t>
                      </a:r>
                      <a:r>
                        <a:rPr lang="pt-BR" sz="19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][1]*b[1][3]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931224" cy="1143000"/>
          </a:xfr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vert="horz" anchor="ctr">
            <a:noAutofit/>
          </a:bodyPr>
          <a:lstStyle/>
          <a:p>
            <a:r>
              <a:rPr lang="ru-RU" sz="4000" b="1" dirty="0" smtClean="0"/>
              <a:t>Умножение матриц</a:t>
            </a:r>
            <a:endParaRPr lang="ru-RU" sz="4000" cap="none" dirty="0">
              <a:solidFill>
                <a:schemeClr val="tx1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972452" cy="487375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000" dirty="0" err="1" smtClean="0"/>
              <a:t>int</a:t>
            </a:r>
            <a:r>
              <a:rPr lang="en-US" sz="2000" dirty="0" smtClean="0"/>
              <a:t> a[3][2], b[2][4], c[3][4];</a:t>
            </a:r>
          </a:p>
          <a:p>
            <a:pPr>
              <a:buNone/>
            </a:pPr>
            <a:r>
              <a:rPr lang="pt-BR" sz="2000" dirty="0" smtClean="0"/>
              <a:t>int n = 3, m = 4, k = 2;</a:t>
            </a:r>
          </a:p>
          <a:p>
            <a:pPr>
              <a:buNone/>
            </a:pPr>
            <a:endParaRPr lang="ru-RU" sz="2000" dirty="0" smtClean="0"/>
          </a:p>
          <a:p>
            <a:pPr>
              <a:buNone/>
            </a:pPr>
            <a:r>
              <a:rPr lang="nn-NO" sz="2000" dirty="0" smtClean="0"/>
              <a:t>for (i = 0; i &lt; n; i++)</a:t>
            </a:r>
          </a:p>
          <a:p>
            <a:pPr>
              <a:buNone/>
            </a:pPr>
            <a:r>
              <a:rPr lang="en-US" sz="2000" dirty="0" smtClean="0"/>
              <a:t>for (j = 0; j &lt; m; j++)</a:t>
            </a:r>
          </a:p>
          <a:p>
            <a:pPr>
              <a:buNone/>
            </a:pPr>
            <a:r>
              <a:rPr lang="ru-RU" sz="2000" dirty="0" smtClean="0"/>
              <a:t>{</a:t>
            </a:r>
          </a:p>
          <a:p>
            <a:pPr>
              <a:buNone/>
            </a:pPr>
            <a:r>
              <a:rPr lang="ru-RU" sz="2000" dirty="0" smtClean="0"/>
              <a:t>	</a:t>
            </a:r>
            <a:r>
              <a:rPr lang="en-US" sz="2000" dirty="0" smtClean="0"/>
              <a:t>c[</a:t>
            </a:r>
            <a:r>
              <a:rPr lang="en-US" sz="2000" dirty="0" err="1" smtClean="0"/>
              <a:t>i</a:t>
            </a:r>
            <a:r>
              <a:rPr lang="en-US" sz="2000" dirty="0" smtClean="0"/>
              <a:t>][j] = 0;</a:t>
            </a:r>
          </a:p>
          <a:p>
            <a:pPr>
              <a:buNone/>
            </a:pPr>
            <a:r>
              <a:rPr lang="ru-RU" sz="2000" dirty="0" smtClean="0"/>
              <a:t>	</a:t>
            </a:r>
            <a:r>
              <a:rPr lang="en-US" sz="2000" dirty="0" smtClean="0"/>
              <a:t>for (q = 0; q </a:t>
            </a:r>
            <a:r>
              <a:rPr lang="en-US" sz="2000" smtClean="0"/>
              <a:t>&lt; </a:t>
            </a:r>
            <a:r>
              <a:rPr lang="en-US" sz="2000" smtClean="0"/>
              <a:t>k; q++)</a:t>
            </a:r>
            <a:endParaRPr lang="en-US" sz="2000" dirty="0" smtClean="0"/>
          </a:p>
          <a:p>
            <a:pPr>
              <a:buNone/>
            </a:pPr>
            <a:r>
              <a:rPr lang="ru-RU" sz="2000" dirty="0" smtClean="0"/>
              <a:t>		</a:t>
            </a:r>
            <a:r>
              <a:rPr lang="pl-PL" sz="2000" dirty="0" smtClean="0"/>
              <a:t>c[i][j] += a[i][</a:t>
            </a:r>
            <a:r>
              <a:rPr lang="en-US" sz="2000" dirty="0" smtClean="0"/>
              <a:t>q</a:t>
            </a:r>
            <a:r>
              <a:rPr lang="pl-PL" sz="2000" dirty="0" smtClean="0"/>
              <a:t>] * b[</a:t>
            </a:r>
            <a:r>
              <a:rPr lang="en-US" sz="2000" dirty="0" smtClean="0"/>
              <a:t>q</a:t>
            </a:r>
            <a:r>
              <a:rPr lang="pl-PL" sz="2000" dirty="0" smtClean="0"/>
              <a:t>][</a:t>
            </a:r>
            <a:r>
              <a:rPr lang="en-US" sz="2000" dirty="0" smtClean="0"/>
              <a:t>j</a:t>
            </a:r>
            <a:r>
              <a:rPr lang="pl-PL" sz="2000" dirty="0" smtClean="0"/>
              <a:t>];</a:t>
            </a:r>
            <a:r>
              <a:rPr lang="ru-RU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endParaRPr lang="ru-RU" sz="20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ru-RU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74625" indent="-174625" algn="just">
              <a:spcBef>
                <a:spcPct val="50000"/>
              </a:spcBef>
              <a:buNone/>
            </a:pP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931224" cy="1143000"/>
          </a:xfr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vert="horz" anchor="ctr">
            <a:noAutofit/>
          </a:bodyPr>
          <a:lstStyle/>
          <a:p>
            <a:r>
              <a:rPr lang="ru-RU" sz="4000" b="1" dirty="0" smtClean="0"/>
              <a:t>Транспонирование матриц</a:t>
            </a:r>
            <a:endParaRPr lang="ru-RU" sz="4000" cap="none" dirty="0">
              <a:solidFill>
                <a:schemeClr val="tx1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972452" cy="4873752"/>
          </a:xfrm>
        </p:spPr>
        <p:txBody>
          <a:bodyPr>
            <a:noAutofit/>
          </a:bodyPr>
          <a:lstStyle/>
          <a:p>
            <a:pPr>
              <a:lnSpc>
                <a:spcPct val="80000"/>
              </a:lnSpc>
              <a:buNone/>
            </a:pPr>
            <a:r>
              <a:rPr lang="ru-RU" sz="2000" b="1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Транспонирование = переворот</a:t>
            </a:r>
          </a:p>
          <a:p>
            <a:pPr>
              <a:lnSpc>
                <a:spcPct val="80000"/>
              </a:lnSpc>
              <a:buNone/>
            </a:pPr>
            <a:r>
              <a:rPr lang="ru-RU" sz="2000" b="1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Была </a:t>
            </a:r>
            <a:r>
              <a:rPr lang="en-US" sz="2000" b="1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a[3][2] </a:t>
            </a:r>
            <a:r>
              <a:rPr lang="ru-RU" sz="2000" b="1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станет </a:t>
            </a:r>
            <a:r>
              <a:rPr lang="en-US" sz="2000" b="1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b[2][3]</a:t>
            </a:r>
            <a:endParaRPr lang="ru-RU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  <a:buNone/>
            </a:pPr>
            <a:r>
              <a:rPr lang="ru-RU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pPr marL="174625" indent="-174625" algn="just">
              <a:spcBef>
                <a:spcPct val="50000"/>
              </a:spcBef>
              <a:buNone/>
            </a:pP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500034" y="2571744"/>
          <a:ext cx="7858182" cy="3286149"/>
        </p:xfrm>
        <a:graphic>
          <a:graphicData uri="http://schemas.openxmlformats.org/drawingml/2006/table">
            <a:tbl>
              <a:tblPr/>
              <a:tblGrid>
                <a:gridCol w="1309697"/>
                <a:gridCol w="1309697"/>
                <a:gridCol w="1309697"/>
                <a:gridCol w="1309697"/>
                <a:gridCol w="1309697"/>
                <a:gridCol w="1309697"/>
              </a:tblGrid>
              <a:tr h="109538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a[0][</a:t>
                      </a: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a[0][</a:t>
                      </a: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-&gt;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a[0][</a:t>
                      </a: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a[1][0]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a[2][0]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9538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a[1][0]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a[1][1]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a[0][</a:t>
                      </a: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a[1][1]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a[2][1]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9538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a[2][0]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a[2][1]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20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20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2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931224" cy="1143000"/>
          </a:xfr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vert="horz" anchor="ctr">
            <a:noAutofit/>
          </a:bodyPr>
          <a:lstStyle/>
          <a:p>
            <a:r>
              <a:rPr lang="ru-RU" sz="4000" b="1" dirty="0" smtClean="0"/>
              <a:t>Транспонирование матриц</a:t>
            </a:r>
            <a:endParaRPr lang="ru-RU" sz="4000" cap="none" dirty="0">
              <a:solidFill>
                <a:schemeClr val="tx1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972452" cy="487375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000" dirty="0" err="1" smtClean="0"/>
              <a:t>int</a:t>
            </a:r>
            <a:r>
              <a:rPr lang="en-US" sz="2000" dirty="0" smtClean="0"/>
              <a:t> a[3][2], b[2][3];</a:t>
            </a:r>
          </a:p>
          <a:p>
            <a:pPr>
              <a:buNone/>
            </a:pPr>
            <a:r>
              <a:rPr lang="pt-BR" sz="2000" dirty="0" smtClean="0"/>
              <a:t>int n = 3, m = 2;</a:t>
            </a:r>
          </a:p>
          <a:p>
            <a:pPr>
              <a:buNone/>
            </a:pPr>
            <a:endParaRPr lang="ru-RU" sz="2000" dirty="0" smtClean="0"/>
          </a:p>
          <a:p>
            <a:pPr>
              <a:buNone/>
            </a:pPr>
            <a:r>
              <a:rPr lang="nn-NO" sz="2000" dirty="0" smtClean="0"/>
              <a:t>for (i = 0; i &lt; n; i++)</a:t>
            </a:r>
          </a:p>
          <a:p>
            <a:pPr>
              <a:buNone/>
            </a:pPr>
            <a:r>
              <a:rPr lang="en-US" sz="2000" dirty="0" smtClean="0"/>
              <a:t>for (j = 0; j &lt; m; j++)</a:t>
            </a:r>
          </a:p>
          <a:p>
            <a:pPr>
              <a:buNone/>
            </a:pPr>
            <a:r>
              <a:rPr lang="ru-RU" sz="2000" dirty="0" smtClean="0"/>
              <a:t>{</a:t>
            </a:r>
          </a:p>
          <a:p>
            <a:pPr>
              <a:buNone/>
            </a:pPr>
            <a:r>
              <a:rPr lang="en-US" sz="2000" dirty="0" smtClean="0"/>
              <a:t>	b[j][</a:t>
            </a:r>
            <a:r>
              <a:rPr lang="en-US" sz="2000" dirty="0" err="1" smtClean="0"/>
              <a:t>i</a:t>
            </a:r>
            <a:r>
              <a:rPr lang="en-US" sz="2000" dirty="0" smtClean="0"/>
              <a:t>] = a[</a:t>
            </a:r>
            <a:r>
              <a:rPr lang="en-US" sz="2000" dirty="0" err="1" smtClean="0"/>
              <a:t>i</a:t>
            </a:r>
            <a:r>
              <a:rPr lang="en-US" sz="2000" dirty="0" smtClean="0"/>
              <a:t>][j];</a:t>
            </a:r>
          </a:p>
          <a:p>
            <a:pPr>
              <a:buNone/>
            </a:pPr>
            <a:r>
              <a:rPr lang="ru-RU" sz="2000" dirty="0" smtClean="0"/>
              <a:t>}</a:t>
            </a:r>
            <a:endParaRPr lang="ru-RU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  <a:buNone/>
            </a:pPr>
            <a:r>
              <a:rPr lang="ru-RU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pPr marL="174625" indent="-174625" algn="just">
              <a:spcBef>
                <a:spcPct val="50000"/>
              </a:spcBef>
              <a:buNone/>
            </a:pP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931224" cy="1143000"/>
          </a:xfr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vert="horz" anchor="ctr">
            <a:noAutofit/>
          </a:bodyPr>
          <a:lstStyle/>
          <a:p>
            <a:r>
              <a:rPr lang="ru-RU" sz="4000" b="1" dirty="0" smtClean="0"/>
              <a:t>Задачи</a:t>
            </a:r>
            <a:endParaRPr lang="ru-RU" sz="4000" cap="none" dirty="0">
              <a:solidFill>
                <a:schemeClr val="tx1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972452" cy="4873752"/>
          </a:xfrm>
        </p:spPr>
        <p:txBody>
          <a:bodyPr>
            <a:noAutofit/>
          </a:bodyPr>
          <a:lstStyle/>
          <a:p>
            <a:pPr marL="609600" indent="-609600"/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Найти сумму всех элементов матрицы размером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</a:p>
          <a:p>
            <a:pPr marL="609600" indent="-609600"/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Найти сумму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k-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ой строки матрицы</a:t>
            </a:r>
          </a:p>
          <a:p>
            <a:pPr marL="609600" indent="-609600"/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Найти сумму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-го столбца матрицы</a:t>
            </a:r>
          </a:p>
          <a:p>
            <a:pPr marL="609600" indent="-609600"/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Найти максимальный/минимальный элемент в матрице</a:t>
            </a:r>
          </a:p>
          <a:p>
            <a:pPr marL="609600" indent="-609600"/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Найти максимальный/минимальный элемент в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k-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ой строке/столбце матрицы</a:t>
            </a:r>
          </a:p>
          <a:p>
            <a:pPr marL="609600" indent="-609600"/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Найти строку с максимальной суммой элементов</a:t>
            </a:r>
          </a:p>
          <a:p>
            <a:pPr marL="609600" indent="-609600"/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Найти сумму под/над главной/побочной диагональю матрицы </a:t>
            </a:r>
            <a:r>
              <a:rPr lang="ru-RU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pPr marL="174625" indent="-174625" algn="just">
              <a:spcBef>
                <a:spcPct val="50000"/>
              </a:spcBef>
              <a:buNone/>
            </a:pP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Эркер">
  <a:themeElements>
    <a:clrScheme name="Эркер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Эркер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Эркер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798</TotalTime>
  <Words>1634</Words>
  <Application>Microsoft Office PowerPoint</Application>
  <PresentationFormat>Экран (4:3)</PresentationFormat>
  <Paragraphs>389</Paragraphs>
  <Slides>20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1" baseType="lpstr">
      <vt:lpstr>Эркер</vt:lpstr>
      <vt:lpstr>двумерные массивы</vt:lpstr>
      <vt:lpstr>Определение</vt:lpstr>
      <vt:lpstr>Синтаксис</vt:lpstr>
      <vt:lpstr>Представление двумерного массива</vt:lpstr>
      <vt:lpstr>Описание</vt:lpstr>
      <vt:lpstr>Ввод/вывод</vt:lpstr>
      <vt:lpstr>Примеры работы с матрицами</vt:lpstr>
      <vt:lpstr>Поиск max/min в строке/столбце</vt:lpstr>
      <vt:lpstr>Поиск max/min в строке/столбце</vt:lpstr>
      <vt:lpstr>Главная/побочная диагональ</vt:lpstr>
      <vt:lpstr>Главная/побочная диагональ</vt:lpstr>
      <vt:lpstr>Презентация PowerPoint</vt:lpstr>
      <vt:lpstr>Сложение матриц</vt:lpstr>
      <vt:lpstr>Сложение матриц</vt:lpstr>
      <vt:lpstr>Умножение матриц</vt:lpstr>
      <vt:lpstr>Умножение матриц</vt:lpstr>
      <vt:lpstr>Умножение матриц</vt:lpstr>
      <vt:lpstr>Транспонирование матриц</vt:lpstr>
      <vt:lpstr>Транспонирование матриц</vt:lpstr>
      <vt:lpstr>Задачи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Основы алгоритмизации и программирования</dc:title>
  <dc:creator>Alya</dc:creator>
  <cp:lastModifiedBy>Lektor</cp:lastModifiedBy>
  <cp:revision>123</cp:revision>
  <dcterms:created xsi:type="dcterms:W3CDTF">2018-09-01T04:15:48Z</dcterms:created>
  <dcterms:modified xsi:type="dcterms:W3CDTF">2020-10-08T10:11:12Z</dcterms:modified>
</cp:coreProperties>
</file>