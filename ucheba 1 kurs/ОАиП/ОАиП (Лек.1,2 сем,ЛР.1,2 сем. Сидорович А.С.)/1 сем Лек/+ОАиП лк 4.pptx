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7" r:id="rId2"/>
    <p:sldId id="316" r:id="rId3"/>
    <p:sldId id="296" r:id="rId4"/>
    <p:sldId id="298" r:id="rId5"/>
    <p:sldId id="299" r:id="rId6"/>
    <p:sldId id="300" r:id="rId7"/>
    <p:sldId id="302" r:id="rId8"/>
    <p:sldId id="303" r:id="rId9"/>
    <p:sldId id="304" r:id="rId10"/>
    <p:sldId id="305" r:id="rId11"/>
    <p:sldId id="306" r:id="rId12"/>
    <p:sldId id="307" r:id="rId13"/>
    <p:sldId id="308" r:id="rId1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706" autoAdjust="0"/>
  </p:normalViewPr>
  <p:slideViewPr>
    <p:cSldViewPr>
      <p:cViewPr varScale="1">
        <p:scale>
          <a:sx n="82" d="100"/>
          <a:sy n="82" d="100"/>
        </p:scale>
        <p:origin x="1474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AA513D18-3671-46C9-BA35-3400EEB352B8}" type="datetimeFigureOut">
              <a:rPr lang="ru-RU" smtClean="0"/>
              <a:pPr/>
              <a:t>22.11.2021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Прямоугольник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Прямоугольник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Прямая соединительная линия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Прямая соединительная линия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Прямая соединительная линия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Прямая соединительная линия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Прямоугольник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Овал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Овал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Овал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Овал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Овал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6E26E3AA-3A4A-4416-B5EC-18AF4FFC920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8" name="Содержимое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AA513D18-3671-46C9-BA35-3400EEB352B8}" type="datetimeFigureOut">
              <a:rPr lang="ru-RU" smtClean="0"/>
              <a:pPr/>
              <a:t>22.11.2021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6E26E3AA-3A4A-4416-B5EC-18AF4FFC920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AA513D18-3671-46C9-BA35-3400EEB352B8}" type="datetimeFigureOut">
              <a:rPr lang="ru-RU" smtClean="0"/>
              <a:pPr/>
              <a:t>22.11.2021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ru-RU"/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Прямая соединительная линия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Прямая соединительная линия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Прямая соединительная линия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Прямая соединительная линия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Овал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Овал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Овал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Овал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Овал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Прямая соединительная линия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6E26E3AA-3A4A-4416-B5EC-18AF4FFC920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13D18-3671-46C9-BA35-3400EEB352B8}" type="datetimeFigureOut">
              <a:rPr lang="ru-RU" smtClean="0"/>
              <a:pPr/>
              <a:t>22.11.2021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6E3AA-3A4A-4416-B5EC-18AF4FFC920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Содержимое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13D18-3671-46C9-BA35-3400EEB352B8}" type="datetimeFigureOut">
              <a:rPr lang="ru-RU" smtClean="0"/>
              <a:pPr/>
              <a:t>22.11.2021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6E3AA-3A4A-4416-B5EC-18AF4FFC920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14" name="Текст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6" name="Дата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AA513D18-3671-46C9-BA35-3400EEB352B8}" type="datetimeFigureOut">
              <a:rPr lang="ru-RU" smtClean="0"/>
              <a:pPr/>
              <a:t>22.11.2021</a:t>
            </a:fld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6E26E3AA-3A4A-4416-B5EC-18AF4FFC920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13D18-3671-46C9-BA35-3400EEB352B8}" type="datetimeFigureOut">
              <a:rPr lang="ru-RU" smtClean="0"/>
              <a:pPr/>
              <a:t>22.11.2021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6E3AA-3A4A-4416-B5EC-18AF4FFC920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Прямая соединительная линия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Овал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Содержимое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21" name="Дата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AA513D18-3671-46C9-BA35-3400EEB352B8}" type="datetimeFigureOut">
              <a:rPr lang="ru-RU" smtClean="0"/>
              <a:pPr/>
              <a:t>22.11.2021</a:t>
            </a:fld>
            <a:endParaRPr lang="ru-RU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6E26E3AA-3A4A-4416-B5EC-18AF4FFC920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3" name="Нижний колонтитул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Овал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ru-RU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ая соединительная линия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Прямая соединительная линия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Прямая соединительная линия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Дата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AA513D18-3671-46C9-BA35-3400EEB352B8}" type="datetimeFigureOut">
              <a:rPr lang="ru-RU" smtClean="0"/>
              <a:pPr/>
              <a:t>22.11.2021</a:t>
            </a:fld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6E26E3AA-3A4A-4416-B5EC-18AF4FFC920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1" name="Нижний колонтитул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13D18-3671-46C9-BA35-3400EEB352B8}" type="datetimeFigureOut">
              <a:rPr lang="ru-RU" smtClean="0"/>
              <a:pPr/>
              <a:t>22.11.2021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6E3AA-3A4A-4416-B5EC-18AF4FFC920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13D18-3671-46C9-BA35-3400EEB352B8}" type="datetimeFigureOut">
              <a:rPr lang="ru-RU" smtClean="0"/>
              <a:pPr/>
              <a:t>22.11.2021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6E3AA-3A4A-4416-B5EC-18AF4FFC920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AA513D18-3671-46C9-BA35-3400EEB352B8}" type="datetimeFigureOut">
              <a:rPr lang="ru-RU" smtClean="0"/>
              <a:pPr/>
              <a:t>22.11.2021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Овал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6E26E3AA-3A4A-4416-B5EC-18AF4FFC9209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714480" y="1000108"/>
            <a:ext cx="7072362" cy="2375380"/>
          </a:xfrm>
        </p:spPr>
        <p:txBody>
          <a:bodyPr>
            <a:noAutofit/>
          </a:bodyPr>
          <a:lstStyle/>
          <a:p>
            <a:pPr algn="just"/>
            <a:r>
              <a:rPr lang="ru-RU" sz="4800" dirty="0">
                <a:solidFill>
                  <a:schemeClr val="tx1"/>
                </a:solidFill>
              </a:rPr>
              <a:t>Циклы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31224" cy="1143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r>
              <a:rPr lang="ru-RU" sz="4000" cap="none" dirty="0">
                <a:solidFill>
                  <a:schemeClr val="tx1"/>
                </a:solidFill>
              </a:rPr>
              <a:t>Виды циклов</a:t>
            </a:r>
            <a:endParaRPr lang="ru-RU" sz="4000" dirty="0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500034" y="1530344"/>
            <a:ext cx="3286148" cy="135732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 предусловием</a:t>
            </a: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2779738" y="3000372"/>
            <a:ext cx="3286148" cy="135732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Со счетчиком</a:t>
            </a: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4929190" y="1530344"/>
            <a:ext cx="3286148" cy="135732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 постусловием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500034" y="4857760"/>
            <a:ext cx="771530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Одна или более (составная) инструкция, входящая в блок цикла, называется “телом цикла”. Однократное выполнение инструкций цикла (шаг) называется 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итерацией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31224" cy="1143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r>
              <a:rPr lang="ru-RU" sz="4000" cap="none" dirty="0">
                <a:solidFill>
                  <a:schemeClr val="tx1"/>
                </a:solidFill>
              </a:rPr>
              <a:t>Цикл с предусловием</a:t>
            </a:r>
            <a:endParaRPr lang="ru-RU" sz="4000" dirty="0"/>
          </a:p>
        </p:txBody>
      </p:sp>
      <p:pic>
        <p:nvPicPr>
          <p:cNvPr id="55298" name="Picture 2" descr="http://inf-w.ru/wp-content/uploads/2015/08/15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86314" y="1500174"/>
            <a:ext cx="3390900" cy="4371975"/>
          </a:xfrm>
          <a:prstGeom prst="rect">
            <a:avLst/>
          </a:prstGeom>
          <a:noFill/>
        </p:spPr>
      </p:pic>
      <p:sp>
        <p:nvSpPr>
          <p:cNvPr id="55299" name="Rectangle 3"/>
          <p:cNvSpPr>
            <a:spLocks noChangeArrowheads="1"/>
          </p:cNvSpPr>
          <p:nvPr/>
        </p:nvSpPr>
        <p:spPr bwMode="auto">
          <a:xfrm>
            <a:off x="500034" y="1714488"/>
            <a:ext cx="4500594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latin typeface="Courier New" pitchFamily="49" charset="0"/>
                <a:cs typeface="Courier New" pitchFamily="49" charset="0"/>
              </a:rPr>
              <a:t>w</a:t>
            </a:r>
            <a:r>
              <a:rPr kumimoji="0" lang="ru-RU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hile</a:t>
            </a:r>
            <a:r>
              <a:rPr kumimoji="0" lang="ru-RU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ru-RU" sz="3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условие</a:t>
            </a:r>
            <a:r>
              <a:rPr kumimoji="0" lang="ru-RU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) { </a:t>
            </a:r>
            <a:endParaRPr kumimoji="0" 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  <a:cs typeface="Courier New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	</a:t>
            </a:r>
            <a:r>
              <a:rPr kumimoji="0" lang="ru-RU" sz="3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Инструкции </a:t>
            </a:r>
            <a:r>
              <a:rPr kumimoji="0" lang="en-US" sz="3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	</a:t>
            </a:r>
            <a:r>
              <a:rPr kumimoji="0" lang="ru-RU" sz="3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тела цикла</a:t>
            </a:r>
            <a:r>
              <a:rPr kumimoji="0" lang="ru-RU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  <a:endParaRPr kumimoji="0" 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  <a:cs typeface="Courier New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}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31224" cy="1143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r>
              <a:rPr lang="ru-RU" sz="4000" cap="none" dirty="0">
                <a:solidFill>
                  <a:schemeClr val="tx1"/>
                </a:solidFill>
              </a:rPr>
              <a:t>Цикл с предусловием</a:t>
            </a:r>
            <a:endParaRPr lang="ru-RU" sz="4000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931224" cy="4873752"/>
          </a:xfrm>
        </p:spPr>
        <p:txBody>
          <a:bodyPr>
            <a:normAutofit/>
          </a:bodyPr>
          <a:lstStyle/>
          <a:p>
            <a:pPr marL="0" indent="358775" algn="just">
              <a:spcBef>
                <a:spcPct val="20000"/>
              </a:spcBef>
              <a:defRPr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Условие выхода из цикла должно быть скалярным выражением.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358775" algn="just">
              <a:spcBef>
                <a:spcPct val="20000"/>
              </a:spcBef>
              <a:defRPr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Пока условие имеет значение, отличное от нуля или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true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выполняется тело цикла;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358775" algn="just">
              <a:spcBef>
                <a:spcPct val="20000"/>
              </a:spcBef>
              <a:defRPr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Если проверяемое условие ложно изначально, то инструкции, входящие в тело цикла, не выполняются, а выполняются инструкции, находящиеся за блоком;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358775" algn="just">
              <a:spcBef>
                <a:spcPct val="20000"/>
              </a:spcBef>
              <a:defRPr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Если в теле цикла только одна инструкция, то { } можно опустить;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358775" algn="just">
              <a:spcBef>
                <a:spcPct val="20000"/>
              </a:spcBef>
              <a:defRPr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“Бесконечный цикл” можно организовать следующими условиями: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while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true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) {} или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while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(1) {}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31224" cy="1143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r>
              <a:rPr lang="ru-RU" sz="4000" cap="none" dirty="0">
                <a:solidFill>
                  <a:schemeClr val="tx1"/>
                </a:solidFill>
              </a:rPr>
              <a:t>Пример</a:t>
            </a:r>
            <a:endParaRPr lang="ru-RU" sz="4000" dirty="0"/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347" y="1560624"/>
            <a:ext cx="2905057" cy="5011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Поле 1"/>
          <p:cNvSpPr txBox="1"/>
          <p:nvPr/>
        </p:nvSpPr>
        <p:spPr>
          <a:xfrm>
            <a:off x="428596" y="1571612"/>
            <a:ext cx="5286412" cy="4572032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en-US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urier New" pitchFamily="49" charset="0"/>
                <a:ea typeface="Calibri"/>
                <a:cs typeface="Courier New" pitchFamily="49" charset="0"/>
              </a:rPr>
              <a:t>#include</a:t>
            </a:r>
            <a:r>
              <a:rPr lang="en-US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urier New" pitchFamily="49" charset="0"/>
                <a:ea typeface="Calibri"/>
                <a:cs typeface="Courier New" pitchFamily="49" charset="0"/>
              </a:rPr>
              <a:t>&lt;</a:t>
            </a:r>
            <a:r>
              <a:rPr lang="en-US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urier New" pitchFamily="49" charset="0"/>
                <a:ea typeface="Calibri"/>
                <a:cs typeface="Courier New" pitchFamily="49" charset="0"/>
              </a:rPr>
              <a:t>stdio.h</a:t>
            </a:r>
            <a:r>
              <a:rPr lang="en-US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urier New" pitchFamily="49" charset="0"/>
                <a:ea typeface="Calibri"/>
                <a:cs typeface="Courier New" pitchFamily="49" charset="0"/>
              </a:rPr>
              <a:t>&gt;</a:t>
            </a:r>
            <a:endParaRPr lang="ru-RU" dirty="0">
              <a:effectLst/>
              <a:latin typeface="Courier New" pitchFamily="49" charset="0"/>
              <a:ea typeface="Calibri"/>
              <a:cs typeface="Courier New" pitchFamily="49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en-US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urier New" pitchFamily="49" charset="0"/>
                <a:ea typeface="Calibri"/>
                <a:cs typeface="Courier New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itchFamily="49" charset="0"/>
                <a:ea typeface="Calibri"/>
                <a:cs typeface="Courier New" pitchFamily="49" charset="0"/>
              </a:rPr>
              <a:t> main()</a:t>
            </a:r>
            <a:endParaRPr lang="ru-RU" dirty="0">
              <a:effectLst/>
              <a:latin typeface="Courier New" pitchFamily="49" charset="0"/>
              <a:ea typeface="Calibri"/>
              <a:cs typeface="Courier New" pitchFamily="49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itchFamily="49" charset="0"/>
                <a:ea typeface="Calibri"/>
                <a:cs typeface="Courier New" pitchFamily="49" charset="0"/>
              </a:rPr>
              <a:t>{   </a:t>
            </a: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highlight>
                  <a:srgbClr val="FFFFFF"/>
                </a:highlight>
                <a:latin typeface="Courier New" pitchFamily="49" charset="0"/>
                <a:ea typeface="Calibri"/>
                <a:cs typeface="Courier New" pitchFamily="49" charset="0"/>
              </a:rPr>
              <a:t>    </a:t>
            </a:r>
            <a:r>
              <a:rPr lang="ru-RU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urier New" pitchFamily="49" charset="0"/>
                <a:ea typeface="Calibri"/>
                <a:cs typeface="Courier New" pitchFamily="49" charset="0"/>
              </a:rPr>
              <a:t>int</a:t>
            </a:r>
            <a:r>
              <a:rPr lang="ru-RU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itchFamily="49" charset="0"/>
                <a:ea typeface="Calibri"/>
                <a:cs typeface="Courier New" pitchFamily="49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itchFamily="49" charset="0"/>
                <a:ea typeface="Calibri"/>
                <a:cs typeface="Courier New" pitchFamily="49" charset="0"/>
              </a:rPr>
              <a:t>speed</a:t>
            </a:r>
            <a:r>
              <a:rPr lang="ru-RU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itchFamily="49" charset="0"/>
                <a:ea typeface="Calibri"/>
                <a:cs typeface="Courier New" pitchFamily="49" charset="0"/>
              </a:rPr>
              <a:t> = 5; </a:t>
            </a:r>
            <a:endParaRPr lang="ru-RU" dirty="0">
              <a:solidFill>
                <a:srgbClr val="008000"/>
              </a:solidFill>
              <a:effectLst/>
              <a:highlight>
                <a:srgbClr val="FFFFFF"/>
              </a:highlight>
              <a:latin typeface="Courier New" pitchFamily="49" charset="0"/>
              <a:ea typeface="Calibri"/>
              <a:cs typeface="Courier New" pitchFamily="49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ru-RU" dirty="0">
                <a:solidFill>
                  <a:srgbClr val="008000"/>
                </a:solidFill>
                <a:highlight>
                  <a:srgbClr val="FFFFFF"/>
                </a:highlight>
                <a:latin typeface="Courier New" pitchFamily="49" charset="0"/>
                <a:ea typeface="Calibri"/>
                <a:cs typeface="Courier New" pitchFamily="49" charset="0"/>
              </a:rPr>
              <a:t>    </a:t>
            </a:r>
            <a:r>
              <a:rPr lang="ru-RU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urier New" pitchFamily="49" charset="0"/>
                <a:ea typeface="Calibri"/>
                <a:cs typeface="Courier New" pitchFamily="49" charset="0"/>
              </a:rPr>
              <a:t>while</a:t>
            </a:r>
            <a:r>
              <a:rPr lang="ru-RU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itchFamily="49" charset="0"/>
                <a:ea typeface="Calibri"/>
                <a:cs typeface="Courier New" pitchFamily="49" charset="0"/>
              </a:rPr>
              <a:t> ( </a:t>
            </a:r>
            <a:r>
              <a:rPr lang="ru-RU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itchFamily="49" charset="0"/>
                <a:ea typeface="Calibri"/>
                <a:cs typeface="Courier New" pitchFamily="49" charset="0"/>
              </a:rPr>
              <a:t>speed</a:t>
            </a:r>
            <a:r>
              <a:rPr lang="ru-RU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itchFamily="49" charset="0"/>
                <a:ea typeface="Calibri"/>
                <a:cs typeface="Courier New" pitchFamily="49" charset="0"/>
              </a:rPr>
              <a:t> &lt; 60 )</a:t>
            </a:r>
            <a:endParaRPr lang="ru-RU" dirty="0">
              <a:effectLst/>
              <a:latin typeface="Courier New" pitchFamily="49" charset="0"/>
              <a:ea typeface="Calibri"/>
              <a:cs typeface="Courier New" pitchFamily="49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itchFamily="49" charset="0"/>
                <a:ea typeface="Calibri"/>
                <a:cs typeface="Courier New" pitchFamily="49" charset="0"/>
              </a:rPr>
              <a:t>    {</a:t>
            </a:r>
            <a:endParaRPr lang="ru-RU" dirty="0">
              <a:effectLst/>
              <a:latin typeface="Courier New" pitchFamily="49" charset="0"/>
              <a:ea typeface="Calibri"/>
              <a:cs typeface="Courier New" pitchFamily="49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itchFamily="49" charset="0"/>
                <a:ea typeface="Calibri"/>
                <a:cs typeface="Courier New" pitchFamily="49" charset="0"/>
              </a:rPr>
              <a:t>        </a:t>
            </a:r>
            <a:r>
              <a:rPr lang="ru-RU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itchFamily="49" charset="0"/>
                <a:ea typeface="Calibri"/>
                <a:cs typeface="Courier New" pitchFamily="49" charset="0"/>
              </a:rPr>
              <a:t>speed</a:t>
            </a:r>
            <a:r>
              <a:rPr lang="ru-RU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itchFamily="49" charset="0"/>
                <a:ea typeface="Calibri"/>
                <a:cs typeface="Courier New" pitchFamily="49" charset="0"/>
              </a:rPr>
              <a:t> += 10; </a:t>
            </a:r>
            <a:endParaRPr lang="ru-RU" dirty="0">
              <a:effectLst/>
              <a:latin typeface="Courier New" pitchFamily="49" charset="0"/>
              <a:ea typeface="Calibri"/>
              <a:cs typeface="Courier New" pitchFamily="49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highlight>
                  <a:srgbClr val="FFFFFF"/>
                </a:highlight>
                <a:latin typeface="Courier New" pitchFamily="49" charset="0"/>
                <a:ea typeface="Calibri"/>
                <a:cs typeface="Courier New" pitchFamily="49" charset="0"/>
              </a:rPr>
              <a:t>        </a:t>
            </a:r>
            <a:r>
              <a:rPr lang="ru-RU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itchFamily="49" charset="0"/>
                <a:ea typeface="Calibri"/>
                <a:cs typeface="Courier New" pitchFamily="49" charset="0"/>
              </a:rPr>
              <a:t>printf</a:t>
            </a:r>
            <a:r>
              <a:rPr lang="ru-RU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itchFamily="49" charset="0"/>
                <a:ea typeface="Calibri"/>
                <a:cs typeface="Courier New" pitchFamily="49" charset="0"/>
              </a:rPr>
              <a:t>(</a:t>
            </a:r>
            <a:r>
              <a:rPr lang="ru-RU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urier New" pitchFamily="49" charset="0"/>
                <a:ea typeface="Calibri"/>
                <a:cs typeface="Courier New" pitchFamily="49" charset="0"/>
              </a:rPr>
              <a:t>"</a:t>
            </a:r>
            <a:r>
              <a:rPr lang="ru-RU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urier New" pitchFamily="49" charset="0"/>
                <a:ea typeface="Calibri"/>
                <a:cs typeface="Courier New" pitchFamily="49" charset="0"/>
              </a:rPr>
              <a:t>speed</a:t>
            </a:r>
            <a:r>
              <a:rPr lang="ru-RU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urier New" pitchFamily="49" charset="0"/>
                <a:ea typeface="Calibri"/>
                <a:cs typeface="Courier New" pitchFamily="49" charset="0"/>
              </a:rPr>
              <a:t> </a:t>
            </a:r>
            <a:r>
              <a:rPr lang="ru-RU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urier New" pitchFamily="49" charset="0"/>
                <a:ea typeface="Calibri"/>
                <a:cs typeface="Courier New" pitchFamily="49" charset="0"/>
              </a:rPr>
              <a:t>=%d\n</a:t>
            </a:r>
            <a:r>
              <a:rPr lang="ru-RU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urier New" pitchFamily="49" charset="0"/>
                <a:ea typeface="Calibri"/>
                <a:cs typeface="Courier New" pitchFamily="49" charset="0"/>
              </a:rPr>
              <a:t>«</a:t>
            </a:r>
            <a:r>
              <a:rPr lang="ru-RU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itchFamily="49" charset="0"/>
                <a:ea typeface="Calibri"/>
                <a:cs typeface="Courier New" pitchFamily="49" charset="0"/>
              </a:rPr>
              <a:t>,</a:t>
            </a:r>
            <a:r>
              <a:rPr lang="ru-RU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itchFamily="49" charset="0"/>
                <a:ea typeface="Calibri"/>
                <a:cs typeface="Courier New" pitchFamily="49" charset="0"/>
              </a:rPr>
              <a:t>speed</a:t>
            </a:r>
            <a:r>
              <a:rPr lang="ru-RU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itchFamily="49" charset="0"/>
                <a:ea typeface="Calibri"/>
                <a:cs typeface="Courier New" pitchFamily="49" charset="0"/>
              </a:rPr>
              <a:t>);</a:t>
            </a:r>
            <a:endParaRPr lang="ru-RU" dirty="0">
              <a:effectLst/>
              <a:latin typeface="Courier New" pitchFamily="49" charset="0"/>
              <a:ea typeface="Calibri"/>
              <a:cs typeface="Courier New" pitchFamily="49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itchFamily="49" charset="0"/>
                <a:ea typeface="Calibri"/>
                <a:cs typeface="Courier New" pitchFamily="49" charset="0"/>
              </a:rPr>
              <a:t>    }</a:t>
            </a:r>
            <a:endParaRPr lang="ru-RU" dirty="0">
              <a:effectLst/>
              <a:latin typeface="Courier New" pitchFamily="49" charset="0"/>
              <a:ea typeface="Calibri"/>
              <a:cs typeface="Courier New" pitchFamily="49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ru-RU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itchFamily="49" charset="0"/>
                <a:ea typeface="Calibri"/>
                <a:cs typeface="Courier New" pitchFamily="49" charset="0"/>
              </a:rPr>
              <a:t>}</a:t>
            </a:r>
            <a:endParaRPr lang="ru-RU" dirty="0">
              <a:effectLst/>
              <a:latin typeface="Courier New" pitchFamily="49" charset="0"/>
              <a:ea typeface="Calibri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31224" cy="1143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r>
              <a:rPr lang="ru-RU" sz="4000" cap="none" dirty="0">
                <a:solidFill>
                  <a:schemeClr val="tx1"/>
                </a:solidFill>
              </a:rPr>
              <a:t>Задание</a:t>
            </a:r>
            <a:endParaRPr lang="ru-RU" sz="4000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931224" cy="4873752"/>
          </a:xfrm>
        </p:spPr>
        <p:txBody>
          <a:bodyPr>
            <a:normAutofit/>
          </a:bodyPr>
          <a:lstStyle/>
          <a:p>
            <a:pPr marL="0" lvl="0" indent="358775" algn="just">
              <a:spcBef>
                <a:spcPct val="20000"/>
              </a:spcBef>
              <a:buClrTx/>
              <a:buSzTx/>
              <a:buNone/>
              <a:defRPr/>
            </a:pPr>
            <a:r>
              <a:rPr lang="ru-RU" sz="3200" i="1" dirty="0">
                <a:latin typeface="Times New Roman" pitchFamily="18" charset="0"/>
                <a:cs typeface="Times New Roman" pitchFamily="18" charset="0"/>
              </a:rPr>
              <a:t>Разработать алгоритм и написать программу вычисляющую сумму чисел от </a:t>
            </a:r>
            <a:r>
              <a:rPr lang="en-US" sz="3200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sz="3200" i="1" dirty="0">
                <a:latin typeface="Times New Roman" pitchFamily="18" charset="0"/>
                <a:cs typeface="Times New Roman" pitchFamily="18" charset="0"/>
              </a:rPr>
              <a:t> до</a:t>
            </a:r>
            <a:r>
              <a:rPr lang="en-US" sz="3200" i="1" dirty="0">
                <a:latin typeface="Times New Roman" pitchFamily="18" charset="0"/>
                <a:cs typeface="Times New Roman" pitchFamily="18" charset="0"/>
              </a:rPr>
              <a:t> b</a:t>
            </a:r>
            <a:endParaRPr lang="ru-RU" sz="3200" i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31224" cy="1143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r>
              <a:rPr lang="ru-RU" sz="4000" cap="none" dirty="0">
                <a:solidFill>
                  <a:schemeClr val="tx1"/>
                </a:solidFill>
              </a:rPr>
              <a:t>Цикл с постусловием</a:t>
            </a:r>
            <a:endParaRPr lang="ru-RU" sz="4000" dirty="0"/>
          </a:p>
        </p:txBody>
      </p:sp>
      <p:pic>
        <p:nvPicPr>
          <p:cNvPr id="49154" name="Picture 2" descr="http://inf-w.ru/wp-content/uploads/2015/08/16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81635" y="1428736"/>
            <a:ext cx="3362331" cy="4985967"/>
          </a:xfrm>
          <a:prstGeom prst="rect">
            <a:avLst/>
          </a:prstGeom>
          <a:noFill/>
        </p:spPr>
      </p:pic>
      <p:sp>
        <p:nvSpPr>
          <p:cNvPr id="49155" name="Rectangle 3"/>
          <p:cNvSpPr>
            <a:spLocks noChangeArrowheads="1"/>
          </p:cNvSpPr>
          <p:nvPr/>
        </p:nvSpPr>
        <p:spPr bwMode="auto">
          <a:xfrm>
            <a:off x="500034" y="1785926"/>
            <a:ext cx="4929222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do</a:t>
            </a:r>
            <a:r>
              <a:rPr kumimoji="0" 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{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Инструкции тела цикла;</a:t>
            </a:r>
            <a:r>
              <a:rPr kumimoji="0" 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} </a:t>
            </a:r>
            <a:r>
              <a:rPr kumimoji="0" 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while</a:t>
            </a:r>
            <a:r>
              <a:rPr kumimoji="0" 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ru-RU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условие</a:t>
            </a:r>
            <a:r>
              <a:rPr kumimoji="0" 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);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31224" cy="1143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r>
              <a:rPr lang="ru-RU" sz="4000" cap="none" dirty="0">
                <a:solidFill>
                  <a:schemeClr val="tx1"/>
                </a:solidFill>
              </a:rPr>
              <a:t>Цикл с постусловием</a:t>
            </a:r>
            <a:endParaRPr lang="ru-RU" sz="4000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931224" cy="4873752"/>
          </a:xfrm>
        </p:spPr>
        <p:txBody>
          <a:bodyPr>
            <a:normAutofit fontScale="92500"/>
          </a:bodyPr>
          <a:lstStyle/>
          <a:p>
            <a:pPr algn="just"/>
            <a:r>
              <a:rPr lang="ru-RU" sz="3200" dirty="0"/>
              <a:t>Тело цикла (одна или более инструкций) будет выполнено хотя бы один раз;</a:t>
            </a:r>
          </a:p>
          <a:p>
            <a:pPr algn="just"/>
            <a:r>
              <a:rPr lang="ru-RU" sz="3200" dirty="0"/>
              <a:t>Пока условие имеет значение, отличное от нуля или </a:t>
            </a:r>
            <a:r>
              <a:rPr lang="ru-RU" sz="3200" dirty="0" err="1"/>
              <a:t>true</a:t>
            </a:r>
            <a:r>
              <a:rPr lang="ru-RU" sz="3200" dirty="0"/>
              <a:t> - выполняется тело цикла;</a:t>
            </a:r>
          </a:p>
          <a:p>
            <a:pPr algn="just"/>
            <a:r>
              <a:rPr lang="ru-RU" sz="3200" dirty="0"/>
              <a:t>Если проверяемое условие ложно изначально, то инструкции, входящие в тело цикла, будут выполнены один раз, затем произойдет выход из цикла.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31224" cy="1143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r>
              <a:rPr lang="ru-RU" sz="4000" cap="none" dirty="0">
                <a:solidFill>
                  <a:schemeClr val="tx1"/>
                </a:solidFill>
              </a:rPr>
              <a:t>Пример</a:t>
            </a:r>
            <a:endParaRPr lang="ru-RU" sz="4000" dirty="0"/>
          </a:p>
        </p:txBody>
      </p:sp>
      <p:sp>
        <p:nvSpPr>
          <p:cNvPr id="5" name="Поле 1"/>
          <p:cNvSpPr txBox="1"/>
          <p:nvPr/>
        </p:nvSpPr>
        <p:spPr>
          <a:xfrm>
            <a:off x="500034" y="1534294"/>
            <a:ext cx="5040560" cy="3960440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00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/>
                <a:ea typeface="Calibri"/>
                <a:cs typeface="Times New Roman"/>
              </a:rPr>
              <a:t>#include</a:t>
            </a:r>
            <a:r>
              <a:rPr lang="en-US" sz="200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/>
                <a:ea typeface="Calibri"/>
                <a:cs typeface="Times New Roman"/>
              </a:rPr>
              <a:t>&lt;</a:t>
            </a:r>
            <a:r>
              <a:rPr lang="en-US" sz="200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/>
                <a:ea typeface="Calibri"/>
                <a:cs typeface="Times New Roman"/>
              </a:rPr>
              <a:t>stdio.h</a:t>
            </a:r>
            <a:r>
              <a:rPr lang="en-US" sz="200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/>
                <a:ea typeface="Calibri"/>
                <a:cs typeface="Times New Roman"/>
              </a:rPr>
              <a:t>&gt;</a:t>
            </a:r>
            <a:endParaRPr lang="ru-RU" sz="3200" dirty="0">
              <a:effectLst/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00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/>
                <a:ea typeface="Calibri"/>
                <a:cs typeface="Times New Roman"/>
              </a:rPr>
              <a:t>int</a:t>
            </a:r>
            <a:r>
              <a:rPr lang="en-US" sz="20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/>
                <a:ea typeface="Calibri"/>
                <a:cs typeface="Times New Roman"/>
              </a:rPr>
              <a:t> main()</a:t>
            </a:r>
            <a:endParaRPr lang="ru-RU" sz="3200" dirty="0">
              <a:effectLst/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0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/>
                <a:ea typeface="Calibri"/>
                <a:cs typeface="Times New Roman"/>
              </a:rPr>
              <a:t>{</a:t>
            </a:r>
            <a:endParaRPr lang="ru-RU" sz="3200" dirty="0">
              <a:effectLst/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0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/>
                <a:ea typeface="Calibri"/>
                <a:cs typeface="Times New Roman"/>
              </a:rPr>
              <a:t>    </a:t>
            </a:r>
            <a:r>
              <a:rPr lang="en-US" sz="200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/>
                <a:ea typeface="Calibri"/>
                <a:cs typeface="Times New Roman"/>
              </a:rPr>
              <a:t>int</a:t>
            </a:r>
            <a:r>
              <a:rPr lang="en-US" sz="20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/>
                <a:ea typeface="Calibri"/>
                <a:cs typeface="Times New Roman"/>
              </a:rPr>
              <a:t> month; </a:t>
            </a:r>
            <a:r>
              <a:rPr lang="en-US" sz="200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/>
                <a:ea typeface="Calibri"/>
                <a:cs typeface="Times New Roman"/>
              </a:rPr>
              <a:t>//</a:t>
            </a:r>
            <a:r>
              <a:rPr lang="ru-RU" sz="200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/>
                <a:ea typeface="Calibri"/>
                <a:cs typeface="Times New Roman"/>
              </a:rPr>
              <a:t>месяц </a:t>
            </a:r>
            <a:endParaRPr lang="ru-RU" sz="3200" dirty="0">
              <a:effectLst/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0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/>
                <a:ea typeface="Calibri"/>
                <a:cs typeface="Times New Roman"/>
              </a:rPr>
              <a:t>    </a:t>
            </a:r>
            <a:r>
              <a:rPr lang="en-US" sz="200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/>
                <a:ea typeface="Calibri"/>
                <a:cs typeface="Times New Roman"/>
              </a:rPr>
              <a:t>do</a:t>
            </a:r>
            <a:endParaRPr lang="ru-RU" sz="3200" dirty="0">
              <a:effectLst/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0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/>
                <a:ea typeface="Calibri"/>
                <a:cs typeface="Times New Roman"/>
              </a:rPr>
              <a:t>    {</a:t>
            </a:r>
            <a:endParaRPr lang="ru-RU" sz="3200" dirty="0">
              <a:effectLst/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0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/>
                <a:ea typeface="Calibri"/>
                <a:cs typeface="Times New Roman"/>
              </a:rPr>
              <a:t>	</a:t>
            </a:r>
            <a:r>
              <a:rPr lang="en-US" sz="20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/>
                <a:ea typeface="Calibri"/>
                <a:cs typeface="Times New Roman"/>
              </a:rPr>
              <a:t>printf</a:t>
            </a:r>
            <a:r>
              <a:rPr lang="en-US" sz="20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/>
                <a:ea typeface="Calibri"/>
                <a:cs typeface="Times New Roman"/>
              </a:rPr>
              <a:t>(</a:t>
            </a:r>
            <a:r>
              <a:rPr lang="en-US" sz="200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/>
                <a:ea typeface="Calibri"/>
                <a:cs typeface="Times New Roman"/>
              </a:rPr>
              <a:t>"enter the month "</a:t>
            </a:r>
            <a:r>
              <a:rPr lang="en-US" sz="20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/>
                <a:ea typeface="Calibri"/>
                <a:cs typeface="Times New Roman"/>
              </a:rPr>
              <a:t>);</a:t>
            </a:r>
            <a:endParaRPr lang="ru-RU" sz="3200" dirty="0">
              <a:effectLst/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0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/>
                <a:ea typeface="Calibri"/>
                <a:cs typeface="Times New Roman"/>
              </a:rPr>
              <a:t>	</a:t>
            </a:r>
            <a:r>
              <a:rPr lang="en-US" sz="20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/>
                <a:ea typeface="Calibri"/>
                <a:cs typeface="Times New Roman"/>
              </a:rPr>
              <a:t>scanf</a:t>
            </a:r>
            <a:r>
              <a:rPr lang="en-US" sz="20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/>
                <a:ea typeface="Calibri"/>
                <a:cs typeface="Times New Roman"/>
              </a:rPr>
              <a:t> (</a:t>
            </a:r>
            <a:r>
              <a:rPr lang="en-US" sz="200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/>
                <a:ea typeface="Calibri"/>
                <a:cs typeface="Times New Roman"/>
              </a:rPr>
              <a:t>"%d"</a:t>
            </a:r>
            <a:r>
              <a:rPr lang="en-US" sz="20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/>
                <a:ea typeface="Calibri"/>
                <a:cs typeface="Times New Roman"/>
              </a:rPr>
              <a:t>, &amp;month);</a:t>
            </a:r>
            <a:endParaRPr lang="ru-RU" sz="3200" dirty="0">
              <a:effectLst/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0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/>
                <a:ea typeface="Calibri"/>
                <a:cs typeface="Times New Roman"/>
              </a:rPr>
              <a:t>    } </a:t>
            </a:r>
            <a:r>
              <a:rPr lang="en-US" sz="200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/>
                <a:ea typeface="Calibri"/>
                <a:cs typeface="Times New Roman"/>
              </a:rPr>
              <a:t>while</a:t>
            </a:r>
            <a:r>
              <a:rPr lang="en-US" sz="20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/>
                <a:ea typeface="Calibri"/>
                <a:cs typeface="Times New Roman"/>
              </a:rPr>
              <a:t>(month&lt;1 || month&gt;12);</a:t>
            </a:r>
            <a:endParaRPr lang="ru-RU" sz="3200" dirty="0">
              <a:effectLst/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alibri"/>
                <a:cs typeface="Times New Roman"/>
              </a:rPr>
              <a:t>    </a:t>
            </a:r>
            <a:r>
              <a:rPr lang="ru-RU" sz="20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/>
                <a:ea typeface="Calibri"/>
                <a:cs typeface="Times New Roman"/>
              </a:rPr>
              <a:t>printf</a:t>
            </a:r>
            <a:r>
              <a:rPr lang="ru-RU" sz="20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/>
                <a:ea typeface="Calibri"/>
                <a:cs typeface="Times New Roman"/>
              </a:rPr>
              <a:t>(</a:t>
            </a:r>
            <a:r>
              <a:rPr lang="ru-RU" sz="200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/>
                <a:ea typeface="Calibri"/>
                <a:cs typeface="Times New Roman"/>
              </a:rPr>
              <a:t>"</a:t>
            </a:r>
            <a:r>
              <a:rPr lang="ru-RU" sz="200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/>
                <a:ea typeface="Calibri"/>
                <a:cs typeface="Times New Roman"/>
              </a:rPr>
              <a:t>month</a:t>
            </a:r>
            <a:r>
              <a:rPr lang="ru-RU" sz="200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/>
                <a:ea typeface="Calibri"/>
                <a:cs typeface="Times New Roman"/>
              </a:rPr>
              <a:t>= %d"</a:t>
            </a:r>
            <a:r>
              <a:rPr lang="ru-RU" sz="20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/>
                <a:ea typeface="Calibri"/>
                <a:cs typeface="Times New Roman"/>
              </a:rPr>
              <a:t>, </a:t>
            </a:r>
            <a:r>
              <a:rPr lang="ru-RU" sz="20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/>
                <a:ea typeface="Calibri"/>
                <a:cs typeface="Times New Roman"/>
              </a:rPr>
              <a:t>month</a:t>
            </a:r>
            <a:r>
              <a:rPr lang="ru-RU" sz="20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/>
                <a:ea typeface="Calibri"/>
                <a:cs typeface="Times New Roman"/>
              </a:rPr>
              <a:t>);</a:t>
            </a:r>
            <a:endParaRPr lang="ru-RU" sz="3200" dirty="0">
              <a:effectLst/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u-RU" sz="20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/>
                <a:ea typeface="Calibri"/>
                <a:cs typeface="Times New Roman"/>
              </a:rPr>
              <a:t>}</a:t>
            </a:r>
            <a:endParaRPr lang="ru-RU" sz="2000" dirty="0">
              <a:effectLst/>
              <a:ea typeface="Calibri"/>
              <a:cs typeface="Times New Roman"/>
            </a:endParaRPr>
          </a:p>
        </p:txBody>
      </p:sp>
      <p:pic>
        <p:nvPicPr>
          <p:cNvPr id="4710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57884" y="1400175"/>
            <a:ext cx="2933700" cy="545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31224" cy="1143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r>
              <a:rPr lang="ru-RU" sz="4000" cap="none" dirty="0">
                <a:solidFill>
                  <a:schemeClr val="tx1"/>
                </a:solidFill>
              </a:rPr>
              <a:t>Задание</a:t>
            </a:r>
            <a:endParaRPr lang="ru-RU" sz="40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00034" y="1785926"/>
            <a:ext cx="785818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358775" algn="just">
              <a:spcBef>
                <a:spcPct val="20000"/>
              </a:spcBef>
              <a:defRPr/>
            </a:pPr>
            <a:r>
              <a:rPr lang="ru-RU" sz="2800" i="1" dirty="0">
                <a:latin typeface="Times New Roman" pitchFamily="18" charset="0"/>
                <a:cs typeface="Times New Roman" pitchFamily="18" charset="0"/>
              </a:rPr>
              <a:t>Составить алгоритм и написать задачу: вводить последовательность целых чисел до тех пор пока не встретятся два одинаковых соседних числа. Вывести сумму последовательности до них.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31224" cy="1143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r>
              <a:rPr lang="ru-RU" sz="4000" cap="none" dirty="0">
                <a:solidFill>
                  <a:schemeClr val="tx1"/>
                </a:solidFill>
              </a:rPr>
              <a:t>Цикл со счетчиком</a:t>
            </a:r>
            <a:endParaRPr lang="ru-RU" sz="40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428596" y="1857364"/>
            <a:ext cx="514353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latin typeface="Courier New" pitchFamily="49" charset="0"/>
                <a:cs typeface="Courier New" pitchFamily="49" charset="0"/>
              </a:rPr>
              <a:t>for (</a:t>
            </a:r>
            <a:r>
              <a:rPr lang="ru-RU" sz="2800" dirty="0" err="1">
                <a:latin typeface="Courier New" pitchFamily="49" charset="0"/>
                <a:cs typeface="Courier New" pitchFamily="49" charset="0"/>
              </a:rPr>
              <a:t>нач.зн;усл;шаг</a:t>
            </a:r>
            <a:r>
              <a:rPr lang="ru-RU" sz="2800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algn="just"/>
            <a:r>
              <a:rPr lang="en-US" sz="28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algn="just"/>
            <a:r>
              <a:rPr lang="ru-RU" sz="2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800" i="1" dirty="0">
                <a:latin typeface="Courier New" pitchFamily="49" charset="0"/>
                <a:cs typeface="Courier New" pitchFamily="49" charset="0"/>
              </a:rPr>
              <a:t>Инструкции тела цикла;</a:t>
            </a:r>
          </a:p>
          <a:p>
            <a:pPr algn="just"/>
            <a:r>
              <a:rPr lang="en-US" sz="2800" dirty="0">
                <a:latin typeface="Courier New" pitchFamily="49" charset="0"/>
                <a:cs typeface="Courier New" pitchFamily="49" charset="0"/>
              </a:rPr>
              <a:t>}</a:t>
            </a:r>
            <a:endParaRPr lang="ru-RU" sz="2800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29322" y="1571612"/>
            <a:ext cx="2062762" cy="4929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31224" cy="1143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r>
              <a:rPr lang="ru-RU" sz="4000" cap="none" dirty="0">
                <a:solidFill>
                  <a:schemeClr val="tx1"/>
                </a:solidFill>
              </a:rPr>
              <a:t>Понятие и свойства алгоритма</a:t>
            </a:r>
            <a:endParaRPr lang="ru-RU" sz="4000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931224" cy="4873752"/>
          </a:xfrm>
        </p:spPr>
        <p:txBody>
          <a:bodyPr>
            <a:normAutofit/>
          </a:bodyPr>
          <a:lstStyle/>
          <a:p>
            <a:pPr marL="0" lvl="0" indent="358775" algn="just">
              <a:spcBef>
                <a:spcPct val="20000"/>
              </a:spcBef>
              <a:buClrTx/>
              <a:buSzTx/>
              <a:buNone/>
              <a:defRPr/>
            </a:pPr>
            <a:r>
              <a:rPr lang="ru-RU" sz="3200" b="1" dirty="0">
                <a:solidFill>
                  <a:srgbClr val="FF0000"/>
                </a:solidFill>
              </a:rPr>
              <a:t>текст</a:t>
            </a:r>
            <a:endParaRPr lang="ru-RU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Поле 1"/>
          <p:cNvSpPr txBox="1"/>
          <p:nvPr/>
        </p:nvSpPr>
        <p:spPr>
          <a:xfrm>
            <a:off x="428596" y="1643050"/>
            <a:ext cx="4253382" cy="4286280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urier New" pitchFamily="49" charset="0"/>
                <a:ea typeface="Calibri"/>
                <a:cs typeface="Courier New" pitchFamily="49" charset="0"/>
              </a:rPr>
              <a:t>#include</a:t>
            </a:r>
            <a:r>
              <a:rPr lang="en-US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urier New" pitchFamily="49" charset="0"/>
                <a:ea typeface="Calibri"/>
                <a:cs typeface="Courier New" pitchFamily="49" charset="0"/>
              </a:rPr>
              <a:t>&lt;</a:t>
            </a:r>
            <a:r>
              <a:rPr lang="en-US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urier New" pitchFamily="49" charset="0"/>
                <a:ea typeface="Calibri"/>
                <a:cs typeface="Courier New" pitchFamily="49" charset="0"/>
              </a:rPr>
              <a:t>stdio.h</a:t>
            </a:r>
            <a:r>
              <a:rPr lang="en-US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urier New" pitchFamily="49" charset="0"/>
                <a:ea typeface="Calibri"/>
                <a:cs typeface="Courier New" pitchFamily="49" charset="0"/>
              </a:rPr>
              <a:t>&gt;</a:t>
            </a:r>
            <a:endParaRPr lang="ru-RU" dirty="0">
              <a:effectLst/>
              <a:latin typeface="Courier New" pitchFamily="49" charset="0"/>
              <a:ea typeface="Calibri"/>
              <a:cs typeface="Courier New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urier New" pitchFamily="49" charset="0"/>
                <a:ea typeface="Calibri"/>
                <a:cs typeface="Courier New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itchFamily="49" charset="0"/>
                <a:ea typeface="Calibri"/>
                <a:cs typeface="Courier New" pitchFamily="49" charset="0"/>
              </a:rPr>
              <a:t> main ()</a:t>
            </a:r>
            <a:endParaRPr lang="ru-RU" dirty="0">
              <a:effectLst/>
              <a:latin typeface="Courier New" pitchFamily="49" charset="0"/>
              <a:ea typeface="Calibri"/>
              <a:cs typeface="Courier New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itchFamily="49" charset="0"/>
                <a:ea typeface="Calibri"/>
                <a:cs typeface="Courier New" pitchFamily="49" charset="0"/>
              </a:rPr>
              <a:t>{</a:t>
            </a:r>
            <a:endParaRPr lang="ru-RU" dirty="0">
              <a:effectLst/>
              <a:latin typeface="Courier New" pitchFamily="49" charset="0"/>
              <a:ea typeface="Calibri"/>
              <a:cs typeface="Courier New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highlight>
                  <a:srgbClr val="FFFFFF"/>
                </a:highlight>
                <a:latin typeface="Courier New" pitchFamily="49" charset="0"/>
                <a:ea typeface="Calibri"/>
                <a:cs typeface="Courier New" pitchFamily="49" charset="0"/>
              </a:rPr>
              <a:t>     </a:t>
            </a:r>
            <a:r>
              <a:rPr lang="en-US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urier New" pitchFamily="49" charset="0"/>
                <a:ea typeface="Calibri"/>
                <a:cs typeface="Courier New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itchFamily="49" charset="0"/>
                <a:ea typeface="Calibri"/>
                <a:cs typeface="Courier New" pitchFamily="49" charset="0"/>
              </a:rPr>
              <a:t> sum=0;</a:t>
            </a:r>
            <a:endParaRPr lang="ru-RU" dirty="0">
              <a:effectLst/>
              <a:latin typeface="Courier New" pitchFamily="49" charset="0"/>
              <a:ea typeface="Calibri"/>
              <a:cs typeface="Courier New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highlight>
                  <a:srgbClr val="FFFFFF"/>
                </a:highlight>
                <a:latin typeface="Courier New" pitchFamily="49" charset="0"/>
                <a:ea typeface="Calibri"/>
                <a:cs typeface="Courier New" pitchFamily="49" charset="0"/>
              </a:rPr>
              <a:t>     </a:t>
            </a:r>
            <a:r>
              <a:rPr lang="en-US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urier New" pitchFamily="49" charset="0"/>
                <a:ea typeface="Calibri"/>
                <a:cs typeface="Courier New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itchFamily="49" charset="0"/>
                <a:ea typeface="Calibri"/>
                <a:cs typeface="Courier New" pitchFamily="49" charset="0"/>
              </a:rPr>
              <a:t>(</a:t>
            </a:r>
            <a:r>
              <a:rPr lang="en-US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urier New" pitchFamily="49" charset="0"/>
                <a:ea typeface="Calibri"/>
                <a:cs typeface="Courier New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itchFamily="49" charset="0"/>
                <a:ea typeface="Calibri"/>
                <a:cs typeface="Courier New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itchFamily="49" charset="0"/>
                <a:ea typeface="Calibri"/>
                <a:cs typeface="Courier New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itchFamily="49" charset="0"/>
                <a:ea typeface="Calibri"/>
                <a:cs typeface="Courier New" pitchFamily="49" charset="0"/>
              </a:rPr>
              <a:t>=0;i&lt;=1000;i++)</a:t>
            </a:r>
            <a:endParaRPr lang="ru-RU" dirty="0">
              <a:effectLst/>
              <a:latin typeface="Courier New" pitchFamily="49" charset="0"/>
              <a:ea typeface="Calibri"/>
              <a:cs typeface="Courier New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highlight>
                  <a:srgbClr val="FFFFFF"/>
                </a:highlight>
                <a:latin typeface="Courier New" pitchFamily="49" charset="0"/>
                <a:ea typeface="Calibri"/>
                <a:cs typeface="Courier New" pitchFamily="49" charset="0"/>
              </a:rPr>
              <a:t>          </a:t>
            </a:r>
            <a:r>
              <a:rPr lang="en-US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itchFamily="49" charset="0"/>
                <a:ea typeface="Calibri"/>
                <a:cs typeface="Courier New" pitchFamily="49" charset="0"/>
              </a:rPr>
              <a:t>sum+=</a:t>
            </a:r>
            <a:r>
              <a:rPr lang="en-US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itchFamily="49" charset="0"/>
                <a:ea typeface="Calibri"/>
                <a:cs typeface="Courier New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itchFamily="49" charset="0"/>
                <a:ea typeface="Calibri"/>
                <a:cs typeface="Courier New" pitchFamily="49" charset="0"/>
              </a:rPr>
              <a:t>;</a:t>
            </a:r>
            <a:endParaRPr lang="ru-RU" dirty="0">
              <a:effectLst/>
              <a:latin typeface="Courier New" pitchFamily="49" charset="0"/>
              <a:ea typeface="Calibri"/>
              <a:cs typeface="Courier New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highlight>
                  <a:srgbClr val="FFFFFF"/>
                </a:highlight>
                <a:latin typeface="Courier New" pitchFamily="49" charset="0"/>
                <a:ea typeface="Calibri"/>
                <a:cs typeface="Courier New" pitchFamily="49" charset="0"/>
              </a:rPr>
              <a:t>     </a:t>
            </a:r>
            <a:r>
              <a:rPr lang="en-US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itchFamily="49" charset="0"/>
                <a:ea typeface="Calibri"/>
                <a:cs typeface="Courier New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itchFamily="49" charset="0"/>
                <a:ea typeface="Calibri"/>
                <a:cs typeface="Courier New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urier New" pitchFamily="49" charset="0"/>
                <a:ea typeface="Calibri"/>
                <a:cs typeface="Courier New" pitchFamily="49" charset="0"/>
              </a:rPr>
              <a:t>"sum = %d"</a:t>
            </a:r>
            <a:r>
              <a:rPr lang="en-US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itchFamily="49" charset="0"/>
                <a:ea typeface="Calibri"/>
                <a:cs typeface="Courier New" pitchFamily="49" charset="0"/>
              </a:rPr>
              <a:t>, sum);</a:t>
            </a:r>
            <a:endParaRPr lang="ru-RU" dirty="0">
              <a:effectLst/>
              <a:latin typeface="Courier New" pitchFamily="49" charset="0"/>
              <a:ea typeface="Calibri"/>
              <a:cs typeface="Courier New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itchFamily="49" charset="0"/>
                <a:ea typeface="Calibri"/>
                <a:cs typeface="Courier New" pitchFamily="49" charset="0"/>
              </a:rPr>
              <a:t>}</a:t>
            </a:r>
            <a:endParaRPr lang="ru-RU" dirty="0">
              <a:effectLst/>
              <a:latin typeface="Courier New" pitchFamily="49" charset="0"/>
              <a:ea typeface="Calibri"/>
              <a:cs typeface="Courier New" pitchFamily="49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u-RU" dirty="0">
                <a:effectLst/>
                <a:latin typeface="Courier New" pitchFamily="49" charset="0"/>
                <a:ea typeface="Calibri"/>
                <a:cs typeface="Courier New" pitchFamily="49" charset="0"/>
              </a:rPr>
              <a:t> 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3566" y="1485209"/>
            <a:ext cx="3600400" cy="5087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31224" cy="1143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r>
              <a:rPr lang="ru-RU" sz="4000" cap="none" dirty="0">
                <a:solidFill>
                  <a:schemeClr val="tx1"/>
                </a:solidFill>
              </a:rPr>
              <a:t>Задание</a:t>
            </a:r>
            <a:endParaRPr lang="ru-RU" sz="4000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931224" cy="4873752"/>
          </a:xfrm>
        </p:spPr>
        <p:txBody>
          <a:bodyPr>
            <a:normAutofit/>
          </a:bodyPr>
          <a:lstStyle/>
          <a:p>
            <a:pPr marL="0" lvl="0" indent="358775" algn="just">
              <a:spcBef>
                <a:spcPct val="20000"/>
              </a:spcBef>
              <a:buClrTx/>
              <a:buSzTx/>
              <a:buNone/>
              <a:defRPr/>
            </a:pP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Вывести сумму 1+1/2+1/3+1/4+...+1/</a:t>
            </a:r>
            <a:r>
              <a:rPr lang="ru-RU" sz="3200" dirty="0" err="1">
                <a:latin typeface="Times New Roman" pitchFamily="18" charset="0"/>
                <a:cs typeface="Times New Roman" pitchFamily="18" charset="0"/>
              </a:rPr>
              <a:t>n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Эркер">
  <a:themeElements>
    <a:clrScheme name="Эркер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Эркер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Эркер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537</TotalTime>
  <Words>392</Words>
  <Application>Microsoft Office PowerPoint</Application>
  <PresentationFormat>Экран (4:3)</PresentationFormat>
  <Paragraphs>70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2" baseType="lpstr">
      <vt:lpstr>Arial</vt:lpstr>
      <vt:lpstr>Calibri</vt:lpstr>
      <vt:lpstr>Century Schoolbook</vt:lpstr>
      <vt:lpstr>Consolas</vt:lpstr>
      <vt:lpstr>Courier New</vt:lpstr>
      <vt:lpstr>Times New Roman</vt:lpstr>
      <vt:lpstr>Wingdings</vt:lpstr>
      <vt:lpstr>Wingdings 2</vt:lpstr>
      <vt:lpstr>Эркер</vt:lpstr>
      <vt:lpstr>Циклы</vt:lpstr>
      <vt:lpstr>Виды циклов</vt:lpstr>
      <vt:lpstr>Цикл с предусловием</vt:lpstr>
      <vt:lpstr>Цикл с предусловием</vt:lpstr>
      <vt:lpstr>Пример</vt:lpstr>
      <vt:lpstr>Задание</vt:lpstr>
      <vt:lpstr>Цикл с постусловием</vt:lpstr>
      <vt:lpstr>Цикл с постусловием</vt:lpstr>
      <vt:lpstr>Пример</vt:lpstr>
      <vt:lpstr>Задание</vt:lpstr>
      <vt:lpstr>Цикл со счетчиком</vt:lpstr>
      <vt:lpstr>Понятие и свойства алгоритма</vt:lpstr>
      <vt:lpstr>Задание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Основы алгоритмизации и программирования</dc:title>
  <dc:creator>Alya</dc:creator>
  <cp:lastModifiedBy>Артём Мельников Александрович</cp:lastModifiedBy>
  <cp:revision>27</cp:revision>
  <dcterms:created xsi:type="dcterms:W3CDTF">2018-09-01T04:15:48Z</dcterms:created>
  <dcterms:modified xsi:type="dcterms:W3CDTF">2021-11-22T15:44:47Z</dcterms:modified>
</cp:coreProperties>
</file>