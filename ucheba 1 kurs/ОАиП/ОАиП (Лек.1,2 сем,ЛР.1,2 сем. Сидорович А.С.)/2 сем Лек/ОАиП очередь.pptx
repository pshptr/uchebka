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22"/>
  </p:notesMasterIdLst>
  <p:sldIdLst>
    <p:sldId id="256" r:id="rId2"/>
    <p:sldId id="298" r:id="rId3"/>
    <p:sldId id="303" r:id="rId4"/>
    <p:sldId id="300" r:id="rId5"/>
    <p:sldId id="304" r:id="rId6"/>
    <p:sldId id="305" r:id="rId7"/>
    <p:sldId id="306" r:id="rId8"/>
    <p:sldId id="299" r:id="rId9"/>
    <p:sldId id="307" r:id="rId10"/>
    <p:sldId id="308" r:id="rId11"/>
    <p:sldId id="309" r:id="rId12"/>
    <p:sldId id="314" r:id="rId13"/>
    <p:sldId id="315" r:id="rId14"/>
    <p:sldId id="316" r:id="rId15"/>
    <p:sldId id="310" r:id="rId16"/>
    <p:sldId id="311" r:id="rId17"/>
    <p:sldId id="312" r:id="rId18"/>
    <p:sldId id="313" r:id="rId19"/>
    <p:sldId id="317" r:id="rId20"/>
    <p:sldId id="318" r:id="rId2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08000"/>
    <a:srgbClr val="0000F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2088" autoAdjust="0"/>
    <p:restoredTop sz="94706" autoAdjust="0"/>
  </p:normalViewPr>
  <p:slideViewPr>
    <p:cSldViewPr>
      <p:cViewPr varScale="1">
        <p:scale>
          <a:sx n="59" d="100"/>
          <a:sy n="59" d="100"/>
        </p:scale>
        <p:origin x="-1506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FA046E-CCD0-40BA-A22E-3697AE425654}" type="datetimeFigureOut">
              <a:rPr lang="ru-RU" smtClean="0"/>
              <a:pPr/>
              <a:t>11.03.2019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9B69FB-3E0A-46AE-A648-F53005C21D0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77671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350" b="1">
                <a:solidFill>
                  <a:schemeClr val="tx2"/>
                </a:solidFill>
              </a:defRPr>
            </a:lvl1pPr>
            <a:lvl2pPr marL="342900" indent="0" algn="ctr">
              <a:buNone/>
            </a:lvl2pPr>
            <a:lvl3pPr marL="685800" indent="0" algn="ctr">
              <a:buNone/>
            </a:lvl3pPr>
            <a:lvl4pPr marL="1028700" indent="0" algn="ctr">
              <a:buNone/>
            </a:lvl4pPr>
            <a:lvl5pPr marL="1371600" indent="0" algn="ctr">
              <a:buNone/>
            </a:lvl5pPr>
            <a:lvl6pPr marL="1714500" indent="0" algn="ctr">
              <a:buNone/>
            </a:lvl6pPr>
            <a:lvl7pPr marL="2057400" indent="0" algn="ctr">
              <a:buNone/>
            </a:lvl7pPr>
            <a:lvl8pPr marL="2400300" indent="0" algn="ctr">
              <a:buNone/>
            </a:lvl8pPr>
            <a:lvl9pPr marL="27432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8FF90C58-E373-423A-A0B5-7871799BB8BE}" type="datetimeFigureOut">
              <a:rPr lang="ru-RU" smtClean="0"/>
              <a:pPr/>
              <a:t>11.03.2019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4" name="Прямоугольник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9" name="Прямоугольник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8" name="Прямая соединительная линия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20" name="Прямая соединительная линия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5" name="Прямая соединительная линия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22" name="Прямая соединительная линия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27" name="Прямоугольник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1" name="Овал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3" name="Овал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4" name="Овал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6" name="Овал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5" name="Овал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3763178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Объект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8FF90C58-E373-423A-A0B5-7871799BB8BE}" type="datetimeFigureOut">
              <a:rPr lang="ru-RU" smtClean="0"/>
              <a:pPr/>
              <a:t>11.03.2019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246691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2250" b="1" cap="small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350" b="1">
                <a:solidFill>
                  <a:schemeClr val="tx2"/>
                </a:solidFill>
              </a:defRPr>
            </a:lvl1pPr>
            <a:lvl2pPr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8FF90C58-E373-423A-A0B5-7871799BB8BE}" type="datetimeFigureOut">
              <a:rPr lang="ru-RU" smtClean="0"/>
              <a:pPr/>
              <a:t>11.03.2019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ru-RU"/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3" name="Прямая соединительная линия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4" name="Прямая соединительная линия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5" name="Прямая соединительная линия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7" name="Прямая соединительная линия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8" name="Прямоугольник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19" name="Овал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0" name="Овал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1" name="Овал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2" name="Овал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3" name="Овал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6" name="Прямая соединительная линия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0738142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90C58-E373-423A-A0B5-7871799BB8BE}" type="datetimeFigureOut">
              <a:rPr lang="ru-RU" smtClean="0"/>
              <a:pPr/>
              <a:t>11.03.2019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Объект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1" name="Объект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xmlns="" val="2129290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90C58-E373-423A-A0B5-7871799BB8BE}" type="datetimeFigureOut">
              <a:rPr lang="ru-RU" smtClean="0"/>
              <a:pPr/>
              <a:t>11.03.2019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Объект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Объект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15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4" name="Текст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15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xmlns="" val="2062735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6" name="Дата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FF90C58-E373-423A-A0B5-7871799BB8BE}" type="datetimeFigureOut">
              <a:rPr lang="ru-RU" smtClean="0"/>
              <a:pPr/>
              <a:t>11.03.2019</a:t>
            </a:fld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888527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90C58-E373-423A-A0B5-7871799BB8BE}" type="datetimeFigureOut">
              <a:rPr lang="ru-RU" smtClean="0"/>
              <a:pPr/>
              <a:t>11.03.2019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306603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1500" b="1" cap="small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300"/>
              </a:spcBef>
              <a:spcAft>
                <a:spcPts val="750"/>
              </a:spcAft>
              <a:buNone/>
              <a:defRPr sz="900"/>
            </a:lvl1pPr>
            <a:lvl2pPr>
              <a:buNone/>
              <a:defRPr sz="900"/>
            </a:lvl2pPr>
            <a:lvl3pPr>
              <a:buNone/>
              <a:defRPr sz="750"/>
            </a:lvl3pPr>
            <a:lvl4pPr>
              <a:buNone/>
              <a:defRPr sz="675"/>
            </a:lvl4pPr>
            <a:lvl5pPr>
              <a:buNone/>
              <a:defRPr sz="675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3" name="Прямая соединительная линия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4" name="Овал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18" name="Объект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1" name="Дата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8FF90C58-E373-423A-A0B5-7871799BB8BE}" type="datetimeFigureOut">
              <a:rPr lang="ru-RU" smtClean="0"/>
              <a:pPr/>
              <a:t>11.03.2019</a:t>
            </a:fld>
            <a:endParaRPr lang="ru-RU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3" name="Нижний колонтитул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921807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3" name="Овал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15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2400"/>
            </a:lvl1pPr>
          </a:lstStyle>
          <a:p>
            <a:pPr algn="ctr" eaLnBrk="1" latinLnBrk="0" hangingPunct="1">
              <a:buFontTx/>
              <a:buNone/>
            </a:pPr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75"/>
              </a:spcBef>
              <a:spcAft>
                <a:spcPts val="300"/>
              </a:spcAft>
              <a:buFontTx/>
              <a:buNone/>
              <a:defRPr sz="900"/>
            </a:lvl1pPr>
            <a:lvl2pPr>
              <a:defRPr sz="900"/>
            </a:lvl2pPr>
            <a:lvl3pPr>
              <a:defRPr sz="750"/>
            </a:lvl3pPr>
            <a:lvl4pPr>
              <a:defRPr sz="675"/>
            </a:lvl4pPr>
            <a:lvl5pPr>
              <a:defRPr sz="675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2" name="Прямая соединительная линия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9" name="Прямая соединительная линия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20" name="Прямая соединительная линия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17" name="Дата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FF90C58-E373-423A-A0B5-7871799BB8BE}" type="datetimeFigureOut">
              <a:rPr lang="ru-RU" smtClean="0"/>
              <a:pPr/>
              <a:t>11.03.2019</a:t>
            </a:fld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1" name="Нижний колонтитул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836671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90C58-E373-423A-A0B5-7871799BB8BE}" type="datetimeFigureOut">
              <a:rPr lang="ru-RU" smtClean="0"/>
              <a:pPr/>
              <a:t>11.03.2019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905501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1676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90C58-E373-423A-A0B5-7871799BB8BE}" type="datetimeFigureOut">
              <a:rPr lang="ru-RU" smtClean="0"/>
              <a:pPr/>
              <a:t>11.03.2019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1426319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/>
          </p:nvPr>
        </p:nvSpPr>
        <p:spPr>
          <a:xfrm>
            <a:off x="457200" y="381000"/>
            <a:ext cx="8229600" cy="57150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8FF90C58-E373-423A-A0B5-7871799BB8BE}" type="datetimeFigureOut">
              <a:rPr lang="ru-RU" smtClean="0"/>
              <a:pPr/>
              <a:t>11.03.2019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504391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900">
                <a:solidFill>
                  <a:schemeClr val="tx2"/>
                </a:solidFill>
              </a:defRPr>
            </a:lvl1pPr>
          </a:lstStyle>
          <a:p>
            <a:fld id="{8FF90C58-E373-423A-A0B5-7871799BB8BE}" type="datetimeFigureOut">
              <a:rPr lang="ru-RU" smtClean="0"/>
              <a:pPr/>
              <a:t>11.03.2019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9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2" name="Овал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050" b="1">
                <a:solidFill>
                  <a:srgbClr val="FFFFFF"/>
                </a:solidFill>
              </a:defRPr>
            </a:lvl1pPr>
          </a:lstStyle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575045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</p:sldLayoutIdLst>
  <p:txStyles>
    <p:titleStyle>
      <a:lvl1pPr algn="l" rtl="0" eaLnBrk="1" latinLnBrk="0" hangingPunct="1">
        <a:spcBef>
          <a:spcPct val="0"/>
        </a:spcBef>
        <a:buNone/>
        <a:defRPr kumimoji="0" sz="225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05740" indent="-205740" algn="l" rtl="0" eaLnBrk="1" latinLnBrk="0" hangingPunct="1">
        <a:spcBef>
          <a:spcPts val="450"/>
        </a:spcBef>
        <a:buClr>
          <a:schemeClr val="accent1"/>
        </a:buClr>
        <a:buSzPct val="7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indent="-20574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157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3716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891540" indent="-13716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3716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303020" indent="-13716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1508760" indent="-13716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05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1714500" indent="-13716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05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1920240" indent="-13716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05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835696" y="620688"/>
            <a:ext cx="5760640" cy="2736304"/>
          </a:xfrm>
        </p:spPr>
        <p:txBody>
          <a:bodyPr>
            <a:normAutofit/>
          </a:bodyPr>
          <a:lstStyle/>
          <a:p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Связные списки.</a:t>
            </a:r>
            <a:b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Очередь</a:t>
            </a:r>
            <a:endParaRPr lang="ru-RU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95510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Стек – односвязный линейный список, организованный по принципу первый пришел – последний ушел (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FILO – first in last out)</a:t>
            </a:r>
          </a:p>
          <a:p>
            <a:pPr marL="0" indent="0" algn="just">
              <a:spcBef>
                <a:spcPts val="0"/>
              </a:spcBef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Голова (вершина) стека – самый верхний элемент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Добавление новых и удаление существующих элементов допустимо только с головы стека.</a:t>
            </a:r>
          </a:p>
          <a:p>
            <a:pPr marL="0" indent="0" algn="just">
              <a:spcBef>
                <a:spcPts val="0"/>
              </a:spcBef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 fontAlgn="t">
              <a:spcBef>
                <a:spcPts val="0"/>
              </a:spcBef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000" b="1" dirty="0" err="1" smtClean="0">
                <a:solidFill>
                  <a:srgbClr val="00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struct</a:t>
            </a:r>
            <a:r>
              <a:rPr lang="en-US" sz="2000" b="1" dirty="0" smtClean="0">
                <a:solidFill>
                  <a:srgbClr val="00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FILO {</a:t>
            </a:r>
          </a:p>
          <a:p>
            <a:pPr marL="0" indent="0" algn="just" fontAlgn="t">
              <a:spcBef>
                <a:spcPts val="0"/>
              </a:spcBef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000" b="1" dirty="0" smtClean="0">
                <a:solidFill>
                  <a:srgbClr val="00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   </a:t>
            </a:r>
            <a:r>
              <a:rPr lang="en-US" sz="2000" b="1" dirty="0" err="1" smtClean="0">
                <a:solidFill>
                  <a:srgbClr val="00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int</a:t>
            </a:r>
            <a:r>
              <a:rPr lang="en-US" sz="2000" b="1" dirty="0" smtClean="0">
                <a:solidFill>
                  <a:srgbClr val="00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data;</a:t>
            </a:r>
          </a:p>
          <a:p>
            <a:pPr marL="0" indent="0" algn="just" fontAlgn="t">
              <a:spcBef>
                <a:spcPts val="0"/>
              </a:spcBef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000" b="1" dirty="0" smtClean="0">
                <a:solidFill>
                  <a:srgbClr val="00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   </a:t>
            </a:r>
            <a:r>
              <a:rPr lang="en-US" sz="2000" b="1" dirty="0" err="1" smtClean="0">
                <a:solidFill>
                  <a:srgbClr val="00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struct</a:t>
            </a:r>
            <a:r>
              <a:rPr lang="en-US" sz="2000" b="1" dirty="0" smtClean="0">
                <a:solidFill>
                  <a:srgbClr val="00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FILO *next;</a:t>
            </a:r>
          </a:p>
          <a:p>
            <a:pPr marL="0" indent="0" algn="just" fontAlgn="t">
              <a:spcBef>
                <a:spcPts val="0"/>
              </a:spcBef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000" b="1" dirty="0" smtClean="0">
                <a:solidFill>
                  <a:srgbClr val="00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};</a:t>
            </a:r>
          </a:p>
          <a:p>
            <a:pPr marL="0" indent="0" algn="just" fontAlgn="t">
              <a:spcBef>
                <a:spcPts val="0"/>
              </a:spcBef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US" sz="2000" b="1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 fontAlgn="t">
              <a:spcBef>
                <a:spcPts val="0"/>
              </a:spcBef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Очередь</a:t>
            </a:r>
            <a:endParaRPr lang="ru-RU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Добавление</a:t>
            </a:r>
          </a:p>
          <a:p>
            <a:pPr algn="just"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Удаление</a:t>
            </a:r>
          </a:p>
          <a:p>
            <a:pPr algn="just"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Неразрушающий просмотр</a:t>
            </a:r>
          </a:p>
          <a:p>
            <a:pPr algn="just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Стек</a:t>
            </a:r>
            <a:endParaRPr lang="ru-RU" sz="4000" dirty="0">
              <a:solidFill>
                <a:schemeClr val="tx1"/>
              </a:solidFill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950" y="3286124"/>
            <a:ext cx="7281950" cy="165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Создать временный указатель </a:t>
            </a:r>
          </a:p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Выделить место</a:t>
            </a:r>
          </a:p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Записать данные в информационное поле</a:t>
            </a:r>
          </a:p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Указатель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next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сделать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NULL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Проверить голову</a:t>
            </a:r>
          </a:p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Если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NULL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Голова=временный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указатель</a:t>
            </a:r>
          </a:p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Иначе</a:t>
            </a:r>
          </a:p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Next =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голова</a:t>
            </a:r>
          </a:p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Голова = временный указатель</a:t>
            </a:r>
          </a:p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Вернуть голову</a:t>
            </a: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Добавление</a:t>
            </a:r>
            <a:endParaRPr lang="ru-RU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ru-RU" sz="2000" dirty="0" err="1" smtClean="0">
                <a:latin typeface="Courier New" pitchFamily="49" charset="0"/>
                <a:cs typeface="Courier New" pitchFamily="49" charset="0"/>
              </a:rPr>
              <a:t>struct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 FILO *n;    </a:t>
            </a:r>
          </a:p>
          <a:p>
            <a:pPr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n = (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FILO *)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malloc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sizeof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FILO)); </a:t>
            </a: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n-&gt;next = NULL;</a:t>
            </a:r>
          </a:p>
          <a:p>
            <a:pPr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n-&gt;data = x;</a:t>
            </a:r>
          </a:p>
          <a:p>
            <a:pPr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if (head == NULL)</a:t>
            </a:r>
          </a:p>
          <a:p>
            <a:pPr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  head = n;</a:t>
            </a:r>
          </a:p>
          <a:p>
            <a:pPr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else </a:t>
            </a:r>
          </a:p>
          <a:p>
            <a:pPr>
              <a:buNone/>
            </a:pP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  n-&gt;next = head;</a:t>
            </a:r>
          </a:p>
          <a:p>
            <a:pPr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  head = n;</a:t>
            </a:r>
          </a:p>
          <a:p>
            <a:pPr>
              <a:buNone/>
            </a:pP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Добавление</a:t>
            </a:r>
            <a:endParaRPr lang="ru-RU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Создать временный указатель </a:t>
            </a:r>
          </a:p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Выделить место</a:t>
            </a:r>
          </a:p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Записать данные в информационное поле</a:t>
            </a:r>
          </a:p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Указатель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next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сделать на голову</a:t>
            </a:r>
          </a:p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Вернуть временный указатель</a:t>
            </a: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Добавление</a:t>
            </a:r>
            <a:endParaRPr lang="ru-RU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None/>
            </a:pPr>
            <a:r>
              <a:rPr lang="ru-RU" sz="2000" dirty="0" err="1" smtClean="0">
                <a:latin typeface="Courier New" pitchFamily="49" charset="0"/>
                <a:cs typeface="Courier New" pitchFamily="49" charset="0"/>
              </a:rPr>
              <a:t>struct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 FILO *n;    </a:t>
            </a:r>
          </a:p>
          <a:p>
            <a:pPr algn="just"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n = (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FILO *)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malloc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sizeof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FILO)); </a:t>
            </a: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  <a:p>
            <a:pPr algn="just"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n-&gt;next = head;</a:t>
            </a:r>
          </a:p>
          <a:p>
            <a:pPr algn="just"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n-&gt;data = x;</a:t>
            </a:r>
          </a:p>
          <a:p>
            <a:pPr algn="just"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return n;</a:t>
            </a:r>
          </a:p>
          <a:p>
            <a:pPr algn="just">
              <a:buNone/>
            </a:pP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  <a:p>
            <a:pPr algn="just">
              <a:buNone/>
            </a:pP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  <a:p>
            <a:pPr algn="just">
              <a:buNone/>
            </a:pP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Добавление</a:t>
            </a:r>
            <a:endParaRPr lang="ru-RU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Если голова не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NULL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Голова =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голова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-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&gt;next;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Вернуть голову</a:t>
            </a:r>
          </a:p>
          <a:p>
            <a:pPr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Иначе 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Вернуть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NULL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Удаление</a:t>
            </a:r>
            <a:endParaRPr lang="ru-RU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if (head != NULL)</a:t>
            </a:r>
          </a:p>
          <a:p>
            <a:pPr algn="just">
              <a:buNone/>
            </a:pP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algn="just">
              <a:buNone/>
            </a:pP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head = head-&gt;next;</a:t>
            </a:r>
          </a:p>
          <a:p>
            <a:pPr algn="just">
              <a:buNone/>
            </a:pP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return head;</a:t>
            </a:r>
          </a:p>
          <a:p>
            <a:pPr algn="just">
              <a:buNone/>
            </a:pP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algn="just"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else return NULL;</a:t>
            </a: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Удаление</a:t>
            </a:r>
            <a:endParaRPr lang="ru-RU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Создать временный указатель</a:t>
            </a:r>
          </a:p>
          <a:p>
            <a:pPr algn="just"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Временный указатель = голова</a:t>
            </a:r>
          </a:p>
          <a:p>
            <a:pPr algn="just"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Пока временный указатель не равен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NULL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Вывод на экран информационного поля временного указателя</a:t>
            </a:r>
          </a:p>
          <a:p>
            <a:pPr algn="just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Передвинуть временный указатель на следующий элемент</a:t>
            </a: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Просмотр</a:t>
            </a:r>
            <a:endParaRPr lang="ru-RU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None/>
            </a:pP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FILO *p = head;</a:t>
            </a:r>
          </a:p>
          <a:p>
            <a:pPr algn="just">
              <a:buNone/>
            </a:pPr>
            <a:r>
              <a:rPr lang="ru-RU" sz="2000" dirty="0" err="1" smtClean="0">
                <a:latin typeface="Courier New" pitchFamily="49" charset="0"/>
                <a:cs typeface="Courier New" pitchFamily="49" charset="0"/>
              </a:rPr>
              <a:t>while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 (</a:t>
            </a:r>
            <a:r>
              <a:rPr lang="ru-RU" sz="2000" dirty="0" err="1" smtClean="0">
                <a:latin typeface="Courier New" pitchFamily="49" charset="0"/>
                <a:cs typeface="Courier New" pitchFamily="49" charset="0"/>
              </a:rPr>
              <a:t>p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 != NULL) </a:t>
            </a:r>
          </a:p>
          <a:p>
            <a:pPr algn="just">
              <a:buNone/>
            </a:pP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{   </a:t>
            </a:r>
          </a:p>
          <a:p>
            <a:pPr algn="just"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("%d--&gt;", p-&gt;data);</a:t>
            </a:r>
          </a:p>
          <a:p>
            <a:pPr algn="just"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ru-RU" sz="2000" dirty="0" err="1" smtClean="0">
                <a:latin typeface="Courier New" pitchFamily="49" charset="0"/>
                <a:cs typeface="Courier New" pitchFamily="49" charset="0"/>
              </a:rPr>
              <a:t>p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ru-RU" sz="2000" dirty="0" err="1" smtClean="0">
                <a:latin typeface="Courier New" pitchFamily="49" charset="0"/>
                <a:cs typeface="Courier New" pitchFamily="49" charset="0"/>
              </a:rPr>
              <a:t>p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-&gt;</a:t>
            </a:r>
            <a:r>
              <a:rPr lang="ru-RU" sz="2000" dirty="0" err="1" smtClean="0">
                <a:latin typeface="Courier New" pitchFamily="49" charset="0"/>
                <a:cs typeface="Courier New" pitchFamily="49" charset="0"/>
              </a:rPr>
              <a:t>next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;       </a:t>
            </a:r>
          </a:p>
          <a:p>
            <a:pPr algn="just">
              <a:buNone/>
            </a:pP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Просмотр</a:t>
            </a:r>
            <a:endParaRPr lang="ru-RU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just"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Если максимальный размер стека заранее известен, его можно реализовать в программе в виде массива. </a:t>
            </a:r>
          </a:p>
          <a:p>
            <a:pPr marL="0" algn="just"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Удобно объединить в одной структуре сам массив и его размер. </a:t>
            </a:r>
          </a:p>
          <a:p>
            <a:pPr marL="0" algn="just">
              <a:spcBef>
                <a:spcPts val="0"/>
              </a:spcBef>
              <a:buNone/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algn="just">
              <a:spcBef>
                <a:spcPts val="0"/>
              </a:spcBef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const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Msize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= 10; </a:t>
            </a: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  <a:p>
            <a:pPr marL="0" algn="just">
              <a:spcBef>
                <a:spcPts val="0"/>
              </a:spcBef>
              <a:buNone/>
            </a:pP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FILO </a:t>
            </a: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  <a:p>
            <a:pPr marL="0" algn="just">
              <a:spcBef>
                <a:spcPts val="0"/>
              </a:spcBef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{ </a:t>
            </a: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  <a:p>
            <a:pPr marL="0" algn="just">
              <a:spcBef>
                <a:spcPts val="0"/>
              </a:spcBef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data[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Msize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]; </a:t>
            </a: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  <a:p>
            <a:pPr marL="0" algn="just">
              <a:spcBef>
                <a:spcPts val="0"/>
              </a:spcBef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size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;  </a:t>
            </a: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pPr marL="0" algn="just">
              <a:spcBef>
                <a:spcPts val="0"/>
              </a:spcBef>
              <a:buNone/>
            </a:pP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};</a:t>
            </a:r>
          </a:p>
          <a:p>
            <a:pPr marL="0" algn="just">
              <a:spcBef>
                <a:spcPts val="0"/>
              </a:spcBef>
              <a:buNone/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Стек через массив</a:t>
            </a:r>
            <a:endParaRPr lang="ru-RU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FILO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push ( FILO *h,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a ) </a:t>
            </a: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  <a:p>
            <a:pPr algn="just"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{ </a:t>
            </a: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  <a:p>
            <a:pPr algn="just"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(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h.size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!=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Msize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) </a:t>
            </a:r>
          </a:p>
          <a:p>
            <a:pPr algn="just"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{ </a:t>
            </a: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  <a:p>
            <a:pPr algn="just"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h.data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S.size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] = a; </a:t>
            </a: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  <a:p>
            <a:pPr algn="just"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	h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.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size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 ++; </a:t>
            </a: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pPr algn="just"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	return h;</a:t>
            </a:r>
          </a:p>
          <a:p>
            <a:pPr algn="just"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algn="just"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else return NULL;</a:t>
            </a: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  <a:p>
            <a:pPr algn="just">
              <a:buNone/>
            </a:pP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algn="just">
              <a:buNone/>
            </a:pP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Стек через массив</a:t>
            </a:r>
            <a:r>
              <a:rPr lang="en-US" sz="4000" dirty="0" smtClean="0">
                <a:solidFill>
                  <a:schemeClr val="tx1"/>
                </a:solidFill>
              </a:rPr>
              <a:t>.</a:t>
            </a:r>
            <a:r>
              <a:rPr lang="ru-RU" sz="4000" dirty="0" smtClean="0">
                <a:solidFill>
                  <a:schemeClr val="tx1"/>
                </a:solidFill>
              </a:rPr>
              <a:t>Добавление</a:t>
            </a:r>
            <a:endParaRPr lang="ru-RU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FILO* pop ( FILO *h ) </a:t>
            </a: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  <a:p>
            <a:pPr algn="just"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{ </a:t>
            </a: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  <a:p>
            <a:pPr algn="just"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if (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h.size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!=0 ) </a:t>
            </a:r>
          </a:p>
          <a:p>
            <a:pPr algn="just"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{ </a:t>
            </a: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  <a:p>
            <a:pPr algn="just"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h.size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--; </a:t>
            </a: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  <a:p>
            <a:pPr algn="just"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returnh.data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h.size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];</a:t>
            </a:r>
          </a:p>
          <a:p>
            <a:pPr algn="just"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algn="just"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else return NULL; </a:t>
            </a: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  <a:p>
            <a:pPr algn="just">
              <a:buNone/>
            </a:pP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Стек через массив. Удаление</a:t>
            </a:r>
            <a:endParaRPr lang="ru-RU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Создать стек из натуральных чисел до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Вывести на экран.</a:t>
            </a: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Пример 1</a:t>
            </a:r>
            <a:endParaRPr lang="ru-RU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Создать стек из чисел введенных пользователем. Вывести на экран.</a:t>
            </a:r>
          </a:p>
          <a:p>
            <a:pPr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Посчитать сумму элементов</a:t>
            </a: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Пример 2</a:t>
            </a:r>
            <a:endParaRPr lang="ru-RU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Создать стек из чисел введенных пользователем. Вывести на экран. Удалить первые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K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чисел</a:t>
            </a: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Пример 3</a:t>
            </a:r>
            <a:endParaRPr lang="ru-RU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1 стек – числа по убыванию</a:t>
            </a:r>
          </a:p>
          <a:p>
            <a:pPr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2 стек – числа по убыванию</a:t>
            </a:r>
          </a:p>
          <a:p>
            <a:pPr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Не выполняя сортировки создать 3-ий стек по возрастанию</a:t>
            </a:r>
          </a:p>
          <a:p>
            <a:pPr>
              <a:buNone/>
            </a:pPr>
            <a:endParaRPr lang="ru-RU" sz="2400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Пример 4</a:t>
            </a:r>
            <a:endParaRPr lang="ru-RU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Проверить правильность расстановки скобок в арифметическом выражении</a:t>
            </a:r>
          </a:p>
          <a:p>
            <a:pPr marL="0" indent="0" algn="just">
              <a:spcBef>
                <a:spcPts val="0"/>
              </a:spcBef>
              <a:buNone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Заносим в стек только скобки.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Если встретили закрывающую скобку 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смотрим на вершину стека 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если там такая же открывающая – удаляем, 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иначе - ошибка</a:t>
            </a:r>
          </a:p>
          <a:p>
            <a:pPr marL="0" indent="0">
              <a:spcBef>
                <a:spcPts val="0"/>
              </a:spcBef>
              <a:buNone/>
            </a:pPr>
            <a:endParaRPr lang="ru-RU" sz="2400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Пример 5</a:t>
            </a:r>
            <a:endParaRPr lang="ru-RU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Вычислить выражение используя обратную польскую запись</a:t>
            </a:r>
          </a:p>
          <a:p>
            <a:pPr marL="0" indent="0" algn="just">
              <a:spcBef>
                <a:spcPts val="0"/>
              </a:spcBef>
              <a:buNone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Font typeface="Arial" charset="0"/>
              <a:buChar char="•"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Font typeface="Arial" charset="0"/>
              <a:buChar char="•"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2400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Пример 5</a:t>
            </a:r>
            <a:endParaRPr lang="ru-RU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ема1">
  <a:themeElements>
    <a:clrScheme name="Эркер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Эркер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Эркер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Тема1" id="{D9924198-7531-463B-9B49-3909A86F00C9}" vid="{0F78871F-1C10-436B-A8F8-684D318A8F82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4153</TotalTime>
  <Words>423</Words>
  <Application>Microsoft Office PowerPoint</Application>
  <PresentationFormat>Экран (4:3)</PresentationFormat>
  <Paragraphs>139</Paragraphs>
  <Slides>20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1" baseType="lpstr">
      <vt:lpstr>Тема1</vt:lpstr>
      <vt:lpstr>Связные списки. Очередь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  <vt:lpstr>Слайд 18</vt:lpstr>
      <vt:lpstr>Слайд 19</vt:lpstr>
      <vt:lpstr>Слайд 20</vt:lpstr>
    </vt:vector>
  </TitlesOfParts>
  <Company>SanBuild &amp; SPecialiST RePack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ЦИКЛЫ</dc:title>
  <dc:creator>DP</dc:creator>
  <cp:lastModifiedBy>Alya</cp:lastModifiedBy>
  <cp:revision>208</cp:revision>
  <dcterms:created xsi:type="dcterms:W3CDTF">2016-03-13T14:44:57Z</dcterms:created>
  <dcterms:modified xsi:type="dcterms:W3CDTF">2019-03-13T03:42:44Z</dcterms:modified>
</cp:coreProperties>
</file>