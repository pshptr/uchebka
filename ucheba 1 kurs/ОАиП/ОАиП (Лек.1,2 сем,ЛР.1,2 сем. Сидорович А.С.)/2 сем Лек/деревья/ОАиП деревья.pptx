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2"/>
  </p:notesMasterIdLst>
  <p:sldIdLst>
    <p:sldId id="256" r:id="rId2"/>
    <p:sldId id="298" r:id="rId3"/>
    <p:sldId id="299" r:id="rId4"/>
    <p:sldId id="300" r:id="rId5"/>
    <p:sldId id="302" r:id="rId6"/>
    <p:sldId id="301" r:id="rId7"/>
    <p:sldId id="303" r:id="rId8"/>
    <p:sldId id="304" r:id="rId9"/>
    <p:sldId id="305" r:id="rId10"/>
    <p:sldId id="306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80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59" autoAdjust="0"/>
    <p:restoredTop sz="94660"/>
  </p:normalViewPr>
  <p:slideViewPr>
    <p:cSldViewPr>
      <p:cViewPr varScale="1">
        <p:scale>
          <a:sx n="110" d="100"/>
          <a:sy n="110" d="100"/>
        </p:scale>
        <p:origin x="-117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A046E-CCD0-40BA-A22E-3697AE425654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B69FB-3E0A-46AE-A648-F53005C21D0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7671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350" b="1"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76317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24669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225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350" b="1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73814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212929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  <p:extLst>
      <p:ext uri="{BB962C8B-B14F-4D97-AF65-F5344CB8AC3E}">
        <p14:creationId xmlns="" xmlns:p14="http://schemas.microsoft.com/office/powerpoint/2010/main" val="206273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8852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30660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15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300"/>
              </a:spcBef>
              <a:spcAft>
                <a:spcPts val="750"/>
              </a:spcAft>
              <a:buNone/>
              <a:defRPr sz="90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8" name="Объект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21807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24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75"/>
              </a:spcBef>
              <a:spcAft>
                <a:spcPts val="300"/>
              </a:spcAft>
              <a:buFontTx/>
              <a:buNone/>
              <a:defRPr sz="90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3667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90550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42631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0439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fld id="{8FF90C58-E373-423A-A0B5-7871799BB8BE}" type="datetimeFigureOut">
              <a:rPr lang="ru-RU" smtClean="0"/>
              <a:pPr/>
              <a:t>24.04.2019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050" b="1">
                <a:solidFill>
                  <a:srgbClr val="FFFFFF"/>
                </a:solidFill>
              </a:defRPr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7504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l" rtl="0" eaLnBrk="1" latinLnBrk="0" hangingPunct="1">
        <a:spcBef>
          <a:spcPct val="0"/>
        </a:spcBef>
        <a:buNone/>
        <a:defRPr kumimoji="0" sz="225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74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3716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3716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50876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714500" indent="-13716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05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192024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5696" y="620688"/>
            <a:ext cx="5760640" cy="2736304"/>
          </a:xfrm>
        </p:spPr>
        <p:txBody>
          <a:bodyPr>
            <a:normAutofit/>
          </a:bodyPr>
          <a:lstStyle/>
          <a:p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Деревья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9551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Дерево – нелинейный список</a:t>
            </a:r>
          </a:p>
          <a:p>
            <a:pPr marL="0" algn="just">
              <a:spcBef>
                <a:spcPts val="0"/>
              </a:spcBef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Дерево</a:t>
            </a:r>
            <a:endParaRPr lang="ru-RU" sz="400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285992"/>
            <a:ext cx="4174908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spcBef>
                <a:spcPts val="0"/>
              </a:spcBef>
              <a:buNone/>
              <a:tabLst>
                <a:tab pos="3200400" algn="l"/>
                <a:tab pos="3648075" algn="l"/>
                <a:tab pos="4097338" algn="l"/>
                <a:tab pos="4546600" algn="l"/>
                <a:tab pos="4995863" algn="l"/>
                <a:tab pos="5445125" algn="l"/>
                <a:tab pos="5894388" algn="l"/>
                <a:tab pos="6343650" algn="l"/>
                <a:tab pos="6792913" algn="l"/>
                <a:tab pos="7242175" algn="l"/>
                <a:tab pos="7691438" algn="l"/>
                <a:tab pos="8140700" algn="l"/>
                <a:tab pos="8589963" algn="l"/>
                <a:tab pos="9039225" algn="l"/>
                <a:tab pos="9488488" algn="l"/>
                <a:tab pos="9937750" algn="l"/>
                <a:tab pos="10387013" algn="l"/>
                <a:tab pos="10836275" algn="l"/>
                <a:tab pos="11285538" algn="l"/>
                <a:tab pos="11734800" algn="l"/>
                <a:tab pos="12184063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Граф – это совокупность двух конечных множеств: множества точек и множества линий, попарно соединяющих некоторые из этих точек. </a:t>
            </a:r>
            <a:endParaRPr lang="en-US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0" algn="just">
              <a:spcBef>
                <a:spcPts val="0"/>
              </a:spcBef>
              <a:buNone/>
              <a:tabLst>
                <a:tab pos="3200400" algn="l"/>
                <a:tab pos="3648075" algn="l"/>
                <a:tab pos="4097338" algn="l"/>
                <a:tab pos="4546600" algn="l"/>
                <a:tab pos="4995863" algn="l"/>
                <a:tab pos="5445125" algn="l"/>
                <a:tab pos="5894388" algn="l"/>
                <a:tab pos="6343650" algn="l"/>
                <a:tab pos="6792913" algn="l"/>
                <a:tab pos="7242175" algn="l"/>
                <a:tab pos="7691438" algn="l"/>
                <a:tab pos="8140700" algn="l"/>
                <a:tab pos="8589963" algn="l"/>
                <a:tab pos="9039225" algn="l"/>
                <a:tab pos="9488488" algn="l"/>
                <a:tab pos="9937750" algn="l"/>
                <a:tab pos="10387013" algn="l"/>
                <a:tab pos="10836275" algn="l"/>
                <a:tab pos="11285538" algn="l"/>
                <a:tab pos="11734800" algn="l"/>
                <a:tab pos="12184063" algn="l"/>
              </a:tabLst>
            </a:pPr>
            <a:endParaRPr lang="ru-RU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0" algn="just">
              <a:spcBef>
                <a:spcPts val="0"/>
              </a:spcBef>
              <a:buNone/>
              <a:tabLst>
                <a:tab pos="3200400" algn="l"/>
                <a:tab pos="3648075" algn="l"/>
                <a:tab pos="4097338" algn="l"/>
                <a:tab pos="4546600" algn="l"/>
                <a:tab pos="4995863" algn="l"/>
                <a:tab pos="5445125" algn="l"/>
                <a:tab pos="5894388" algn="l"/>
                <a:tab pos="6343650" algn="l"/>
                <a:tab pos="6792913" algn="l"/>
                <a:tab pos="7242175" algn="l"/>
                <a:tab pos="7691438" algn="l"/>
                <a:tab pos="8140700" algn="l"/>
                <a:tab pos="8589963" algn="l"/>
                <a:tab pos="9039225" algn="l"/>
                <a:tab pos="9488488" algn="l"/>
                <a:tab pos="9937750" algn="l"/>
                <a:tab pos="10387013" algn="l"/>
                <a:tab pos="10836275" algn="l"/>
                <a:tab pos="11285538" algn="l"/>
                <a:tab pos="11734800" algn="l"/>
                <a:tab pos="12184063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Множество точек называется вершинами (узлами) графа. </a:t>
            </a:r>
            <a:endParaRPr lang="en-US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0" algn="just">
              <a:spcBef>
                <a:spcPts val="0"/>
              </a:spcBef>
              <a:buNone/>
              <a:tabLst>
                <a:tab pos="3200400" algn="l"/>
                <a:tab pos="3648075" algn="l"/>
                <a:tab pos="4097338" algn="l"/>
                <a:tab pos="4546600" algn="l"/>
                <a:tab pos="4995863" algn="l"/>
                <a:tab pos="5445125" algn="l"/>
                <a:tab pos="5894388" algn="l"/>
                <a:tab pos="6343650" algn="l"/>
                <a:tab pos="6792913" algn="l"/>
                <a:tab pos="7242175" algn="l"/>
                <a:tab pos="7691438" algn="l"/>
                <a:tab pos="8140700" algn="l"/>
                <a:tab pos="8589963" algn="l"/>
                <a:tab pos="9039225" algn="l"/>
                <a:tab pos="9488488" algn="l"/>
                <a:tab pos="9937750" algn="l"/>
                <a:tab pos="10387013" algn="l"/>
                <a:tab pos="10836275" algn="l"/>
                <a:tab pos="11285538" algn="l"/>
                <a:tab pos="11734800" algn="l"/>
                <a:tab pos="12184063" algn="l"/>
              </a:tabLst>
            </a:pPr>
            <a:endParaRPr lang="ru-RU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0" algn="just">
              <a:spcBef>
                <a:spcPts val="0"/>
              </a:spcBef>
              <a:buNone/>
              <a:tabLst>
                <a:tab pos="3200400" algn="l"/>
                <a:tab pos="3648075" algn="l"/>
                <a:tab pos="4097338" algn="l"/>
                <a:tab pos="4546600" algn="l"/>
                <a:tab pos="4995863" algn="l"/>
                <a:tab pos="5445125" algn="l"/>
                <a:tab pos="5894388" algn="l"/>
                <a:tab pos="6343650" algn="l"/>
                <a:tab pos="6792913" algn="l"/>
                <a:tab pos="7242175" algn="l"/>
                <a:tab pos="7691438" algn="l"/>
                <a:tab pos="8140700" algn="l"/>
                <a:tab pos="8589963" algn="l"/>
                <a:tab pos="9039225" algn="l"/>
                <a:tab pos="9488488" algn="l"/>
                <a:tab pos="9937750" algn="l"/>
                <a:tab pos="10387013" algn="l"/>
                <a:tab pos="10836275" algn="l"/>
                <a:tab pos="11285538" algn="l"/>
                <a:tab pos="11734800" algn="l"/>
                <a:tab pos="12184063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Множество линий, соединяющих вершины графа, называются ребрами (дугами) графа.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1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Дерево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  <a:tabLst>
                <a:tab pos="3200400" algn="l"/>
                <a:tab pos="3648075" algn="l"/>
                <a:tab pos="4097338" algn="l"/>
                <a:tab pos="4546600" algn="l"/>
                <a:tab pos="4995863" algn="l"/>
                <a:tab pos="5445125" algn="l"/>
                <a:tab pos="5894388" algn="l"/>
                <a:tab pos="6343650" algn="l"/>
                <a:tab pos="6792913" algn="l"/>
                <a:tab pos="7242175" algn="l"/>
                <a:tab pos="7691438" algn="l"/>
                <a:tab pos="8140700" algn="l"/>
                <a:tab pos="8589963" algn="l"/>
                <a:tab pos="9039225" algn="l"/>
                <a:tab pos="9488488" algn="l"/>
                <a:tab pos="9937750" algn="l"/>
                <a:tab pos="10387013" algn="l"/>
                <a:tab pos="10836275" algn="l"/>
                <a:tab pos="11285538" algn="l"/>
                <a:tab pos="11734800" algn="l"/>
                <a:tab pos="12184063" algn="l"/>
              </a:tabLst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Деревом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называют конечный связный граф с выделенной вершиной (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корнем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), не имеющий циклов.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>
              <a:spcBef>
                <a:spcPts val="0"/>
              </a:spcBef>
              <a:buNone/>
            </a:pPr>
            <a:endParaRPr lang="ru-RU" sz="1800" dirty="0" smtClean="0"/>
          </a:p>
          <a:p>
            <a:pPr marL="0">
              <a:spcBef>
                <a:spcPts val="0"/>
              </a:spcBef>
              <a:buNone/>
            </a:pPr>
            <a:endParaRPr lang="ru-RU" sz="1800" dirty="0" smtClean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Дерево</a:t>
            </a:r>
            <a:endParaRPr lang="ru-RU" sz="4000" dirty="0">
              <a:solidFill>
                <a:schemeClr val="tx1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2643182"/>
            <a:ext cx="5940425" cy="35988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latin typeface="Times New Roman" pitchFamily="16" charset="0"/>
              </a:rPr>
              <a:t>Бинарное (двоичное) дерево – это дерево, в котором каждая вершина имеет не более двух потомков.</a:t>
            </a:r>
          </a:p>
          <a:p>
            <a:pPr marL="0" indent="0">
              <a:spcBef>
                <a:spcPts val="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latin typeface="Times New Roman" pitchFamily="16" charset="0"/>
              </a:rPr>
              <a:t>Вершина (узел) дерева – это каждый элемент дерева.</a:t>
            </a:r>
          </a:p>
          <a:p>
            <a:pPr marL="0" indent="0">
              <a:spcBef>
                <a:spcPts val="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latin typeface="Times New Roman" pitchFamily="16" charset="0"/>
              </a:rPr>
              <a:t>Ветви дерева – это направленные дуги, которыми соединены вершины дерева.</a:t>
            </a:r>
          </a:p>
          <a:p>
            <a:pPr marL="0" indent="0">
              <a:spcBef>
                <a:spcPts val="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latin typeface="Times New Roman" pitchFamily="16" charset="0"/>
              </a:rPr>
              <a:t>Высота (глубина) дерева – это количество уровней, на которых располагаются его вершины.</a:t>
            </a:r>
          </a:p>
          <a:p>
            <a:pPr marL="0" indent="0">
              <a:spcBef>
                <a:spcPts val="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latin typeface="Times New Roman" pitchFamily="16" charset="0"/>
              </a:rPr>
              <a:t>Корень дерева – это начальный узел дерева, ему соответствует нулевой уровень.</a:t>
            </a:r>
          </a:p>
          <a:p>
            <a:pPr marL="0" indent="0">
              <a:spcBef>
                <a:spcPts val="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latin typeface="Times New Roman" pitchFamily="16" charset="0"/>
              </a:rPr>
              <a:t>Листья дерева – это вершины, в которые входит одна ветвь и не выходит ни одной ветви.</a:t>
            </a:r>
          </a:p>
          <a:p>
            <a:pPr marL="0" indent="0">
              <a:spcBef>
                <a:spcPts val="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ru-RU" sz="2400" dirty="0">
              <a:latin typeface="Times New Roman" pitchFamily="16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Дерево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latin typeface="Times New Roman" pitchFamily="16" charset="0"/>
              </a:rPr>
              <a:t>Поддерево – это часть древообразной структуры данных, которая может быть представлена в виде отдельного дерева.</a:t>
            </a:r>
          </a:p>
          <a:p>
            <a:pPr marL="0" indent="0">
              <a:spcBef>
                <a:spcPts val="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latin typeface="Times New Roman" pitchFamily="16" charset="0"/>
              </a:rPr>
              <a:t>Полное бинарное дерево – это дерево, которое содержит только полностью заполненные уровни.</a:t>
            </a:r>
          </a:p>
          <a:p>
            <a:pPr marL="0" indent="0">
              <a:spcBef>
                <a:spcPts val="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latin typeface="Times New Roman" pitchFamily="16" charset="0"/>
              </a:rPr>
              <a:t>Потомки – это все вершины, в которые входят ветви, исходящие из одной общей вершины.</a:t>
            </a:r>
          </a:p>
          <a:p>
            <a:pPr marL="0" indent="0">
              <a:spcBef>
                <a:spcPts val="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ru-RU" sz="2400" dirty="0">
              <a:latin typeface="Times New Roman" pitchFamily="16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Дерево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TimesNewRoman;Times New Roman" charset="0"/>
                <a:cs typeface="msmincho" charset="0"/>
              </a:rPr>
              <a:t>Основными операциями, осуществляемыми с бинарными деревьями, являются:</a:t>
            </a:r>
          </a:p>
          <a:p>
            <a:pPr marL="0" indent="0">
              <a:spcBef>
                <a:spcPts val="0"/>
              </a:spcBef>
              <a:buSzPct val="45000"/>
              <a:buFont typeface="Wingdings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TimesNewRoman;Times New Roman" charset="0"/>
                <a:cs typeface="msmincho" charset="0"/>
              </a:rPr>
              <a:t>    создание бинарного дерева;</a:t>
            </a:r>
          </a:p>
          <a:p>
            <a:pPr marL="0" indent="0">
              <a:spcBef>
                <a:spcPts val="0"/>
              </a:spcBef>
              <a:buSzPct val="45000"/>
              <a:buFont typeface="Wingdings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TimesNewRoman;Times New Roman" charset="0"/>
                <a:cs typeface="msmincho" charset="0"/>
              </a:rPr>
              <a:t>    печать бинарного дерева;</a:t>
            </a:r>
          </a:p>
          <a:p>
            <a:pPr marL="0" indent="0">
              <a:spcBef>
                <a:spcPts val="0"/>
              </a:spcBef>
              <a:buSzPct val="45000"/>
              <a:buFont typeface="Wingdings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TimesNewRoman;Times New Roman" charset="0"/>
                <a:cs typeface="msmincho" charset="0"/>
              </a:rPr>
              <a:t>    обход бинарного дерева;</a:t>
            </a:r>
          </a:p>
          <a:p>
            <a:pPr marL="0" indent="0">
              <a:spcBef>
                <a:spcPts val="0"/>
              </a:spcBef>
              <a:buSzPct val="45000"/>
              <a:buFont typeface="Wingdings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TimesNewRoman;Times New Roman" charset="0"/>
                <a:cs typeface="msmincho" charset="0"/>
              </a:rPr>
              <a:t>    вставка элемента в бинарное дерево;</a:t>
            </a:r>
          </a:p>
          <a:p>
            <a:pPr marL="0" indent="0">
              <a:spcBef>
                <a:spcPts val="0"/>
              </a:spcBef>
              <a:buSzPct val="45000"/>
              <a:buFont typeface="Wingdings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TimesNewRoman;Times New Roman" charset="0"/>
                <a:cs typeface="msmincho" charset="0"/>
              </a:rPr>
              <a:t>    удаление элемента из бинарного дерева;</a:t>
            </a:r>
          </a:p>
          <a:p>
            <a:pPr marL="0" indent="0">
              <a:spcBef>
                <a:spcPts val="0"/>
              </a:spcBef>
              <a:buSzPct val="45000"/>
              <a:buFont typeface="Wingdings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TimesNewRoman;Times New Roman" charset="0"/>
                <a:cs typeface="msmincho" charset="0"/>
              </a:rPr>
              <a:t>    проверка пустоты бинарного дерева;</a:t>
            </a:r>
          </a:p>
          <a:p>
            <a:pPr marL="0" indent="0">
              <a:spcBef>
                <a:spcPts val="0"/>
              </a:spcBef>
              <a:buSzPct val="45000"/>
              <a:buFont typeface="Wingdings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TimesNewRoman;Times New Roman" charset="0"/>
                <a:cs typeface="msmincho" charset="0"/>
              </a:rPr>
              <a:t>    удаление бинарного дерева</a:t>
            </a:r>
            <a:endParaRPr lang="ru-RU" sz="2400" dirty="0">
              <a:solidFill>
                <a:srgbClr val="000000"/>
              </a:solidFill>
              <a:latin typeface="TimesNewRoman;Times New Roman" charset="0"/>
              <a:cs typeface="msmincho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Дерево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tree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data;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tree *left;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tree *right;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main()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tree *node=NULL</a:t>
            </a:r>
            <a:endParaRPr lang="ru-RU" sz="24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Дерево</a:t>
            </a:r>
            <a:endParaRPr lang="ru-RU" sz="4000" dirty="0">
              <a:solidFill>
                <a:schemeClr val="tx1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491880" y="1700808"/>
            <a:ext cx="4925730" cy="21602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sz="2400" dirty="0">
              <a:solidFill>
                <a:srgbClr val="000000"/>
              </a:solidFill>
              <a:latin typeface="TimesNewRoman;Times New Roman" charset="0"/>
              <a:cs typeface="msmincho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 (пример1)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28596" y="1714488"/>
            <a:ext cx="814393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добавляемый элемент, больше чем корневой, </a:t>
            </a:r>
          </a:p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	то последовательно перемещаемся в правую часть. </a:t>
            </a:r>
          </a:p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добавляемый элемент меньше чем корневой, </a:t>
            </a:r>
          </a:p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	то последовательно перемещаемся в левую сторону.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sz="2400" dirty="0">
              <a:solidFill>
                <a:srgbClr val="000000"/>
              </a:solidFill>
              <a:latin typeface="TimesNewRoman;Times New Roman" charset="0"/>
              <a:cs typeface="msmincho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 (пример)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28596" y="1714488"/>
            <a:ext cx="814393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у удаляемого элемента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два потомка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для сохранения структуры дерева на место этого элемента необходимо записать или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самый правый элемент левого поддерева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или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самый левый элемент правого поддерева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Тема1" id="{D9924198-7531-463B-9B49-3909A86F00C9}" vid="{0F78871F-1C10-436B-A8F8-684D318A8F8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1526</TotalTime>
  <Words>326</Words>
  <Application>Microsoft Office PowerPoint</Application>
  <PresentationFormat>Экран (4:3)</PresentationFormat>
  <Paragraphs>61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Тема1</vt:lpstr>
      <vt:lpstr>Деревья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Company>SanBuild &amp; 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ЦИКЛЫ</dc:title>
  <dc:creator>DP</dc:creator>
  <cp:lastModifiedBy>пользователь</cp:lastModifiedBy>
  <cp:revision>109</cp:revision>
  <dcterms:created xsi:type="dcterms:W3CDTF">2016-03-13T14:44:57Z</dcterms:created>
  <dcterms:modified xsi:type="dcterms:W3CDTF">2019-04-24T05:49:28Z</dcterms:modified>
</cp:coreProperties>
</file>