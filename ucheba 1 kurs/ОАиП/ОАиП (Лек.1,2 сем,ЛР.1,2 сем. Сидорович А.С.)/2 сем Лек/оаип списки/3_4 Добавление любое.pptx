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sldIdLst>
    <p:sldId id="256" r:id="rId2"/>
    <p:sldId id="313" r:id="rId3"/>
    <p:sldId id="303" r:id="rId4"/>
    <p:sldId id="314" r:id="rId5"/>
    <p:sldId id="317" r:id="rId6"/>
    <p:sldId id="305" r:id="rId7"/>
    <p:sldId id="307" r:id="rId8"/>
    <p:sldId id="308" r:id="rId9"/>
    <p:sldId id="318" r:id="rId10"/>
    <p:sldId id="309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80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059" autoAdjust="0"/>
    <p:restoredTop sz="94660"/>
  </p:normalViewPr>
  <p:slideViewPr>
    <p:cSldViewPr>
      <p:cViewPr>
        <p:scale>
          <a:sx n="60" d="100"/>
          <a:sy n="60" d="100"/>
        </p:scale>
        <p:origin x="-906" y="-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A046E-CCD0-40BA-A22E-3697AE425654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B69FB-3E0A-46AE-A648-F53005C21D0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7671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350" b="1"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76317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24669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225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350" b="1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73814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212929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  <p:extLst>
      <p:ext uri="{BB962C8B-B14F-4D97-AF65-F5344CB8AC3E}">
        <p14:creationId xmlns="" xmlns:p14="http://schemas.microsoft.com/office/powerpoint/2010/main" val="2062735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8852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30660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15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300"/>
              </a:spcBef>
              <a:spcAft>
                <a:spcPts val="750"/>
              </a:spcAft>
              <a:buNone/>
              <a:defRPr sz="9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8" name="Объект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21807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24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75"/>
              </a:spcBef>
              <a:spcAft>
                <a:spcPts val="300"/>
              </a:spcAft>
              <a:buFontTx/>
              <a:buNone/>
              <a:defRPr sz="90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3667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90550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42631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0439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fld id="{8FF90C58-E373-423A-A0B5-7871799BB8BE}" type="datetimeFigureOut">
              <a:rPr lang="ru-RU" smtClean="0"/>
              <a:pPr/>
              <a:t>07.04.2020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050" b="1">
                <a:solidFill>
                  <a:srgbClr val="FFFFFF"/>
                </a:solidFill>
              </a:defRPr>
            </a:lvl1pPr>
          </a:lstStyle>
          <a:p>
            <a:fld id="{68AA017E-59B5-43E6-8EA6-74E9693CDD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7504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l" rtl="0" eaLnBrk="1" latinLnBrk="0" hangingPunct="1">
        <a:spcBef>
          <a:spcPct val="0"/>
        </a:spcBef>
        <a:buNone/>
        <a:defRPr kumimoji="0" sz="225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3716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3716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50876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714500" indent="-13716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05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192024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5696" y="620688"/>
            <a:ext cx="5760640" cy="2736304"/>
          </a:xfrm>
        </p:spPr>
        <p:txBody>
          <a:bodyPr>
            <a:normAutofit/>
          </a:bodyPr>
          <a:lstStyle/>
          <a:p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(любое)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9551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err="1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LIST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indent="457200" algn="just" fontAlgn="t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{</a:t>
            </a:r>
            <a:endParaRPr lang="ru-RU" sz="2400" dirty="0" smtClean="0"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data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lang="en-US" sz="2400" dirty="0" smtClean="0">
              <a:solidFill>
                <a:srgbClr val="000000"/>
              </a:solidFill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LIST *next;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};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LIST *head, *tail;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head= NULL;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tail=NULL;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ru-RU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остальной код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457200" algn="just" eaLnBrk="0" fontAlgn="t" hangingPunct="0">
              <a:spcBef>
                <a:spcPts val="0"/>
              </a:spcBef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sz="1800" dirty="0" smtClean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Связный список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временный указатель 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Выделить место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Записать данные в информационное поле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Указатель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next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сделать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Проверить хвост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Голова = временный указатель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Хвост = временный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указатель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Иначе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Хвост-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&gt;Next =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временный указатель</a:t>
            </a:r>
          </a:p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Хвост = временный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указатель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 в </a:t>
            </a:r>
            <a:r>
              <a:rPr lang="ru-RU" sz="4000" smtClean="0">
                <a:solidFill>
                  <a:schemeClr val="tx1"/>
                </a:solidFill>
              </a:rPr>
              <a:t>любое место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 в </a:t>
            </a:r>
            <a:r>
              <a:rPr lang="ru-RU" sz="4000" dirty="0" smtClean="0">
                <a:solidFill>
                  <a:schemeClr val="tx1"/>
                </a:solidFill>
              </a:rPr>
              <a:t>хвост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357430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endCxn id="1026" idx="0"/>
          </p:cNvCxnSpPr>
          <p:nvPr/>
        </p:nvCxnSpPr>
        <p:spPr>
          <a:xfrm rot="16200000" flipH="1">
            <a:off x="647077" y="2067510"/>
            <a:ext cx="571504" cy="8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1472" y="1500174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temp</a:t>
            </a:r>
            <a:endParaRPr lang="ru-RU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500034" y="2643182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5</a:t>
            </a:r>
            <a:endParaRPr lang="ru-RU" sz="4400" dirty="0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928662" y="2714620"/>
            <a:ext cx="10001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57356" y="2500306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NULL</a:t>
            </a:r>
            <a:endParaRPr lang="ru-RU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4929190" y="2214554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6429388" y="2214554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4929190" y="2928934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tail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6429388" y="292893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cxnSp>
        <p:nvCxnSpPr>
          <p:cNvPr id="32" name="Прямая со стрелкой 31"/>
          <p:cNvCxnSpPr>
            <a:stCxn id="25" idx="3"/>
            <a:endCxn id="28" idx="1"/>
          </p:cNvCxnSpPr>
          <p:nvPr/>
        </p:nvCxnSpPr>
        <p:spPr>
          <a:xfrm>
            <a:off x="5643570" y="2399220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29" idx="3"/>
            <a:endCxn id="30" idx="1"/>
          </p:cNvCxnSpPr>
          <p:nvPr/>
        </p:nvCxnSpPr>
        <p:spPr>
          <a:xfrm>
            <a:off x="5572132" y="3113600"/>
            <a:ext cx="85725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ная линия уступом 42"/>
          <p:cNvCxnSpPr>
            <a:stCxn id="29" idx="1"/>
          </p:cNvCxnSpPr>
          <p:nvPr/>
        </p:nvCxnSpPr>
        <p:spPr>
          <a:xfrm rot="10800000">
            <a:off x="1214414" y="2071678"/>
            <a:ext cx="3714776" cy="104192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ная линия уступом 44"/>
          <p:cNvCxnSpPr>
            <a:stCxn id="25" idx="1"/>
            <a:endCxn id="17" idx="3"/>
          </p:cNvCxnSpPr>
          <p:nvPr/>
        </p:nvCxnSpPr>
        <p:spPr>
          <a:xfrm rot="10800000">
            <a:off x="1358868" y="1700230"/>
            <a:ext cx="3570323" cy="69899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4" grpId="0"/>
      <p:bldP spid="25" grpId="0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 в </a:t>
            </a:r>
            <a:r>
              <a:rPr lang="ru-RU" sz="4000" dirty="0" smtClean="0">
                <a:solidFill>
                  <a:schemeClr val="tx1"/>
                </a:solidFill>
              </a:rPr>
              <a:t>хвост</a:t>
            </a:r>
            <a:endParaRPr lang="ru-RU" sz="40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357430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endCxn id="1026" idx="0"/>
          </p:cNvCxnSpPr>
          <p:nvPr/>
        </p:nvCxnSpPr>
        <p:spPr>
          <a:xfrm rot="16200000" flipH="1">
            <a:off x="647077" y="2067510"/>
            <a:ext cx="571504" cy="8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1472" y="1500174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temp</a:t>
            </a:r>
            <a:endParaRPr lang="ru-RU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500034" y="2643182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5</a:t>
            </a:r>
            <a:endParaRPr lang="ru-RU" sz="4400" dirty="0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928662" y="2714620"/>
            <a:ext cx="10001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57356" y="2500306"/>
            <a:ext cx="1214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NULL</a:t>
            </a:r>
            <a:endParaRPr lang="ru-RU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7000892" y="1500174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5572132" y="5324789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tail</a:t>
            </a:r>
            <a:endParaRPr lang="ru-RU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6929454" y="641725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cxnSp>
        <p:nvCxnSpPr>
          <p:cNvPr id="34" name="Прямая со стрелкой 33"/>
          <p:cNvCxnSpPr>
            <a:stCxn id="29" idx="3"/>
            <a:endCxn id="31" idx="1"/>
          </p:cNvCxnSpPr>
          <p:nvPr/>
        </p:nvCxnSpPr>
        <p:spPr>
          <a:xfrm>
            <a:off x="6286512" y="5555622"/>
            <a:ext cx="571504" cy="43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16" y="2345288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6929454" y="2631040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7</a:t>
            </a:r>
            <a:endParaRPr lang="ru-RU" sz="4400" dirty="0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16" y="3702610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6929454" y="3988362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3</a:t>
            </a:r>
            <a:endParaRPr lang="ru-RU" sz="4400" dirty="0"/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16" y="5059932"/>
            <a:ext cx="101680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extBox 32"/>
          <p:cNvSpPr txBox="1"/>
          <p:nvPr/>
        </p:nvSpPr>
        <p:spPr>
          <a:xfrm>
            <a:off x="6929454" y="5345684"/>
            <a:ext cx="35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9</a:t>
            </a:r>
            <a:endParaRPr lang="ru-RU" sz="4400" dirty="0"/>
          </a:p>
        </p:txBody>
      </p:sp>
      <p:cxnSp>
        <p:nvCxnSpPr>
          <p:cNvPr id="40" name="Соединительная линия уступом 39"/>
          <p:cNvCxnSpPr/>
          <p:nvPr/>
        </p:nvCxnSpPr>
        <p:spPr>
          <a:xfrm>
            <a:off x="7500958" y="2702478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ная линия уступом 41"/>
          <p:cNvCxnSpPr/>
          <p:nvPr/>
        </p:nvCxnSpPr>
        <p:spPr>
          <a:xfrm rot="5400000">
            <a:off x="7893867" y="3095387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hape 45"/>
          <p:cNvCxnSpPr>
            <a:endCxn id="26" idx="0"/>
          </p:cNvCxnSpPr>
          <p:nvPr/>
        </p:nvCxnSpPr>
        <p:spPr>
          <a:xfrm rot="10800000" flipV="1">
            <a:off x="7366418" y="3488296"/>
            <a:ext cx="920359" cy="21431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ная линия уступом 46"/>
          <p:cNvCxnSpPr/>
          <p:nvPr/>
        </p:nvCxnSpPr>
        <p:spPr>
          <a:xfrm>
            <a:off x="7492622" y="4059800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ная линия уступом 47"/>
          <p:cNvCxnSpPr/>
          <p:nvPr/>
        </p:nvCxnSpPr>
        <p:spPr>
          <a:xfrm rot="5400000">
            <a:off x="7885531" y="4452709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hape 48"/>
          <p:cNvCxnSpPr/>
          <p:nvPr/>
        </p:nvCxnSpPr>
        <p:spPr>
          <a:xfrm rot="10800000" flipV="1">
            <a:off x="7358082" y="4845618"/>
            <a:ext cx="920359" cy="21431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49"/>
          <p:cNvCxnSpPr/>
          <p:nvPr/>
        </p:nvCxnSpPr>
        <p:spPr>
          <a:xfrm>
            <a:off x="7501752" y="5416328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ная линия уступом 50"/>
          <p:cNvCxnSpPr/>
          <p:nvPr/>
        </p:nvCxnSpPr>
        <p:spPr>
          <a:xfrm rot="5400000">
            <a:off x="7894661" y="5809237"/>
            <a:ext cx="785818" cy="15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hape 51"/>
          <p:cNvCxnSpPr/>
          <p:nvPr/>
        </p:nvCxnSpPr>
        <p:spPr>
          <a:xfrm rot="10800000" flipV="1">
            <a:off x="7367212" y="6202146"/>
            <a:ext cx="920359" cy="21431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>
            <a:stCxn id="25" idx="2"/>
            <a:endCxn id="20" idx="0"/>
          </p:cNvCxnSpPr>
          <p:nvPr/>
        </p:nvCxnSpPr>
        <p:spPr>
          <a:xfrm rot="16200000" flipH="1">
            <a:off x="7124358" y="2103229"/>
            <a:ext cx="475782" cy="8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Группа 63"/>
          <p:cNvGrpSpPr/>
          <p:nvPr/>
        </p:nvGrpSpPr>
        <p:grpSpPr>
          <a:xfrm>
            <a:off x="928662" y="2000240"/>
            <a:ext cx="7644660" cy="4573620"/>
            <a:chOff x="928662" y="2000240"/>
            <a:chExt cx="7644660" cy="4573620"/>
          </a:xfrm>
        </p:grpSpPr>
        <p:cxnSp>
          <p:nvCxnSpPr>
            <p:cNvPr id="41" name="Прямая соединительная линия 40"/>
            <p:cNvCxnSpPr/>
            <p:nvPr/>
          </p:nvCxnSpPr>
          <p:spPr>
            <a:xfrm>
              <a:off x="7500958" y="5214950"/>
              <a:ext cx="107157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/>
            <p:cNvCxnSpPr/>
            <p:nvPr/>
          </p:nvCxnSpPr>
          <p:spPr>
            <a:xfrm rot="5400000">
              <a:off x="7893867" y="5893611"/>
              <a:ext cx="1357322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/>
            <p:cNvCxnSpPr/>
            <p:nvPr/>
          </p:nvCxnSpPr>
          <p:spPr>
            <a:xfrm rot="10800000">
              <a:off x="4429124" y="6572272"/>
              <a:ext cx="414340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/>
          </p:nvCxnSpPr>
          <p:spPr>
            <a:xfrm rot="16200000" flipV="1">
              <a:off x="2107389" y="4250537"/>
              <a:ext cx="4572032" cy="714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 стрелкой 61"/>
            <p:cNvCxnSpPr/>
            <p:nvPr/>
          </p:nvCxnSpPr>
          <p:spPr>
            <a:xfrm rot="10800000">
              <a:off x="928662" y="2000240"/>
              <a:ext cx="342902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/>
          <p:cNvSpPr txBox="1"/>
          <p:nvPr/>
        </p:nvSpPr>
        <p:spPr>
          <a:xfrm>
            <a:off x="1643042" y="1500174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tail</a:t>
            </a:r>
            <a:endParaRPr lang="ru-RU" sz="2400" dirty="0"/>
          </a:p>
        </p:txBody>
      </p:sp>
      <p:cxnSp>
        <p:nvCxnSpPr>
          <p:cNvPr id="70" name="Прямая со стрелкой 69"/>
          <p:cNvCxnSpPr/>
          <p:nvPr/>
        </p:nvCxnSpPr>
        <p:spPr>
          <a:xfrm rot="10800000" flipV="1">
            <a:off x="1071538" y="1857364"/>
            <a:ext cx="714380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4" grpId="0"/>
      <p:bldP spid="25" grpId="0"/>
      <p:bldP spid="29" grpId="0"/>
      <p:bldP spid="29" grpId="1"/>
      <p:bldP spid="30" grpId="0"/>
      <p:bldP spid="30" grpId="1"/>
      <p:bldP spid="22" grpId="0"/>
      <p:bldP spid="27" grpId="0"/>
      <p:bldP spid="33" grpId="0"/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push(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LIST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**head,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LIST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**tail,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x)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*n; 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 = 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LIST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LIST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n-&gt;next = NULL;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n-&gt;data = 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(*head == NULL)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*head = 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*tail = 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(*tail)-&gt;next=n;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*tail=n;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FIFO *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push(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FIFO *tail,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x)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FIFO *n;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 = 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FIFO *)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FIFO));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n-&gt;next = NULL;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n-&gt;data = x;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(tail == NULL)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tail= n;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tail-&gt;next=n;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tail=n;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tail;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algn="just">
              <a:buNone/>
            </a:pP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Добавление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Создать временный указатель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Временный указатель поставить на голову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хвост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голова не равны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пока указатель на следующий после временного не хвост делать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временный сместить на его последующий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вост = временный указатель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следующий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 хвоста 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Иначе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	Хвост и голова 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r>
              <a:rPr lang="ru-RU" sz="4000" dirty="0" smtClean="0">
                <a:solidFill>
                  <a:schemeClr val="tx1"/>
                </a:solidFill>
              </a:rPr>
              <a:t>с </a:t>
            </a:r>
            <a:r>
              <a:rPr lang="ru-RU" sz="4000" dirty="0" smtClean="0">
                <a:solidFill>
                  <a:schemeClr val="tx1"/>
                </a:solidFill>
              </a:rPr>
              <a:t>хвоста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>
                <a:latin typeface="HelveticaNeueCyr-Roman"/>
                <a:ea typeface="HelveticaNeueCyr-Roman"/>
                <a:cs typeface="HelveticaNeueCyr-Roman"/>
                <a:sym typeface="HelveticaNeueCyr-Roman"/>
              </a:defRPr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 с </a:t>
            </a:r>
            <a:r>
              <a:rPr lang="ru-RU" sz="4000" dirty="0" smtClean="0">
                <a:solidFill>
                  <a:schemeClr val="tx1"/>
                </a:solidFill>
              </a:rPr>
              <a:t>хвоста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3174" y="1643050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temp</a:t>
            </a:r>
            <a:endParaRPr lang="ru-RU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5500702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tail</a:t>
            </a:r>
            <a:endParaRPr lang="ru-RU" sz="2400" dirty="0"/>
          </a:p>
        </p:txBody>
      </p:sp>
      <p:sp>
        <p:nvSpPr>
          <p:cNvPr id="67" name="TextBox 66"/>
          <p:cNvSpPr txBox="1"/>
          <p:nvPr/>
        </p:nvSpPr>
        <p:spPr>
          <a:xfrm>
            <a:off x="1000100" y="1643050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928662" y="6417254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3413156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1050051" y="3624824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7</a:t>
            </a:r>
            <a:endParaRPr lang="ru-RU" sz="3200" dirty="0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4418579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1050051" y="4630247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3</a:t>
            </a:r>
            <a:endParaRPr lang="ru-RU" sz="3200" dirty="0"/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5424003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extBox 32"/>
          <p:cNvSpPr txBox="1"/>
          <p:nvPr/>
        </p:nvSpPr>
        <p:spPr>
          <a:xfrm>
            <a:off x="1050051" y="5635671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9</a:t>
            </a:r>
            <a:endParaRPr lang="ru-RU" sz="3200" dirty="0"/>
          </a:p>
        </p:txBody>
      </p:sp>
      <p:grpSp>
        <p:nvGrpSpPr>
          <p:cNvPr id="34" name="Группа 33"/>
          <p:cNvGrpSpPr/>
          <p:nvPr/>
        </p:nvGrpSpPr>
        <p:grpSpPr>
          <a:xfrm>
            <a:off x="1355586" y="3677741"/>
            <a:ext cx="644091" cy="740838"/>
            <a:chOff x="1355586" y="3677741"/>
            <a:chExt cx="644091" cy="740838"/>
          </a:xfrm>
        </p:grpSpPr>
        <p:cxnSp>
          <p:nvCxnSpPr>
            <p:cNvPr id="40" name="Соединительная линия уступом 39"/>
            <p:cNvCxnSpPr/>
            <p:nvPr/>
          </p:nvCxnSpPr>
          <p:spPr>
            <a:xfrm>
              <a:off x="1449660" y="3677741"/>
              <a:ext cx="549462" cy="1176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Соединительная линия уступом 41"/>
            <p:cNvCxnSpPr/>
            <p:nvPr/>
          </p:nvCxnSpPr>
          <p:spPr>
            <a:xfrm rot="5400000">
              <a:off x="1708078" y="3968817"/>
              <a:ext cx="582087" cy="111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hape 45"/>
            <p:cNvCxnSpPr>
              <a:endCxn id="26" idx="0"/>
            </p:cNvCxnSpPr>
            <p:nvPr/>
          </p:nvCxnSpPr>
          <p:spPr>
            <a:xfrm rot="10800000" flipV="1">
              <a:off x="1355586" y="4259828"/>
              <a:ext cx="643536" cy="158751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Соединительная линия уступом 46"/>
          <p:cNvCxnSpPr/>
          <p:nvPr/>
        </p:nvCxnSpPr>
        <p:spPr>
          <a:xfrm>
            <a:off x="1443831" y="4683165"/>
            <a:ext cx="549462" cy="11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ная линия уступом 47"/>
          <p:cNvCxnSpPr/>
          <p:nvPr/>
        </p:nvCxnSpPr>
        <p:spPr>
          <a:xfrm rot="5400000">
            <a:off x="1702249" y="4974241"/>
            <a:ext cx="582087" cy="11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hape 48"/>
          <p:cNvCxnSpPr/>
          <p:nvPr/>
        </p:nvCxnSpPr>
        <p:spPr>
          <a:xfrm rot="10800000" flipV="1">
            <a:off x="1349758" y="5265252"/>
            <a:ext cx="643536" cy="15875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49"/>
          <p:cNvCxnSpPr/>
          <p:nvPr/>
        </p:nvCxnSpPr>
        <p:spPr>
          <a:xfrm>
            <a:off x="1450215" y="5688000"/>
            <a:ext cx="549462" cy="11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ная линия уступом 50"/>
          <p:cNvCxnSpPr/>
          <p:nvPr/>
        </p:nvCxnSpPr>
        <p:spPr>
          <a:xfrm rot="5400000">
            <a:off x="1708633" y="5979077"/>
            <a:ext cx="582087" cy="11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hape 51"/>
          <p:cNvCxnSpPr/>
          <p:nvPr/>
        </p:nvCxnSpPr>
        <p:spPr>
          <a:xfrm rot="10800000" flipV="1">
            <a:off x="1356141" y="6270087"/>
            <a:ext cx="643536" cy="15875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416726"/>
            <a:ext cx="710970" cy="74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1050051" y="2628394"/>
            <a:ext cx="2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5</a:t>
            </a:r>
            <a:endParaRPr lang="ru-RU" sz="3200" dirty="0"/>
          </a:p>
        </p:txBody>
      </p:sp>
      <p:grpSp>
        <p:nvGrpSpPr>
          <p:cNvPr id="32" name="Группа 31"/>
          <p:cNvGrpSpPr/>
          <p:nvPr/>
        </p:nvGrpSpPr>
        <p:grpSpPr>
          <a:xfrm>
            <a:off x="1355586" y="2681311"/>
            <a:ext cx="644091" cy="740839"/>
            <a:chOff x="1355586" y="2681311"/>
            <a:chExt cx="644091" cy="740839"/>
          </a:xfrm>
        </p:grpSpPr>
        <p:cxnSp>
          <p:nvCxnSpPr>
            <p:cNvPr id="38" name="Соединительная линия уступом 37"/>
            <p:cNvCxnSpPr/>
            <p:nvPr/>
          </p:nvCxnSpPr>
          <p:spPr>
            <a:xfrm>
              <a:off x="1449660" y="2681311"/>
              <a:ext cx="549462" cy="1176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Соединительная линия уступом 38"/>
            <p:cNvCxnSpPr/>
            <p:nvPr/>
          </p:nvCxnSpPr>
          <p:spPr>
            <a:xfrm rot="5400000">
              <a:off x="1708078" y="2972388"/>
              <a:ext cx="582087" cy="111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hape 40"/>
            <p:cNvCxnSpPr/>
            <p:nvPr/>
          </p:nvCxnSpPr>
          <p:spPr>
            <a:xfrm rot="10800000" flipV="1">
              <a:off x="1355586" y="3263399"/>
              <a:ext cx="643536" cy="158751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Прямая со стрелкой 63"/>
          <p:cNvCxnSpPr>
            <a:endCxn id="31" idx="1"/>
          </p:cNvCxnSpPr>
          <p:nvPr/>
        </p:nvCxnSpPr>
        <p:spPr>
          <a:xfrm>
            <a:off x="714380" y="5790831"/>
            <a:ext cx="285720" cy="35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stCxn id="67" idx="2"/>
            <a:endCxn id="36" idx="0"/>
          </p:cNvCxnSpPr>
          <p:nvPr/>
        </p:nvCxnSpPr>
        <p:spPr>
          <a:xfrm rot="5400000">
            <a:off x="1154266" y="2213702"/>
            <a:ext cx="404344" cy="17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>
            <a:stCxn id="17" idx="2"/>
          </p:cNvCxnSpPr>
          <p:nvPr/>
        </p:nvCxnSpPr>
        <p:spPr>
          <a:xfrm rot="5400000">
            <a:off x="2075665" y="1396223"/>
            <a:ext cx="314270" cy="1608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285984" y="464344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cxnSp>
        <p:nvCxnSpPr>
          <p:cNvPr id="44" name="Прямая со стрелкой 43"/>
          <p:cNvCxnSpPr/>
          <p:nvPr/>
        </p:nvCxnSpPr>
        <p:spPr>
          <a:xfrm>
            <a:off x="1500166" y="4786322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79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80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1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8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3333E-6 L 0.00399 0.21065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105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 L 0.00243 0.19977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97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98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9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1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99 0.21065 L 0.00799 0.33334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61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0.19977 L 1.94444E-6 0.33333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15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116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7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25" dur="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126" dur="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7" dur="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1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35" dur="1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136" dur="1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7" dur="1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1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4.07407E-6 L 0.00469 -0.15579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-78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0.00417 -0.14676 " pathEditMode="relative" rAng="0" ptsTypes="AA">
                                      <p:cBhvr>
                                        <p:cTn id="14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" y="-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7" grpId="2"/>
      <p:bldP spid="29" grpId="0"/>
      <p:bldP spid="67" grpId="0"/>
      <p:bldP spid="30" grpId="0"/>
      <p:bldP spid="22" grpId="0"/>
      <p:bldP spid="27" grpId="0"/>
      <p:bldP spid="33" grpId="0"/>
      <p:bldP spid="37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371475" y="1600200"/>
            <a:ext cx="8229599" cy="4873752"/>
          </a:xfrm>
          <a:prstGeom prst="rect">
            <a:avLst/>
          </a:prstGeom>
        </p:spPr>
        <p:txBody>
          <a:bodyPr/>
          <a:lstStyle>
            <a:lvl1pPr marL="154305" indent="-154305" algn="l" rtl="0" eaLnBrk="1" latinLnBrk="0" hangingPunct="1">
              <a:spcBef>
                <a:spcPts val="338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45" indent="-154305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1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68655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10287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77265" indent="-10287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131570" indent="-10287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85875" indent="-10287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788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0287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788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600" dirty="0" smtClean="0"/>
              <a:t>void pop(</a:t>
            </a:r>
            <a:r>
              <a:rPr lang="en-US" sz="1600" dirty="0" err="1" smtClean="0"/>
              <a:t>struct</a:t>
            </a:r>
            <a:r>
              <a:rPr lang="en-US" sz="1600" dirty="0" smtClean="0"/>
              <a:t> LIST **head, </a:t>
            </a:r>
            <a:r>
              <a:rPr lang="en-US" sz="1600" dirty="0" err="1" smtClean="0"/>
              <a:t>struct</a:t>
            </a:r>
            <a:r>
              <a:rPr lang="en-US" sz="1600" dirty="0" smtClean="0"/>
              <a:t> LIST **tail</a:t>
            </a:r>
            <a:r>
              <a:rPr lang="en-US" sz="1600" dirty="0" smtClean="0"/>
              <a:t>)</a:t>
            </a:r>
            <a:endParaRPr lang="ru-RU" sz="1600" dirty="0" smtClean="0"/>
          </a:p>
          <a:p>
            <a:pPr>
              <a:buNone/>
            </a:pPr>
            <a:r>
              <a:rPr lang="en-US" sz="1600" dirty="0" smtClean="0"/>
              <a:t> </a:t>
            </a:r>
            <a:r>
              <a:rPr lang="en-US" sz="1600" dirty="0" smtClean="0"/>
              <a:t>{</a:t>
            </a:r>
          </a:p>
          <a:p>
            <a:pPr>
              <a:buNone/>
            </a:pPr>
            <a:r>
              <a:rPr lang="en-US" sz="1600" dirty="0" err="1" smtClean="0"/>
              <a:t>struct</a:t>
            </a:r>
            <a:r>
              <a:rPr lang="en-US" sz="1600" dirty="0" smtClean="0"/>
              <a:t> LIST *temp;</a:t>
            </a:r>
          </a:p>
          <a:p>
            <a:pPr>
              <a:buNone/>
            </a:pPr>
            <a:r>
              <a:rPr lang="en-US" sz="1600" dirty="0" smtClean="0"/>
              <a:t>temp = *head;</a:t>
            </a:r>
          </a:p>
          <a:p>
            <a:pPr>
              <a:buNone/>
            </a:pPr>
            <a:r>
              <a:rPr lang="en-US" sz="1600" dirty="0" smtClean="0"/>
              <a:t>if (*tail != *head)</a:t>
            </a:r>
          </a:p>
          <a:p>
            <a:pPr>
              <a:buNone/>
            </a:pPr>
            <a:r>
              <a:rPr lang="ru-RU" sz="1600" dirty="0" smtClean="0"/>
              <a:t>{</a:t>
            </a:r>
            <a:endParaRPr lang="ru-RU" sz="1600" dirty="0" smtClean="0"/>
          </a:p>
          <a:p>
            <a:pPr>
              <a:buNone/>
            </a:pPr>
            <a:r>
              <a:rPr lang="en-US" sz="1600" dirty="0" smtClean="0"/>
              <a:t>while (temp-&gt;next != *tail)</a:t>
            </a:r>
          </a:p>
          <a:p>
            <a:pPr>
              <a:buNone/>
            </a:pPr>
            <a:r>
              <a:rPr lang="ru-RU" sz="1600" dirty="0" smtClean="0"/>
              <a:t>{</a:t>
            </a:r>
          </a:p>
          <a:p>
            <a:pPr>
              <a:buNone/>
            </a:pPr>
            <a:r>
              <a:rPr lang="en-US" sz="1600" dirty="0" smtClean="0"/>
              <a:t>temp = temp-&gt;next;</a:t>
            </a:r>
          </a:p>
          <a:p>
            <a:pPr>
              <a:buNone/>
            </a:pPr>
            <a:r>
              <a:rPr lang="ru-RU" sz="1600" dirty="0" smtClean="0"/>
              <a:t>}</a:t>
            </a:r>
          </a:p>
          <a:p>
            <a:pPr>
              <a:buNone/>
            </a:pPr>
            <a:r>
              <a:rPr lang="en-US" sz="1600" dirty="0" smtClean="0"/>
              <a:t>*</a:t>
            </a:r>
            <a:r>
              <a:rPr lang="en-US" sz="1600" dirty="0" smtClean="0"/>
              <a:t>tail = temp;</a:t>
            </a:r>
          </a:p>
          <a:p>
            <a:pPr>
              <a:buNone/>
            </a:pPr>
            <a:r>
              <a:rPr lang="en-US" sz="1600" dirty="0" smtClean="0"/>
              <a:t>(*tail)-&gt;next = NULL;</a:t>
            </a:r>
          </a:p>
          <a:p>
            <a:pPr>
              <a:buNone/>
            </a:pPr>
            <a:r>
              <a:rPr lang="ru-RU" sz="1600" dirty="0" smtClean="0"/>
              <a:t>}</a:t>
            </a:r>
          </a:p>
          <a:p>
            <a:pPr>
              <a:buNone/>
            </a:pPr>
            <a:r>
              <a:rPr lang="en-US" sz="1600" dirty="0" smtClean="0"/>
              <a:t>else</a:t>
            </a:r>
          </a:p>
          <a:p>
            <a:pPr>
              <a:buNone/>
            </a:pPr>
            <a:r>
              <a:rPr lang="ru-RU" sz="1600" dirty="0" smtClean="0"/>
              <a:t>{</a:t>
            </a:r>
          </a:p>
          <a:p>
            <a:pPr>
              <a:buNone/>
            </a:pPr>
            <a:r>
              <a:rPr lang="en-US" sz="1600" dirty="0" smtClean="0"/>
              <a:t>*tail = NULL;</a:t>
            </a:r>
          </a:p>
          <a:p>
            <a:pPr>
              <a:buNone/>
            </a:pPr>
            <a:r>
              <a:rPr lang="en-US" sz="1600" dirty="0" smtClean="0"/>
              <a:t>*head = NULL;</a:t>
            </a:r>
          </a:p>
          <a:p>
            <a:pPr>
              <a:buNone/>
            </a:pPr>
            <a:r>
              <a:rPr lang="ru-RU" sz="1600" dirty="0" smtClean="0"/>
              <a:t>}</a:t>
            </a:r>
          </a:p>
          <a:p>
            <a:pPr>
              <a:buNone/>
            </a:pPr>
            <a:r>
              <a:rPr lang="ru-RU" sz="1600" dirty="0" smtClean="0"/>
              <a:t>}</a:t>
            </a:r>
            <a:endParaRPr lang="ru-RU" sz="16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71475" y="274638"/>
            <a:ext cx="8229599" cy="1143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1688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tx1"/>
                </a:solidFill>
              </a:rPr>
              <a:t>Удаление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2413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Тема1" id="{D9924198-7531-463B-9B49-3909A86F00C9}" vid="{0F78871F-1C10-436B-A8F8-684D318A8F8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2416</TotalTime>
  <Words>257</Words>
  <Application>Microsoft Office PowerPoint</Application>
  <PresentationFormat>Экран (4:3)</PresentationFormat>
  <Paragraphs>125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Тема1</vt:lpstr>
      <vt:lpstr>Добавление/ удаление (любое)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Company>SanBuild &amp; 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ЦИКЛЫ</dc:title>
  <dc:creator>DP</dc:creator>
  <cp:lastModifiedBy>Alya</cp:lastModifiedBy>
  <cp:revision>144</cp:revision>
  <dcterms:created xsi:type="dcterms:W3CDTF">2016-03-13T14:44:57Z</dcterms:created>
  <dcterms:modified xsi:type="dcterms:W3CDTF">2020-04-08T04:30:51Z</dcterms:modified>
</cp:coreProperties>
</file>