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sldIdLst>
    <p:sldId id="256" r:id="rId2"/>
    <p:sldId id="313" r:id="rId3"/>
    <p:sldId id="303" r:id="rId4"/>
    <p:sldId id="314" r:id="rId5"/>
    <p:sldId id="317" r:id="rId6"/>
    <p:sldId id="305" r:id="rId7"/>
    <p:sldId id="306" r:id="rId8"/>
    <p:sldId id="307" r:id="rId9"/>
    <p:sldId id="308" r:id="rId10"/>
    <p:sldId id="318" r:id="rId11"/>
    <p:sldId id="309" r:id="rId12"/>
    <p:sldId id="315" r:id="rId13"/>
    <p:sldId id="316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8000"/>
    <a:srgbClr val="0000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59" autoAdjust="0"/>
    <p:restoredTop sz="94660"/>
  </p:normalViewPr>
  <p:slideViewPr>
    <p:cSldViewPr>
      <p:cViewPr>
        <p:scale>
          <a:sx n="43" d="100"/>
          <a:sy n="43" d="100"/>
        </p:scale>
        <p:origin x="-1410" y="-6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A046E-CCD0-40BA-A22E-3697AE425654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B69FB-3E0A-46AE-A648-F53005C21D0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7671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350" b="1">
                <a:solidFill>
                  <a:schemeClr val="tx2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76317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4669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225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350" b="1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73814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212929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206273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8852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0660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15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300"/>
              </a:spcBef>
              <a:spcAft>
                <a:spcPts val="750"/>
              </a:spcAft>
              <a:buNone/>
              <a:defRPr sz="90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8" name="Объект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21807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15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24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75"/>
              </a:spcBef>
              <a:spcAft>
                <a:spcPts val="300"/>
              </a:spcAft>
              <a:buFontTx/>
              <a:buNone/>
              <a:defRPr sz="90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3667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0550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42631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0439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050" b="1">
                <a:solidFill>
                  <a:srgbClr val="FFFFFF"/>
                </a:solidFill>
              </a:defRPr>
            </a:lvl1pPr>
          </a:lstStyle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7504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>
      <a:lvl1pPr algn="l" rtl="0" eaLnBrk="1" latinLnBrk="0" hangingPunct="1">
        <a:spcBef>
          <a:spcPct val="0"/>
        </a:spcBef>
        <a:buNone/>
        <a:defRPr kumimoji="0" sz="225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20574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3716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3716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50876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714500" indent="-13716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05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192024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5696" y="620688"/>
            <a:ext cx="5760640" cy="2736304"/>
          </a:xfrm>
        </p:spPr>
        <p:txBody>
          <a:bodyPr>
            <a:normAutofit/>
          </a:bodyPr>
          <a:lstStyle/>
          <a:p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Добавление/удаление (голова)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9551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 fontAlgn="t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ru-RU" sz="2400" dirty="0" err="1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LIST</a:t>
            </a: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indent="457200" algn="just" fontAlgn="t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{</a:t>
            </a:r>
            <a:endParaRPr lang="ru-RU" sz="2400" dirty="0" smtClean="0"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data</a:t>
            </a: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</a:t>
            </a:r>
            <a:endParaRPr lang="en-US" sz="2400" dirty="0" smtClean="0">
              <a:solidFill>
                <a:srgbClr val="000000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LIST *next;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};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LIST *head, *tail;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head= NULL;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tail=NULL;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остальной код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sz="1800" dirty="0" smtClean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Связный список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Создать временный указатель 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Выделить место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Записать данные в информационное поле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Указатель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next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сделать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Проверить голову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Голова=временный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указатель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Хвост = временный указатель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Иначе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 временного указателя поле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next =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голова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Голова = временный указатель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 в голову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 в голову</a:t>
            </a:r>
            <a:endParaRPr lang="ru-RU" sz="4000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357430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endCxn id="1026" idx="0"/>
          </p:cNvCxnSpPr>
          <p:nvPr/>
        </p:nvCxnSpPr>
        <p:spPr>
          <a:xfrm rot="16200000" flipH="1">
            <a:off x="647077" y="2067510"/>
            <a:ext cx="571504" cy="8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1472" y="1500174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temp</a:t>
            </a:r>
            <a:endParaRPr lang="ru-RU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500034" y="2643182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5</a:t>
            </a:r>
            <a:endParaRPr lang="ru-RU" sz="4400" dirty="0"/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928662" y="2714620"/>
            <a:ext cx="10001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57356" y="2500306"/>
            <a:ext cx="1214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NULL</a:t>
            </a:r>
            <a:endParaRPr lang="ru-RU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4929190" y="2214554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6429388" y="2214554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4929190" y="2928934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tail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6429388" y="292893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cxnSp>
        <p:nvCxnSpPr>
          <p:cNvPr id="32" name="Прямая со стрелкой 31"/>
          <p:cNvCxnSpPr>
            <a:stCxn id="25" idx="3"/>
            <a:endCxn id="28" idx="1"/>
          </p:cNvCxnSpPr>
          <p:nvPr/>
        </p:nvCxnSpPr>
        <p:spPr>
          <a:xfrm>
            <a:off x="5643570" y="2399220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29" idx="3"/>
            <a:endCxn id="30" idx="1"/>
          </p:cNvCxnSpPr>
          <p:nvPr/>
        </p:nvCxnSpPr>
        <p:spPr>
          <a:xfrm>
            <a:off x="5572132" y="3113600"/>
            <a:ext cx="85725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Соединительная линия уступом 42"/>
          <p:cNvCxnSpPr>
            <a:stCxn id="29" idx="1"/>
          </p:cNvCxnSpPr>
          <p:nvPr/>
        </p:nvCxnSpPr>
        <p:spPr>
          <a:xfrm rot="10800000">
            <a:off x="1214414" y="2071678"/>
            <a:ext cx="3714776" cy="104192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Соединительная линия уступом 44"/>
          <p:cNvCxnSpPr>
            <a:stCxn id="25" idx="1"/>
            <a:endCxn id="17" idx="3"/>
          </p:cNvCxnSpPr>
          <p:nvPr/>
        </p:nvCxnSpPr>
        <p:spPr>
          <a:xfrm rot="10800000">
            <a:off x="1358868" y="1700230"/>
            <a:ext cx="3570323" cy="69899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4" grpId="0"/>
      <p:bldP spid="25" grpId="0"/>
      <p:bldP spid="28" grpId="0"/>
      <p:bldP spid="28" grpId="2"/>
      <p:bldP spid="29" grpId="0"/>
      <p:bldP spid="30" grpId="0"/>
      <p:bldP spid="30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 в голову</a:t>
            </a:r>
            <a:endParaRPr lang="ru-RU" sz="4000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357430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endCxn id="1026" idx="0"/>
          </p:cNvCxnSpPr>
          <p:nvPr/>
        </p:nvCxnSpPr>
        <p:spPr>
          <a:xfrm rot="16200000" flipH="1">
            <a:off x="647077" y="2067510"/>
            <a:ext cx="571504" cy="8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1472" y="1500174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temp</a:t>
            </a:r>
            <a:endParaRPr lang="ru-RU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500034" y="2643182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5</a:t>
            </a:r>
            <a:endParaRPr lang="ru-RU" sz="4400" dirty="0"/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928662" y="2714620"/>
            <a:ext cx="10001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57356" y="2500306"/>
            <a:ext cx="1214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NULL</a:t>
            </a:r>
            <a:endParaRPr lang="ru-RU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7000892" y="1500174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5572132" y="5324789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tail</a:t>
            </a:r>
            <a:endParaRPr lang="ru-RU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6929454" y="641725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cxnSp>
        <p:nvCxnSpPr>
          <p:cNvPr id="34" name="Прямая со стрелкой 33"/>
          <p:cNvCxnSpPr>
            <a:stCxn id="29" idx="3"/>
            <a:endCxn id="31" idx="1"/>
          </p:cNvCxnSpPr>
          <p:nvPr/>
        </p:nvCxnSpPr>
        <p:spPr>
          <a:xfrm>
            <a:off x="6286512" y="5555622"/>
            <a:ext cx="571504" cy="43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16" y="2345288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Box 21"/>
          <p:cNvSpPr txBox="1"/>
          <p:nvPr/>
        </p:nvSpPr>
        <p:spPr>
          <a:xfrm>
            <a:off x="6929454" y="2631040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7</a:t>
            </a:r>
            <a:endParaRPr lang="ru-RU" sz="4400" dirty="0"/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16" y="3702610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6929454" y="3988362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3</a:t>
            </a:r>
            <a:endParaRPr lang="ru-RU" sz="4400" dirty="0"/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16" y="5059932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TextBox 32"/>
          <p:cNvSpPr txBox="1"/>
          <p:nvPr/>
        </p:nvSpPr>
        <p:spPr>
          <a:xfrm>
            <a:off x="6929454" y="5345684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9</a:t>
            </a:r>
            <a:endParaRPr lang="ru-RU" sz="4400" dirty="0"/>
          </a:p>
        </p:txBody>
      </p:sp>
      <p:cxnSp>
        <p:nvCxnSpPr>
          <p:cNvPr id="40" name="Соединительная линия уступом 39"/>
          <p:cNvCxnSpPr/>
          <p:nvPr/>
        </p:nvCxnSpPr>
        <p:spPr>
          <a:xfrm>
            <a:off x="7500958" y="2702478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Соединительная линия уступом 41"/>
          <p:cNvCxnSpPr/>
          <p:nvPr/>
        </p:nvCxnSpPr>
        <p:spPr>
          <a:xfrm rot="5400000">
            <a:off x="7893867" y="3095387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hape 45"/>
          <p:cNvCxnSpPr>
            <a:endCxn id="26" idx="0"/>
          </p:cNvCxnSpPr>
          <p:nvPr/>
        </p:nvCxnSpPr>
        <p:spPr>
          <a:xfrm rot="10800000" flipV="1">
            <a:off x="7366418" y="3488296"/>
            <a:ext cx="920359" cy="21431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ная линия уступом 46"/>
          <p:cNvCxnSpPr/>
          <p:nvPr/>
        </p:nvCxnSpPr>
        <p:spPr>
          <a:xfrm>
            <a:off x="7492622" y="4059800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ная линия уступом 47"/>
          <p:cNvCxnSpPr/>
          <p:nvPr/>
        </p:nvCxnSpPr>
        <p:spPr>
          <a:xfrm rot="5400000">
            <a:off x="7885531" y="4452709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hape 48"/>
          <p:cNvCxnSpPr/>
          <p:nvPr/>
        </p:nvCxnSpPr>
        <p:spPr>
          <a:xfrm rot="10800000" flipV="1">
            <a:off x="7358082" y="4845618"/>
            <a:ext cx="920359" cy="21431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ная линия уступом 49"/>
          <p:cNvCxnSpPr/>
          <p:nvPr/>
        </p:nvCxnSpPr>
        <p:spPr>
          <a:xfrm>
            <a:off x="7501752" y="5416328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Соединительная линия уступом 50"/>
          <p:cNvCxnSpPr/>
          <p:nvPr/>
        </p:nvCxnSpPr>
        <p:spPr>
          <a:xfrm rot="5400000">
            <a:off x="7894661" y="5809237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hape 51"/>
          <p:cNvCxnSpPr/>
          <p:nvPr/>
        </p:nvCxnSpPr>
        <p:spPr>
          <a:xfrm rot="10800000" flipV="1">
            <a:off x="7367212" y="6202146"/>
            <a:ext cx="920359" cy="21431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>
            <a:stCxn id="25" idx="2"/>
            <a:endCxn id="20" idx="0"/>
          </p:cNvCxnSpPr>
          <p:nvPr/>
        </p:nvCxnSpPr>
        <p:spPr>
          <a:xfrm rot="16200000" flipH="1">
            <a:off x="7124358" y="2103229"/>
            <a:ext cx="475782" cy="8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Соединительная линия уступом 65"/>
          <p:cNvCxnSpPr/>
          <p:nvPr/>
        </p:nvCxnSpPr>
        <p:spPr>
          <a:xfrm flipV="1">
            <a:off x="928662" y="2285992"/>
            <a:ext cx="6437755" cy="369332"/>
          </a:xfrm>
          <a:prstGeom prst="bentConnector4">
            <a:avLst>
              <a:gd name="adj1" fmla="val 46051"/>
              <a:gd name="adj2" fmla="val 16189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500166" y="1500174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ru-RU" dirty="0"/>
          </a:p>
        </p:txBody>
      </p:sp>
      <p:cxnSp>
        <p:nvCxnSpPr>
          <p:cNvPr id="69" name="Прямая со стрелкой 68"/>
          <p:cNvCxnSpPr>
            <a:stCxn id="67" idx="2"/>
          </p:cNvCxnSpPr>
          <p:nvPr/>
        </p:nvCxnSpPr>
        <p:spPr>
          <a:xfrm rot="5400000">
            <a:off x="1291922" y="1720560"/>
            <a:ext cx="416488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4" grpId="0"/>
      <p:bldP spid="24" grpId="1"/>
      <p:bldP spid="25" grpId="0"/>
      <p:bldP spid="25" grpId="1"/>
      <p:bldP spid="29" grpId="0"/>
      <p:bldP spid="30" grpId="0"/>
      <p:bldP spid="22" grpId="0"/>
      <p:bldP spid="27" grpId="0"/>
      <p:bldP spid="33" grpId="0"/>
      <p:bldP spid="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LIST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temp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;    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temp =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LIST*)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(1,sizeof(LIST))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temp -&gt;next = NULL;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temp -&gt;data = x;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if (head == NULL)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head =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temp;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   tail =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temp;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else </a:t>
            </a:r>
          </a:p>
          <a:p>
            <a:pPr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	   temp -&gt;next = head;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head = temp;</a:t>
            </a:r>
          </a:p>
          <a:p>
            <a:pPr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Создать временный указатель 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Выделить место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Записать данные в информационное поле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Указатель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next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сделать на голову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Вернуть временный указатель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LIST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temp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;    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temp = new LIST;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temp -&gt;next = head;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temp -&gt;data = x;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return temp;</a:t>
            </a:r>
          </a:p>
          <a:p>
            <a:pPr algn="just"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голова не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Создать временный указатель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Временный указатель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Голова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Голова =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голова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&gt;next;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	Очистить временный указатель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Иначе 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	Хвост =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Удаление</a:t>
            </a:r>
            <a:r>
              <a:rPr lang="en-US" sz="4000" dirty="0" smtClean="0">
                <a:solidFill>
                  <a:schemeClr val="tx1"/>
                </a:solidFill>
              </a:rPr>
              <a:t> </a:t>
            </a:r>
            <a:r>
              <a:rPr lang="ru-RU" sz="4000" dirty="0" smtClean="0">
                <a:solidFill>
                  <a:schemeClr val="tx1"/>
                </a:solidFill>
              </a:rPr>
              <a:t>с головы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Удаление с головы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3174" y="1643050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temp</a:t>
            </a:r>
            <a:endParaRPr lang="ru-RU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5500702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tail</a:t>
            </a:r>
            <a:endParaRPr lang="ru-RU" sz="2400" dirty="0"/>
          </a:p>
        </p:txBody>
      </p:sp>
      <p:sp>
        <p:nvSpPr>
          <p:cNvPr id="67" name="TextBox 66"/>
          <p:cNvSpPr txBox="1"/>
          <p:nvPr/>
        </p:nvSpPr>
        <p:spPr>
          <a:xfrm>
            <a:off x="1000100" y="1643050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928662" y="6417254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3413156"/>
            <a:ext cx="710970" cy="7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Box 21"/>
          <p:cNvSpPr txBox="1"/>
          <p:nvPr/>
        </p:nvSpPr>
        <p:spPr>
          <a:xfrm>
            <a:off x="1050051" y="3624824"/>
            <a:ext cx="249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7</a:t>
            </a:r>
            <a:endParaRPr lang="ru-RU" sz="3200" dirty="0"/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4418579"/>
            <a:ext cx="710970" cy="7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1050051" y="4630247"/>
            <a:ext cx="249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3</a:t>
            </a:r>
            <a:endParaRPr lang="ru-RU" sz="3200" dirty="0"/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5424003"/>
            <a:ext cx="710970" cy="7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TextBox 32"/>
          <p:cNvSpPr txBox="1"/>
          <p:nvPr/>
        </p:nvSpPr>
        <p:spPr>
          <a:xfrm>
            <a:off x="1050051" y="5635671"/>
            <a:ext cx="249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9</a:t>
            </a:r>
            <a:endParaRPr lang="ru-RU" sz="3200" dirty="0"/>
          </a:p>
        </p:txBody>
      </p:sp>
      <p:cxnSp>
        <p:nvCxnSpPr>
          <p:cNvPr id="40" name="Соединительная линия уступом 39"/>
          <p:cNvCxnSpPr/>
          <p:nvPr/>
        </p:nvCxnSpPr>
        <p:spPr>
          <a:xfrm>
            <a:off x="1449660" y="3677741"/>
            <a:ext cx="549462" cy="11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Соединительная линия уступом 41"/>
          <p:cNvCxnSpPr/>
          <p:nvPr/>
        </p:nvCxnSpPr>
        <p:spPr>
          <a:xfrm rot="5400000">
            <a:off x="1708078" y="3968817"/>
            <a:ext cx="582087" cy="11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hape 45"/>
          <p:cNvCxnSpPr>
            <a:endCxn id="26" idx="0"/>
          </p:cNvCxnSpPr>
          <p:nvPr/>
        </p:nvCxnSpPr>
        <p:spPr>
          <a:xfrm rot="10800000" flipV="1">
            <a:off x="1355586" y="4259828"/>
            <a:ext cx="643536" cy="15875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ная линия уступом 46"/>
          <p:cNvCxnSpPr/>
          <p:nvPr/>
        </p:nvCxnSpPr>
        <p:spPr>
          <a:xfrm>
            <a:off x="1443831" y="4683165"/>
            <a:ext cx="549462" cy="11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ная линия уступом 47"/>
          <p:cNvCxnSpPr/>
          <p:nvPr/>
        </p:nvCxnSpPr>
        <p:spPr>
          <a:xfrm rot="5400000">
            <a:off x="1702249" y="4974241"/>
            <a:ext cx="582087" cy="11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hape 48"/>
          <p:cNvCxnSpPr/>
          <p:nvPr/>
        </p:nvCxnSpPr>
        <p:spPr>
          <a:xfrm rot="10800000" flipV="1">
            <a:off x="1349758" y="5265252"/>
            <a:ext cx="643536" cy="15875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ная линия уступом 49"/>
          <p:cNvCxnSpPr/>
          <p:nvPr/>
        </p:nvCxnSpPr>
        <p:spPr>
          <a:xfrm>
            <a:off x="1450215" y="5688000"/>
            <a:ext cx="549462" cy="11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Соединительная линия уступом 50"/>
          <p:cNvCxnSpPr/>
          <p:nvPr/>
        </p:nvCxnSpPr>
        <p:spPr>
          <a:xfrm rot="5400000">
            <a:off x="1708633" y="5979077"/>
            <a:ext cx="582087" cy="11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hape 51"/>
          <p:cNvCxnSpPr/>
          <p:nvPr/>
        </p:nvCxnSpPr>
        <p:spPr>
          <a:xfrm rot="10800000" flipV="1">
            <a:off x="1356141" y="6270087"/>
            <a:ext cx="643536" cy="15875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2416726"/>
            <a:ext cx="710970" cy="7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" name="TextBox 36"/>
          <p:cNvSpPr txBox="1"/>
          <p:nvPr/>
        </p:nvSpPr>
        <p:spPr>
          <a:xfrm>
            <a:off x="1050051" y="2628394"/>
            <a:ext cx="249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5</a:t>
            </a:r>
            <a:endParaRPr lang="ru-RU" sz="3200" dirty="0"/>
          </a:p>
        </p:txBody>
      </p:sp>
      <p:cxnSp>
        <p:nvCxnSpPr>
          <p:cNvPr id="38" name="Соединительная линия уступом 37"/>
          <p:cNvCxnSpPr/>
          <p:nvPr/>
        </p:nvCxnSpPr>
        <p:spPr>
          <a:xfrm>
            <a:off x="1449660" y="2681311"/>
            <a:ext cx="549462" cy="11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Соединительная линия уступом 38"/>
          <p:cNvCxnSpPr/>
          <p:nvPr/>
        </p:nvCxnSpPr>
        <p:spPr>
          <a:xfrm rot="5400000">
            <a:off x="1708078" y="2972388"/>
            <a:ext cx="582087" cy="11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hape 40"/>
          <p:cNvCxnSpPr/>
          <p:nvPr/>
        </p:nvCxnSpPr>
        <p:spPr>
          <a:xfrm rot="10800000" flipV="1">
            <a:off x="1355586" y="3263399"/>
            <a:ext cx="643536" cy="15875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/>
          <p:cNvCxnSpPr>
            <a:endCxn id="31" idx="1"/>
          </p:cNvCxnSpPr>
          <p:nvPr/>
        </p:nvCxnSpPr>
        <p:spPr>
          <a:xfrm>
            <a:off x="714380" y="5790831"/>
            <a:ext cx="285720" cy="35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>
            <a:stCxn id="67" idx="2"/>
            <a:endCxn id="36" idx="0"/>
          </p:cNvCxnSpPr>
          <p:nvPr/>
        </p:nvCxnSpPr>
        <p:spPr>
          <a:xfrm rot="5400000">
            <a:off x="1154266" y="2213702"/>
            <a:ext cx="404344" cy="17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>
            <a:stCxn id="17" idx="2"/>
          </p:cNvCxnSpPr>
          <p:nvPr/>
        </p:nvCxnSpPr>
        <p:spPr>
          <a:xfrm rot="5400000">
            <a:off x="2075665" y="1396223"/>
            <a:ext cx="314270" cy="16081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/>
          <p:nvPr/>
        </p:nvCxnSpPr>
        <p:spPr>
          <a:xfrm rot="5400000">
            <a:off x="2077741" y="2577815"/>
            <a:ext cx="273610" cy="1285884"/>
          </a:xfrm>
          <a:prstGeom prst="straightConnector1">
            <a:avLst/>
          </a:prstGeom>
          <a:ln w="44450" cmpd="sng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9.25926E-6 C 0.08698 0.01319 0.17396 0.02638 0.2 0.05277 C 0.22604 0.07916 0.16389 0.13935 0.15625 0.15833 " pathEditMode="relative" ptsTypes="aaA">
                                      <p:cBhvr>
                                        <p:cTn id="96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9" grpId="0"/>
      <p:bldP spid="67" grpId="0"/>
      <p:bldP spid="67" grpId="1"/>
      <p:bldP spid="30" grpId="0"/>
      <p:bldP spid="22" grpId="0"/>
      <p:bldP spid="27" grpId="0"/>
      <p:bldP spid="33" grpId="0"/>
      <p:bldP spid="37" grpId="0"/>
      <p:bldP spid="3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if (head != NULL)</a:t>
            </a: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LIST *temp;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head = head-&gt;next;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smtClean="0">
                <a:latin typeface="Courier New" pitchFamily="49" charset="0"/>
                <a:cs typeface="Courier New" pitchFamily="49" charset="0"/>
              </a:rPr>
              <a:t>free( temp);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else tail =NULL;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Удаление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голова не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Создать временный указатель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Временный указатель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Голова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Голова =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голова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&gt;next;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	Очистить временный указатель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Вернуть голову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Удаление</a:t>
            </a:r>
            <a:r>
              <a:rPr lang="en-US" sz="4000" dirty="0" smtClean="0">
                <a:solidFill>
                  <a:schemeClr val="tx1"/>
                </a:solidFill>
              </a:rPr>
              <a:t> </a:t>
            </a:r>
            <a:r>
              <a:rPr lang="ru-RU" sz="4000" dirty="0" smtClean="0">
                <a:solidFill>
                  <a:schemeClr val="tx1"/>
                </a:solidFill>
              </a:rPr>
              <a:t>с головы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if (head != NULL)</a:t>
            </a: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LIST *temp;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head = head-&gt;next;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delete temp;</a:t>
            </a: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return head;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Удаление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Тема1" id="{D9924198-7531-463B-9B49-3909A86F00C9}" vid="{0F78871F-1C10-436B-A8F8-684D318A8F8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1539</TotalTime>
  <Words>177</Words>
  <Application>Microsoft Office PowerPoint</Application>
  <PresentationFormat>Экран (4:3)</PresentationFormat>
  <Paragraphs>121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Тема1</vt:lpstr>
      <vt:lpstr>Добавление/удаление (голова)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</vt:vector>
  </TitlesOfParts>
  <Company>SanBuild &amp; 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ЦИКЛЫ</dc:title>
  <dc:creator>DP</dc:creator>
  <cp:lastModifiedBy>userx</cp:lastModifiedBy>
  <cp:revision>133</cp:revision>
  <dcterms:created xsi:type="dcterms:W3CDTF">2016-03-13T14:44:57Z</dcterms:created>
  <dcterms:modified xsi:type="dcterms:W3CDTF">2021-03-18T08:11:16Z</dcterms:modified>
</cp:coreProperties>
</file>